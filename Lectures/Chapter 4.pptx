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2" r:id="rId7"/>
    <p:sldId id="263" r:id="rId8"/>
    <p:sldId id="264" r:id="rId9"/>
    <p:sldId id="265" r:id="rId10"/>
    <p:sldId id="266"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3" r:id="rId34"/>
    <p:sldId id="292" r:id="rId35"/>
    <p:sldId id="294" r:id="rId36"/>
    <p:sldId id="295" r:id="rId37"/>
    <p:sldId id="296" r:id="rId38"/>
    <p:sldId id="297" r:id="rId39"/>
    <p:sldId id="298" r:id="rId40"/>
    <p:sldId id="299" r:id="rId41"/>
    <p:sldId id="300" r:id="rId42"/>
    <p:sldId id="301" r:id="rId43"/>
    <p:sldId id="302" r:id="rId44"/>
    <p:sldId id="303" r:id="rId45"/>
    <p:sldId id="305" r:id="rId46"/>
    <p:sldId id="306"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F0E7C504-0E9F-4D99-8BB3-A5A5BE401512}" type="datetimeFigureOut">
              <a:rPr lang="en-US" smtClean="0"/>
              <a:t>1/14/2021</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76C00AC0-4F7F-403E-84ED-6A4EED7E30F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0E7C504-0E9F-4D99-8BB3-A5A5BE401512}"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C00AC0-4F7F-403E-84ED-6A4EED7E30F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0E7C504-0E9F-4D99-8BB3-A5A5BE401512}"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C00AC0-4F7F-403E-84ED-6A4EED7E30F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0E7C504-0E9F-4D99-8BB3-A5A5BE401512}"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C00AC0-4F7F-403E-84ED-6A4EED7E30F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F0E7C504-0E9F-4D99-8BB3-A5A5BE401512}" type="datetimeFigureOut">
              <a:rPr lang="en-US" smtClean="0"/>
              <a:t>1/14/2021</a:t>
            </a:fld>
            <a:endParaRPr lang="en-US"/>
          </a:p>
        </p:txBody>
      </p:sp>
      <p:sp>
        <p:nvSpPr>
          <p:cNvPr id="27" name="Slide Number Placeholder 26"/>
          <p:cNvSpPr>
            <a:spLocks noGrp="1"/>
          </p:cNvSpPr>
          <p:nvPr>
            <p:ph type="sldNum" sz="quarter" idx="11"/>
          </p:nvPr>
        </p:nvSpPr>
        <p:spPr/>
        <p:txBody>
          <a:bodyPr rtlCol="0"/>
          <a:lstStyle/>
          <a:p>
            <a:fld id="{76C00AC0-4F7F-403E-84ED-6A4EED7E30FF}" type="slidenum">
              <a:rPr lang="en-US" smtClean="0"/>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F0E7C504-0E9F-4D99-8BB3-A5A5BE401512}" type="datetimeFigureOut">
              <a:rPr lang="en-US" smtClean="0"/>
              <a:t>1/14/2021</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76C00AC0-4F7F-403E-84ED-6A4EED7E30F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E7C504-0E9F-4D99-8BB3-A5A5BE401512}" type="datetimeFigureOut">
              <a:rPr lang="en-US" smtClean="0"/>
              <a:t>1/14/2021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C00AC0-4F7F-403E-84ED-6A4EED7E30F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0E7C504-0E9F-4D99-8BB3-A5A5BE401512}"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C00AC0-4F7F-403E-84ED-6A4EED7E30F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0E7C504-0E9F-4D99-8BB3-A5A5BE401512}"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C00AC0-4F7F-403E-84ED-6A4EED7E30F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0E7C504-0E9F-4D99-8BB3-A5A5BE401512}"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C00AC0-4F7F-403E-84ED-6A4EED7E30F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0E7C504-0E9F-4D99-8BB3-A5A5BE401512}"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C00AC0-4F7F-403E-84ED-6A4EED7E30F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F0E7C504-0E9F-4D99-8BB3-A5A5BE401512}" type="datetimeFigureOut">
              <a:rPr lang="en-US" smtClean="0"/>
              <a:t>1/14/2021</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76C00AC0-4F7F-403E-84ED-6A4EED7E30F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Mathematical Expectation</a:t>
            </a:r>
          </a:p>
        </p:txBody>
      </p:sp>
      <p:sp>
        <p:nvSpPr>
          <p:cNvPr id="3" name="Subtitle 2"/>
          <p:cNvSpPr>
            <a:spLocks noGrp="1"/>
          </p:cNvSpPr>
          <p:nvPr>
            <p:ph type="subTitle" idx="1"/>
          </p:nvPr>
        </p:nvSpPr>
        <p:spPr/>
        <p:txBody>
          <a:bodyPr/>
          <a:lstStyle/>
          <a:p>
            <a:r>
              <a:rPr lang="en-US" dirty="0"/>
              <a:t>Chapter 4</a:t>
            </a:r>
          </a:p>
        </p:txBody>
      </p:sp>
    </p:spTree>
    <p:extLst>
      <p:ext uri="{BB962C8B-B14F-4D97-AF65-F5344CB8AC3E}">
        <p14:creationId xmlns:p14="http://schemas.microsoft.com/office/powerpoint/2010/main" val="2670254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4</a:t>
            </a:r>
          </a:p>
        </p:txBody>
      </p:sp>
      <p:sp>
        <p:nvSpPr>
          <p:cNvPr id="3" name="Content Placeholder 2"/>
          <p:cNvSpPr>
            <a:spLocks noGrp="1"/>
          </p:cNvSpPr>
          <p:nvPr>
            <p:ph idx="1"/>
          </p:nvPr>
        </p:nvSpPr>
        <p:spPr/>
        <p:txBody>
          <a:bodyPr/>
          <a:lstStyle/>
          <a:p>
            <a:r>
              <a:rPr lang="en-US" dirty="0"/>
              <a:t>Chapter 4 goes into more detail on random variables. Using ideas from chapters 2 and 3, we discuss how to find means and variances for random variables.</a:t>
            </a:r>
          </a:p>
          <a:p>
            <a:endParaRPr lang="en-US" dirty="0"/>
          </a:p>
          <a:p>
            <a:r>
              <a:rPr lang="en-US" dirty="0"/>
              <a:t>4.1 covers means, 4.2 covers variances, and 4.3 goes over how to work with linear combinations of random variables.</a:t>
            </a:r>
          </a:p>
        </p:txBody>
      </p:sp>
    </p:spTree>
    <p:extLst>
      <p:ext uri="{BB962C8B-B14F-4D97-AF65-F5344CB8AC3E}">
        <p14:creationId xmlns:p14="http://schemas.microsoft.com/office/powerpoint/2010/main" val="1479567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p:sp>
        <p:nvSpPr>
          <p:cNvPr id="3" name="Content Placeholder 2"/>
          <p:cNvSpPr>
            <a:spLocks noGrp="1"/>
          </p:cNvSpPr>
          <p:nvPr>
            <p:ph idx="1"/>
          </p:nvPr>
        </p:nvSpPr>
        <p:spPr/>
        <p:txBody>
          <a:bodyPr/>
          <a:lstStyle/>
          <a:p>
            <a:r>
              <a:rPr lang="en-US" dirty="0"/>
              <a:t>To get started, suppose we flip a coin two times. How many times do you expect the coin to land on heads in the two flips?</a:t>
            </a:r>
          </a:p>
          <a:p>
            <a:endParaRPr lang="en-US" dirty="0"/>
          </a:p>
          <a:p>
            <a:r>
              <a:rPr lang="en-US" dirty="0"/>
              <a:t>What if we flipped it four times? Or three? How many times do you expect the coin to land on heads?</a:t>
            </a:r>
          </a:p>
          <a:p>
            <a:endParaRPr lang="en-US" dirty="0"/>
          </a:p>
          <a:p>
            <a:r>
              <a:rPr lang="en-US" dirty="0"/>
              <a:t>Why?</a:t>
            </a:r>
          </a:p>
        </p:txBody>
      </p:sp>
    </p:spTree>
    <p:extLst>
      <p:ext uri="{BB962C8B-B14F-4D97-AF65-F5344CB8AC3E}">
        <p14:creationId xmlns:p14="http://schemas.microsoft.com/office/powerpoint/2010/main" val="2353388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Suppose we define </a:t>
                </a:r>
                <a14:m>
                  <m:oMath xmlns:m="http://schemas.openxmlformats.org/officeDocument/2006/math">
                    <m:r>
                      <a:rPr lang="en-US" b="0" i="1" smtClean="0">
                        <a:latin typeface="Cambria Math"/>
                      </a:rPr>
                      <m:t>𝑋</m:t>
                    </m:r>
                  </m:oMath>
                </a14:m>
                <a:r>
                  <a:rPr lang="en-US" dirty="0"/>
                  <a:t> to be the number of heads. Then we can write the probability distribution as:</a:t>
                </a:r>
              </a:p>
              <a:p>
                <a:pPr marL="109728" indent="0">
                  <a:buNone/>
                </a:pPr>
                <a:endParaRPr lang="en-US" dirty="0"/>
              </a:p>
              <a:p>
                <a:endParaRPr lang="en-US" dirty="0"/>
              </a:p>
              <a:p>
                <a:endParaRPr lang="en-US" dirty="0"/>
              </a:p>
              <a:p>
                <a:r>
                  <a:rPr lang="en-US" dirty="0"/>
                  <a:t>If we multiply each possible value by its corresponding probability and sum, we get </a:t>
                </a:r>
                <a14:m>
                  <m:oMath xmlns:m="http://schemas.openxmlformats.org/officeDocument/2006/math">
                    <m:r>
                      <a:rPr lang="en-US" b="0" i="1" smtClean="0">
                        <a:latin typeface="Cambria Math"/>
                      </a:rPr>
                      <m:t>0∗</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+1∗</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r>
                      <a:rPr lang="en-US" b="0" i="1" smtClean="0">
                        <a:latin typeface="Cambria Math"/>
                      </a:rPr>
                      <m:t>+2∗</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=1</m:t>
                    </m:r>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296" b="-2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432477068"/>
                  </p:ext>
                </p:extLst>
              </p:nvPr>
            </p:nvGraphicFramePr>
            <p:xfrm>
              <a:off x="1447800" y="3810000"/>
              <a:ext cx="6096000" cy="741680"/>
            </p:xfrm>
            <a:graphic>
              <a:graphicData uri="http://schemas.openxmlformats.org/drawingml/2006/table">
                <a:tbl>
                  <a:tblPr firstRow="1" bandRow="1">
                    <a:tableStyleId>{073A0DAA-6AF3-43AB-8588-CEC1D06C72B9}</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𝑃</m:t>
                                </m:r>
                                <m:r>
                                  <a:rPr lang="en-US" smtClean="0">
                                    <a:latin typeface="Cambria Math"/>
                                  </a:rPr>
                                  <m:t>(</m:t>
                                </m:r>
                                <m:r>
                                  <a:rPr lang="en-US" smtClean="0">
                                    <a:latin typeface="Cambria Math"/>
                                  </a:rPr>
                                  <m:t>𝑋</m:t>
                                </m:r>
                                <m:r>
                                  <a:rPr lang="en-US" smtClean="0">
                                    <a:latin typeface="Cambria Math"/>
                                  </a:rPr>
                                  <m:t>=</m:t>
                                </m:r>
                                <m:r>
                                  <a:rPr lang="en-US" smtClean="0">
                                    <a:latin typeface="Cambria Math"/>
                                  </a:rPr>
                                  <m:t>𝑥</m:t>
                                </m:r>
                                <m:r>
                                  <a:rPr lang="en-US" smtClean="0">
                                    <a:latin typeface="Cambria Math"/>
                                  </a:rPr>
                                  <m:t>)</m:t>
                                </m:r>
                              </m:oMath>
                            </m:oMathPara>
                          </a14:m>
                          <a:endParaRPr lang="en-US" dirty="0"/>
                        </a:p>
                      </a:txBody>
                      <a:tcPr/>
                    </a:tc>
                    <a:tc>
                      <a:txBody>
                        <a:bodyPr/>
                        <a:lstStyle/>
                        <a:p>
                          <a:pPr algn="ctr"/>
                          <a:r>
                            <a:rPr lang="en-US" dirty="0"/>
                            <a:t>1/4</a:t>
                          </a:r>
                        </a:p>
                      </a:txBody>
                      <a:tcPr/>
                    </a:tc>
                    <a:tc>
                      <a:txBody>
                        <a:bodyPr/>
                        <a:lstStyle/>
                        <a:p>
                          <a:pPr algn="ctr"/>
                          <a:r>
                            <a:rPr lang="en-US" dirty="0"/>
                            <a:t>1/2</a:t>
                          </a:r>
                        </a:p>
                      </a:txBody>
                      <a:tcPr/>
                    </a:tc>
                    <a:tc>
                      <a:txBody>
                        <a:bodyPr/>
                        <a:lstStyle/>
                        <a:p>
                          <a:pPr algn="ctr"/>
                          <a:r>
                            <a:rPr lang="en-US" dirty="0"/>
                            <a:t>¼</a:t>
                          </a:r>
                        </a:p>
                      </a:txBody>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432477068"/>
                  </p:ext>
                </p:extLst>
              </p:nvPr>
            </p:nvGraphicFramePr>
            <p:xfrm>
              <a:off x="1447800" y="3810000"/>
              <a:ext cx="6096000" cy="741680"/>
            </p:xfrm>
            <a:graphic>
              <a:graphicData uri="http://schemas.openxmlformats.org/drawingml/2006/table">
                <a:tbl>
                  <a:tblPr firstRow="1" bandRow="1">
                    <a:tableStyleId>{073A0DAA-6AF3-43AB-8588-CEC1D06C72B9}</a:tableStyleId>
                  </a:tblPr>
                  <a:tblGrid>
                    <a:gridCol w="1524000"/>
                    <a:gridCol w="1524000"/>
                    <a:gridCol w="1524000"/>
                    <a:gridCol w="1524000"/>
                  </a:tblGrid>
                  <a:tr h="370840">
                    <a:tc>
                      <a:txBody>
                        <a:bodyPr/>
                        <a:lstStyle/>
                        <a:p>
                          <a:endParaRPr lang="en-US"/>
                        </a:p>
                      </a:txBody>
                      <a:tcPr>
                        <a:blipFill rotWithShape="1">
                          <a:blip r:embed="rId3"/>
                          <a:stretch>
                            <a:fillRect l="-400" t="-8197" r="-300000" b="-124590"/>
                          </a:stretch>
                        </a:blipFill>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r>
                  <a:tr h="370840">
                    <a:tc>
                      <a:txBody>
                        <a:bodyPr/>
                        <a:lstStyle/>
                        <a:p>
                          <a:endParaRPr lang="en-US"/>
                        </a:p>
                      </a:txBody>
                      <a:tcPr>
                        <a:blipFill rotWithShape="1">
                          <a:blip r:embed="rId3"/>
                          <a:stretch>
                            <a:fillRect l="-400" t="-108197" r="-300000" b="-24590"/>
                          </a:stretch>
                        </a:blipFill>
                      </a:tcPr>
                    </a:tc>
                    <a:tc>
                      <a:txBody>
                        <a:bodyPr/>
                        <a:lstStyle/>
                        <a:p>
                          <a:pPr algn="ctr"/>
                          <a:r>
                            <a:rPr lang="en-US" dirty="0" smtClean="0"/>
                            <a:t>1/4</a:t>
                          </a:r>
                          <a:endParaRPr lang="en-US" dirty="0"/>
                        </a:p>
                      </a:txBody>
                      <a:tcPr/>
                    </a:tc>
                    <a:tc>
                      <a:txBody>
                        <a:bodyPr/>
                        <a:lstStyle/>
                        <a:p>
                          <a:pPr algn="ctr"/>
                          <a:r>
                            <a:rPr lang="en-US" dirty="0" smtClean="0"/>
                            <a:t>1/2</a:t>
                          </a:r>
                          <a:endParaRPr lang="en-US" dirty="0"/>
                        </a:p>
                      </a:txBody>
                      <a:tcPr/>
                    </a:tc>
                    <a:tc>
                      <a:txBody>
                        <a:bodyPr/>
                        <a:lstStyle/>
                        <a:p>
                          <a:pPr algn="ctr"/>
                          <a:r>
                            <a:rPr lang="en-US" dirty="0" smtClean="0"/>
                            <a:t>¼</a:t>
                          </a:r>
                          <a:endParaRPr lang="en-US" dirty="0"/>
                        </a:p>
                      </a:txBody>
                      <a:tcPr/>
                    </a:tc>
                  </a:tr>
                </a:tbl>
              </a:graphicData>
            </a:graphic>
          </p:graphicFrame>
        </mc:Fallback>
      </mc:AlternateContent>
    </p:spTree>
    <p:extLst>
      <p:ext uri="{BB962C8B-B14F-4D97-AF65-F5344CB8AC3E}">
        <p14:creationId xmlns:p14="http://schemas.microsoft.com/office/powerpoint/2010/main" val="633182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p:sp>
        <p:nvSpPr>
          <p:cNvPr id="3" name="Content Placeholder 2"/>
          <p:cNvSpPr>
            <a:spLocks noGrp="1"/>
          </p:cNvSpPr>
          <p:nvPr>
            <p:ph idx="1"/>
          </p:nvPr>
        </p:nvSpPr>
        <p:spPr/>
        <p:txBody>
          <a:bodyPr>
            <a:normAutofit/>
          </a:bodyPr>
          <a:lstStyle/>
          <a:p>
            <a:r>
              <a:rPr lang="en-US" dirty="0"/>
              <a:t>Doing the same thing with the other two distributions</a:t>
            </a:r>
          </a:p>
          <a:p>
            <a:endParaRPr lang="en-US" dirty="0"/>
          </a:p>
          <a:p>
            <a:endParaRPr lang="en-US" dirty="0"/>
          </a:p>
          <a:p>
            <a:pPr marL="109728" indent="0">
              <a:buNone/>
            </a:pPr>
            <a:endParaRPr lang="en-US" dirty="0"/>
          </a:p>
          <a:p>
            <a:pPr marL="109728" indent="0">
              <a:buNone/>
            </a:pPr>
            <a:endParaRPr lang="en-US" dirty="0"/>
          </a:p>
          <a:p>
            <a:pPr marL="109728" indent="0">
              <a:buNone/>
            </a:pPr>
            <a:r>
              <a:rPr lang="en-US" dirty="0"/>
              <a:t>    we find that the </a:t>
            </a:r>
            <a:r>
              <a:rPr lang="en-US" i="1" dirty="0"/>
              <a:t>expected</a:t>
            </a:r>
            <a:r>
              <a:rPr lang="en-US" dirty="0"/>
              <a:t> number of heads is 1.5, and 2, respectively.</a:t>
            </a:r>
          </a:p>
          <a:p>
            <a:endParaRPr lang="en-US" dirty="0"/>
          </a:p>
          <a:p>
            <a:endParaRPr lang="en-US" dirty="0"/>
          </a:p>
          <a:p>
            <a:endParaRPr lang="en-US" dirty="0"/>
          </a:p>
          <a:p>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529810056"/>
                  </p:ext>
                </p:extLst>
              </p:nvPr>
            </p:nvGraphicFramePr>
            <p:xfrm>
              <a:off x="1371600" y="3200400"/>
              <a:ext cx="6096000" cy="741680"/>
            </p:xfrm>
            <a:graphic>
              <a:graphicData uri="http://schemas.openxmlformats.org/drawingml/2006/table">
                <a:tbl>
                  <a:tblPr firstRow="1" bandRow="1">
                    <a:tableStyleId>{073A0DAA-6AF3-43AB-8588-CEC1D06C72B9}</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𝑃</m:t>
                                </m:r>
                                <m:r>
                                  <a:rPr lang="en-US" smtClean="0">
                                    <a:latin typeface="Cambria Math"/>
                                  </a:rPr>
                                  <m:t>(</m:t>
                                </m:r>
                                <m:r>
                                  <a:rPr lang="en-US" smtClean="0">
                                    <a:latin typeface="Cambria Math"/>
                                  </a:rPr>
                                  <m:t>𝑋</m:t>
                                </m:r>
                                <m:r>
                                  <a:rPr lang="en-US" smtClean="0">
                                    <a:latin typeface="Cambria Math"/>
                                  </a:rPr>
                                  <m:t>=</m:t>
                                </m:r>
                                <m:r>
                                  <a:rPr lang="en-US" smtClean="0">
                                    <a:latin typeface="Cambria Math"/>
                                  </a:rPr>
                                  <m:t>𝑥</m:t>
                                </m:r>
                                <m:r>
                                  <a:rPr lang="en-US" smtClean="0">
                                    <a:latin typeface="Cambria Math"/>
                                  </a:rPr>
                                  <m:t>)</m:t>
                                </m:r>
                              </m:oMath>
                            </m:oMathPara>
                          </a14:m>
                          <a:endParaRPr lang="en-US" dirty="0"/>
                        </a:p>
                      </a:txBody>
                      <a:tcPr/>
                    </a:tc>
                    <a:tc>
                      <a:txBody>
                        <a:bodyPr/>
                        <a:lstStyle/>
                        <a:p>
                          <a:pPr algn="ctr"/>
                          <a:r>
                            <a:rPr lang="en-US" dirty="0"/>
                            <a:t>1/8</a:t>
                          </a:r>
                        </a:p>
                      </a:txBody>
                      <a:tcPr/>
                    </a:tc>
                    <a:tc>
                      <a:txBody>
                        <a:bodyPr/>
                        <a:lstStyle/>
                        <a:p>
                          <a:pPr algn="ctr"/>
                          <a:r>
                            <a:rPr lang="en-US" dirty="0"/>
                            <a:t>3/8</a:t>
                          </a:r>
                        </a:p>
                      </a:txBody>
                      <a:tcPr/>
                    </a:tc>
                    <a:tc>
                      <a:txBody>
                        <a:bodyPr/>
                        <a:lstStyle/>
                        <a:p>
                          <a:pPr algn="ctr"/>
                          <a:r>
                            <a:rPr lang="en-US" dirty="0"/>
                            <a:t>3/8</a:t>
                          </a:r>
                        </a:p>
                      </a:txBody>
                      <a:tcPr/>
                    </a:tc>
                    <a:tc>
                      <a:txBody>
                        <a:bodyPr/>
                        <a:lstStyle/>
                        <a:p>
                          <a:pPr algn="ctr"/>
                          <a:r>
                            <a:rPr lang="en-US" dirty="0"/>
                            <a:t>1/8</a:t>
                          </a:r>
                        </a:p>
                      </a:txBody>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529810056"/>
                  </p:ext>
                </p:extLst>
              </p:nvPr>
            </p:nvGraphicFramePr>
            <p:xfrm>
              <a:off x="1371600" y="3200400"/>
              <a:ext cx="6096000" cy="741680"/>
            </p:xfrm>
            <a:graphic>
              <a:graphicData uri="http://schemas.openxmlformats.org/drawingml/2006/table">
                <a:tbl>
                  <a:tblPr firstRow="1" bandRow="1">
                    <a:tableStyleId>{073A0DAA-6AF3-43AB-8588-CEC1D06C72B9}</a:tableStyleId>
                  </a:tblPr>
                  <a:tblGrid>
                    <a:gridCol w="1219200"/>
                    <a:gridCol w="1219200"/>
                    <a:gridCol w="1219200"/>
                    <a:gridCol w="1219200"/>
                    <a:gridCol w="1219200"/>
                  </a:tblGrid>
                  <a:tr h="370840">
                    <a:tc>
                      <a:txBody>
                        <a:bodyPr/>
                        <a:lstStyle/>
                        <a:p>
                          <a:endParaRPr lang="en-US"/>
                        </a:p>
                      </a:txBody>
                      <a:tcPr>
                        <a:blipFill rotWithShape="1">
                          <a:blip r:embed="rId2"/>
                          <a:stretch>
                            <a:fillRect t="-8197" r="-400000" b="-124590"/>
                          </a:stretch>
                        </a:blipFill>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r>
                  <a:tr h="370840">
                    <a:tc>
                      <a:txBody>
                        <a:bodyPr/>
                        <a:lstStyle/>
                        <a:p>
                          <a:endParaRPr lang="en-US"/>
                        </a:p>
                      </a:txBody>
                      <a:tcPr>
                        <a:blipFill rotWithShape="1">
                          <a:blip r:embed="rId2"/>
                          <a:stretch>
                            <a:fillRect t="-108197" r="-400000" b="-24590"/>
                          </a:stretch>
                        </a:blipFill>
                      </a:tcPr>
                    </a:tc>
                    <a:tc>
                      <a:txBody>
                        <a:bodyPr/>
                        <a:lstStyle/>
                        <a:p>
                          <a:pPr algn="ctr"/>
                          <a:r>
                            <a:rPr lang="en-US" dirty="0" smtClean="0"/>
                            <a:t>1/8</a:t>
                          </a:r>
                          <a:endParaRPr lang="en-US" dirty="0"/>
                        </a:p>
                      </a:txBody>
                      <a:tcPr/>
                    </a:tc>
                    <a:tc>
                      <a:txBody>
                        <a:bodyPr/>
                        <a:lstStyle/>
                        <a:p>
                          <a:pPr algn="ctr"/>
                          <a:r>
                            <a:rPr lang="en-US" dirty="0" smtClean="0"/>
                            <a:t>3/8</a:t>
                          </a:r>
                          <a:endParaRPr lang="en-US" dirty="0"/>
                        </a:p>
                      </a:txBody>
                      <a:tcPr/>
                    </a:tc>
                    <a:tc>
                      <a:txBody>
                        <a:bodyPr/>
                        <a:lstStyle/>
                        <a:p>
                          <a:pPr algn="ctr"/>
                          <a:r>
                            <a:rPr lang="en-US" dirty="0" smtClean="0"/>
                            <a:t>3/8</a:t>
                          </a:r>
                          <a:endParaRPr lang="en-US" dirty="0"/>
                        </a:p>
                      </a:txBody>
                      <a:tcPr/>
                    </a:tc>
                    <a:tc>
                      <a:txBody>
                        <a:bodyPr/>
                        <a:lstStyle/>
                        <a:p>
                          <a:pPr algn="ctr"/>
                          <a:r>
                            <a:rPr lang="en-US" dirty="0" smtClean="0"/>
                            <a:t>1/8</a:t>
                          </a:r>
                          <a:endParaRPr lang="en-US"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472436604"/>
                  </p:ext>
                </p:extLst>
              </p:nvPr>
            </p:nvGraphicFramePr>
            <p:xfrm>
              <a:off x="1371600" y="4191000"/>
              <a:ext cx="6236653" cy="741680"/>
            </p:xfrm>
            <a:graphic>
              <a:graphicData uri="http://schemas.openxmlformats.org/drawingml/2006/table">
                <a:tbl>
                  <a:tblPr firstRow="1" bandRow="1">
                    <a:tableStyleId>{073A0DAA-6AF3-43AB-8588-CEC1D06C72B9}</a:tableStyleId>
                  </a:tblPr>
                  <a:tblGrid>
                    <a:gridCol w="1156653">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𝑃</m:t>
                                </m:r>
                                <m:r>
                                  <a:rPr lang="en-US" smtClean="0">
                                    <a:latin typeface="Cambria Math"/>
                                  </a:rPr>
                                  <m:t>(</m:t>
                                </m:r>
                                <m:r>
                                  <a:rPr lang="en-US" smtClean="0">
                                    <a:latin typeface="Cambria Math"/>
                                  </a:rPr>
                                  <m:t>𝑋</m:t>
                                </m:r>
                                <m:r>
                                  <a:rPr lang="en-US" smtClean="0">
                                    <a:latin typeface="Cambria Math"/>
                                  </a:rPr>
                                  <m:t>=</m:t>
                                </m:r>
                                <m:r>
                                  <a:rPr lang="en-US" smtClean="0">
                                    <a:latin typeface="Cambria Math"/>
                                  </a:rPr>
                                  <m:t>𝑥</m:t>
                                </m:r>
                                <m:r>
                                  <a:rPr lang="en-US" smtClean="0">
                                    <a:latin typeface="Cambria Math"/>
                                  </a:rPr>
                                  <m:t>)</m:t>
                                </m:r>
                              </m:oMath>
                            </m:oMathPara>
                          </a14:m>
                          <a:endParaRPr lang="en-US" dirty="0"/>
                        </a:p>
                      </a:txBody>
                      <a:tcPr/>
                    </a:tc>
                    <a:tc>
                      <a:txBody>
                        <a:bodyPr/>
                        <a:lstStyle/>
                        <a:p>
                          <a:pPr algn="ctr"/>
                          <a:r>
                            <a:rPr lang="en-US" dirty="0"/>
                            <a:t>1/16</a:t>
                          </a:r>
                        </a:p>
                      </a:txBody>
                      <a:tcPr/>
                    </a:tc>
                    <a:tc>
                      <a:txBody>
                        <a:bodyPr/>
                        <a:lstStyle/>
                        <a:p>
                          <a:pPr algn="ctr"/>
                          <a:r>
                            <a:rPr lang="en-US" dirty="0"/>
                            <a:t>1/4</a:t>
                          </a:r>
                        </a:p>
                      </a:txBody>
                      <a:tcPr/>
                    </a:tc>
                    <a:tc>
                      <a:txBody>
                        <a:bodyPr/>
                        <a:lstStyle/>
                        <a:p>
                          <a:pPr algn="ctr"/>
                          <a:r>
                            <a:rPr lang="en-US" dirty="0"/>
                            <a:t>3/8</a:t>
                          </a:r>
                        </a:p>
                      </a:txBody>
                      <a:tcPr/>
                    </a:tc>
                    <a:tc>
                      <a:txBody>
                        <a:bodyPr/>
                        <a:lstStyle/>
                        <a:p>
                          <a:pPr algn="ctr"/>
                          <a:r>
                            <a:rPr lang="en-US" dirty="0"/>
                            <a:t>¼</a:t>
                          </a:r>
                        </a:p>
                      </a:txBody>
                      <a:tcPr/>
                    </a:tc>
                    <a:tc>
                      <a:txBody>
                        <a:bodyPr/>
                        <a:lstStyle/>
                        <a:p>
                          <a:pPr algn="ctr"/>
                          <a:r>
                            <a:rPr lang="en-US" dirty="0"/>
                            <a:t>1/16</a:t>
                          </a:r>
                        </a:p>
                      </a:txBody>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472436604"/>
                  </p:ext>
                </p:extLst>
              </p:nvPr>
            </p:nvGraphicFramePr>
            <p:xfrm>
              <a:off x="1371600" y="4191000"/>
              <a:ext cx="6236653" cy="741680"/>
            </p:xfrm>
            <a:graphic>
              <a:graphicData uri="http://schemas.openxmlformats.org/drawingml/2006/table">
                <a:tbl>
                  <a:tblPr firstRow="1" bandRow="1">
                    <a:tableStyleId>{073A0DAA-6AF3-43AB-8588-CEC1D06C72B9}</a:tableStyleId>
                  </a:tblPr>
                  <a:tblGrid>
                    <a:gridCol w="1156653"/>
                    <a:gridCol w="1016000"/>
                    <a:gridCol w="1016000"/>
                    <a:gridCol w="1016000"/>
                    <a:gridCol w="1016000"/>
                    <a:gridCol w="1016000"/>
                  </a:tblGrid>
                  <a:tr h="370840">
                    <a:tc>
                      <a:txBody>
                        <a:bodyPr/>
                        <a:lstStyle/>
                        <a:p>
                          <a:endParaRPr lang="en-US"/>
                        </a:p>
                      </a:txBody>
                      <a:tcPr>
                        <a:blipFill rotWithShape="1">
                          <a:blip r:embed="rId3"/>
                          <a:stretch>
                            <a:fillRect t="-8197" r="-438947" b="-122951"/>
                          </a:stretch>
                        </a:blipFill>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c>
                      <a:txBody>
                        <a:bodyPr/>
                        <a:lstStyle/>
                        <a:p>
                          <a:pPr algn="ctr"/>
                          <a:r>
                            <a:rPr lang="en-US" dirty="0" smtClean="0"/>
                            <a:t>4</a:t>
                          </a:r>
                          <a:endParaRPr lang="en-US" dirty="0"/>
                        </a:p>
                      </a:txBody>
                      <a:tcPr/>
                    </a:tc>
                  </a:tr>
                  <a:tr h="370840">
                    <a:tc>
                      <a:txBody>
                        <a:bodyPr/>
                        <a:lstStyle/>
                        <a:p>
                          <a:endParaRPr lang="en-US"/>
                        </a:p>
                      </a:txBody>
                      <a:tcPr>
                        <a:blipFill rotWithShape="1">
                          <a:blip r:embed="rId3"/>
                          <a:stretch>
                            <a:fillRect t="-110000" r="-438947" b="-25000"/>
                          </a:stretch>
                        </a:blipFill>
                      </a:tcPr>
                    </a:tc>
                    <a:tc>
                      <a:txBody>
                        <a:bodyPr/>
                        <a:lstStyle/>
                        <a:p>
                          <a:pPr algn="ctr"/>
                          <a:r>
                            <a:rPr lang="en-US" dirty="0" smtClean="0"/>
                            <a:t>1/16</a:t>
                          </a:r>
                          <a:endParaRPr lang="en-US" dirty="0"/>
                        </a:p>
                      </a:txBody>
                      <a:tcPr/>
                    </a:tc>
                    <a:tc>
                      <a:txBody>
                        <a:bodyPr/>
                        <a:lstStyle/>
                        <a:p>
                          <a:pPr algn="ctr"/>
                          <a:r>
                            <a:rPr lang="en-US" dirty="0" smtClean="0"/>
                            <a:t>1/4</a:t>
                          </a:r>
                          <a:endParaRPr lang="en-US" dirty="0"/>
                        </a:p>
                      </a:txBody>
                      <a:tcPr/>
                    </a:tc>
                    <a:tc>
                      <a:txBody>
                        <a:bodyPr/>
                        <a:lstStyle/>
                        <a:p>
                          <a:pPr algn="ctr"/>
                          <a:r>
                            <a:rPr lang="en-US" dirty="0" smtClean="0"/>
                            <a:t>3/8</a:t>
                          </a:r>
                          <a:endParaRPr lang="en-US" dirty="0"/>
                        </a:p>
                      </a:txBody>
                      <a:tcPr/>
                    </a:tc>
                    <a:tc>
                      <a:txBody>
                        <a:bodyPr/>
                        <a:lstStyle/>
                        <a:p>
                          <a:pPr algn="ctr"/>
                          <a:r>
                            <a:rPr lang="en-US" dirty="0" smtClean="0"/>
                            <a:t>¼</a:t>
                          </a:r>
                          <a:endParaRPr lang="en-US" dirty="0"/>
                        </a:p>
                      </a:txBody>
                      <a:tcPr/>
                    </a:tc>
                    <a:tc>
                      <a:txBody>
                        <a:bodyPr/>
                        <a:lstStyle/>
                        <a:p>
                          <a:pPr algn="ctr"/>
                          <a:r>
                            <a:rPr lang="en-US" dirty="0" smtClean="0"/>
                            <a:t>1/16</a:t>
                          </a:r>
                          <a:endParaRPr lang="en-US" dirty="0"/>
                        </a:p>
                      </a:txBody>
                      <a:tcPr/>
                    </a:tc>
                  </a:tr>
                </a:tbl>
              </a:graphicData>
            </a:graphic>
          </p:graphicFrame>
        </mc:Fallback>
      </mc:AlternateContent>
    </p:spTree>
    <p:extLst>
      <p:ext uri="{BB962C8B-B14F-4D97-AF65-F5344CB8AC3E}">
        <p14:creationId xmlns:p14="http://schemas.microsoft.com/office/powerpoint/2010/main" val="809766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This is the idea of the </a:t>
                </a:r>
                <a:r>
                  <a:rPr lang="en-US" i="1" dirty="0"/>
                  <a:t>expected value</a:t>
                </a:r>
                <a:r>
                  <a:rPr lang="en-US" dirty="0"/>
                  <a:t>, or the </a:t>
                </a:r>
                <a:r>
                  <a:rPr lang="en-US" i="1" dirty="0"/>
                  <a:t>mean of a random variable.</a:t>
                </a:r>
                <a:r>
                  <a:rPr lang="en-US" dirty="0"/>
                  <a:t> </a:t>
                </a:r>
              </a:p>
              <a:p>
                <a:endParaRPr lang="en-US" dirty="0"/>
              </a:p>
              <a:p>
                <a:r>
                  <a:rPr lang="en-US" dirty="0"/>
                  <a:t>If </a:t>
                </a:r>
                <a14:m>
                  <m:oMath xmlns:m="http://schemas.openxmlformats.org/officeDocument/2006/math">
                    <m:r>
                      <a:rPr lang="en-US" b="0" i="1" smtClean="0">
                        <a:latin typeface="Cambria Math"/>
                      </a:rPr>
                      <m:t>𝑋</m:t>
                    </m:r>
                  </m:oMath>
                </a14:m>
                <a:r>
                  <a:rPr lang="en-US" dirty="0"/>
                  <a:t> is a random variable, the mean, or expected value of </a:t>
                </a:r>
                <a14:m>
                  <m:oMath xmlns:m="http://schemas.openxmlformats.org/officeDocument/2006/math">
                    <m:r>
                      <a:rPr lang="en-US" b="0" i="1" smtClean="0">
                        <a:latin typeface="Cambria Math"/>
                      </a:rPr>
                      <m:t>𝑋</m:t>
                    </m:r>
                  </m:oMath>
                </a14:m>
                <a:r>
                  <a:rPr lang="en-US" dirty="0"/>
                  <a:t>, is given by</a:t>
                </a:r>
              </a:p>
              <a:p>
                <a:pPr lvl="1"/>
                <a14:m>
                  <m:oMath xmlns:m="http://schemas.openxmlformats.org/officeDocument/2006/math">
                    <m:r>
                      <a:rPr lang="en-US" b="0" i="1" smtClean="0">
                        <a:latin typeface="Cambria Math"/>
                      </a:rPr>
                      <m:t>𝜇</m:t>
                    </m:r>
                    <m:r>
                      <a:rPr lang="en-US" b="0" i="1" smtClean="0">
                        <a:latin typeface="Cambria Math"/>
                      </a:rPr>
                      <m:t>=</m:t>
                    </m:r>
                    <m:r>
                      <a:rPr lang="en-US" b="0" i="1" smtClean="0">
                        <a:latin typeface="Cambria Math"/>
                      </a:rPr>
                      <m:t>𝐸</m:t>
                    </m:r>
                    <m:r>
                      <a:rPr lang="en-US" b="0" i="1" smtClean="0">
                        <a:latin typeface="Cambria Math"/>
                      </a:rPr>
                      <m:t>(</m:t>
                    </m:r>
                    <m:r>
                      <a:rPr lang="en-US" b="0" i="1" smtClean="0">
                        <a:latin typeface="Cambria Math"/>
                      </a:rPr>
                      <m:t>𝑋</m:t>
                    </m:r>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𝑥</m:t>
                        </m:r>
                      </m:sub>
                      <m:sup>
                        <m:r>
                          <a:rPr lang="en-US" b="0" i="1" smtClean="0">
                            <a:latin typeface="Cambria Math"/>
                          </a:rPr>
                          <m:t> </m:t>
                        </m:r>
                      </m:sup>
                      <m:e>
                        <m:r>
                          <a:rPr lang="en-US" b="0" i="1" smtClean="0">
                            <a:latin typeface="Cambria Math"/>
                          </a:rPr>
                          <m:t>𝑥𝑓</m:t>
                        </m:r>
                        <m:d>
                          <m:dPr>
                            <m:ctrlPr>
                              <a:rPr lang="en-US" b="0" i="1" smtClean="0">
                                <a:latin typeface="Cambria Math" panose="02040503050406030204" pitchFamily="18" charset="0"/>
                              </a:rPr>
                            </m:ctrlPr>
                          </m:dPr>
                          <m:e>
                            <m:r>
                              <a:rPr lang="en-US" b="0" i="1" smtClean="0">
                                <a:latin typeface="Cambria Math"/>
                              </a:rPr>
                              <m:t>𝑥</m:t>
                            </m:r>
                          </m:e>
                        </m:d>
                      </m:e>
                    </m:nary>
                  </m:oMath>
                </a14:m>
                <a:r>
                  <a:rPr lang="en-US" dirty="0"/>
                  <a:t> if </a:t>
                </a:r>
                <a14:m>
                  <m:oMath xmlns:m="http://schemas.openxmlformats.org/officeDocument/2006/math">
                    <m:r>
                      <a:rPr lang="en-US" b="0" i="1" smtClean="0">
                        <a:latin typeface="Cambria Math"/>
                      </a:rPr>
                      <m:t>𝑋</m:t>
                    </m:r>
                  </m:oMath>
                </a14:m>
                <a:r>
                  <a:rPr lang="en-US" dirty="0"/>
                  <a:t> is discrete </a:t>
                </a:r>
              </a:p>
              <a:p>
                <a:pPr lvl="1"/>
                <a14:m>
                  <m:oMath xmlns:m="http://schemas.openxmlformats.org/officeDocument/2006/math">
                    <m:r>
                      <a:rPr lang="en-US" b="0" i="1" smtClean="0">
                        <a:latin typeface="Cambria Math"/>
                      </a:rPr>
                      <m:t>𝜇</m:t>
                    </m:r>
                    <m:r>
                      <a:rPr lang="en-US" b="0" i="1" smtClean="0">
                        <a:latin typeface="Cambria Math"/>
                      </a:rPr>
                      <m:t>=</m:t>
                    </m:r>
                    <m:r>
                      <a:rPr lang="en-US" b="0" i="1" smtClean="0">
                        <a:latin typeface="Cambria Math"/>
                      </a:rPr>
                      <m:t>𝐸</m:t>
                    </m:r>
                    <m:r>
                      <a:rPr lang="en-US" b="0" i="1" smtClean="0">
                        <a:latin typeface="Cambria Math"/>
                      </a:rPr>
                      <m:t>(</m:t>
                    </m:r>
                    <m:r>
                      <a:rPr lang="en-US" b="0" i="1" smtClean="0">
                        <a:latin typeface="Cambria Math"/>
                      </a:rPr>
                      <m:t>𝑋</m:t>
                    </m:r>
                    <m:r>
                      <a:rPr lang="en-US" b="0" i="1" smtClean="0">
                        <a:latin typeface="Cambria Math"/>
                      </a:rPr>
                      <m:t>)=</m:t>
                    </m:r>
                    <m:nary>
                      <m:naryPr>
                        <m:limLoc m:val="undOvr"/>
                        <m:ctrlPr>
                          <a:rPr lang="en-US" b="0" i="1" smtClean="0">
                            <a:latin typeface="Cambria Math" panose="02040503050406030204" pitchFamily="18" charset="0"/>
                          </a:rPr>
                        </m:ctrlPr>
                      </m:naryPr>
                      <m:sub>
                        <m:r>
                          <m:rPr>
                            <m:brk m:alnAt="24"/>
                          </m:rPr>
                          <a:rPr lang="en-US" b="0" i="1" smtClean="0">
                            <a:latin typeface="Cambria Math"/>
                          </a:rPr>
                          <m:t>−</m:t>
                        </m:r>
                        <m:r>
                          <a:rPr lang="en-US" b="0" i="1" smtClean="0">
                            <a:latin typeface="Cambria Math"/>
                          </a:rPr>
                          <m:t>∞</m:t>
                        </m:r>
                      </m:sub>
                      <m:sup>
                        <m:r>
                          <a:rPr lang="en-US" b="0" i="1" smtClean="0">
                            <a:latin typeface="Cambria Math"/>
                          </a:rPr>
                          <m:t>∞</m:t>
                        </m:r>
                      </m:sup>
                      <m:e>
                        <m:r>
                          <a:rPr lang="en-US" b="0" i="1" smtClean="0">
                            <a:latin typeface="Cambria Math"/>
                          </a:rPr>
                          <m:t>𝑥𝑓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𝑑𝑥</m:t>
                        </m:r>
                      </m:e>
                    </m:nary>
                  </m:oMath>
                </a14:m>
                <a:r>
                  <a:rPr lang="en-US" dirty="0"/>
                  <a:t> if </a:t>
                </a:r>
                <a14:m>
                  <m:oMath xmlns:m="http://schemas.openxmlformats.org/officeDocument/2006/math">
                    <m:r>
                      <a:rPr lang="en-US" b="0" i="1" smtClean="0">
                        <a:latin typeface="Cambria Math"/>
                      </a:rPr>
                      <m:t>𝑋</m:t>
                    </m:r>
                  </m:oMath>
                </a14:m>
                <a:r>
                  <a:rPr lang="en-US" dirty="0"/>
                  <a:t> is continuous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222"/>
                </a:stretch>
              </a:blipFill>
            </p:spPr>
            <p:txBody>
              <a:bodyPr/>
              <a:lstStyle/>
              <a:p>
                <a:r>
                  <a:rPr lang="en-US">
                    <a:noFill/>
                  </a:rPr>
                  <a:t> </a:t>
                </a:r>
              </a:p>
            </p:txBody>
          </p:sp>
        </mc:Fallback>
      </mc:AlternateContent>
    </p:spTree>
    <p:extLst>
      <p:ext uri="{BB962C8B-B14F-4D97-AF65-F5344CB8AC3E}">
        <p14:creationId xmlns:p14="http://schemas.microsoft.com/office/powerpoint/2010/main" val="1753551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Example: Suppose a shipment of 7 products contains 3 defective items. An inspector randomly samples 3 of the 7 items for testing. Let </a:t>
                </a:r>
                <a14:m>
                  <m:oMath xmlns:m="http://schemas.openxmlformats.org/officeDocument/2006/math">
                    <m:r>
                      <a:rPr lang="en-US" b="0" i="1" smtClean="0">
                        <a:latin typeface="Cambria Math"/>
                      </a:rPr>
                      <m:t>𝑋</m:t>
                    </m:r>
                  </m:oMath>
                </a14:m>
                <a:r>
                  <a:rPr lang="en-US" dirty="0"/>
                  <a:t> be the number of defective items in the sample that the inspector takes. Find the expected number of defective items that the inspector will find.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371858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Example: Let </a:t>
                </a:r>
                <a14:m>
                  <m:oMath xmlns:m="http://schemas.openxmlformats.org/officeDocument/2006/math">
                    <m:r>
                      <a:rPr lang="en-US" b="0" i="1" smtClean="0">
                        <a:latin typeface="Cambria Math"/>
                      </a:rPr>
                      <m:t>𝑋</m:t>
                    </m:r>
                  </m:oMath>
                </a14:m>
                <a:r>
                  <a:rPr lang="en-US" dirty="0"/>
                  <a:t> be the life in hours of some electronic device. We have </a:t>
                </a:r>
              </a:p>
              <a:p>
                <a:endParaRPr lang="en-US" dirty="0"/>
              </a:p>
              <a:p>
                <a:pPr marL="109728"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f>
                                <m:fPr>
                                  <m:ctrlPr>
                                    <a:rPr lang="en-US" b="0" i="1" smtClean="0">
                                      <a:latin typeface="Cambria Math" panose="02040503050406030204" pitchFamily="18" charset="0"/>
                                    </a:rPr>
                                  </m:ctrlPr>
                                </m:fPr>
                                <m:num>
                                  <m:r>
                                    <a:rPr lang="en-US" b="0" i="1" smtClean="0">
                                      <a:latin typeface="Cambria Math"/>
                                    </a:rPr>
                                    <m:t>20000</m:t>
                                  </m:r>
                                </m:num>
                                <m:den>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3</m:t>
                                      </m:r>
                                    </m:sup>
                                  </m:sSup>
                                </m:den>
                              </m:f>
                              <m:r>
                                <a:rPr lang="en-US" b="0" i="1" smtClean="0">
                                  <a:latin typeface="Cambria Math"/>
                                </a:rPr>
                                <m:t>,  </m:t>
                              </m:r>
                              <m:r>
                                <a:rPr lang="en-US" b="0" i="1" smtClean="0">
                                  <a:latin typeface="Cambria Math"/>
                                </a:rPr>
                                <m:t>𝑥</m:t>
                              </m:r>
                              <m:r>
                                <a:rPr lang="en-US" b="0" i="1" smtClean="0">
                                  <a:latin typeface="Cambria Math"/>
                                </a:rPr>
                                <m:t>&gt;100</m:t>
                              </m:r>
                            </m:e>
                            <m:e>
                              <m:r>
                                <a:rPr lang="en-US" b="0" i="1" smtClean="0">
                                  <a:latin typeface="Cambria Math"/>
                                </a:rPr>
                                <m:t>0,  </m:t>
                              </m:r>
                              <m:r>
                                <m:rPr>
                                  <m:sty m:val="p"/>
                                </m:rPr>
                                <a:rPr lang="en-US" b="0" i="0" smtClean="0">
                                  <a:latin typeface="Cambria Math"/>
                                </a:rPr>
                                <m:t>elsewhere</m:t>
                              </m:r>
                            </m:e>
                          </m:eqArr>
                        </m:e>
                      </m:d>
                    </m:oMath>
                  </m:oMathPara>
                </a14:m>
                <a:endParaRPr lang="en-US" dirty="0"/>
              </a:p>
              <a:p>
                <a:endParaRPr lang="en-US" dirty="0"/>
              </a:p>
              <a:p>
                <a:r>
                  <a:rPr lang="en-US" dirty="0"/>
                  <a:t>Find </a:t>
                </a:r>
                <a14:m>
                  <m:oMath xmlns:m="http://schemas.openxmlformats.org/officeDocument/2006/math">
                    <m:r>
                      <a:rPr lang="en-US" b="0" i="1" smtClean="0">
                        <a:latin typeface="Cambria Math"/>
                      </a:rPr>
                      <m:t>𝐸</m:t>
                    </m:r>
                    <m:r>
                      <a:rPr lang="en-US" b="0" i="1" smtClean="0">
                        <a:latin typeface="Cambria Math"/>
                      </a:rPr>
                      <m:t>(</m:t>
                    </m:r>
                    <m:r>
                      <a:rPr lang="en-US" b="0" i="1" smtClean="0">
                        <a:latin typeface="Cambria Math"/>
                      </a:rPr>
                      <m:t>𝑋</m:t>
                    </m:r>
                    <m:r>
                      <a:rPr lang="en-US" b="0" i="1" smtClean="0">
                        <a:latin typeface="Cambria Math"/>
                      </a:rPr>
                      <m:t>)</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2701392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We can generalize expected value to any function of </a:t>
                </a:r>
                <a14:m>
                  <m:oMath xmlns:m="http://schemas.openxmlformats.org/officeDocument/2006/math">
                    <m:r>
                      <a:rPr lang="en-US" b="0" i="1" smtClean="0">
                        <a:latin typeface="Cambria Math"/>
                      </a:rPr>
                      <m:t>𝑋</m:t>
                    </m:r>
                  </m:oMath>
                </a14:m>
                <a:r>
                  <a:rPr lang="en-US" dirty="0"/>
                  <a:t>. This comes from the idea that any function of a random variable is also a random variable.</a:t>
                </a:r>
              </a:p>
              <a:p>
                <a:endParaRPr lang="en-US" dirty="0"/>
              </a:p>
              <a:p>
                <a:r>
                  <a:rPr lang="en-US" dirty="0"/>
                  <a:t>Let </a:t>
                </a:r>
                <a14:m>
                  <m:oMath xmlns:m="http://schemas.openxmlformats.org/officeDocument/2006/math">
                    <m:r>
                      <a:rPr lang="en-US" b="0" i="1" smtClean="0">
                        <a:latin typeface="Cambria Math"/>
                      </a:rPr>
                      <m:t>𝑋</m:t>
                    </m:r>
                  </m:oMath>
                </a14:m>
                <a:r>
                  <a:rPr lang="en-US" dirty="0"/>
                  <a:t> be a random variable. Then the expected value of the random variable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oMath>
                </a14:m>
                <a:r>
                  <a:rPr lang="en-US" dirty="0"/>
                  <a:t> is: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sub>
                    </m:sSub>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e>
                    </m:d>
                    <m:r>
                      <a:rPr lang="en-US" b="0" i="1" smtClean="0">
                        <a:latin typeface="Cambria Math"/>
                      </a:rPr>
                      <m:t>=</m:t>
                    </m:r>
                    <m:nary>
                      <m:naryPr>
                        <m:chr m:val="∑"/>
                        <m:ctrlPr>
                          <a:rPr lang="en-US" i="1">
                            <a:latin typeface="Cambria Math" panose="02040503050406030204" pitchFamily="18" charset="0"/>
                          </a:rPr>
                        </m:ctrlPr>
                      </m:naryPr>
                      <m:sub>
                        <m:r>
                          <m:rPr>
                            <m:brk m:alnAt="23"/>
                          </m:rPr>
                          <a:rPr lang="en-US" i="1">
                            <a:latin typeface="Cambria Math"/>
                          </a:rPr>
                          <m:t>𝑥</m:t>
                        </m:r>
                      </m:sub>
                      <m:sup>
                        <m:r>
                          <a:rPr lang="en-US" i="1">
                            <a:latin typeface="Cambria Math"/>
                          </a:rPr>
                          <m:t> </m:t>
                        </m:r>
                      </m:sup>
                      <m:e>
                        <m:r>
                          <a:rPr lang="en-US" b="0" i="1" smtClean="0">
                            <a:latin typeface="Cambria Math"/>
                          </a:rPr>
                          <m:t>𝑔</m:t>
                        </m:r>
                        <m:d>
                          <m:dPr>
                            <m:ctrlPr>
                              <a:rPr lang="en-US" b="0" i="1" smtClean="0">
                                <a:latin typeface="Cambria Math" panose="02040503050406030204" pitchFamily="18" charset="0"/>
                              </a:rPr>
                            </m:ctrlPr>
                          </m:dPr>
                          <m:e>
                            <m:r>
                              <a:rPr lang="en-US" i="1">
                                <a:latin typeface="Cambria Math"/>
                              </a:rPr>
                              <m:t>𝑥</m:t>
                            </m:r>
                          </m:e>
                        </m:d>
                        <m:r>
                          <a:rPr lang="en-US" i="1">
                            <a:latin typeface="Cambria Math"/>
                          </a:rPr>
                          <m:t>𝑓</m:t>
                        </m:r>
                        <m:d>
                          <m:dPr>
                            <m:ctrlPr>
                              <a:rPr lang="en-US" i="1">
                                <a:latin typeface="Cambria Math" panose="02040503050406030204" pitchFamily="18" charset="0"/>
                              </a:rPr>
                            </m:ctrlPr>
                          </m:dPr>
                          <m:e>
                            <m:r>
                              <a:rPr lang="en-US" i="1">
                                <a:latin typeface="Cambria Math"/>
                              </a:rPr>
                              <m:t>𝑥</m:t>
                            </m:r>
                          </m:e>
                        </m:d>
                      </m:e>
                    </m:nary>
                  </m:oMath>
                </a14:m>
                <a:r>
                  <a:rPr lang="en-US" dirty="0"/>
                  <a:t> if </a:t>
                </a:r>
                <a14:m>
                  <m:oMath xmlns:m="http://schemas.openxmlformats.org/officeDocument/2006/math">
                    <m:r>
                      <a:rPr lang="en-US" i="1">
                        <a:latin typeface="Cambria Math"/>
                      </a:rPr>
                      <m:t>𝑋</m:t>
                    </m:r>
                  </m:oMath>
                </a14:m>
                <a:r>
                  <a:rPr lang="en-US" dirty="0"/>
                  <a:t> is discrete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𝑔</m:t>
                        </m:r>
                        <m:d>
                          <m:dPr>
                            <m:ctrlPr>
                              <a:rPr lang="en-US" i="1">
                                <a:latin typeface="Cambria Math" panose="02040503050406030204" pitchFamily="18" charset="0"/>
                              </a:rPr>
                            </m:ctrlPr>
                          </m:dPr>
                          <m:e>
                            <m:r>
                              <a:rPr lang="en-US" i="1">
                                <a:latin typeface="Cambria Math"/>
                              </a:rPr>
                              <m:t>𝑋</m:t>
                            </m:r>
                          </m:e>
                        </m:d>
                      </m:sub>
                    </m:sSub>
                    <m:r>
                      <a:rPr lang="en-US" i="1">
                        <a:latin typeface="Cambria Math"/>
                      </a:rPr>
                      <m:t>=</m:t>
                    </m:r>
                    <m:r>
                      <a:rPr lang="en-US" i="1">
                        <a:latin typeface="Cambria Math"/>
                      </a:rPr>
                      <m:t>𝐸</m:t>
                    </m:r>
                    <m:d>
                      <m:dPr>
                        <m:ctrlPr>
                          <a:rPr lang="en-US" i="1">
                            <a:latin typeface="Cambria Math" panose="02040503050406030204" pitchFamily="18" charset="0"/>
                          </a:rPr>
                        </m:ctrlPr>
                      </m:dPr>
                      <m:e>
                        <m:r>
                          <a:rPr lang="en-US" i="1">
                            <a:latin typeface="Cambria Math"/>
                          </a:rPr>
                          <m:t>𝑔</m:t>
                        </m:r>
                        <m:d>
                          <m:dPr>
                            <m:ctrlPr>
                              <a:rPr lang="en-US" i="1">
                                <a:latin typeface="Cambria Math" panose="02040503050406030204" pitchFamily="18" charset="0"/>
                              </a:rPr>
                            </m:ctrlPr>
                          </m:dPr>
                          <m:e>
                            <m:r>
                              <a:rPr lang="en-US" i="1">
                                <a:latin typeface="Cambria Math"/>
                              </a:rPr>
                              <m:t>𝑋</m:t>
                            </m:r>
                          </m:e>
                        </m:d>
                      </m:e>
                    </m:d>
                    <m:r>
                      <a:rPr lang="en-US" i="1">
                        <a:latin typeface="Cambria Math"/>
                      </a:rPr>
                      <m:t>=</m:t>
                    </m:r>
                    <m:nary>
                      <m:naryPr>
                        <m:limLoc m:val="undOvr"/>
                        <m:ctrlPr>
                          <a:rPr lang="en-US" i="1">
                            <a:latin typeface="Cambria Math" panose="02040503050406030204" pitchFamily="18" charset="0"/>
                          </a:rPr>
                        </m:ctrlPr>
                      </m:naryPr>
                      <m:sub>
                        <m:r>
                          <m:rPr>
                            <m:brk m:alnAt="24"/>
                          </m:rPr>
                          <a:rPr lang="en-US" i="1">
                            <a:latin typeface="Cambria Math"/>
                          </a:rPr>
                          <m:t>−</m:t>
                        </m:r>
                        <m:r>
                          <a:rPr lang="en-US" i="1">
                            <a:latin typeface="Cambria Math"/>
                          </a:rPr>
                          <m:t>∞</m:t>
                        </m:r>
                      </m:sub>
                      <m:sup>
                        <m:r>
                          <a:rPr lang="en-US" i="1">
                            <a:latin typeface="Cambria Math"/>
                          </a:rPr>
                          <m:t>∞</m:t>
                        </m:r>
                      </m:sup>
                      <m:e>
                        <m:r>
                          <a:rPr lang="en-US" b="0" i="1" smtClean="0">
                            <a:latin typeface="Cambria Math"/>
                          </a:rPr>
                          <m:t>𝑔</m:t>
                        </m:r>
                        <m:r>
                          <a:rPr lang="en-US" b="0" i="1" smtClean="0">
                            <a:latin typeface="Cambria Math"/>
                          </a:rPr>
                          <m:t>(</m:t>
                        </m:r>
                        <m:r>
                          <a:rPr lang="en-US" i="1">
                            <a:latin typeface="Cambria Math"/>
                          </a:rPr>
                          <m:t>𝑥</m:t>
                        </m:r>
                        <m:r>
                          <a:rPr lang="en-US" b="0" i="1" smtClean="0">
                            <a:latin typeface="Cambria Math"/>
                          </a:rPr>
                          <m:t>)</m:t>
                        </m:r>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r>
                  <a:rPr lang="en-US" dirty="0"/>
                  <a:t> if </a:t>
                </a:r>
                <a14:m>
                  <m:oMath xmlns:m="http://schemas.openxmlformats.org/officeDocument/2006/math">
                    <m:r>
                      <a:rPr lang="en-US" i="1">
                        <a:latin typeface="Cambria Math"/>
                      </a:rPr>
                      <m:t>𝑋</m:t>
                    </m:r>
                  </m:oMath>
                </a14:m>
                <a:r>
                  <a:rPr lang="en-US" dirty="0"/>
                  <a:t> is continuous</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2394" r="-741"/>
                </a:stretch>
              </a:blipFill>
            </p:spPr>
            <p:txBody>
              <a:bodyPr/>
              <a:lstStyle/>
              <a:p>
                <a:r>
                  <a:rPr lang="en-US">
                    <a:noFill/>
                  </a:rPr>
                  <a:t> </a:t>
                </a:r>
              </a:p>
            </p:txBody>
          </p:sp>
        </mc:Fallback>
      </mc:AlternateContent>
    </p:spTree>
    <p:extLst>
      <p:ext uri="{BB962C8B-B14F-4D97-AF65-F5344CB8AC3E}">
        <p14:creationId xmlns:p14="http://schemas.microsoft.com/office/powerpoint/2010/main" val="1353306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For the PMF used previously, find </a:t>
                </a:r>
                <a14:m>
                  <m:oMath xmlns:m="http://schemas.openxmlformats.org/officeDocument/2006/math">
                    <m:r>
                      <a:rPr lang="en-US" b="0" i="1" smtClean="0">
                        <a:latin typeface="Cambria Math"/>
                      </a:rPr>
                      <m:t>𝐸</m:t>
                    </m:r>
                    <m:r>
                      <a:rPr lang="en-US" b="0" i="1" smtClean="0">
                        <a:latin typeface="Cambria Math"/>
                      </a:rPr>
                      <m:t>(2</m:t>
                    </m:r>
                    <m:r>
                      <a:rPr lang="en-US" b="0" i="1" smtClean="0">
                        <a:latin typeface="Cambria Math"/>
                      </a:rPr>
                      <m:t>𝑋</m:t>
                    </m:r>
                    <m:r>
                      <a:rPr lang="en-US" b="0" i="1" smtClean="0">
                        <a:latin typeface="Cambria Math"/>
                      </a:rPr>
                      <m:t>−1)</m:t>
                    </m:r>
                  </m:oMath>
                </a14:m>
                <a:endParaRPr lang="en-US" dirty="0"/>
              </a:p>
              <a:p>
                <a:endParaRPr lang="en-US" dirty="0"/>
              </a:p>
              <a:p>
                <a:r>
                  <a:rPr lang="en-US" dirty="0"/>
                  <a:t>Example: given the density function</a:t>
                </a:r>
              </a:p>
              <a:p>
                <a:pPr marL="109728"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num>
                                <m:den>
                                  <m:r>
                                    <a:rPr lang="en-US" b="0" i="1" smtClean="0">
                                      <a:latin typeface="Cambria Math"/>
                                    </a:rPr>
                                    <m:t>3</m:t>
                                  </m:r>
                                </m:den>
                              </m:f>
                              <m:r>
                                <a:rPr lang="en-US" b="0" i="1" smtClean="0">
                                  <a:latin typeface="Cambria Math"/>
                                </a:rPr>
                                <m:t>,  −1&lt;</m:t>
                              </m:r>
                              <m:r>
                                <a:rPr lang="en-US" b="0" i="1" smtClean="0">
                                  <a:latin typeface="Cambria Math"/>
                                </a:rPr>
                                <m:t>𝑥</m:t>
                              </m:r>
                              <m:r>
                                <a:rPr lang="en-US" b="0" i="1" smtClean="0">
                                  <a:latin typeface="Cambria Math"/>
                                </a:rPr>
                                <m:t>&lt;2</m:t>
                              </m:r>
                            </m:e>
                            <m:e>
                              <m:r>
                                <a:rPr lang="en-US" b="0" i="1" smtClean="0">
                                  <a:latin typeface="Cambria Math"/>
                                </a:rPr>
                                <m:t>0,  </m:t>
                              </m:r>
                              <m:r>
                                <m:rPr>
                                  <m:sty m:val="p"/>
                                </m:rPr>
                                <a:rPr lang="en-US" b="0" i="0" smtClean="0">
                                  <a:latin typeface="Cambria Math"/>
                                </a:rPr>
                                <m:t>elsewhere</m:t>
                              </m:r>
                            </m:e>
                          </m:eqArr>
                        </m:e>
                      </m:d>
                    </m:oMath>
                  </m:oMathPara>
                </a14:m>
                <a:endParaRPr lang="en-US" dirty="0"/>
              </a:p>
              <a:p>
                <a:pPr marL="109728" indent="0">
                  <a:buNone/>
                </a:pPr>
                <a:endParaRPr lang="en-US" dirty="0"/>
              </a:p>
              <a:p>
                <a:r>
                  <a:rPr lang="en-US" dirty="0"/>
                  <a:t>Find </a:t>
                </a:r>
                <a14:m>
                  <m:oMath xmlns:m="http://schemas.openxmlformats.org/officeDocument/2006/math">
                    <m:r>
                      <a:rPr lang="en-US" b="0" i="1" smtClean="0">
                        <a:latin typeface="Cambria Math"/>
                      </a:rPr>
                      <m:t>𝐸</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oMath>
                </a14:m>
                <a:r>
                  <a:rPr lang="en-US" dirty="0"/>
                  <a:t>)</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b="-282"/>
                </a:stretch>
              </a:blipFill>
            </p:spPr>
            <p:txBody>
              <a:bodyPr/>
              <a:lstStyle/>
              <a:p>
                <a:r>
                  <a:rPr lang="en-US">
                    <a:noFill/>
                  </a:rPr>
                  <a:t> </a:t>
                </a:r>
              </a:p>
            </p:txBody>
          </p:sp>
        </mc:Fallback>
      </mc:AlternateContent>
    </p:spTree>
    <p:extLst>
      <p:ext uri="{BB962C8B-B14F-4D97-AF65-F5344CB8AC3E}">
        <p14:creationId xmlns:p14="http://schemas.microsoft.com/office/powerpoint/2010/main" val="3407055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can also calculate expected value when working with joint distributions.</a:t>
                </a:r>
              </a:p>
              <a:p>
                <a:endParaRPr lang="en-US" dirty="0"/>
              </a:p>
              <a:p>
                <a:r>
                  <a:rPr lang="en-US" dirty="0"/>
                  <a:t>Given random variables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the expected value of the random variable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𝑌</m:t>
                        </m:r>
                      </m:e>
                    </m:d>
                  </m:oMath>
                </a14:m>
                <a:r>
                  <a:rPr lang="en-US" dirty="0"/>
                  <a:t> is:</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𝑔</m:t>
                        </m:r>
                        <m:d>
                          <m:dPr>
                            <m:ctrlPr>
                              <a:rPr lang="en-US" i="1">
                                <a:latin typeface="Cambria Math" panose="02040503050406030204" pitchFamily="18" charset="0"/>
                              </a:rPr>
                            </m:ctrlPr>
                          </m:dPr>
                          <m:e>
                            <m:r>
                              <a:rPr lang="en-US" i="1">
                                <a:latin typeface="Cambria Math"/>
                              </a:rPr>
                              <m:t>𝑋</m:t>
                            </m:r>
                            <m:r>
                              <a:rPr lang="en-US" b="0" i="1" smtClean="0">
                                <a:latin typeface="Cambria Math"/>
                              </a:rPr>
                              <m:t>,</m:t>
                            </m:r>
                            <m:r>
                              <a:rPr lang="en-US" b="0" i="1" smtClean="0">
                                <a:latin typeface="Cambria Math"/>
                              </a:rPr>
                              <m:t>𝑌</m:t>
                            </m:r>
                          </m:e>
                        </m:d>
                      </m:sub>
                    </m:sSub>
                    <m:r>
                      <a:rPr lang="en-US" i="1">
                        <a:latin typeface="Cambria Math"/>
                      </a:rPr>
                      <m:t>=</m:t>
                    </m:r>
                    <m:r>
                      <a:rPr lang="en-US" i="1">
                        <a:latin typeface="Cambria Math"/>
                      </a:rPr>
                      <m:t>𝐸</m:t>
                    </m:r>
                    <m:d>
                      <m:dPr>
                        <m:ctrlPr>
                          <a:rPr lang="en-US" i="1">
                            <a:latin typeface="Cambria Math" panose="02040503050406030204" pitchFamily="18" charset="0"/>
                          </a:rPr>
                        </m:ctrlPr>
                      </m:dPr>
                      <m:e>
                        <m:r>
                          <a:rPr lang="en-US" i="1">
                            <a:latin typeface="Cambria Math"/>
                          </a:rPr>
                          <m:t>𝑔</m:t>
                        </m:r>
                        <m:d>
                          <m:dPr>
                            <m:ctrlPr>
                              <a:rPr lang="en-US" i="1">
                                <a:latin typeface="Cambria Math" panose="02040503050406030204" pitchFamily="18" charset="0"/>
                              </a:rPr>
                            </m:ctrlPr>
                          </m:dPr>
                          <m:e>
                            <m:r>
                              <a:rPr lang="en-US" i="1">
                                <a:latin typeface="Cambria Math"/>
                              </a:rPr>
                              <m:t>𝑋</m:t>
                            </m:r>
                            <m:r>
                              <a:rPr lang="en-US" b="0" i="1" smtClean="0">
                                <a:latin typeface="Cambria Math"/>
                              </a:rPr>
                              <m:t>,</m:t>
                            </m:r>
                            <m:r>
                              <a:rPr lang="en-US" b="0" i="1" smtClean="0">
                                <a:latin typeface="Cambria Math"/>
                              </a:rPr>
                              <m:t>𝑌</m:t>
                            </m:r>
                          </m:e>
                        </m:d>
                      </m:e>
                    </m:d>
                    <m:r>
                      <a:rPr lang="en-US" i="1">
                        <a:latin typeface="Cambria Math"/>
                      </a:rPr>
                      <m:t>=</m:t>
                    </m:r>
                    <m:nary>
                      <m:naryPr>
                        <m:chr m:val="∑"/>
                        <m:ctrlPr>
                          <a:rPr lang="en-US" i="1">
                            <a:latin typeface="Cambria Math" panose="02040503050406030204" pitchFamily="18" charset="0"/>
                          </a:rPr>
                        </m:ctrlPr>
                      </m:naryPr>
                      <m:sub>
                        <m:r>
                          <m:rPr>
                            <m:brk m:alnAt="23"/>
                          </m:rPr>
                          <a:rPr lang="en-US" i="1">
                            <a:latin typeface="Cambria Math"/>
                          </a:rPr>
                          <m:t>𝑥</m:t>
                        </m:r>
                      </m:sub>
                      <m:sup>
                        <m:r>
                          <a:rPr lang="en-US" i="1">
                            <a:latin typeface="Cambria Math"/>
                          </a:rPr>
                          <m:t> </m:t>
                        </m:r>
                      </m:sup>
                      <m:e>
                        <m:nary>
                          <m:naryPr>
                            <m:chr m:val="∑"/>
                            <m:supHide m:val="on"/>
                            <m:ctrlPr>
                              <a:rPr lang="en-US" i="1" smtClean="0">
                                <a:latin typeface="Cambria Math" panose="02040503050406030204" pitchFamily="18" charset="0"/>
                              </a:rPr>
                            </m:ctrlPr>
                          </m:naryPr>
                          <m:sub>
                            <m:r>
                              <m:rPr>
                                <m:brk m:alnAt="7"/>
                              </m:rPr>
                              <a:rPr lang="en-US" b="0" i="1" smtClean="0">
                                <a:latin typeface="Cambria Math"/>
                              </a:rPr>
                              <m:t>𝑦</m:t>
                            </m:r>
                          </m:sub>
                          <m:sup/>
                          <m:e>
                            <m:r>
                              <a:rPr lang="en-US" i="1">
                                <a:latin typeface="Cambria Math"/>
                              </a:rPr>
                              <m:t>𝑔</m:t>
                            </m:r>
                            <m:d>
                              <m:dPr>
                                <m:ctrlPr>
                                  <a:rPr lang="en-US" i="1">
                                    <a:latin typeface="Cambria Math" panose="02040503050406030204" pitchFamily="18" charset="0"/>
                                  </a:rPr>
                                </m:ctrlPr>
                              </m:dPr>
                              <m:e>
                                <m:r>
                                  <a:rPr lang="en-US" i="1">
                                    <a:latin typeface="Cambria Math"/>
                                  </a:rPr>
                                  <m:t>𝑥</m:t>
                                </m:r>
                                <m:r>
                                  <a:rPr lang="en-US" b="0" i="1" smtClean="0">
                                    <a:latin typeface="Cambria Math"/>
                                  </a:rPr>
                                  <m:t>,</m:t>
                                </m:r>
                                <m:r>
                                  <a:rPr lang="en-US" b="0" i="1" smtClean="0">
                                    <a:latin typeface="Cambria Math"/>
                                  </a:rPr>
                                  <m:t>𝑦</m:t>
                                </m:r>
                              </m:e>
                            </m:d>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b="0" i="1" smtClean="0">
                                    <a:latin typeface="Cambria Math"/>
                                  </a:rPr>
                                  <m:t>,</m:t>
                                </m:r>
                                <m:r>
                                  <a:rPr lang="en-US" b="0" i="1" smtClean="0">
                                    <a:latin typeface="Cambria Math"/>
                                  </a:rPr>
                                  <m:t>𝑦</m:t>
                                </m:r>
                              </m:e>
                            </m:d>
                          </m:e>
                        </m:nary>
                      </m:e>
                    </m:nary>
                  </m:oMath>
                </a14:m>
                <a:r>
                  <a:rPr lang="en-US" dirty="0"/>
                  <a:t> if </a:t>
                </a:r>
                <a14:m>
                  <m:oMath xmlns:m="http://schemas.openxmlformats.org/officeDocument/2006/math">
                    <m:r>
                      <a:rPr lang="en-US" i="1">
                        <a:latin typeface="Cambria Math"/>
                      </a:rPr>
                      <m:t>𝑋</m:t>
                    </m:r>
                    <m:r>
                      <a:rPr lang="en-US" b="0" i="1" smtClean="0">
                        <a:latin typeface="Cambria Math"/>
                      </a:rPr>
                      <m:t>, </m:t>
                    </m:r>
                    <m:r>
                      <a:rPr lang="en-US" b="0" i="1" smtClean="0">
                        <a:latin typeface="Cambria Math"/>
                      </a:rPr>
                      <m:t>𝑌</m:t>
                    </m:r>
                  </m:oMath>
                </a14:m>
                <a:r>
                  <a:rPr lang="en-US" dirty="0"/>
                  <a:t> are discrete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𝑔</m:t>
                        </m:r>
                        <m:d>
                          <m:dPr>
                            <m:ctrlPr>
                              <a:rPr lang="en-US" i="1">
                                <a:latin typeface="Cambria Math" panose="02040503050406030204" pitchFamily="18" charset="0"/>
                              </a:rPr>
                            </m:ctrlPr>
                          </m:dPr>
                          <m:e>
                            <m:r>
                              <a:rPr lang="en-US" i="1">
                                <a:latin typeface="Cambria Math"/>
                              </a:rPr>
                              <m:t>𝑋</m:t>
                            </m:r>
                            <m:r>
                              <a:rPr lang="en-US" i="1">
                                <a:latin typeface="Cambria Math"/>
                              </a:rPr>
                              <m:t>,</m:t>
                            </m:r>
                            <m:r>
                              <a:rPr lang="en-US" i="1">
                                <a:latin typeface="Cambria Math"/>
                              </a:rPr>
                              <m:t>𝑌</m:t>
                            </m:r>
                          </m:e>
                        </m:d>
                      </m:sub>
                    </m:sSub>
                    <m:r>
                      <a:rPr lang="en-US" i="1">
                        <a:latin typeface="Cambria Math"/>
                      </a:rPr>
                      <m:t>=</m:t>
                    </m:r>
                    <m:r>
                      <a:rPr lang="en-US" i="1">
                        <a:latin typeface="Cambria Math"/>
                      </a:rPr>
                      <m:t>𝐸</m:t>
                    </m:r>
                    <m:d>
                      <m:dPr>
                        <m:ctrlPr>
                          <a:rPr lang="en-US" i="1">
                            <a:latin typeface="Cambria Math" panose="02040503050406030204" pitchFamily="18" charset="0"/>
                          </a:rPr>
                        </m:ctrlPr>
                      </m:dPr>
                      <m:e>
                        <m:r>
                          <a:rPr lang="en-US" i="1">
                            <a:latin typeface="Cambria Math"/>
                          </a:rPr>
                          <m:t>𝑔</m:t>
                        </m:r>
                        <m:d>
                          <m:dPr>
                            <m:ctrlPr>
                              <a:rPr lang="en-US" i="1">
                                <a:latin typeface="Cambria Math" panose="02040503050406030204" pitchFamily="18" charset="0"/>
                              </a:rPr>
                            </m:ctrlPr>
                          </m:dPr>
                          <m:e>
                            <m:r>
                              <a:rPr lang="en-US" i="1">
                                <a:latin typeface="Cambria Math"/>
                              </a:rPr>
                              <m:t>𝑋</m:t>
                            </m:r>
                            <m:r>
                              <a:rPr lang="en-US" i="1">
                                <a:latin typeface="Cambria Math"/>
                              </a:rPr>
                              <m:t>,</m:t>
                            </m:r>
                            <m:r>
                              <a:rPr lang="en-US" i="1">
                                <a:latin typeface="Cambria Math"/>
                              </a:rPr>
                              <m:t>𝑌</m:t>
                            </m:r>
                          </m:e>
                        </m:d>
                      </m:e>
                    </m:d>
                    <m:r>
                      <a:rPr lang="en-US" i="1">
                        <a:latin typeface="Cambria Math"/>
                      </a:rPr>
                      <m:t>=</m:t>
                    </m:r>
                    <m:nary>
                      <m:naryPr>
                        <m:limLoc m:val="undOvr"/>
                        <m:ctrlPr>
                          <a:rPr lang="en-US" i="1">
                            <a:latin typeface="Cambria Math" panose="02040503050406030204" pitchFamily="18" charset="0"/>
                          </a:rPr>
                        </m:ctrlPr>
                      </m:naryPr>
                      <m:sub>
                        <m:r>
                          <m:rPr>
                            <m:brk m:alnAt="24"/>
                          </m:rPr>
                          <a:rPr lang="en-US" i="1">
                            <a:latin typeface="Cambria Math"/>
                          </a:rPr>
                          <m:t>−</m:t>
                        </m:r>
                        <m:r>
                          <a:rPr lang="en-US" i="1">
                            <a:latin typeface="Cambria Math"/>
                          </a:rPr>
                          <m:t>∞</m:t>
                        </m:r>
                      </m:sub>
                      <m:sup>
                        <m:r>
                          <a:rPr lang="en-US" i="1">
                            <a:latin typeface="Cambria Math"/>
                          </a:rPr>
                          <m:t>∞</m:t>
                        </m:r>
                      </m:sup>
                      <m:e>
                        <m:nary>
                          <m:naryPr>
                            <m:limLoc m:val="undOvr"/>
                            <m:ctrlPr>
                              <a:rPr lang="en-US" i="1" smtClean="0">
                                <a:latin typeface="Cambria Math" panose="02040503050406030204" pitchFamily="18" charset="0"/>
                              </a:rPr>
                            </m:ctrlPr>
                          </m:naryPr>
                          <m:sub>
                            <m:r>
                              <m:rPr>
                                <m:brk m:alnAt="24"/>
                              </m:rPr>
                              <a:rPr lang="en-US" b="0" i="1" smtClean="0">
                                <a:latin typeface="Cambria Math"/>
                              </a:rPr>
                              <m:t>−</m:t>
                            </m:r>
                            <m:r>
                              <a:rPr lang="en-US" b="0" i="1" smtClean="0">
                                <a:latin typeface="Cambria Math"/>
                              </a:rPr>
                              <m:t>∞</m:t>
                            </m:r>
                          </m:sub>
                          <m:sup>
                            <m:r>
                              <a:rPr lang="en-US" b="0" i="1" smtClean="0">
                                <a:latin typeface="Cambria Math"/>
                              </a:rPr>
                              <m:t>∞</m:t>
                            </m:r>
                          </m:sup>
                          <m:e>
                            <m:r>
                              <a:rPr lang="en-US" b="0" i="1" smtClean="0">
                                <a:latin typeface="Cambria Math"/>
                              </a:rPr>
                              <m:t> </m:t>
                            </m:r>
                          </m:e>
                        </m:nary>
                        <m:r>
                          <a:rPr lang="en-US" i="1">
                            <a:latin typeface="Cambria Math"/>
                          </a:rPr>
                          <m:t>𝑔</m:t>
                        </m:r>
                        <m:r>
                          <a:rPr lang="en-US" i="1">
                            <a:latin typeface="Cambria Math"/>
                          </a:rPr>
                          <m:t>(</m:t>
                        </m:r>
                        <m:r>
                          <a:rPr lang="en-US" i="1">
                            <a:latin typeface="Cambria Math"/>
                          </a:rPr>
                          <m:t>𝑥</m:t>
                        </m:r>
                        <m:r>
                          <a:rPr lang="en-US" b="0" i="1" smtClean="0">
                            <a:latin typeface="Cambria Math"/>
                          </a:rPr>
                          <m:t>,</m:t>
                        </m:r>
                        <m:r>
                          <a:rPr lang="en-US" b="0" i="1" smtClean="0">
                            <a:latin typeface="Cambria Math"/>
                          </a:rPr>
                          <m:t>𝑦</m:t>
                        </m:r>
                        <m:r>
                          <a:rPr lang="en-US" i="1">
                            <a:latin typeface="Cambria Math"/>
                          </a:rPr>
                          <m:t>)</m:t>
                        </m:r>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b="0" i="1" smtClean="0">
                                <a:latin typeface="Cambria Math"/>
                              </a:rPr>
                              <m:t>,</m:t>
                            </m:r>
                            <m:r>
                              <a:rPr lang="en-US" b="0" i="1" smtClean="0">
                                <a:latin typeface="Cambria Math"/>
                              </a:rPr>
                              <m:t>𝑦</m:t>
                            </m:r>
                          </m:e>
                        </m:d>
                        <m:r>
                          <a:rPr lang="en-US" i="1">
                            <a:latin typeface="Cambria Math"/>
                          </a:rPr>
                          <m:t>𝑑𝑥</m:t>
                        </m:r>
                        <m:r>
                          <a:rPr lang="en-US" b="0" i="1" smtClean="0">
                            <a:latin typeface="Cambria Math"/>
                          </a:rPr>
                          <m:t>𝑑𝑦</m:t>
                        </m:r>
                      </m:e>
                    </m:nary>
                  </m:oMath>
                </a14:m>
                <a:r>
                  <a:rPr lang="en-US" dirty="0"/>
                  <a:t> if </a:t>
                </a:r>
                <a14:m>
                  <m:oMath xmlns:m="http://schemas.openxmlformats.org/officeDocument/2006/math">
                    <m:r>
                      <a:rPr lang="en-US" i="1">
                        <a:latin typeface="Cambria Math"/>
                      </a:rPr>
                      <m:t>𝑋</m:t>
                    </m:r>
                    <m:r>
                      <a:rPr lang="en-US" b="0" i="0" smtClean="0">
                        <a:latin typeface="Cambria Math"/>
                      </a:rPr>
                      <m:t>,</m:t>
                    </m:r>
                    <m:r>
                      <a:rPr lang="en-US" b="0" i="1" smtClean="0">
                        <a:latin typeface="Cambria Math"/>
                      </a:rPr>
                      <m:t>𝑌</m:t>
                    </m:r>
                  </m:oMath>
                </a14:m>
                <a:r>
                  <a:rPr lang="en-US" dirty="0"/>
                  <a:t> are continuous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1400989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dirty="0"/>
                  <a:t>If we have a joint distribution for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and want to find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oMath>
                </a14:m>
                <a:r>
                  <a:rPr lang="en-US" dirty="0"/>
                  <a:t> and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𝑌</m:t>
                        </m:r>
                      </m:e>
                    </m:d>
                  </m:oMath>
                </a14:m>
                <a:r>
                  <a:rPr lang="en-US" dirty="0"/>
                  <a:t>:</a:t>
                </a:r>
              </a:p>
              <a:p>
                <a:pPr marL="109728" indent="0">
                  <a:buNone/>
                </a:pPr>
                <a:endParaRPr lang="en-US" dirty="0"/>
              </a:p>
              <a:p>
                <a:pPr marL="109728" indent="0">
                  <a:buNone/>
                </a:pPr>
                <a14:m>
                  <m:oMathPara xmlns:m="http://schemas.openxmlformats.org/officeDocument/2006/math">
                    <m:oMathParaPr>
                      <m:jc m:val="centerGroup"/>
                    </m:oMathParaPr>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i="1">
                          <a:latin typeface="Cambria Math"/>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nary>
                                <m:naryPr>
                                  <m:chr m:val="∑"/>
                                  <m:ctrlPr>
                                    <a:rPr lang="en-US" i="1">
                                      <a:latin typeface="Cambria Math" panose="02040503050406030204" pitchFamily="18" charset="0"/>
                                    </a:rPr>
                                  </m:ctrlPr>
                                </m:naryPr>
                                <m:sub>
                                  <m:r>
                                    <m:rPr>
                                      <m:brk m:alnAt="23"/>
                                    </m:rPr>
                                    <a:rPr lang="en-US" i="1">
                                      <a:latin typeface="Cambria Math"/>
                                    </a:rPr>
                                    <m:t>𝑥</m:t>
                                  </m:r>
                                </m:sub>
                                <m:sup>
                                  <m:r>
                                    <a:rPr lang="en-US" i="1">
                                      <a:latin typeface="Cambria Math"/>
                                    </a:rPr>
                                    <m:t> </m:t>
                                  </m:r>
                                </m:sup>
                                <m:e>
                                  <m:nary>
                                    <m:naryPr>
                                      <m:chr m:val="∑"/>
                                      <m:supHide m:val="on"/>
                                      <m:ctrlPr>
                                        <a:rPr lang="en-US" i="1">
                                          <a:latin typeface="Cambria Math" panose="02040503050406030204" pitchFamily="18" charset="0"/>
                                        </a:rPr>
                                      </m:ctrlPr>
                                    </m:naryPr>
                                    <m:sub>
                                      <m:r>
                                        <m:rPr>
                                          <m:brk m:alnAt="7"/>
                                        </m:rPr>
                                        <a:rPr lang="en-US" i="1">
                                          <a:latin typeface="Cambria Math"/>
                                        </a:rPr>
                                        <m:t>𝑦</m:t>
                                      </m:r>
                                    </m:sub>
                                    <m:sup/>
                                    <m:e>
                                      <m:r>
                                        <a:rPr lang="en-US" i="1">
                                          <a:latin typeface="Cambria Math"/>
                                        </a:rPr>
                                        <m:t>𝑥𝑓</m:t>
                                      </m:r>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e>
                                      </m:d>
                                    </m:e>
                                  </m:nary>
                                </m:e>
                              </m:nary>
                              <m:r>
                                <a:rPr lang="en-US" i="1">
                                  <a:latin typeface="Cambria Math"/>
                                </a:rPr>
                                <m:t>=</m:t>
                              </m:r>
                              <m:nary>
                                <m:naryPr>
                                  <m:chr m:val="∑"/>
                                  <m:supHide m:val="on"/>
                                  <m:ctrlPr>
                                    <a:rPr lang="en-US" i="1">
                                      <a:latin typeface="Cambria Math" panose="02040503050406030204" pitchFamily="18" charset="0"/>
                                    </a:rPr>
                                  </m:ctrlPr>
                                </m:naryPr>
                                <m:sub>
                                  <m:r>
                                    <m:rPr>
                                      <m:brk m:alnAt="7"/>
                                    </m:rPr>
                                    <a:rPr lang="en-US" i="1">
                                      <a:latin typeface="Cambria Math"/>
                                    </a:rPr>
                                    <m:t>𝑥</m:t>
                                  </m:r>
                                </m:sub>
                                <m:sup/>
                                <m:e>
                                  <m:r>
                                    <a:rPr lang="en-US" i="1">
                                      <a:latin typeface="Cambria Math"/>
                                    </a:rPr>
                                    <m:t>𝑥𝑔</m:t>
                                  </m:r>
                                  <m:r>
                                    <a:rPr lang="en-US" i="1">
                                      <a:latin typeface="Cambria Math"/>
                                    </a:rPr>
                                    <m:t>(</m:t>
                                  </m:r>
                                  <m:r>
                                    <a:rPr lang="en-US" i="1">
                                      <a:latin typeface="Cambria Math"/>
                                    </a:rPr>
                                    <m:t>𝑥</m:t>
                                  </m:r>
                                  <m:r>
                                    <a:rPr lang="en-US" i="1">
                                      <a:latin typeface="Cambria Math"/>
                                    </a:rPr>
                                    <m:t>)</m:t>
                                  </m:r>
                                </m:e>
                              </m:nary>
                            </m:e>
                            <m:e>
                              <m:nary>
                                <m:naryPr>
                                  <m:limLoc m:val="undOvr"/>
                                  <m:ctrlPr>
                                    <a:rPr lang="en-US" i="1">
                                      <a:latin typeface="Cambria Math" panose="02040503050406030204" pitchFamily="18" charset="0"/>
                                    </a:rPr>
                                  </m:ctrlPr>
                                </m:naryPr>
                                <m:sub>
                                  <m:r>
                                    <m:rPr>
                                      <m:brk m:alnAt="24"/>
                                    </m:rPr>
                                    <a:rPr lang="en-US" i="1">
                                      <a:latin typeface="Cambria Math"/>
                                    </a:rPr>
                                    <m:t>−</m:t>
                                  </m:r>
                                  <m:r>
                                    <a:rPr lang="en-US" i="1">
                                      <a:latin typeface="Cambria Math"/>
                                    </a:rPr>
                                    <m:t>∞</m:t>
                                  </m:r>
                                </m:sub>
                                <m:sup>
                                  <m:r>
                                    <a:rPr lang="en-US" i="1">
                                      <a:latin typeface="Cambria Math"/>
                                    </a:rPr>
                                    <m:t>∞</m:t>
                                  </m:r>
                                </m:sup>
                                <m:e>
                                  <m:nary>
                                    <m:naryPr>
                                      <m:limLoc m:val="undOvr"/>
                                      <m:ctrlPr>
                                        <a:rPr lang="en-US" i="1">
                                          <a:latin typeface="Cambria Math" panose="02040503050406030204" pitchFamily="18" charset="0"/>
                                        </a:rPr>
                                      </m:ctrlPr>
                                    </m:naryPr>
                                    <m:sub>
                                      <m:r>
                                        <m:rPr>
                                          <m:brk m:alnAt="24"/>
                                        </m:rPr>
                                        <a:rPr lang="en-US" i="1">
                                          <a:latin typeface="Cambria Math"/>
                                        </a:rPr>
                                        <m:t>−</m:t>
                                      </m:r>
                                      <m:r>
                                        <a:rPr lang="en-US" i="1">
                                          <a:latin typeface="Cambria Math"/>
                                        </a:rPr>
                                        <m:t>∞</m:t>
                                      </m:r>
                                    </m:sub>
                                    <m:sup>
                                      <m:r>
                                        <a:rPr lang="en-US" i="1">
                                          <a:latin typeface="Cambria Math"/>
                                        </a:rPr>
                                        <m:t>∞</m:t>
                                      </m:r>
                                    </m:sup>
                                    <m:e>
                                      <m:r>
                                        <a:rPr lang="en-US" i="1">
                                          <a:latin typeface="Cambria Math"/>
                                        </a:rPr>
                                        <m:t> </m:t>
                                      </m:r>
                                    </m:e>
                                  </m:nary>
                                  <m:r>
                                    <a:rPr lang="en-US" b="0" i="1" smtClean="0">
                                      <a:latin typeface="Cambria Math"/>
                                    </a:rPr>
                                    <m:t>𝑥</m:t>
                                  </m:r>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e>
                                  </m:d>
                                  <m:r>
                                    <a:rPr lang="en-US" i="1">
                                      <a:latin typeface="Cambria Math"/>
                                    </a:rPr>
                                    <m:t>𝑑𝑥𝑑𝑦</m:t>
                                  </m:r>
                                </m:e>
                              </m:nary>
                              <m:r>
                                <a:rPr lang="en-US" b="0" i="1" smtClean="0">
                                  <a:latin typeface="Cambria Math"/>
                                </a:rPr>
                                <m:t>=</m:t>
                              </m:r>
                              <m:nary>
                                <m:naryPr>
                                  <m:limLoc m:val="undOvr"/>
                                  <m:ctrlPr>
                                    <a:rPr lang="en-US" b="0" i="1" smtClean="0">
                                      <a:latin typeface="Cambria Math" panose="02040503050406030204" pitchFamily="18" charset="0"/>
                                    </a:rPr>
                                  </m:ctrlPr>
                                </m:naryPr>
                                <m:sub>
                                  <m:r>
                                    <m:rPr>
                                      <m:brk m:alnAt="24"/>
                                    </m:rPr>
                                    <a:rPr lang="en-US" b="0" i="1" smtClean="0">
                                      <a:latin typeface="Cambria Math"/>
                                    </a:rPr>
                                    <m:t>−</m:t>
                                  </m:r>
                                  <m:r>
                                    <a:rPr lang="en-US" b="0" i="1" smtClean="0">
                                      <a:latin typeface="Cambria Math"/>
                                    </a:rPr>
                                    <m:t>∞</m:t>
                                  </m:r>
                                </m:sub>
                                <m:sup>
                                  <m:r>
                                    <a:rPr lang="en-US" b="0" i="1" smtClean="0">
                                      <a:latin typeface="Cambria Math"/>
                                    </a:rPr>
                                    <m:t>∞</m:t>
                                  </m:r>
                                </m:sup>
                                <m:e>
                                  <m:r>
                                    <a:rPr lang="en-US" b="0" i="1" smtClean="0">
                                      <a:latin typeface="Cambria Math"/>
                                    </a:rPr>
                                    <m:t>𝑥𝑔</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𝑑𝑥</m:t>
                                  </m:r>
                                </m:e>
                              </m:nary>
                            </m:e>
                          </m:eqArr>
                        </m:e>
                      </m:d>
                    </m:oMath>
                  </m:oMathPara>
                </a14:m>
                <a:endParaRPr lang="en-US" dirty="0"/>
              </a:p>
              <a:p>
                <a:endParaRPr lang="en-US" dirty="0"/>
              </a:p>
              <a:p>
                <a:r>
                  <a:rPr lang="en-US" dirty="0"/>
                  <a:t>And similarly for </a:t>
                </a:r>
                <a14:m>
                  <m:oMath xmlns:m="http://schemas.openxmlformats.org/officeDocument/2006/math">
                    <m:r>
                      <a:rPr lang="en-US" b="0" i="1" smtClean="0">
                        <a:latin typeface="Cambria Math"/>
                      </a:rPr>
                      <m:t>𝐸</m:t>
                    </m:r>
                    <m:r>
                      <a:rPr lang="en-US" b="0" i="1" smtClean="0">
                        <a:latin typeface="Cambria Math"/>
                      </a:rPr>
                      <m:t>(</m:t>
                    </m:r>
                    <m:r>
                      <a:rPr lang="en-US" b="0" i="1" smtClean="0">
                        <a:latin typeface="Cambria Math"/>
                      </a:rPr>
                      <m:t>𝑌</m:t>
                    </m:r>
                    <m:r>
                      <a:rPr lang="en-US" b="0" i="1" smtClean="0">
                        <a:latin typeface="Cambria Math"/>
                      </a:rPr>
                      <m:t>)</m:t>
                    </m:r>
                  </m:oMath>
                </a14:m>
                <a:r>
                  <a:rPr lang="en-US" dirty="0"/>
                  <a:t>, where we use the marginal distribution for </a:t>
                </a:r>
                <a14:m>
                  <m:oMath xmlns:m="http://schemas.openxmlformats.org/officeDocument/2006/math">
                    <m:r>
                      <a:rPr lang="en-US" b="0" i="1" smtClean="0">
                        <a:latin typeface="Cambria Math"/>
                      </a:rPr>
                      <m:t>𝑌</m:t>
                    </m:r>
                  </m:oMath>
                </a14:m>
                <a:r>
                  <a:rPr lang="en-US" dirty="0"/>
                  <a:t>, </a:t>
                </a:r>
                <a14:m>
                  <m:oMath xmlns:m="http://schemas.openxmlformats.org/officeDocument/2006/math">
                    <m:r>
                      <a:rPr lang="en-US" b="0" i="1" smtClean="0">
                        <a:latin typeface="Cambria Math"/>
                      </a:rPr>
                      <m:t>h</m:t>
                    </m:r>
                    <m:r>
                      <a:rPr lang="en-US" b="0" i="1" smtClean="0">
                        <a:latin typeface="Cambria Math"/>
                      </a:rPr>
                      <m:t>(</m:t>
                    </m:r>
                    <m:r>
                      <a:rPr lang="en-US" b="0" i="1" smtClean="0">
                        <a:latin typeface="Cambria Math"/>
                      </a:rPr>
                      <m:t>𝑦</m:t>
                    </m:r>
                    <m:r>
                      <a:rPr lang="en-US" b="0" i="1" smtClean="0">
                        <a:latin typeface="Cambria Math"/>
                      </a:rPr>
                      <m:t>)</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972" b="-986"/>
                </a:stretch>
              </a:blipFill>
            </p:spPr>
            <p:txBody>
              <a:bodyPr/>
              <a:lstStyle/>
              <a:p>
                <a:r>
                  <a:rPr lang="en-US">
                    <a:noFill/>
                  </a:rPr>
                  <a:t> </a:t>
                </a:r>
              </a:p>
            </p:txBody>
          </p:sp>
        </mc:Fallback>
      </mc:AlternateContent>
    </p:spTree>
    <p:extLst>
      <p:ext uri="{BB962C8B-B14F-4D97-AF65-F5344CB8AC3E}">
        <p14:creationId xmlns:p14="http://schemas.microsoft.com/office/powerpoint/2010/main" val="544128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Given the joint PDF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𝑥</m:t>
                        </m:r>
                        <m:d>
                          <m:dPr>
                            <m:ctrlPr>
                              <a:rPr lang="en-US" b="0" i="1" smtClean="0">
                                <a:latin typeface="Cambria Math" panose="02040503050406030204" pitchFamily="18" charset="0"/>
                              </a:rPr>
                            </m:ctrlPr>
                          </m:dPr>
                          <m:e>
                            <m:r>
                              <a:rPr lang="en-US" b="0" i="1" smtClean="0">
                                <a:latin typeface="Cambria Math"/>
                              </a:rPr>
                              <m:t>1+3</m:t>
                            </m:r>
                            <m:sSup>
                              <m:sSupPr>
                                <m:ctrlPr>
                                  <a:rPr lang="en-US" b="0" i="1" smtClean="0">
                                    <a:latin typeface="Cambria Math" panose="02040503050406030204" pitchFamily="18" charset="0"/>
                                  </a:rPr>
                                </m:ctrlPr>
                              </m:sSupPr>
                              <m:e>
                                <m:r>
                                  <a:rPr lang="en-US" b="0" i="1" smtClean="0">
                                    <a:latin typeface="Cambria Math"/>
                                  </a:rPr>
                                  <m:t>𝑦</m:t>
                                </m:r>
                              </m:e>
                              <m:sup>
                                <m:r>
                                  <a:rPr lang="en-US" b="0" i="1" smtClean="0">
                                    <a:latin typeface="Cambria Math"/>
                                  </a:rPr>
                                  <m:t>2</m:t>
                                </m:r>
                              </m:sup>
                            </m:sSup>
                          </m:e>
                        </m:d>
                      </m:num>
                      <m:den>
                        <m:r>
                          <a:rPr lang="en-US" b="0" i="1" smtClean="0">
                            <a:latin typeface="Cambria Math"/>
                          </a:rPr>
                          <m:t>4</m:t>
                        </m:r>
                      </m:den>
                    </m:f>
                  </m:oMath>
                </a14:m>
                <a:r>
                  <a:rPr lang="en-US" dirty="0"/>
                  <a:t>, </a:t>
                </a:r>
                <a14:m>
                  <m:oMath xmlns:m="http://schemas.openxmlformats.org/officeDocument/2006/math">
                    <m:r>
                      <a:rPr lang="en-US" b="0" i="1" dirty="0" smtClean="0">
                        <a:latin typeface="Cambria Math"/>
                      </a:rPr>
                      <m:t>0&lt;</m:t>
                    </m:r>
                    <m:r>
                      <a:rPr lang="en-US" b="0" i="1" dirty="0" smtClean="0">
                        <a:latin typeface="Cambria Math"/>
                      </a:rPr>
                      <m:t>𝑥</m:t>
                    </m:r>
                    <m:r>
                      <a:rPr lang="en-US" b="0" i="1" dirty="0" smtClean="0">
                        <a:latin typeface="Cambria Math"/>
                      </a:rPr>
                      <m:t>&lt;2, 0&lt;</m:t>
                    </m:r>
                    <m:r>
                      <a:rPr lang="en-US" b="0" i="1" dirty="0" smtClean="0">
                        <a:latin typeface="Cambria Math"/>
                      </a:rPr>
                      <m:t>𝑦</m:t>
                    </m:r>
                    <m:r>
                      <a:rPr lang="en-US" b="0" i="1" dirty="0" smtClean="0">
                        <a:latin typeface="Cambria Math"/>
                      </a:rPr>
                      <m:t>&lt;1</m:t>
                    </m:r>
                  </m:oMath>
                </a14:m>
                <a:r>
                  <a:rPr lang="en-US" dirty="0"/>
                  <a:t> and </a:t>
                </a:r>
                <a14:m>
                  <m:oMath xmlns:m="http://schemas.openxmlformats.org/officeDocument/2006/math">
                    <m:r>
                      <a:rPr lang="en-US" b="0" i="1" smtClean="0">
                        <a:latin typeface="Cambria Math"/>
                      </a:rPr>
                      <m:t>0</m:t>
                    </m:r>
                  </m:oMath>
                </a14:m>
                <a:r>
                  <a:rPr lang="en-US" dirty="0"/>
                  <a:t> elsewhere, find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𝑌</m:t>
                            </m:r>
                          </m:num>
                          <m:den>
                            <m:r>
                              <a:rPr lang="en-US" b="0" i="1" smtClean="0">
                                <a:latin typeface="Cambria Math"/>
                              </a:rPr>
                              <m:t>𝑋</m:t>
                            </m:r>
                          </m:den>
                        </m:f>
                      </m:e>
                    </m:d>
                    <m:r>
                      <a:rPr lang="en-US" b="0" i="1" smtClean="0">
                        <a:latin typeface="Cambria Math"/>
                      </a:rPr>
                      <m:t>, </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𝑌</m:t>
                        </m:r>
                      </m:e>
                    </m:d>
                    <m:r>
                      <a:rPr lang="en-US" b="0" i="1" smtClean="0">
                        <a:latin typeface="Cambria Math"/>
                      </a:rPr>
                      <m:t>,</m:t>
                    </m:r>
                  </m:oMath>
                </a14:m>
                <a:r>
                  <a:rPr lang="en-US" dirty="0"/>
                  <a:t> and </a:t>
                </a:r>
                <a14:m>
                  <m:oMath xmlns:m="http://schemas.openxmlformats.org/officeDocument/2006/math">
                    <m:r>
                      <a:rPr lang="en-US" b="0" i="1" smtClean="0">
                        <a:latin typeface="Cambria Math"/>
                      </a:rPr>
                      <m:t>𝐸</m:t>
                    </m:r>
                    <m:r>
                      <a:rPr lang="en-US" b="0" i="1" smtClean="0">
                        <a:latin typeface="Cambria Math"/>
                      </a:rPr>
                      <m:t>(</m:t>
                    </m:r>
                    <m:r>
                      <a:rPr lang="en-US" b="0" i="1" smtClean="0">
                        <a:latin typeface="Cambria Math"/>
                      </a:rPr>
                      <m:t>𝑋</m:t>
                    </m:r>
                    <m:r>
                      <a:rPr lang="en-US" b="0" i="1" smtClean="0">
                        <a:latin typeface="Cambria Math"/>
                      </a:rPr>
                      <m:t>)</m:t>
                    </m:r>
                  </m:oMath>
                </a14:m>
                <a:r>
                  <a:rPr lang="en-US" dirty="0"/>
                  <a: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370"/>
                </a:stretch>
              </a:blipFill>
            </p:spPr>
            <p:txBody>
              <a:bodyPr/>
              <a:lstStyle/>
              <a:p>
                <a:r>
                  <a:rPr lang="en-US">
                    <a:noFill/>
                  </a:rPr>
                  <a:t> </a:t>
                </a:r>
              </a:p>
            </p:txBody>
          </p:sp>
        </mc:Fallback>
      </mc:AlternateContent>
    </p:spTree>
    <p:extLst>
      <p:ext uri="{BB962C8B-B14F-4D97-AF65-F5344CB8AC3E}">
        <p14:creationId xmlns:p14="http://schemas.microsoft.com/office/powerpoint/2010/main" val="1369152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p:sp>
        <p:nvSpPr>
          <p:cNvPr id="3" name="Content Placeholder 2"/>
          <p:cNvSpPr>
            <a:spLocks noGrp="1"/>
          </p:cNvSpPr>
          <p:nvPr>
            <p:ph idx="1"/>
          </p:nvPr>
        </p:nvSpPr>
        <p:spPr/>
        <p:txBody>
          <a:bodyPr>
            <a:normAutofit/>
          </a:bodyPr>
          <a:lstStyle/>
          <a:p>
            <a:r>
              <a:rPr lang="en-US" dirty="0"/>
              <a:t>Exercise: An American roulette wheel has 38 pockets, numbered 1-36 with 0 and 00 as pockets as well. 18 of the pockets are red, 18 are black, and 0 and 00 are green. Suppose you bet $1 on red. This means that if the ball lands in a red pocket, you win. If it lands in black or green, you lose your dollar.</a:t>
            </a:r>
          </a:p>
          <a:p>
            <a:endParaRPr lang="en-US" dirty="0"/>
          </a:p>
        </p:txBody>
      </p:sp>
    </p:spTree>
    <p:extLst>
      <p:ext uri="{BB962C8B-B14F-4D97-AF65-F5344CB8AC3E}">
        <p14:creationId xmlns:p14="http://schemas.microsoft.com/office/powerpoint/2010/main" val="2673102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4.1 – Mean of a Random Variable</a:t>
            </a:r>
          </a:p>
        </p:txBody>
      </p:sp>
      <p:sp>
        <p:nvSpPr>
          <p:cNvPr id="3" name="Content Placeholder 2"/>
          <p:cNvSpPr>
            <a:spLocks noGrp="1"/>
          </p:cNvSpPr>
          <p:nvPr>
            <p:ph idx="1"/>
          </p:nvPr>
        </p:nvSpPr>
        <p:spPr/>
        <p:txBody>
          <a:bodyPr>
            <a:normAutofit/>
          </a:bodyPr>
          <a:lstStyle/>
          <a:p>
            <a:r>
              <a:rPr lang="en-US" dirty="0"/>
              <a:t>Exercise continued: There are a number of other possible bets as well. For each of the following $1 bets, find the expected amount of money you will win:</a:t>
            </a:r>
          </a:p>
          <a:p>
            <a:pPr lvl="1"/>
            <a:r>
              <a:rPr lang="en-US" dirty="0"/>
              <a:t>Bet $1 on red, worth $1 if you win</a:t>
            </a:r>
          </a:p>
          <a:p>
            <a:pPr lvl="1"/>
            <a:r>
              <a:rPr lang="en-US" dirty="0"/>
              <a:t>Bet $1 that the ball will land in any one of 6 selected pockets, worth $5 if you win</a:t>
            </a:r>
          </a:p>
          <a:p>
            <a:pPr lvl="1"/>
            <a:r>
              <a:rPr lang="en-US" dirty="0"/>
              <a:t>Bet $1 that the ball will land in a certain pocket, worth $35 if you win</a:t>
            </a:r>
          </a:p>
          <a:p>
            <a:endParaRPr lang="en-US" dirty="0"/>
          </a:p>
        </p:txBody>
      </p:sp>
    </p:spTree>
    <p:extLst>
      <p:ext uri="{BB962C8B-B14F-4D97-AF65-F5344CB8AC3E}">
        <p14:creationId xmlns:p14="http://schemas.microsoft.com/office/powerpoint/2010/main" val="320135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p:sp>
        <p:nvSpPr>
          <p:cNvPr id="3" name="Content Placeholder 2"/>
          <p:cNvSpPr>
            <a:spLocks noGrp="1"/>
          </p:cNvSpPr>
          <p:nvPr>
            <p:ph idx="1"/>
          </p:nvPr>
        </p:nvSpPr>
        <p:spPr/>
        <p:txBody>
          <a:bodyPr/>
          <a:lstStyle/>
          <a:p>
            <a:r>
              <a:rPr lang="en-US" dirty="0"/>
              <a:t>4.1 focused on the mean of a random variable. This section looks at variance of a random variable. We also introduce the idea of covariance, which is a way to describe the relationship between two random variables.</a:t>
            </a:r>
          </a:p>
        </p:txBody>
      </p:sp>
    </p:spTree>
    <p:extLst>
      <p:ext uri="{BB962C8B-B14F-4D97-AF65-F5344CB8AC3E}">
        <p14:creationId xmlns:p14="http://schemas.microsoft.com/office/powerpoint/2010/main" val="1695870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p:sp>
        <p:nvSpPr>
          <p:cNvPr id="3" name="Content Placeholder 2"/>
          <p:cNvSpPr>
            <a:spLocks noGrp="1"/>
          </p:cNvSpPr>
          <p:nvPr>
            <p:ph idx="1"/>
          </p:nvPr>
        </p:nvSpPr>
        <p:spPr/>
        <p:txBody>
          <a:bodyPr/>
          <a:lstStyle/>
          <a:p>
            <a:r>
              <a:rPr lang="en-US" dirty="0"/>
              <a:t>When we discussed the sample mean, we said that a measure of center is not enough to understand a data set. </a:t>
            </a:r>
          </a:p>
          <a:p>
            <a:endParaRPr lang="en-US" dirty="0"/>
          </a:p>
          <a:p>
            <a:r>
              <a:rPr lang="en-US" dirty="0"/>
              <a:t>The same idea applies to random variables. To understand the distribution of a random variable, we (almost always) need to know more than just where it is centered – we need to know how spread out it is.</a:t>
            </a:r>
          </a:p>
        </p:txBody>
      </p:sp>
    </p:spTree>
    <p:extLst>
      <p:ext uri="{BB962C8B-B14F-4D97-AF65-F5344CB8AC3E}">
        <p14:creationId xmlns:p14="http://schemas.microsoft.com/office/powerpoint/2010/main" val="3402073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981198"/>
            <a:ext cx="4557713" cy="4557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1759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Given a random variable </a:t>
                </a:r>
                <a14:m>
                  <m:oMath xmlns:m="http://schemas.openxmlformats.org/officeDocument/2006/math">
                    <m:r>
                      <a:rPr lang="en-US" b="0" i="1" smtClean="0">
                        <a:latin typeface="Cambria Math"/>
                      </a:rPr>
                      <m:t>𝑋</m:t>
                    </m:r>
                  </m:oMath>
                </a14:m>
                <a:r>
                  <a:rPr lang="en-US" dirty="0"/>
                  <a:t> with probability distribution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a14:m>
                <a:r>
                  <a:rPr lang="en-US" dirty="0"/>
                  <a:t> and mean </a:t>
                </a:r>
                <a14:m>
                  <m:oMath xmlns:m="http://schemas.openxmlformats.org/officeDocument/2006/math">
                    <m:r>
                      <a:rPr lang="en-US" b="0" i="1" smtClean="0">
                        <a:latin typeface="Cambria Math"/>
                      </a:rPr>
                      <m:t>𝜇</m:t>
                    </m:r>
                    <m:r>
                      <a:rPr lang="en-US" b="0" i="1" smtClean="0">
                        <a:latin typeface="Cambria Math"/>
                      </a:rPr>
                      <m:t>=</m:t>
                    </m:r>
                    <m:r>
                      <a:rPr lang="en-US" b="0" i="1" smtClean="0">
                        <a:latin typeface="Cambria Math"/>
                      </a:rPr>
                      <m:t>𝐸</m:t>
                    </m:r>
                    <m:r>
                      <a:rPr lang="en-US" b="0" i="1" smtClean="0">
                        <a:latin typeface="Cambria Math"/>
                      </a:rPr>
                      <m:t>(</m:t>
                    </m:r>
                    <m:r>
                      <a:rPr lang="en-US" b="0" i="1" smtClean="0">
                        <a:latin typeface="Cambria Math"/>
                      </a:rPr>
                      <m:t>𝑋</m:t>
                    </m:r>
                    <m:r>
                      <a:rPr lang="en-US" b="0" i="1" smtClean="0">
                        <a:latin typeface="Cambria Math"/>
                      </a:rPr>
                      <m:t>)</m:t>
                    </m:r>
                  </m:oMath>
                </a14:m>
                <a:r>
                  <a:rPr lang="en-US" dirty="0"/>
                  <a:t>, the </a:t>
                </a:r>
                <a:r>
                  <a:rPr lang="en-US" i="1" dirty="0"/>
                  <a:t>variance of </a:t>
                </a:r>
                <a14:m>
                  <m:oMath xmlns:m="http://schemas.openxmlformats.org/officeDocument/2006/math">
                    <m:r>
                      <a:rPr lang="en-US" b="0" i="1" smtClean="0">
                        <a:latin typeface="Cambria Math"/>
                      </a:rPr>
                      <m:t>𝑋</m:t>
                    </m:r>
                  </m:oMath>
                </a14:m>
                <a:r>
                  <a:rPr lang="en-US" dirty="0"/>
                  <a:t> is:</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a:rPr>
                          <m:t>𝜎</m:t>
                        </m:r>
                      </m:e>
                      <m:sup>
                        <m:r>
                          <a:rPr lang="en-US" i="1">
                            <a:latin typeface="Cambria Math"/>
                          </a:rPr>
                          <m:t>2</m:t>
                        </m:r>
                      </m:sup>
                    </m:sSup>
                    <m:r>
                      <a:rPr lang="en-US" i="1">
                        <a:latin typeface="Cambria Math"/>
                      </a:rPr>
                      <m:t>=</m:t>
                    </m:r>
                    <m:r>
                      <a:rPr lang="en-US" i="1">
                        <a:latin typeface="Cambria Math"/>
                      </a:rPr>
                      <m:t>𝐸</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a:rPr>
                                  <m:t>𝑋</m:t>
                                </m:r>
                                <m:r>
                                  <a:rPr lang="en-US" i="1">
                                    <a:latin typeface="Cambria Math"/>
                                  </a:rPr>
                                  <m:t>−</m:t>
                                </m:r>
                                <m:r>
                                  <a:rPr lang="en-US" i="1">
                                    <a:latin typeface="Cambria Math"/>
                                  </a:rPr>
                                  <m:t>𝜇</m:t>
                                </m:r>
                              </m:e>
                            </m:d>
                          </m:e>
                          <m:sup>
                            <m:r>
                              <a:rPr lang="en-US" i="1">
                                <a:latin typeface="Cambria Math"/>
                              </a:rPr>
                              <m:t>2</m:t>
                            </m:r>
                          </m:sup>
                        </m:sSup>
                      </m:e>
                    </m:d>
                    <m:r>
                      <a:rPr lang="en-US" i="1">
                        <a:latin typeface="Cambria Math"/>
                      </a:rPr>
                      <m:t>=</m:t>
                    </m:r>
                    <m:nary>
                      <m:naryPr>
                        <m:chr m:val="∑"/>
                        <m:supHide m:val="on"/>
                        <m:ctrlPr>
                          <a:rPr lang="en-US" i="1">
                            <a:latin typeface="Cambria Math" panose="02040503050406030204" pitchFamily="18" charset="0"/>
                          </a:rPr>
                        </m:ctrlPr>
                      </m:naryPr>
                      <m:sub>
                        <m:r>
                          <m:rPr>
                            <m:brk m:alnAt="7"/>
                          </m:rPr>
                          <a:rPr lang="en-US" i="1">
                            <a:latin typeface="Cambria Math"/>
                          </a:rPr>
                          <m:t>𝑥</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𝜇</m:t>
                                </m:r>
                              </m:e>
                            </m:d>
                          </m:e>
                          <m:sup>
                            <m:r>
                              <a:rPr lang="en-US" i="1">
                                <a:latin typeface="Cambria Math"/>
                              </a:rPr>
                              <m:t>2</m:t>
                            </m:r>
                          </m:sup>
                        </m:sSup>
                        <m:r>
                          <a:rPr lang="en-US" i="1">
                            <a:latin typeface="Cambria Math"/>
                          </a:rPr>
                          <m:t>𝑓</m:t>
                        </m:r>
                        <m:r>
                          <a:rPr lang="en-US" i="1">
                            <a:latin typeface="Cambria Math"/>
                          </a:rPr>
                          <m:t>(</m:t>
                        </m:r>
                        <m:r>
                          <a:rPr lang="en-US" i="1">
                            <a:latin typeface="Cambria Math"/>
                          </a:rPr>
                          <m:t>𝑥</m:t>
                        </m:r>
                        <m:r>
                          <a:rPr lang="en-US" i="1">
                            <a:latin typeface="Cambria Math"/>
                          </a:rPr>
                          <m:t>)</m:t>
                        </m:r>
                      </m:e>
                    </m:nary>
                  </m:oMath>
                </a14:m>
                <a:r>
                  <a:rPr lang="en-US" dirty="0"/>
                  <a:t> if </a:t>
                </a:r>
                <a14:m>
                  <m:oMath xmlns:m="http://schemas.openxmlformats.org/officeDocument/2006/math">
                    <m:r>
                      <a:rPr lang="en-US" i="1">
                        <a:latin typeface="Cambria Math"/>
                      </a:rPr>
                      <m:t>𝑋</m:t>
                    </m:r>
                  </m:oMath>
                </a14:m>
                <a:r>
                  <a:rPr lang="en-US" dirty="0"/>
                  <a:t> is discrete</a:t>
                </a:r>
              </a:p>
              <a:p>
                <a:pPr lvl="1"/>
                <a14:m>
                  <m:oMath xmlns:m="http://schemas.openxmlformats.org/officeDocument/2006/math">
                    <m:sSup>
                      <m:sSupPr>
                        <m:ctrlPr>
                          <a:rPr lang="en-US" i="1">
                            <a:latin typeface="Cambria Math" panose="02040503050406030204" pitchFamily="18" charset="0"/>
                          </a:rPr>
                        </m:ctrlPr>
                      </m:sSupPr>
                      <m:e>
                        <m:r>
                          <a:rPr lang="en-US" i="1">
                            <a:latin typeface="Cambria Math"/>
                          </a:rPr>
                          <m:t>𝜎</m:t>
                        </m:r>
                      </m:e>
                      <m:sup>
                        <m:r>
                          <a:rPr lang="en-US" i="1">
                            <a:latin typeface="Cambria Math"/>
                          </a:rPr>
                          <m:t>2</m:t>
                        </m:r>
                      </m:sup>
                    </m:sSup>
                    <m:r>
                      <a:rPr lang="en-US" i="1">
                        <a:latin typeface="Cambria Math"/>
                      </a:rPr>
                      <m:t>=</m:t>
                    </m:r>
                    <m:r>
                      <a:rPr lang="en-US" i="1">
                        <a:latin typeface="Cambria Math"/>
                      </a:rPr>
                      <m:t>𝐸</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a:rPr>
                                  <m:t>𝑋</m:t>
                                </m:r>
                                <m:r>
                                  <a:rPr lang="en-US" i="1">
                                    <a:latin typeface="Cambria Math"/>
                                  </a:rPr>
                                  <m:t>−</m:t>
                                </m:r>
                                <m:r>
                                  <a:rPr lang="en-US" i="1">
                                    <a:latin typeface="Cambria Math"/>
                                  </a:rPr>
                                  <m:t>𝜇</m:t>
                                </m:r>
                              </m:e>
                            </m:d>
                          </m:e>
                          <m:sup>
                            <m:r>
                              <a:rPr lang="en-US" i="1">
                                <a:latin typeface="Cambria Math"/>
                              </a:rPr>
                              <m:t>2</m:t>
                            </m:r>
                          </m:sup>
                        </m:sSup>
                      </m:e>
                    </m:d>
                    <m:r>
                      <a:rPr lang="en-US" i="1">
                        <a:latin typeface="Cambria Math"/>
                      </a:rPr>
                      <m:t>=</m:t>
                    </m:r>
                    <m:nary>
                      <m:naryPr>
                        <m:limLoc m:val="undOvr"/>
                        <m:ctrlPr>
                          <a:rPr lang="en-US" i="1">
                            <a:latin typeface="Cambria Math" panose="02040503050406030204" pitchFamily="18" charset="0"/>
                          </a:rPr>
                        </m:ctrlPr>
                      </m:naryPr>
                      <m:sub>
                        <m:r>
                          <m:rPr>
                            <m:brk m:alnAt="24"/>
                          </m:rPr>
                          <a:rPr lang="en-US" i="1">
                            <a:latin typeface="Cambria Math"/>
                          </a:rPr>
                          <m:t>−</m:t>
                        </m:r>
                        <m:r>
                          <a:rPr lang="en-US" i="1">
                            <a:latin typeface="Cambria Math"/>
                          </a:rPr>
                          <m:t>∞</m:t>
                        </m:r>
                      </m:sub>
                      <m:sup>
                        <m:r>
                          <a:rPr lang="en-US" i="1">
                            <a:latin typeface="Cambria Math"/>
                          </a:rPr>
                          <m:t>∞</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𝜇</m:t>
                                </m:r>
                              </m:e>
                            </m:d>
                          </m:e>
                          <m:sup>
                            <m:r>
                              <a:rPr lang="en-US" i="1">
                                <a:latin typeface="Cambria Math"/>
                              </a:rPr>
                              <m:t>2</m:t>
                            </m:r>
                          </m:sup>
                        </m:sSup>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r>
                  <a:rPr lang="en-US" dirty="0"/>
                  <a:t> for continuous </a:t>
                </a:r>
                <a14:m>
                  <m:oMath xmlns:m="http://schemas.openxmlformats.org/officeDocument/2006/math">
                    <m:r>
                      <a:rPr lang="en-US" i="1">
                        <a:latin typeface="Cambria Math"/>
                      </a:rPr>
                      <m:t>𝑋</m:t>
                    </m:r>
                  </m:oMath>
                </a14:m>
                <a:endParaRPr lang="en-US" dirty="0"/>
              </a:p>
              <a:p>
                <a:endParaRPr lang="en-US" dirty="0"/>
              </a:p>
              <a:p>
                <a:r>
                  <a:rPr lang="en-US" dirty="0"/>
                  <a:t>As before, the </a:t>
                </a:r>
                <a:r>
                  <a:rPr lang="en-US" i="1" dirty="0"/>
                  <a:t>standard deviation</a:t>
                </a:r>
                <a:r>
                  <a:rPr lang="en-US" dirty="0"/>
                  <a:t> of </a:t>
                </a:r>
                <a14:m>
                  <m:oMath xmlns:m="http://schemas.openxmlformats.org/officeDocument/2006/math">
                    <m:r>
                      <a:rPr lang="en-US" b="0" i="1" smtClean="0">
                        <a:latin typeface="Cambria Math"/>
                      </a:rPr>
                      <m:t>𝑋</m:t>
                    </m:r>
                  </m:oMath>
                </a14:m>
                <a:r>
                  <a:rPr lang="en-US" dirty="0"/>
                  <a:t> is found by </a:t>
                </a:r>
                <a14:m>
                  <m:oMath xmlns:m="http://schemas.openxmlformats.org/officeDocument/2006/math">
                    <m:r>
                      <a:rPr lang="en-US" b="0" i="1" smtClean="0">
                        <a:latin typeface="Cambria Math"/>
                      </a:rPr>
                      <m:t>𝜎</m:t>
                    </m:r>
                    <m:r>
                      <a:rPr lang="en-US" b="0" i="1" smtClean="0">
                        <a:latin typeface="Cambria Math"/>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e>
                    </m:rad>
                  </m:oMath>
                </a14:m>
                <a:r>
                  <a:rPr lang="en-US" dirty="0"/>
                  <a:t>.</a:t>
                </a:r>
              </a:p>
              <a:p>
                <a:pPr lvl="1"/>
                <a:r>
                  <a:rPr lang="en-US" dirty="0"/>
                  <a:t>We can also denote the variance by </a:t>
                </a:r>
                <a14:m>
                  <m:oMath xmlns:m="http://schemas.openxmlformats.org/officeDocument/2006/math">
                    <m:r>
                      <a:rPr lang="en-US" b="0" i="1" smtClean="0">
                        <a:latin typeface="Cambria Math"/>
                      </a:rPr>
                      <m:t>𝑉</m:t>
                    </m:r>
                    <m:d>
                      <m:dPr>
                        <m:ctrlPr>
                          <a:rPr lang="en-US" b="0" i="1" smtClean="0">
                            <a:latin typeface="Cambria Math" panose="02040503050406030204" pitchFamily="18" charset="0"/>
                          </a:rPr>
                        </m:ctrlPr>
                      </m:dPr>
                      <m:e>
                        <m:r>
                          <a:rPr lang="en-US" b="0" i="1" smtClean="0">
                            <a:latin typeface="Cambria Math"/>
                          </a:rPr>
                          <m:t>𝑋</m:t>
                        </m:r>
                      </m:e>
                    </m:d>
                  </m:oMath>
                </a14:m>
                <a:r>
                  <a:rPr lang="en-US" dirty="0"/>
                  <a:t> or </a:t>
                </a:r>
                <a14:m>
                  <m:oMath xmlns:m="http://schemas.openxmlformats.org/officeDocument/2006/math">
                    <m:r>
                      <a:rPr lang="en-US" b="0" i="1" smtClean="0">
                        <a:latin typeface="Cambria Math"/>
                      </a:rPr>
                      <m:t>𝑉𝑎𝑟</m:t>
                    </m:r>
                    <m:r>
                      <a:rPr lang="en-US" b="0" i="1" smtClean="0">
                        <a:latin typeface="Cambria Math"/>
                      </a:rPr>
                      <m:t>(</m:t>
                    </m:r>
                    <m:r>
                      <a:rPr lang="en-US" b="0" i="1" smtClean="0">
                        <a:latin typeface="Cambria Math"/>
                      </a:rPr>
                      <m:t>𝑋</m:t>
                    </m:r>
                    <m:r>
                      <a:rPr lang="en-US" b="0" i="1" smtClean="0">
                        <a:latin typeface="Cambria Math"/>
                      </a:rPr>
                      <m:t>)</m:t>
                    </m:r>
                  </m:oMath>
                </a14:m>
                <a:r>
                  <a:rPr lang="en-US" dirty="0"/>
                  <a:t> and the standard deviation as </a:t>
                </a:r>
                <a14:m>
                  <m:oMath xmlns:m="http://schemas.openxmlformats.org/officeDocument/2006/math">
                    <m:r>
                      <a:rPr lang="en-US" b="0" i="1" smtClean="0">
                        <a:latin typeface="Cambria Math"/>
                      </a:rPr>
                      <m:t>𝑠𝑑</m:t>
                    </m:r>
                    <m:r>
                      <a:rPr lang="en-US" b="0" i="1" smtClean="0">
                        <a:latin typeface="Cambria Math"/>
                      </a:rPr>
                      <m:t>(</m:t>
                    </m:r>
                    <m:r>
                      <a:rPr lang="en-US" b="0" i="1" smtClean="0">
                        <a:latin typeface="Cambria Math"/>
                      </a:rPr>
                      <m:t>𝑋</m:t>
                    </m:r>
                    <m:r>
                      <a:rPr lang="en-US" b="0" i="1" smtClean="0">
                        <a:latin typeface="Cambria Math"/>
                      </a:rPr>
                      <m:t>)</m:t>
                    </m:r>
                  </m:oMath>
                </a14:m>
                <a:r>
                  <a:rPr lang="en-US" dirty="0"/>
                  <a:t>.</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2113" r="-370" b="-423"/>
                </a:stretch>
              </a:blipFill>
            </p:spPr>
            <p:txBody>
              <a:bodyPr/>
              <a:lstStyle/>
              <a:p>
                <a:r>
                  <a:rPr lang="en-US">
                    <a:noFill/>
                  </a:rPr>
                  <a:t> </a:t>
                </a:r>
              </a:p>
            </p:txBody>
          </p:sp>
        </mc:Fallback>
      </mc:AlternateContent>
    </p:spTree>
    <p:extLst>
      <p:ext uri="{BB962C8B-B14F-4D97-AF65-F5344CB8AC3E}">
        <p14:creationId xmlns:p14="http://schemas.microsoft.com/office/powerpoint/2010/main" val="2149031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While the definitions on the previous slide can be used in calculating variance, there is a simplified formula (which we will prove in 4.3):</a:t>
                </a:r>
              </a:p>
              <a:p>
                <a:endParaRPr lang="en-US" dirty="0"/>
              </a:p>
              <a:p>
                <a:pPr marL="109728"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e>
                      </m:d>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𝜇</m:t>
                          </m:r>
                        </m:e>
                        <m:sup>
                          <m:r>
                            <a:rPr lang="en-US" b="0" i="1" smtClean="0">
                              <a:latin typeface="Cambria Math"/>
                            </a:rPr>
                            <m:t>2</m:t>
                          </m:r>
                        </m:sup>
                      </m:sSup>
                    </m:oMath>
                  </m:oMathPara>
                </a14:m>
                <a:endParaRPr lang="en-US" dirty="0"/>
              </a:p>
              <a:p>
                <a:endParaRPr lang="en-US" dirty="0"/>
              </a:p>
              <a:p>
                <a:r>
                  <a:rPr lang="en-US" dirty="0"/>
                  <a:t>To use this, we simply need to find </a:t>
                </a:r>
                <a14:m>
                  <m:oMath xmlns:m="http://schemas.openxmlformats.org/officeDocument/2006/math">
                    <m:r>
                      <a:rPr lang="en-US" b="0" i="1" smtClean="0">
                        <a:latin typeface="Cambria Math"/>
                      </a:rPr>
                      <m:t>𝐸</m:t>
                    </m:r>
                    <m:r>
                      <a:rPr lang="en-US" b="0" i="1" smtClean="0">
                        <a:latin typeface="Cambria Math"/>
                      </a:rPr>
                      <m:t>(</m:t>
                    </m:r>
                    <m:r>
                      <a:rPr lang="en-US" b="0" i="1" smtClean="0">
                        <a:latin typeface="Cambria Math"/>
                      </a:rPr>
                      <m:t>𝑋</m:t>
                    </m:r>
                    <m:r>
                      <a:rPr lang="en-US" b="0" i="1" smtClean="0">
                        <a:latin typeface="Cambria Math"/>
                      </a:rPr>
                      <m:t>)</m:t>
                    </m:r>
                  </m:oMath>
                </a14:m>
                <a:r>
                  <a:rPr lang="en-US" dirty="0"/>
                  <a:t> and </a:t>
                </a:r>
                <a14:m>
                  <m:oMath xmlns:m="http://schemas.openxmlformats.org/officeDocument/2006/math">
                    <m:r>
                      <a:rPr lang="en-US" b="0" i="1" smtClean="0">
                        <a:latin typeface="Cambria Math"/>
                      </a:rPr>
                      <m:t>𝐸</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r>
                      <a:rPr lang="en-US" b="0" i="1" smtClean="0">
                        <a:latin typeface="Cambria Math"/>
                      </a:rPr>
                      <m:t>)</m:t>
                    </m:r>
                  </m:oMath>
                </a14:m>
                <a:r>
                  <a:rPr lang="en-US" dirty="0"/>
                  <a:t>. This is usually much simpler than finding </a:t>
                </a:r>
                <a14:m>
                  <m:oMath xmlns:m="http://schemas.openxmlformats.org/officeDocument/2006/math">
                    <m:r>
                      <a:rPr lang="en-US" b="0" i="1" smtClean="0">
                        <a:latin typeface="Cambria Math"/>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𝜇</m:t>
                                </m:r>
                              </m:e>
                            </m:d>
                          </m:e>
                          <m:sup>
                            <m:r>
                              <a:rPr lang="en-US" b="0" i="1" smtClean="0">
                                <a:latin typeface="Cambria Math"/>
                              </a:rPr>
                              <m:t>2</m:t>
                            </m:r>
                          </m:sup>
                        </m:sSup>
                      </m:e>
                    </m:d>
                  </m:oMath>
                </a14:m>
                <a:r>
                  <a:rPr lang="en-US" dirty="0"/>
                  <a:t>.</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1926"/>
                </a:stretch>
              </a:blipFill>
            </p:spPr>
            <p:txBody>
              <a:bodyPr/>
              <a:lstStyle/>
              <a:p>
                <a:r>
                  <a:rPr lang="en-US">
                    <a:noFill/>
                  </a:rPr>
                  <a:t> </a:t>
                </a:r>
              </a:p>
            </p:txBody>
          </p:sp>
        </mc:Fallback>
      </mc:AlternateContent>
    </p:spTree>
    <p:extLst>
      <p:ext uri="{BB962C8B-B14F-4D97-AF65-F5344CB8AC3E}">
        <p14:creationId xmlns:p14="http://schemas.microsoft.com/office/powerpoint/2010/main" val="421857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Given the following PMF, find the variance of </a:t>
                </a:r>
                <a14:m>
                  <m:oMath xmlns:m="http://schemas.openxmlformats.org/officeDocument/2006/math">
                    <m:r>
                      <a:rPr lang="en-US" b="0" i="1" smtClean="0">
                        <a:latin typeface="Cambria Math"/>
                      </a:rPr>
                      <m:t>𝑋</m:t>
                    </m:r>
                  </m:oMath>
                </a14:m>
                <a:r>
                  <a:rPr lang="en-US" dirty="0"/>
                  <a:t>:</a:t>
                </a:r>
              </a:p>
              <a:p>
                <a:endParaRPr lang="en-US" dirty="0"/>
              </a:p>
              <a:p>
                <a:pPr marL="109728" indent="0">
                  <a:buNone/>
                </a:pPr>
                <a:endParaRPr lang="en-US" dirty="0"/>
              </a:p>
              <a:p>
                <a:endParaRPr lang="en-US" dirty="0"/>
              </a:p>
              <a:p>
                <a:r>
                  <a:rPr lang="en-US" dirty="0"/>
                  <a:t>Example: Given the PDF,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=2(</m:t>
                    </m:r>
                    <m:r>
                      <a:rPr lang="en-US" b="0" i="1" smtClean="0">
                        <a:latin typeface="Cambria Math"/>
                      </a:rPr>
                      <m:t>𝑥</m:t>
                    </m:r>
                    <m:r>
                      <a:rPr lang="en-US" b="0" i="1" smtClean="0">
                        <a:latin typeface="Cambria Math"/>
                      </a:rPr>
                      <m:t>−1)</m:t>
                    </m:r>
                  </m:oMath>
                </a14:m>
                <a:r>
                  <a:rPr lang="en-US" dirty="0"/>
                  <a:t> for </a:t>
                </a:r>
                <a14:m>
                  <m:oMath xmlns:m="http://schemas.openxmlformats.org/officeDocument/2006/math">
                    <m:r>
                      <a:rPr lang="en-US" b="0" i="1" smtClean="0">
                        <a:latin typeface="Cambria Math"/>
                      </a:rPr>
                      <m:t>1&lt;</m:t>
                    </m:r>
                    <m:r>
                      <a:rPr lang="en-US" b="0" i="1" smtClean="0">
                        <a:latin typeface="Cambria Math"/>
                      </a:rPr>
                      <m:t>𝑥</m:t>
                    </m:r>
                    <m:r>
                      <a:rPr lang="en-US" b="0" i="1" smtClean="0">
                        <a:latin typeface="Cambria Math"/>
                      </a:rPr>
                      <m:t>&lt;2</m:t>
                    </m:r>
                  </m:oMath>
                </a14:m>
                <a:r>
                  <a:rPr lang="en-US" dirty="0"/>
                  <a:t> and </a:t>
                </a:r>
                <a14:m>
                  <m:oMath xmlns:m="http://schemas.openxmlformats.org/officeDocument/2006/math">
                    <m:r>
                      <a:rPr lang="en-US" b="0" i="1" smtClean="0">
                        <a:latin typeface="Cambria Math"/>
                      </a:rPr>
                      <m:t>0</m:t>
                    </m:r>
                  </m:oMath>
                </a14:m>
                <a:r>
                  <a:rPr lang="en-US" dirty="0"/>
                  <a:t> elsewhere, find the variance of </a:t>
                </a:r>
                <a14:m>
                  <m:oMath xmlns:m="http://schemas.openxmlformats.org/officeDocument/2006/math">
                    <m:r>
                      <a:rPr lang="en-US" b="0" i="1" smtClean="0">
                        <a:latin typeface="Cambria Math"/>
                      </a:rPr>
                      <m:t>𝑋</m:t>
                    </m:r>
                  </m:oMath>
                </a14:m>
                <a:r>
                  <a:rPr lang="en-US" dirty="0"/>
                  <a:t>.</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725284603"/>
                  </p:ext>
                </p:extLst>
              </p:nvPr>
            </p:nvGraphicFramePr>
            <p:xfrm>
              <a:off x="1447800" y="3429000"/>
              <a:ext cx="6096000" cy="741680"/>
            </p:xfrm>
            <a:graphic>
              <a:graphicData uri="http://schemas.openxmlformats.org/drawingml/2006/table">
                <a:tbl>
                  <a:tblPr firstRow="1" bandRow="1">
                    <a:tableStyleId>{073A0DAA-6AF3-43AB-8588-CEC1D06C72B9}</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m:oMathPara>
                          </a14:m>
                          <a:endParaRPr lang="en-US" dirty="0"/>
                        </a:p>
                      </a:txBody>
                      <a:tcPr/>
                    </a:tc>
                    <a:tc>
                      <a:txBody>
                        <a:bodyPr/>
                        <a:lstStyle/>
                        <a:p>
                          <a:pPr algn="ctr"/>
                          <a:r>
                            <a:rPr lang="en-US" dirty="0"/>
                            <a:t>0.51</a:t>
                          </a:r>
                        </a:p>
                      </a:txBody>
                      <a:tcPr/>
                    </a:tc>
                    <a:tc>
                      <a:txBody>
                        <a:bodyPr/>
                        <a:lstStyle/>
                        <a:p>
                          <a:pPr algn="ctr"/>
                          <a:r>
                            <a:rPr lang="en-US" dirty="0"/>
                            <a:t>0.38</a:t>
                          </a:r>
                        </a:p>
                      </a:txBody>
                      <a:tcPr/>
                    </a:tc>
                    <a:tc>
                      <a:txBody>
                        <a:bodyPr/>
                        <a:lstStyle/>
                        <a:p>
                          <a:pPr algn="ctr"/>
                          <a:r>
                            <a:rPr lang="en-US" dirty="0"/>
                            <a:t>0.10</a:t>
                          </a:r>
                        </a:p>
                      </a:txBody>
                      <a:tcPr/>
                    </a:tc>
                    <a:tc>
                      <a:txBody>
                        <a:bodyPr/>
                        <a:lstStyle/>
                        <a:p>
                          <a:pPr algn="ctr"/>
                          <a:r>
                            <a:rPr lang="en-US" dirty="0"/>
                            <a:t>0.01</a:t>
                          </a:r>
                        </a:p>
                      </a:txBody>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725284603"/>
                  </p:ext>
                </p:extLst>
              </p:nvPr>
            </p:nvGraphicFramePr>
            <p:xfrm>
              <a:off x="1447800" y="3429000"/>
              <a:ext cx="6096000" cy="741680"/>
            </p:xfrm>
            <a:graphic>
              <a:graphicData uri="http://schemas.openxmlformats.org/drawingml/2006/table">
                <a:tbl>
                  <a:tblPr firstRow="1" bandRow="1">
                    <a:tableStyleId>{073A0DAA-6AF3-43AB-8588-CEC1D06C72B9}</a:tableStyleId>
                  </a:tblPr>
                  <a:tblGrid>
                    <a:gridCol w="1219200"/>
                    <a:gridCol w="1219200"/>
                    <a:gridCol w="1219200"/>
                    <a:gridCol w="1219200"/>
                    <a:gridCol w="1219200"/>
                  </a:tblGrid>
                  <a:tr h="370840">
                    <a:tc>
                      <a:txBody>
                        <a:bodyPr/>
                        <a:lstStyle/>
                        <a:p>
                          <a:endParaRPr lang="en-US"/>
                        </a:p>
                      </a:txBody>
                      <a:tcPr>
                        <a:blipFill rotWithShape="1">
                          <a:blip r:embed="rId3"/>
                          <a:stretch>
                            <a:fillRect l="-500" t="-8197" r="-400000" b="-122951"/>
                          </a:stretch>
                        </a:blipFill>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r>
                  <a:tr h="370840">
                    <a:tc>
                      <a:txBody>
                        <a:bodyPr/>
                        <a:lstStyle/>
                        <a:p>
                          <a:endParaRPr lang="en-US"/>
                        </a:p>
                      </a:txBody>
                      <a:tcPr>
                        <a:blipFill rotWithShape="1">
                          <a:blip r:embed="rId3"/>
                          <a:stretch>
                            <a:fillRect l="-500" t="-110000" r="-400000" b="-25000"/>
                          </a:stretch>
                        </a:blipFill>
                      </a:tcPr>
                    </a:tc>
                    <a:tc>
                      <a:txBody>
                        <a:bodyPr/>
                        <a:lstStyle/>
                        <a:p>
                          <a:pPr algn="ctr"/>
                          <a:r>
                            <a:rPr lang="en-US" dirty="0" smtClean="0"/>
                            <a:t>0.51</a:t>
                          </a:r>
                          <a:endParaRPr lang="en-US" dirty="0"/>
                        </a:p>
                      </a:txBody>
                      <a:tcPr/>
                    </a:tc>
                    <a:tc>
                      <a:txBody>
                        <a:bodyPr/>
                        <a:lstStyle/>
                        <a:p>
                          <a:pPr algn="ctr"/>
                          <a:r>
                            <a:rPr lang="en-US" dirty="0" smtClean="0"/>
                            <a:t>0.38</a:t>
                          </a:r>
                          <a:endParaRPr lang="en-US" dirty="0"/>
                        </a:p>
                      </a:txBody>
                      <a:tcPr/>
                    </a:tc>
                    <a:tc>
                      <a:txBody>
                        <a:bodyPr/>
                        <a:lstStyle/>
                        <a:p>
                          <a:pPr algn="ctr"/>
                          <a:r>
                            <a:rPr lang="en-US" dirty="0" smtClean="0"/>
                            <a:t>0.10</a:t>
                          </a:r>
                          <a:endParaRPr lang="en-US" dirty="0"/>
                        </a:p>
                      </a:txBody>
                      <a:tcPr/>
                    </a:tc>
                    <a:tc>
                      <a:txBody>
                        <a:bodyPr/>
                        <a:lstStyle/>
                        <a:p>
                          <a:pPr algn="ctr"/>
                          <a:r>
                            <a:rPr lang="en-US" dirty="0" smtClean="0"/>
                            <a:t>0.01</a:t>
                          </a:r>
                          <a:endParaRPr lang="en-US" dirty="0"/>
                        </a:p>
                      </a:txBody>
                      <a:tcPr/>
                    </a:tc>
                  </a:tr>
                </a:tbl>
              </a:graphicData>
            </a:graphic>
          </p:graphicFrame>
        </mc:Fallback>
      </mc:AlternateContent>
    </p:spTree>
    <p:extLst>
      <p:ext uri="{BB962C8B-B14F-4D97-AF65-F5344CB8AC3E}">
        <p14:creationId xmlns:p14="http://schemas.microsoft.com/office/powerpoint/2010/main" val="973493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As we saw with means in 4.1, we can also find the variance of functions of a random variable. Suppose </a:t>
                </a:r>
                <a14:m>
                  <m:oMath xmlns:m="http://schemas.openxmlformats.org/officeDocument/2006/math">
                    <m:r>
                      <a:rPr lang="en-US" b="0" i="1" smtClean="0">
                        <a:latin typeface="Cambria Math"/>
                      </a:rPr>
                      <m:t>𝑋</m:t>
                    </m:r>
                  </m:oMath>
                </a14:m>
                <a:r>
                  <a:rPr lang="en-US" dirty="0"/>
                  <a:t> is a random variable with probability distribution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0" smtClean="0">
                        <a:latin typeface="Cambria Math"/>
                      </a:rPr>
                      <m:t>,</m:t>
                    </m:r>
                  </m:oMath>
                </a14:m>
                <a:r>
                  <a:rPr lang="en-US" dirty="0"/>
                  <a:t> then the variance of the random variable </a:t>
                </a:r>
                <a14:m>
                  <m:oMath xmlns:m="http://schemas.openxmlformats.org/officeDocument/2006/math">
                    <m:r>
                      <a:rPr lang="en-US" b="0" i="1" smtClean="0">
                        <a:latin typeface="Cambria Math"/>
                      </a:rPr>
                      <m:t>𝑔</m:t>
                    </m:r>
                    <m:r>
                      <a:rPr lang="en-US" b="0" i="1" smtClean="0">
                        <a:latin typeface="Cambria Math"/>
                      </a:rPr>
                      <m:t>(</m:t>
                    </m:r>
                    <m:r>
                      <a:rPr lang="en-US" b="0" i="1" smtClean="0">
                        <a:latin typeface="Cambria Math"/>
                      </a:rPr>
                      <m:t>𝑋</m:t>
                    </m:r>
                    <m:r>
                      <a:rPr lang="en-US" b="0" i="1" smtClean="0">
                        <a:latin typeface="Cambria Math"/>
                      </a:rPr>
                      <m:t>)</m:t>
                    </m:r>
                  </m:oMath>
                </a14:m>
                <a:r>
                  <a:rPr lang="en-US" dirty="0"/>
                  <a:t> is:</a:t>
                </a:r>
              </a:p>
              <a:p>
                <a:pPr lvl="1"/>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a:rPr>
                          <m:t>𝜎</m:t>
                        </m:r>
                      </m:e>
                      <m:sub>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𝑋</m:t>
                            </m:r>
                          </m:e>
                        </m:d>
                      </m:sub>
                      <m:sup>
                        <m:r>
                          <a:rPr lang="en-US" sz="2400" b="0" i="1" smtClean="0">
                            <a:latin typeface="Cambria Math"/>
                          </a:rPr>
                          <m:t>2</m:t>
                        </m:r>
                      </m:sup>
                    </m:sSubSup>
                    <m:r>
                      <a:rPr lang="en-US" sz="2400" i="1">
                        <a:latin typeface="Cambria Math"/>
                      </a:rPr>
                      <m:t>=</m:t>
                    </m:r>
                    <m:r>
                      <a:rPr lang="en-US" sz="2400" i="1">
                        <a:latin typeface="Cambria Math"/>
                      </a:rPr>
                      <m:t>𝐸</m:t>
                    </m:r>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b="0" i="1" smtClean="0">
                                    <a:latin typeface="Cambria Math"/>
                                  </a:rPr>
                                  <m:t>𝑔</m:t>
                                </m:r>
                                <m:r>
                                  <a:rPr lang="en-US" sz="2400" b="0" i="1" smtClean="0">
                                    <a:latin typeface="Cambria Math"/>
                                  </a:rPr>
                                  <m:t>(</m:t>
                                </m:r>
                                <m:r>
                                  <a:rPr lang="en-US" sz="2400" i="1">
                                    <a:latin typeface="Cambria Math"/>
                                  </a:rPr>
                                  <m:t>𝑋</m:t>
                                </m:r>
                                <m:r>
                                  <a:rPr lang="en-US" sz="2400" b="0" i="1" smtClean="0">
                                    <a:latin typeface="Cambria Math"/>
                                  </a:rPr>
                                  <m:t>)</m:t>
                                </m:r>
                                <m:r>
                                  <a:rPr lang="en-US" sz="2400" i="1">
                                    <a:latin typeface="Cambria Math"/>
                                  </a:rPr>
                                  <m:t>−</m:t>
                                </m:r>
                                <m:sSub>
                                  <m:sSubPr>
                                    <m:ctrlPr>
                                      <a:rPr lang="en-US" sz="2400" b="0" i="1" smtClean="0">
                                        <a:latin typeface="Cambria Math" panose="02040503050406030204" pitchFamily="18" charset="0"/>
                                      </a:rPr>
                                    </m:ctrlPr>
                                  </m:sSubPr>
                                  <m:e>
                                    <m:r>
                                      <a:rPr lang="en-US" sz="2400" i="1">
                                        <a:latin typeface="Cambria Math"/>
                                      </a:rPr>
                                      <m:t>𝜇</m:t>
                                    </m:r>
                                  </m:e>
                                  <m:sub>
                                    <m:r>
                                      <a:rPr lang="en-US" sz="2400" b="0" i="1" smtClean="0">
                                        <a:latin typeface="Cambria Math"/>
                                      </a:rPr>
                                      <m:t>𝑔</m:t>
                                    </m:r>
                                    <m:r>
                                      <a:rPr lang="en-US" sz="2400" b="0" i="1" smtClean="0">
                                        <a:latin typeface="Cambria Math"/>
                                      </a:rPr>
                                      <m:t>(</m:t>
                                    </m:r>
                                    <m:r>
                                      <a:rPr lang="en-US" sz="2400" b="0" i="1" smtClean="0">
                                        <a:latin typeface="Cambria Math"/>
                                      </a:rPr>
                                      <m:t>𝑋</m:t>
                                    </m:r>
                                    <m:r>
                                      <a:rPr lang="en-US" sz="2400" b="0" i="1" smtClean="0">
                                        <a:latin typeface="Cambria Math"/>
                                      </a:rPr>
                                      <m:t>)</m:t>
                                    </m:r>
                                  </m:sub>
                                </m:sSub>
                              </m:e>
                            </m:d>
                          </m:e>
                          <m:sup>
                            <m:r>
                              <a:rPr lang="en-US" sz="2400" i="1">
                                <a:latin typeface="Cambria Math"/>
                              </a:rPr>
                              <m:t>2</m:t>
                            </m:r>
                          </m:sup>
                        </m:sSup>
                      </m:e>
                    </m:d>
                    <m:r>
                      <a:rPr lang="en-US" sz="2400" i="1">
                        <a:latin typeface="Cambria Math"/>
                      </a:rPr>
                      <m:t>=</m:t>
                    </m:r>
                    <m:nary>
                      <m:naryPr>
                        <m:chr m:val="∑"/>
                        <m:supHide m:val="on"/>
                        <m:ctrlPr>
                          <a:rPr lang="en-US" sz="2400" i="1">
                            <a:latin typeface="Cambria Math" panose="02040503050406030204" pitchFamily="18" charset="0"/>
                          </a:rPr>
                        </m:ctrlPr>
                      </m:naryPr>
                      <m:sub>
                        <m:r>
                          <m:rPr>
                            <m:brk m:alnAt="7"/>
                          </m:rPr>
                          <a:rPr lang="en-US" sz="2400" i="1">
                            <a:latin typeface="Cambria Math"/>
                          </a:rPr>
                          <m:t>𝑥</m:t>
                        </m:r>
                      </m:sub>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b="0" i="1" smtClean="0">
                                    <a:latin typeface="Cambria Math"/>
                                  </a:rPr>
                                  <m:t>𝑔</m:t>
                                </m:r>
                                <m:r>
                                  <a:rPr lang="en-US" sz="2400" b="0" i="1" smtClean="0">
                                    <a:latin typeface="Cambria Math"/>
                                  </a:rPr>
                                  <m:t>(</m:t>
                                </m:r>
                                <m:r>
                                  <a:rPr lang="en-US" sz="2400" i="1">
                                    <a:latin typeface="Cambria Math"/>
                                  </a:rPr>
                                  <m:t>𝑥</m:t>
                                </m:r>
                                <m:r>
                                  <a:rPr lang="en-US" sz="2400" b="0" i="1" smtClean="0">
                                    <a:latin typeface="Cambria Math"/>
                                  </a:rPr>
                                  <m:t>)</m:t>
                                </m:r>
                                <m:r>
                                  <a:rPr lang="en-US" sz="2400" i="1">
                                    <a:latin typeface="Cambria Math"/>
                                  </a:rPr>
                                  <m:t>−</m:t>
                                </m:r>
                                <m:sSub>
                                  <m:sSubPr>
                                    <m:ctrlPr>
                                      <a:rPr lang="en-US" sz="2400" b="0" i="1" smtClean="0">
                                        <a:latin typeface="Cambria Math" panose="02040503050406030204" pitchFamily="18" charset="0"/>
                                      </a:rPr>
                                    </m:ctrlPr>
                                  </m:sSubPr>
                                  <m:e>
                                    <m:r>
                                      <a:rPr lang="en-US" sz="2400" i="1">
                                        <a:latin typeface="Cambria Math"/>
                                      </a:rPr>
                                      <m:t>𝜇</m:t>
                                    </m:r>
                                  </m:e>
                                  <m:sub>
                                    <m:r>
                                      <a:rPr lang="en-US" sz="2400" b="0" i="1" smtClean="0">
                                        <a:latin typeface="Cambria Math"/>
                                      </a:rPr>
                                      <m:t>𝑔</m:t>
                                    </m:r>
                                    <m:r>
                                      <a:rPr lang="en-US" sz="2400" b="0" i="1" smtClean="0">
                                        <a:latin typeface="Cambria Math"/>
                                      </a:rPr>
                                      <m:t>(</m:t>
                                    </m:r>
                                    <m:r>
                                      <a:rPr lang="en-US" sz="2400" b="0" i="1" smtClean="0">
                                        <a:latin typeface="Cambria Math"/>
                                      </a:rPr>
                                      <m:t>𝑋</m:t>
                                    </m:r>
                                    <m:r>
                                      <a:rPr lang="en-US" sz="2400" b="0" i="1" smtClean="0">
                                        <a:latin typeface="Cambria Math"/>
                                      </a:rPr>
                                      <m:t>)</m:t>
                                    </m:r>
                                  </m:sub>
                                </m:sSub>
                              </m:e>
                            </m:d>
                          </m:e>
                          <m:sup>
                            <m:r>
                              <a:rPr lang="en-US" sz="2400" i="1">
                                <a:latin typeface="Cambria Math"/>
                              </a:rPr>
                              <m:t>2</m:t>
                            </m:r>
                          </m:sup>
                        </m:sSup>
                        <m:r>
                          <a:rPr lang="en-US" sz="2400" i="1">
                            <a:latin typeface="Cambria Math"/>
                          </a:rPr>
                          <m:t>𝑓</m:t>
                        </m:r>
                        <m:r>
                          <a:rPr lang="en-US" sz="2400" i="1">
                            <a:latin typeface="Cambria Math"/>
                          </a:rPr>
                          <m:t>(</m:t>
                        </m:r>
                        <m:r>
                          <a:rPr lang="en-US" sz="2400" i="1">
                            <a:latin typeface="Cambria Math"/>
                          </a:rPr>
                          <m:t>𝑥</m:t>
                        </m:r>
                        <m:r>
                          <a:rPr lang="en-US" sz="2400" i="1">
                            <a:latin typeface="Cambria Math"/>
                          </a:rPr>
                          <m:t>)</m:t>
                        </m:r>
                      </m:e>
                    </m:nary>
                  </m:oMath>
                </a14:m>
                <a:r>
                  <a:rPr lang="en-US" sz="2400" dirty="0"/>
                  <a:t> if </a:t>
                </a:r>
                <a14:m>
                  <m:oMath xmlns:m="http://schemas.openxmlformats.org/officeDocument/2006/math">
                    <m:r>
                      <a:rPr lang="en-US" sz="2400" i="1">
                        <a:latin typeface="Cambria Math"/>
                      </a:rPr>
                      <m:t>𝑋</m:t>
                    </m:r>
                  </m:oMath>
                </a14:m>
                <a:r>
                  <a:rPr lang="en-US" sz="2400" dirty="0"/>
                  <a:t> is discrete</a:t>
                </a:r>
              </a:p>
              <a:p>
                <a:pPr lvl="1"/>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a:rPr>
                          <m:t>𝜎</m:t>
                        </m:r>
                      </m:e>
                      <m:sub>
                        <m:r>
                          <a:rPr lang="en-US" sz="2000" i="1">
                            <a:latin typeface="Cambria Math"/>
                          </a:rPr>
                          <m:t>𝑔</m:t>
                        </m:r>
                        <m:d>
                          <m:dPr>
                            <m:ctrlPr>
                              <a:rPr lang="en-US" sz="2000" i="1">
                                <a:latin typeface="Cambria Math" panose="02040503050406030204" pitchFamily="18" charset="0"/>
                              </a:rPr>
                            </m:ctrlPr>
                          </m:dPr>
                          <m:e>
                            <m:r>
                              <a:rPr lang="en-US" sz="2000" i="1">
                                <a:latin typeface="Cambria Math"/>
                              </a:rPr>
                              <m:t>𝑋</m:t>
                            </m:r>
                          </m:e>
                        </m:d>
                      </m:sub>
                      <m:sup>
                        <m:r>
                          <a:rPr lang="en-US" sz="2000" i="1">
                            <a:latin typeface="Cambria Math"/>
                          </a:rPr>
                          <m:t>2</m:t>
                        </m:r>
                      </m:sup>
                    </m:sSubSup>
                    <m:r>
                      <a:rPr lang="en-US" sz="2000" i="1">
                        <a:latin typeface="Cambria Math"/>
                      </a:rPr>
                      <m:t>=</m:t>
                    </m:r>
                    <m:r>
                      <a:rPr lang="en-US" sz="2000" i="1">
                        <a:latin typeface="Cambria Math"/>
                      </a:rPr>
                      <m:t>𝐸</m:t>
                    </m:r>
                    <m:d>
                      <m:dPr>
                        <m:begChr m:val="["/>
                        <m:endChr m:val="]"/>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a:rPr>
                                  <m:t>𝑔</m:t>
                                </m:r>
                                <m:r>
                                  <a:rPr lang="en-US" sz="2000" i="1">
                                    <a:latin typeface="Cambria Math"/>
                                  </a:rPr>
                                  <m:t>(</m:t>
                                </m:r>
                                <m:r>
                                  <a:rPr lang="en-US" sz="2000" i="1">
                                    <a:latin typeface="Cambria Math"/>
                                  </a:rPr>
                                  <m:t>𝑋</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𝜇</m:t>
                                    </m:r>
                                  </m:e>
                                  <m:sub>
                                    <m:r>
                                      <a:rPr lang="en-US" sz="2000" i="1">
                                        <a:latin typeface="Cambria Math"/>
                                      </a:rPr>
                                      <m:t>𝑔</m:t>
                                    </m:r>
                                    <m:r>
                                      <a:rPr lang="en-US" sz="2000" i="1">
                                        <a:latin typeface="Cambria Math"/>
                                      </a:rPr>
                                      <m:t>(</m:t>
                                    </m:r>
                                    <m:r>
                                      <a:rPr lang="en-US" sz="2000" i="1">
                                        <a:latin typeface="Cambria Math"/>
                                      </a:rPr>
                                      <m:t>𝑋</m:t>
                                    </m:r>
                                    <m:r>
                                      <a:rPr lang="en-US" sz="2000" i="1">
                                        <a:latin typeface="Cambria Math"/>
                                      </a:rPr>
                                      <m:t>)</m:t>
                                    </m:r>
                                  </m:sub>
                                </m:sSub>
                              </m:e>
                            </m:d>
                          </m:e>
                          <m:sup>
                            <m:r>
                              <a:rPr lang="en-US" sz="2000" i="1">
                                <a:latin typeface="Cambria Math"/>
                              </a:rPr>
                              <m:t>2</m:t>
                            </m:r>
                          </m:sup>
                        </m:sSup>
                      </m:e>
                    </m:d>
                    <m:r>
                      <a:rPr lang="en-US" sz="2000" i="1">
                        <a:latin typeface="Cambria Math"/>
                      </a:rPr>
                      <m:t>=</m:t>
                    </m:r>
                    <m:nary>
                      <m:naryPr>
                        <m:limLoc m:val="undOvr"/>
                        <m:ctrlPr>
                          <a:rPr lang="en-US" sz="2000" i="1">
                            <a:latin typeface="Cambria Math" panose="02040503050406030204" pitchFamily="18" charset="0"/>
                          </a:rPr>
                        </m:ctrlPr>
                      </m:naryPr>
                      <m:sub>
                        <m:r>
                          <m:rPr>
                            <m:brk m:alnAt="24"/>
                          </m:rPr>
                          <a:rPr lang="en-US" sz="2000" i="1">
                            <a:latin typeface="Cambria Math"/>
                          </a:rPr>
                          <m:t>−</m:t>
                        </m:r>
                        <m:r>
                          <a:rPr lang="en-US" sz="2000" i="1">
                            <a:latin typeface="Cambria Math"/>
                          </a:rPr>
                          <m:t>∞</m:t>
                        </m:r>
                      </m:sub>
                      <m:sup>
                        <m:r>
                          <a:rPr lang="en-US" sz="2000" i="1">
                            <a:latin typeface="Cambria Math"/>
                          </a:rPr>
                          <m:t>∞</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a:rPr>
                                  <m:t>𝑔</m:t>
                                </m:r>
                                <m:r>
                                  <a:rPr lang="en-US" sz="2000" i="1">
                                    <a:latin typeface="Cambria Math"/>
                                  </a:rPr>
                                  <m:t>(</m:t>
                                </m:r>
                                <m:r>
                                  <a:rPr lang="en-US" sz="2000" i="1">
                                    <a:latin typeface="Cambria Math"/>
                                  </a:rPr>
                                  <m:t>𝑥</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𝜇</m:t>
                                    </m:r>
                                  </m:e>
                                  <m:sub>
                                    <m:r>
                                      <a:rPr lang="en-US" sz="2000" i="1">
                                        <a:latin typeface="Cambria Math"/>
                                      </a:rPr>
                                      <m:t>𝑔</m:t>
                                    </m:r>
                                    <m:r>
                                      <a:rPr lang="en-US" sz="2000" i="1">
                                        <a:latin typeface="Cambria Math"/>
                                      </a:rPr>
                                      <m:t>(</m:t>
                                    </m:r>
                                    <m:r>
                                      <a:rPr lang="en-US" sz="2000" i="1">
                                        <a:latin typeface="Cambria Math"/>
                                      </a:rPr>
                                      <m:t>𝑋</m:t>
                                    </m:r>
                                    <m:r>
                                      <a:rPr lang="en-US" sz="2000" i="1">
                                        <a:latin typeface="Cambria Math"/>
                                      </a:rPr>
                                      <m:t>)</m:t>
                                    </m:r>
                                  </m:sub>
                                </m:sSub>
                              </m:e>
                            </m:d>
                          </m:e>
                          <m:sup>
                            <m:r>
                              <a:rPr lang="en-US" sz="2000" i="1">
                                <a:latin typeface="Cambria Math"/>
                              </a:rPr>
                              <m:t>2</m:t>
                            </m:r>
                          </m:sup>
                        </m:sSup>
                        <m:r>
                          <a:rPr lang="en-US" sz="2000" i="1">
                            <a:latin typeface="Cambria Math"/>
                          </a:rPr>
                          <m:t>𝑓</m:t>
                        </m:r>
                        <m:d>
                          <m:dPr>
                            <m:ctrlPr>
                              <a:rPr lang="en-US" sz="2000" i="1">
                                <a:latin typeface="Cambria Math" panose="02040503050406030204" pitchFamily="18" charset="0"/>
                              </a:rPr>
                            </m:ctrlPr>
                          </m:dPr>
                          <m:e>
                            <m:r>
                              <a:rPr lang="en-US" sz="2000" i="1">
                                <a:latin typeface="Cambria Math"/>
                              </a:rPr>
                              <m:t>𝑥</m:t>
                            </m:r>
                          </m:e>
                        </m:d>
                        <m:r>
                          <a:rPr lang="en-US" sz="2000" i="1">
                            <a:latin typeface="Cambria Math"/>
                          </a:rPr>
                          <m:t>𝑑𝑥</m:t>
                        </m:r>
                      </m:e>
                    </m:nary>
                  </m:oMath>
                </a14:m>
                <a:r>
                  <a:rPr lang="en-US" dirty="0"/>
                  <a:t> for continuous </a:t>
                </a:r>
                <a14:m>
                  <m:oMath xmlns:m="http://schemas.openxmlformats.org/officeDocument/2006/math">
                    <m:r>
                      <a:rPr lang="en-US" i="1">
                        <a:latin typeface="Cambria Math"/>
                      </a:rPr>
                      <m:t>𝑋</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963"/>
                </a:stretch>
              </a:blipFill>
            </p:spPr>
            <p:txBody>
              <a:bodyPr/>
              <a:lstStyle/>
              <a:p>
                <a:r>
                  <a:rPr lang="en-US">
                    <a:noFill/>
                  </a:rPr>
                  <a:t> </a:t>
                </a:r>
              </a:p>
            </p:txBody>
          </p:sp>
        </mc:Fallback>
      </mc:AlternateContent>
    </p:spTree>
    <p:extLst>
      <p:ext uri="{BB962C8B-B14F-4D97-AF65-F5344CB8AC3E}">
        <p14:creationId xmlns:p14="http://schemas.microsoft.com/office/powerpoint/2010/main" val="1873658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Again, the same simplifying formula can be used here:</a:t>
                </a:r>
              </a:p>
              <a:p>
                <a:pPr marL="109728" indent="0">
                  <a:buNone/>
                </a:pPr>
                <a14:m>
                  <m:oMathPara xmlns:m="http://schemas.openxmlformats.org/officeDocument/2006/math">
                    <m:oMathParaPr>
                      <m:jc m:val="centerGroup"/>
                    </m:oMathParaPr>
                    <m:oMath xmlns:m="http://schemas.openxmlformats.org/officeDocument/2006/math">
                      <m:r>
                        <a:rPr lang="en-US" b="0" i="1" smtClean="0">
                          <a:latin typeface="Cambria Math"/>
                        </a:rPr>
                        <m:t>𝑉</m:t>
                      </m:r>
                      <m:d>
                        <m:dPr>
                          <m:ctrlPr>
                            <a:rPr lang="en-US" b="0" i="1" smtClean="0">
                              <a:latin typeface="Cambria Math" panose="02040503050406030204" pitchFamily="18" charset="0"/>
                            </a:rPr>
                          </m:ctrlPr>
                        </m:dPr>
                        <m:e>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e>
                      </m:d>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𝑔</m:t>
                              </m:r>
                            </m:e>
                            <m:sup>
                              <m:r>
                                <a:rPr lang="en-US" b="0" i="1" smtClean="0">
                                  <a:latin typeface="Cambria Math"/>
                                </a:rPr>
                                <m:t>2</m:t>
                              </m:r>
                            </m:sup>
                          </m:sSup>
                          <m:d>
                            <m:dPr>
                              <m:ctrlPr>
                                <a:rPr lang="en-US" b="0" i="1" smtClean="0">
                                  <a:latin typeface="Cambria Math" panose="02040503050406030204" pitchFamily="18" charset="0"/>
                                </a:rPr>
                              </m:ctrlPr>
                            </m:dPr>
                            <m:e>
                              <m:r>
                                <a:rPr lang="en-US" b="0" i="1" smtClean="0">
                                  <a:latin typeface="Cambria Math"/>
                                </a:rPr>
                                <m:t>𝑋</m:t>
                              </m:r>
                            </m:e>
                          </m:d>
                        </m:e>
                      </m:d>
                      <m:r>
                        <a:rPr lang="en-US" b="0" i="0" smtClean="0">
                          <a:latin typeface="Cambria Math"/>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e>
                              </m:d>
                            </m:e>
                          </m:d>
                        </m:e>
                        <m:sup>
                          <m:r>
                            <a:rPr lang="en-US" b="0" i="1" smtClean="0">
                              <a:latin typeface="Cambria Math"/>
                            </a:rPr>
                            <m:t>2</m:t>
                          </m:r>
                        </m:sup>
                      </m:sSup>
                    </m:oMath>
                  </m:oMathPara>
                </a14:m>
                <a:endParaRPr lang="en-US" dirty="0"/>
              </a:p>
              <a:p>
                <a:endParaRPr lang="en-US" dirty="0"/>
              </a:p>
              <a:p>
                <a:r>
                  <a:rPr lang="en-US" dirty="0"/>
                  <a:t>Example: For the discrete distribution used earlier, find the variance of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=2</m:t>
                    </m:r>
                    <m:r>
                      <a:rPr lang="en-US" b="0" i="1" smtClean="0">
                        <a:latin typeface="Cambria Math"/>
                      </a:rPr>
                      <m:t>𝑋</m:t>
                    </m:r>
                    <m:r>
                      <a:rPr lang="en-US" b="0" i="1" smtClean="0">
                        <a:latin typeface="Cambria Math"/>
                      </a:rPr>
                      <m:t>+3</m:t>
                    </m:r>
                  </m:oMath>
                </a14:m>
                <a:endParaRPr lang="en-US" dirty="0"/>
              </a:p>
              <a:p>
                <a:endParaRPr lang="en-US" dirty="0"/>
              </a:p>
              <a:p>
                <a:r>
                  <a:rPr lang="en-US" dirty="0"/>
                  <a:t>Example: For the continuous distribution used earlier, find the variance of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1556" b="-1549"/>
                </a:stretch>
              </a:blipFill>
            </p:spPr>
            <p:txBody>
              <a:bodyPr/>
              <a:lstStyle/>
              <a:p>
                <a:r>
                  <a:rPr lang="en-US">
                    <a:noFill/>
                  </a:rPr>
                  <a:t> </a:t>
                </a:r>
              </a:p>
            </p:txBody>
          </p:sp>
        </mc:Fallback>
      </mc:AlternateContent>
    </p:spTree>
    <p:extLst>
      <p:ext uri="{BB962C8B-B14F-4D97-AF65-F5344CB8AC3E}">
        <p14:creationId xmlns:p14="http://schemas.microsoft.com/office/powerpoint/2010/main" val="3279629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p:sp>
        <p:nvSpPr>
          <p:cNvPr id="3" name="Content Placeholder 2"/>
          <p:cNvSpPr>
            <a:spLocks noGrp="1"/>
          </p:cNvSpPr>
          <p:nvPr>
            <p:ph idx="1"/>
          </p:nvPr>
        </p:nvSpPr>
        <p:spPr/>
        <p:txBody>
          <a:bodyPr>
            <a:normAutofit/>
          </a:bodyPr>
          <a:lstStyle/>
          <a:p>
            <a:r>
              <a:rPr lang="en-US" dirty="0"/>
              <a:t>When we have two random variables, we can obtain a measure of how they vary together, or “co-vary.” </a:t>
            </a:r>
          </a:p>
          <a:p>
            <a:endParaRPr lang="en-US" dirty="0"/>
          </a:p>
          <a:p>
            <a:r>
              <a:rPr lang="en-US" dirty="0"/>
              <a:t>The measure we use is called the </a:t>
            </a:r>
            <a:r>
              <a:rPr lang="en-US" i="1" dirty="0"/>
              <a:t>covariance</a:t>
            </a:r>
            <a:r>
              <a:rPr lang="en-US" dirty="0"/>
              <a:t>. The main thing it tells us is whether the random variables have a positive or negative relationship.</a:t>
            </a:r>
          </a:p>
        </p:txBody>
      </p:sp>
    </p:spTree>
    <p:extLst>
      <p:ext uri="{BB962C8B-B14F-4D97-AF65-F5344CB8AC3E}">
        <p14:creationId xmlns:p14="http://schemas.microsoft.com/office/powerpoint/2010/main" val="3259032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While the variance must be nonnegative </a:t>
                </a:r>
                <a14:m>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r>
                          <a:rPr lang="en-US" b="0" i="1" smtClean="0">
                            <a:latin typeface="Cambria Math"/>
                          </a:rPr>
                          <m:t>≥0</m:t>
                        </m:r>
                      </m:e>
                    </m:d>
                  </m:oMath>
                </a14:m>
                <a:r>
                  <a:rPr lang="en-US" dirty="0"/>
                  <a:t>, the covariance can be any real number. If it is positive,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are positively related. If it is negative, they are negatively related.</a:t>
                </a:r>
              </a:p>
              <a:p>
                <a:endParaRPr lang="en-US" dirty="0"/>
              </a:p>
              <a:p>
                <a:r>
                  <a:rPr lang="en-US" dirty="0"/>
                  <a:t>While we would like the size (absolute value) of the covariance to tell us how strong the relationship is (how much the variables vary from their linear relationship), we run into problems with units. We will discuss how to deal with this shortly.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127"/>
                </a:stretch>
              </a:blipFill>
            </p:spPr>
            <p:txBody>
              <a:bodyPr/>
              <a:lstStyle/>
              <a:p>
                <a:r>
                  <a:rPr lang="en-US">
                    <a:noFill/>
                  </a:rPr>
                  <a:t> </a:t>
                </a:r>
              </a:p>
            </p:txBody>
          </p:sp>
        </mc:Fallback>
      </mc:AlternateContent>
    </p:spTree>
    <p:extLst>
      <p:ext uri="{BB962C8B-B14F-4D97-AF65-F5344CB8AC3E}">
        <p14:creationId xmlns:p14="http://schemas.microsoft.com/office/powerpoint/2010/main" val="2343399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For random variables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with joint probability distribution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oMath>
                </a14:m>
                <a:r>
                  <a:rPr lang="en-US" dirty="0"/>
                  <a:t>, the covariance of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is given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𝑋𝑌</m:t>
                        </m:r>
                      </m:sub>
                    </m:sSub>
                    <m:r>
                      <a:rPr lang="en-US" b="0" i="1" smtClean="0">
                        <a:latin typeface="Cambria Math"/>
                      </a:rPr>
                      <m:t>=</m:t>
                    </m:r>
                    <m:r>
                      <a:rPr lang="en-US" b="0" i="1" smtClean="0">
                        <a:latin typeface="Cambria Math"/>
                      </a:rPr>
                      <m:t>𝐸</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𝑥</m:t>
                                </m:r>
                              </m:sub>
                            </m:sSub>
                          </m:e>
                        </m:d>
                        <m:d>
                          <m:dPr>
                            <m:ctrlPr>
                              <a:rPr lang="en-US" b="0" i="1" smtClean="0">
                                <a:latin typeface="Cambria Math" panose="02040503050406030204" pitchFamily="18" charset="0"/>
                              </a:rPr>
                            </m:ctrlPr>
                          </m:dPr>
                          <m:e>
                            <m:r>
                              <a:rPr lang="en-US" b="0" i="1" smtClean="0">
                                <a:latin typeface="Cambria Math"/>
                              </a:rPr>
                              <m:t>𝑌</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𝑌</m:t>
                                </m:r>
                              </m:sub>
                            </m:sSub>
                          </m:e>
                        </m:d>
                      </m:e>
                    </m:d>
                  </m:oMath>
                </a14:m>
                <a:r>
                  <a:rPr lang="en-US" dirty="0"/>
                  <a:t>. </a:t>
                </a:r>
              </a:p>
              <a:p>
                <a:endParaRPr lang="en-US" dirty="0"/>
              </a:p>
              <a:p>
                <a:r>
                  <a:rPr lang="en-US" dirty="0"/>
                  <a:t>While you can write this out as a double summation or double integral (following what we did in 4.1), there is again an easier formula.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2074"/>
                </a:stretch>
              </a:blipFill>
            </p:spPr>
            <p:txBody>
              <a:bodyPr/>
              <a:lstStyle/>
              <a:p>
                <a:r>
                  <a:rPr lang="en-US">
                    <a:noFill/>
                  </a:rPr>
                  <a:t> </a:t>
                </a:r>
              </a:p>
            </p:txBody>
          </p:sp>
        </mc:Fallback>
      </mc:AlternateContent>
    </p:spTree>
    <p:extLst>
      <p:ext uri="{BB962C8B-B14F-4D97-AF65-F5344CB8AC3E}">
        <p14:creationId xmlns:p14="http://schemas.microsoft.com/office/powerpoint/2010/main" val="2120910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will prove in 4.3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𝑋𝑌</m:t>
                        </m:r>
                      </m:sub>
                    </m:sSub>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𝑋𝑌</m:t>
                        </m:r>
                      </m:e>
                    </m:d>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𝑋</m:t>
                        </m:r>
                      </m:sub>
                    </m:sSub>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𝑌</m:t>
                        </m:r>
                      </m:sub>
                    </m:sSub>
                  </m:oMath>
                </a14:m>
                <a:r>
                  <a:rPr lang="en-US" dirty="0"/>
                  <a:t>.</a:t>
                </a:r>
              </a:p>
              <a:p>
                <a:endParaRPr lang="en-US" dirty="0"/>
              </a:p>
              <a:p>
                <a:r>
                  <a:rPr lang="en-US" dirty="0"/>
                  <a:t>Example: Given the joint PDF, </a:t>
                </a:r>
                <a:endParaRPr lang="en-US" b="0" i="1" dirty="0">
                  <a:latin typeface="Cambria Math"/>
                </a:endParaRPr>
              </a:p>
              <a:p>
                <a:pPr marL="109728" indent="0">
                  <a:buNone/>
                </a:pP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2</m:t>
                        </m:r>
                      </m:num>
                      <m:den>
                        <m:r>
                          <a:rPr lang="en-US" b="0" i="1" smtClean="0">
                            <a:latin typeface="Cambria Math"/>
                          </a:rPr>
                          <m:t>5</m:t>
                        </m:r>
                      </m:den>
                    </m:f>
                    <m:r>
                      <a:rPr lang="en-US" b="0" i="1" smtClean="0">
                        <a:latin typeface="Cambria Math"/>
                      </a:rPr>
                      <m:t>(2</m:t>
                    </m:r>
                    <m:r>
                      <a:rPr lang="en-US" b="0" i="1" smtClean="0">
                        <a:latin typeface="Cambria Math"/>
                      </a:rPr>
                      <m:t>𝑥</m:t>
                    </m:r>
                    <m:r>
                      <a:rPr lang="en-US" b="0" i="1" smtClean="0">
                        <a:latin typeface="Cambria Math"/>
                      </a:rPr>
                      <m:t>+3</m:t>
                    </m:r>
                    <m:r>
                      <a:rPr lang="en-US" b="0" i="1" smtClean="0">
                        <a:latin typeface="Cambria Math"/>
                      </a:rPr>
                      <m:t>𝑦</m:t>
                    </m:r>
                    <m:r>
                      <a:rPr lang="en-US" b="0" i="1" smtClean="0">
                        <a:latin typeface="Cambria Math"/>
                      </a:rPr>
                      <m:t>)</m:t>
                    </m:r>
                  </m:oMath>
                </a14:m>
                <a:r>
                  <a:rPr lang="en-US" dirty="0"/>
                  <a:t> for </a:t>
                </a:r>
                <a14:m>
                  <m:oMath xmlns:m="http://schemas.openxmlformats.org/officeDocument/2006/math">
                    <m:r>
                      <a:rPr lang="en-US" b="0" i="1" smtClean="0">
                        <a:latin typeface="Cambria Math"/>
                      </a:rPr>
                      <m:t>0&lt;</m:t>
                    </m:r>
                    <m:r>
                      <a:rPr lang="en-US" b="0" i="1" smtClean="0">
                        <a:latin typeface="Cambria Math"/>
                      </a:rPr>
                      <m:t>𝑥</m:t>
                    </m:r>
                    <m:r>
                      <a:rPr lang="en-US" b="0" i="1" smtClean="0">
                        <a:latin typeface="Cambria Math"/>
                      </a:rPr>
                      <m:t>&lt;1, 0&lt;</m:t>
                    </m:r>
                    <m:r>
                      <a:rPr lang="en-US" b="0" i="1" smtClean="0">
                        <a:latin typeface="Cambria Math"/>
                      </a:rPr>
                      <m:t>𝑦</m:t>
                    </m:r>
                    <m:r>
                      <a:rPr lang="en-US" b="0" i="1" smtClean="0">
                        <a:latin typeface="Cambria Math"/>
                      </a:rPr>
                      <m:t>&lt;1</m:t>
                    </m:r>
                  </m:oMath>
                </a14:m>
                <a:r>
                  <a:rPr lang="en-US" dirty="0"/>
                  <a:t> and </a:t>
                </a:r>
                <a14:m>
                  <m:oMath xmlns:m="http://schemas.openxmlformats.org/officeDocument/2006/math">
                    <m:r>
                      <a:rPr lang="en-US" b="0" i="1" smtClean="0">
                        <a:latin typeface="Cambria Math"/>
                      </a:rPr>
                      <m:t>0</m:t>
                    </m:r>
                  </m:oMath>
                </a14:m>
                <a:r>
                  <a:rPr lang="en-US" dirty="0"/>
                  <a:t> otherwise, 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𝑋𝑌</m:t>
                        </m:r>
                      </m:sub>
                    </m:sSub>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2248694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Now since the size of the covariance depends on the units in which the random variables are expressed, we can’t use the size to say anything about the strength of the relationship between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a:t>
                </a:r>
              </a:p>
              <a:p>
                <a:endParaRPr lang="en-US" dirty="0"/>
              </a:p>
              <a:p>
                <a:r>
                  <a:rPr lang="en-US" dirty="0"/>
                  <a:t>We want to be able to discuss both the direction  (positive or negative) as well as the strength of the relationship between the two random variables.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2394" r="-1259"/>
                </a:stretch>
              </a:blipFill>
            </p:spPr>
            <p:txBody>
              <a:bodyPr/>
              <a:lstStyle/>
              <a:p>
                <a:r>
                  <a:rPr lang="en-US">
                    <a:noFill/>
                  </a:rPr>
                  <a:t> </a:t>
                </a:r>
              </a:p>
            </p:txBody>
          </p:sp>
        </mc:Fallback>
      </mc:AlternateContent>
    </p:spTree>
    <p:extLst>
      <p:ext uri="{BB962C8B-B14F-4D97-AF65-F5344CB8AC3E}">
        <p14:creationId xmlns:p14="http://schemas.microsoft.com/office/powerpoint/2010/main" val="353720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To do this, we need to use the </a:t>
                </a:r>
                <a:r>
                  <a:rPr lang="en-US" i="1" dirty="0"/>
                  <a:t>correlation coefficient</a:t>
                </a:r>
                <a:r>
                  <a:rPr lang="en-US" dirty="0"/>
                  <a:t>. Using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𝑋𝑌</m:t>
                        </m:r>
                      </m:sub>
                    </m:sSub>
                  </m:oMath>
                </a14:m>
                <a:r>
                  <a:rPr lang="en-US" dirty="0"/>
                  <a:t> as the covariance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𝑌</m:t>
                        </m:r>
                      </m:sub>
                    </m:sSub>
                  </m:oMath>
                </a14:m>
                <a:r>
                  <a:rPr lang="en-US" dirty="0"/>
                  <a:t> as the standard deviations for the respective random variables, the correlation coefficient is:</a:t>
                </a:r>
              </a:p>
              <a:p>
                <a:pPr marL="109728"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𝜌</m:t>
                          </m:r>
                        </m:e>
                        <m:sub>
                          <m:r>
                            <a:rPr lang="en-US" b="0" i="1" smtClean="0">
                              <a:latin typeface="Cambria Math"/>
                            </a:rPr>
                            <m:t>𝑋𝑌</m:t>
                          </m:r>
                        </m:sub>
                      </m:sSub>
                      <m:r>
                        <a:rPr lang="en-US" b="0" i="1" smtClean="0">
                          <a:latin typeface="Cambria Math"/>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𝑋𝑌</m:t>
                              </m:r>
                            </m:sub>
                          </m:sSub>
                        </m:num>
                        <m:den>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m:t>
                              </m:r>
                            </m:sub>
                          </m:sSub>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𝑌</m:t>
                              </m:r>
                            </m:sub>
                          </m:sSub>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1708673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The correlation coefficient has several nice properties: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𝜌</m:t>
                        </m:r>
                      </m:e>
                      <m:sub>
                        <m:r>
                          <a:rPr lang="en-US" b="0" i="1" smtClean="0">
                            <a:latin typeface="Cambria Math"/>
                          </a:rPr>
                          <m:t>𝑋𝑌</m:t>
                        </m:r>
                      </m:sub>
                    </m:sSub>
                  </m:oMath>
                </a14:m>
                <a:r>
                  <a:rPr lang="en-US" dirty="0"/>
                  <a:t> is </a:t>
                </a:r>
                <a:r>
                  <a:rPr lang="en-US" dirty="0" err="1"/>
                  <a:t>unitless</a:t>
                </a:r>
                <a:endParaRPr lang="en-US" dirty="0"/>
              </a:p>
              <a:p>
                <a:pPr lvl="1"/>
                <a14:m>
                  <m:oMath xmlns:m="http://schemas.openxmlformats.org/officeDocument/2006/math">
                    <m:r>
                      <a:rPr lang="en-US" b="0" i="1" smtClean="0">
                        <a:latin typeface="Cambria Math"/>
                      </a:rPr>
                      <m:t>−1≤</m:t>
                    </m:r>
                    <m:sSub>
                      <m:sSubPr>
                        <m:ctrlPr>
                          <a:rPr lang="en-US" b="0" i="1" smtClean="0">
                            <a:latin typeface="Cambria Math" panose="02040503050406030204" pitchFamily="18" charset="0"/>
                          </a:rPr>
                        </m:ctrlPr>
                      </m:sSubPr>
                      <m:e>
                        <m:r>
                          <a:rPr lang="en-US" b="0" i="1" smtClean="0">
                            <a:latin typeface="Cambria Math"/>
                          </a:rPr>
                          <m:t>𝜌</m:t>
                        </m:r>
                      </m:e>
                      <m:sub>
                        <m:r>
                          <a:rPr lang="en-US" b="0" i="1" smtClean="0">
                            <a:latin typeface="Cambria Math"/>
                          </a:rPr>
                          <m:t>𝑋𝑌</m:t>
                        </m:r>
                      </m:sub>
                    </m:sSub>
                    <m:r>
                      <a:rPr lang="en-US" b="0" i="1" smtClean="0">
                        <a:latin typeface="Cambria Math"/>
                      </a:rPr>
                      <m:t>≤1</m:t>
                    </m:r>
                  </m:oMath>
                </a14:m>
                <a:endParaRPr lang="en-US" b="0" dirty="0"/>
              </a:p>
              <a:p>
                <a:pPr lvl="1"/>
                <a:r>
                  <a:rPr lang="en-US" dirty="0"/>
                  <a:t>The sign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𝜌</m:t>
                        </m:r>
                      </m:e>
                      <m:sub>
                        <m:r>
                          <a:rPr lang="en-US" b="0" i="1" smtClean="0">
                            <a:latin typeface="Cambria Math"/>
                          </a:rPr>
                          <m:t>𝑋𝑌</m:t>
                        </m:r>
                      </m:sub>
                    </m:sSub>
                  </m:oMath>
                </a14:m>
                <a:r>
                  <a:rPr lang="en-US" dirty="0"/>
                  <a:t> determines the direction of the relationship between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a:t>
                </a:r>
              </a:p>
              <a:p>
                <a:pPr lvl="1"/>
                <a:r>
                  <a:rPr lang="en-US" dirty="0"/>
                  <a:t>The absolute value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𝜌</m:t>
                        </m:r>
                      </m:e>
                      <m:sub>
                        <m:r>
                          <a:rPr lang="en-US" b="0" i="1" smtClean="0">
                            <a:latin typeface="Cambria Math"/>
                          </a:rPr>
                          <m:t>𝑋𝑌</m:t>
                        </m:r>
                      </m:sub>
                    </m:sSub>
                  </m:oMath>
                </a14:m>
                <a:r>
                  <a:rPr lang="en-US" dirty="0"/>
                  <a:t> determines the strength of the relationship with larger values indicating less variation (a stronger relationship).</a:t>
                </a:r>
              </a:p>
              <a:p>
                <a:pPr lvl="1"/>
                <a:r>
                  <a:rPr lang="en-US" dirty="0"/>
                  <a:t>If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are independent,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𝑋𝑌</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𝜌</m:t>
                        </m:r>
                      </m:e>
                      <m:sub>
                        <m:r>
                          <a:rPr lang="en-US" b="0" i="1" smtClean="0">
                            <a:latin typeface="Cambria Math"/>
                          </a:rPr>
                          <m:t>𝑋𝑌</m:t>
                        </m:r>
                      </m:sub>
                    </m:sSub>
                    <m:r>
                      <a:rPr lang="en-US" b="0" i="1" smtClean="0">
                        <a:latin typeface="Cambria Math"/>
                      </a:rPr>
                      <m:t>=0</m:t>
                    </m:r>
                  </m:oMath>
                </a14:m>
                <a:r>
                  <a:rPr lang="en-US" dirty="0"/>
                  <a:t>.</a:t>
                </a:r>
              </a:p>
              <a:p>
                <a:pPr lvl="2"/>
                <a:r>
                  <a:rPr lang="en-US" dirty="0"/>
                  <a:t>Note, however, that the converse is not true in general.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2113"/>
                </a:stretch>
              </a:blipFill>
            </p:spPr>
            <p:txBody>
              <a:bodyPr/>
              <a:lstStyle/>
              <a:p>
                <a:r>
                  <a:rPr lang="en-US">
                    <a:noFill/>
                  </a:rPr>
                  <a:t> </a:t>
                </a:r>
              </a:p>
            </p:txBody>
          </p:sp>
        </mc:Fallback>
      </mc:AlternateContent>
    </p:spTree>
    <p:extLst>
      <p:ext uri="{BB962C8B-B14F-4D97-AF65-F5344CB8AC3E}">
        <p14:creationId xmlns:p14="http://schemas.microsoft.com/office/powerpoint/2010/main" val="4024193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One drawback of the correlation coefficient is that it only measures the strength and direction of </a:t>
                </a:r>
                <a:r>
                  <a:rPr lang="en-US" i="1" dirty="0"/>
                  <a:t>linear </a:t>
                </a:r>
                <a:r>
                  <a:rPr lang="en-US" dirty="0"/>
                  <a:t>relationships. </a:t>
                </a:r>
              </a:p>
              <a:p>
                <a:endParaRPr lang="en-US" dirty="0"/>
              </a:p>
              <a:p>
                <a:r>
                  <a:rPr lang="en-US" dirty="0"/>
                  <a:t>This is why a correlation coefficient (or covariance) of </a:t>
                </a:r>
                <a14:m>
                  <m:oMath xmlns:m="http://schemas.openxmlformats.org/officeDocument/2006/math">
                    <m:r>
                      <a:rPr lang="en-US" b="0" i="1" smtClean="0">
                        <a:latin typeface="Cambria Math"/>
                      </a:rPr>
                      <m:t>0</m:t>
                    </m:r>
                  </m:oMath>
                </a14:m>
                <a:r>
                  <a:rPr lang="en-US" dirty="0"/>
                  <a:t> does not imply that two variables are independent. They could have a quadratic or logarithmic or exponential or any other kind of relationship. The correlation coefficient wouldn’t be able to tell us anything in those cases.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268" r="-815"/>
                </a:stretch>
              </a:blipFill>
            </p:spPr>
            <p:txBody>
              <a:bodyPr/>
              <a:lstStyle/>
              <a:p>
                <a:r>
                  <a:rPr lang="en-US">
                    <a:noFill/>
                  </a:rPr>
                  <a:t> </a:t>
                </a:r>
              </a:p>
            </p:txBody>
          </p:sp>
        </mc:Fallback>
      </mc:AlternateContent>
    </p:spTree>
    <p:extLst>
      <p:ext uri="{BB962C8B-B14F-4D97-AF65-F5344CB8AC3E}">
        <p14:creationId xmlns:p14="http://schemas.microsoft.com/office/powerpoint/2010/main" val="3141883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For the joint PDF, </a:t>
                </a:r>
                <a14:m>
                  <m:oMath xmlns:m="http://schemas.openxmlformats.org/officeDocument/2006/math">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e>
                    </m:d>
                    <m:r>
                      <a:rPr lang="en-US" i="1">
                        <a:latin typeface="Cambria Math"/>
                      </a:rPr>
                      <m:t>=</m:t>
                    </m:r>
                    <m:f>
                      <m:fPr>
                        <m:ctrlPr>
                          <a:rPr lang="en-US" i="1">
                            <a:latin typeface="Cambria Math" panose="02040503050406030204" pitchFamily="18" charset="0"/>
                          </a:rPr>
                        </m:ctrlPr>
                      </m:fPr>
                      <m:num>
                        <m:r>
                          <a:rPr lang="en-US" i="1">
                            <a:latin typeface="Cambria Math"/>
                          </a:rPr>
                          <m:t>2</m:t>
                        </m:r>
                      </m:num>
                      <m:den>
                        <m:r>
                          <a:rPr lang="en-US" i="1">
                            <a:latin typeface="Cambria Math"/>
                          </a:rPr>
                          <m:t>5</m:t>
                        </m:r>
                      </m:den>
                    </m:f>
                    <m:r>
                      <a:rPr lang="en-US" i="1">
                        <a:latin typeface="Cambria Math"/>
                      </a:rPr>
                      <m:t>(2</m:t>
                    </m:r>
                    <m:r>
                      <a:rPr lang="en-US" i="1">
                        <a:latin typeface="Cambria Math"/>
                      </a:rPr>
                      <m:t>𝑥</m:t>
                    </m:r>
                    <m:r>
                      <a:rPr lang="en-US" i="1">
                        <a:latin typeface="Cambria Math"/>
                      </a:rPr>
                      <m:t>+3</m:t>
                    </m:r>
                    <m:r>
                      <a:rPr lang="en-US" i="1">
                        <a:latin typeface="Cambria Math"/>
                      </a:rPr>
                      <m:t>𝑦</m:t>
                    </m:r>
                    <m:r>
                      <a:rPr lang="en-US" i="1">
                        <a:latin typeface="Cambria Math"/>
                      </a:rPr>
                      <m:t>)</m:t>
                    </m:r>
                  </m:oMath>
                </a14:m>
                <a:r>
                  <a:rPr lang="en-US" dirty="0"/>
                  <a:t> for </a:t>
                </a:r>
                <a14:m>
                  <m:oMath xmlns:m="http://schemas.openxmlformats.org/officeDocument/2006/math">
                    <m:r>
                      <a:rPr lang="en-US" i="1">
                        <a:latin typeface="Cambria Math"/>
                      </a:rPr>
                      <m:t>0&lt;</m:t>
                    </m:r>
                    <m:r>
                      <a:rPr lang="en-US" i="1">
                        <a:latin typeface="Cambria Math"/>
                      </a:rPr>
                      <m:t>𝑥</m:t>
                    </m:r>
                    <m:r>
                      <a:rPr lang="en-US" i="1">
                        <a:latin typeface="Cambria Math"/>
                      </a:rPr>
                      <m:t>&lt;1, 0&lt;</m:t>
                    </m:r>
                    <m:r>
                      <a:rPr lang="en-US" i="1">
                        <a:latin typeface="Cambria Math"/>
                      </a:rPr>
                      <m:t>𝑦</m:t>
                    </m:r>
                    <m:r>
                      <a:rPr lang="en-US" i="1">
                        <a:latin typeface="Cambria Math"/>
                      </a:rPr>
                      <m:t>&lt;1</m:t>
                    </m:r>
                  </m:oMath>
                </a14:m>
                <a:r>
                  <a:rPr lang="en-US" dirty="0"/>
                  <a:t> and </a:t>
                </a:r>
                <a14:m>
                  <m:oMath xmlns:m="http://schemas.openxmlformats.org/officeDocument/2006/math">
                    <m:r>
                      <a:rPr lang="en-US" i="1">
                        <a:latin typeface="Cambria Math"/>
                      </a:rPr>
                      <m:t>0</m:t>
                    </m:r>
                  </m:oMath>
                </a14:m>
                <a:r>
                  <a:rPr lang="en-US" dirty="0"/>
                  <a:t> otherwise, 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𝜌</m:t>
                        </m:r>
                      </m:e>
                      <m:sub>
                        <m:r>
                          <a:rPr lang="en-US" b="0" i="1" smtClean="0">
                            <a:latin typeface="Cambria Math"/>
                          </a:rPr>
                          <m:t>𝑋𝑌</m:t>
                        </m:r>
                      </m:sub>
                    </m:sSub>
                  </m:oMath>
                </a14:m>
                <a:r>
                  <a:rPr lang="en-US" dirty="0"/>
                  <a:t> and comment on the direction and strength of the linear relationship between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47963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4.2 – Variance and Covariance</a:t>
            </a:r>
          </a:p>
        </p:txBody>
      </p:sp>
      <p:sp>
        <p:nvSpPr>
          <p:cNvPr id="3" name="Content Placeholder 2"/>
          <p:cNvSpPr>
            <a:spLocks noGrp="1"/>
          </p:cNvSpPr>
          <p:nvPr>
            <p:ph idx="1"/>
          </p:nvPr>
        </p:nvSpPr>
        <p:spPr/>
        <p:txBody>
          <a:bodyPr>
            <a:normAutofit/>
          </a:bodyPr>
          <a:lstStyle/>
          <a:p>
            <a:r>
              <a:rPr lang="en-US" dirty="0"/>
              <a:t>Exercise: For each of the following $1 bets, find the standard deviation of the money you will win:</a:t>
            </a:r>
          </a:p>
          <a:p>
            <a:pPr lvl="1"/>
            <a:r>
              <a:rPr lang="en-US" dirty="0"/>
              <a:t>Bet $1 on red, worth $1 if you win</a:t>
            </a:r>
          </a:p>
          <a:p>
            <a:pPr lvl="1"/>
            <a:r>
              <a:rPr lang="en-US" dirty="0"/>
              <a:t>Bet $1 that the ball will land in any one of 6 selected pockets, worth $5 if you win</a:t>
            </a:r>
          </a:p>
          <a:p>
            <a:pPr lvl="1"/>
            <a:r>
              <a:rPr lang="en-US" dirty="0"/>
              <a:t>Bet $1 that the ball will land in a certain pocket, worth $35 if you win</a:t>
            </a:r>
          </a:p>
          <a:p>
            <a:endParaRPr lang="en-US" dirty="0"/>
          </a:p>
        </p:txBody>
      </p:sp>
    </p:spTree>
    <p:extLst>
      <p:ext uri="{BB962C8B-B14F-4D97-AF65-F5344CB8AC3E}">
        <p14:creationId xmlns:p14="http://schemas.microsoft.com/office/powerpoint/2010/main" val="1745944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p:sp>
        <p:nvSpPr>
          <p:cNvPr id="3" name="Content Placeholder 2"/>
          <p:cNvSpPr>
            <a:spLocks noGrp="1"/>
          </p:cNvSpPr>
          <p:nvPr>
            <p:ph idx="1"/>
          </p:nvPr>
        </p:nvSpPr>
        <p:spPr/>
        <p:txBody>
          <a:bodyPr>
            <a:normAutofit/>
          </a:bodyPr>
          <a:lstStyle/>
          <a:p>
            <a:r>
              <a:rPr lang="en-US" dirty="0"/>
              <a:t>In this section we will learn properties of expected value that will help us in calculating means and variances for linear combinations of random variables. </a:t>
            </a:r>
          </a:p>
          <a:p>
            <a:endParaRPr lang="en-US" dirty="0"/>
          </a:p>
          <a:p>
            <a:r>
              <a:rPr lang="en-US" dirty="0"/>
              <a:t>While we will not spend time proving these, it is helpful to note that in the continuous case, these are all simply properties of integrals. </a:t>
            </a:r>
          </a:p>
        </p:txBody>
      </p:sp>
    </p:spTree>
    <p:extLst>
      <p:ext uri="{BB962C8B-B14F-4D97-AF65-F5344CB8AC3E}">
        <p14:creationId xmlns:p14="http://schemas.microsoft.com/office/powerpoint/2010/main" val="24911945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begin with a theorem that will help us throughout this section. If </a:t>
                </a:r>
                <a14:m>
                  <m:oMath xmlns:m="http://schemas.openxmlformats.org/officeDocument/2006/math">
                    <m:r>
                      <a:rPr lang="en-US" b="0" i="1" smtClean="0">
                        <a:latin typeface="Cambria Math"/>
                      </a:rPr>
                      <m:t>𝑋</m:t>
                    </m:r>
                  </m:oMath>
                </a14:m>
                <a:r>
                  <a:rPr lang="en-US" dirty="0"/>
                  <a:t> is a random variable and </a:t>
                </a:r>
                <a14:m>
                  <m:oMath xmlns:m="http://schemas.openxmlformats.org/officeDocument/2006/math">
                    <m:r>
                      <a:rPr lang="en-US" b="0" i="1" smtClean="0">
                        <a:latin typeface="Cambria Math"/>
                      </a:rPr>
                      <m:t>𝑎</m:t>
                    </m:r>
                  </m:oMath>
                </a14:m>
                <a:r>
                  <a:rPr lang="en-US" dirty="0"/>
                  <a:t> and </a:t>
                </a:r>
                <a14:m>
                  <m:oMath xmlns:m="http://schemas.openxmlformats.org/officeDocument/2006/math">
                    <m:r>
                      <a:rPr lang="en-US" b="0" i="1" smtClean="0">
                        <a:latin typeface="Cambria Math"/>
                      </a:rPr>
                      <m:t>𝑏</m:t>
                    </m:r>
                  </m:oMath>
                </a14:m>
                <a:r>
                  <a:rPr lang="en-US" dirty="0"/>
                  <a:t> are some constants, then</a:t>
                </a:r>
              </a:p>
              <a:p>
                <a:endParaRPr lang="en-US" dirty="0"/>
              </a:p>
              <a:p>
                <a:pPr marL="109728" indent="0">
                  <a:buNone/>
                </a:pPr>
                <a14:m>
                  <m:oMathPara xmlns:m="http://schemas.openxmlformats.org/officeDocument/2006/math">
                    <m:oMathParaPr>
                      <m:jc m:val="centerGroup"/>
                    </m:oMathParaPr>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𝑎𝑋</m:t>
                          </m:r>
                          <m:r>
                            <a:rPr lang="en-US" b="0" i="1" smtClean="0">
                              <a:latin typeface="Cambria Math"/>
                            </a:rPr>
                            <m:t>+</m:t>
                          </m:r>
                          <m:r>
                            <a:rPr lang="en-US" b="0" i="1" smtClean="0">
                              <a:latin typeface="Cambria Math"/>
                            </a:rPr>
                            <m:t>𝑏</m:t>
                          </m:r>
                        </m:e>
                      </m:d>
                      <m:r>
                        <a:rPr lang="en-US" b="0" i="1" smtClean="0">
                          <a:latin typeface="Cambria Math"/>
                        </a:rPr>
                        <m:t>=</m:t>
                      </m:r>
                      <m:r>
                        <a:rPr lang="en-US" b="0" i="1" smtClean="0">
                          <a:latin typeface="Cambria Math"/>
                        </a:rPr>
                        <m:t>𝑎𝐸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𝑏</m:t>
                      </m:r>
                    </m:oMath>
                  </m:oMathPara>
                </a14:m>
                <a:endParaRPr lang="en-US" dirty="0"/>
              </a:p>
              <a:p>
                <a:pPr marL="109728" indent="0">
                  <a:buNone/>
                </a:pPr>
                <a:endParaRPr lang="en-US" dirty="0"/>
              </a:p>
              <a:p>
                <a:r>
                  <a:rPr lang="en-US" dirty="0"/>
                  <a:t>There are two useful ideas here:</a:t>
                </a:r>
              </a:p>
              <a:p>
                <a:pPr lvl="1"/>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𝑎𝑋</m:t>
                        </m:r>
                      </m:e>
                    </m:d>
                    <m:r>
                      <a:rPr lang="en-US" b="0" i="1" smtClean="0">
                        <a:latin typeface="Cambria Math"/>
                      </a:rPr>
                      <m:t>=</m:t>
                    </m:r>
                    <m:r>
                      <a:rPr lang="en-US" b="0" i="1" smtClean="0">
                        <a:latin typeface="Cambria Math"/>
                      </a:rPr>
                      <m:t>𝑎𝐸</m:t>
                    </m:r>
                    <m:d>
                      <m:dPr>
                        <m:ctrlPr>
                          <a:rPr lang="en-US" b="0" i="1" smtClean="0">
                            <a:latin typeface="Cambria Math" panose="02040503050406030204" pitchFamily="18" charset="0"/>
                          </a:rPr>
                        </m:ctrlPr>
                      </m:dPr>
                      <m:e>
                        <m:r>
                          <a:rPr lang="en-US" b="0" i="1" smtClean="0">
                            <a:latin typeface="Cambria Math"/>
                          </a:rPr>
                          <m:t>𝑋</m:t>
                        </m:r>
                      </m:e>
                    </m:d>
                  </m:oMath>
                </a14:m>
                <a:endParaRPr lang="en-US" b="0" dirty="0"/>
              </a:p>
              <a:p>
                <a:pPr lvl="1"/>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𝑏</m:t>
                        </m:r>
                      </m:e>
                    </m:d>
                    <m:r>
                      <a:rPr lang="en-US" b="0" i="1" smtClean="0">
                        <a:latin typeface="Cambria Math"/>
                      </a:rPr>
                      <m:t>=</m:t>
                    </m:r>
                    <m:r>
                      <a:rPr lang="en-US" b="0" i="1" smtClean="0">
                        <a:latin typeface="Cambria Math"/>
                      </a:rPr>
                      <m:t>𝑏</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385164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In 4.1, we calculated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2</m:t>
                        </m:r>
                        <m:r>
                          <a:rPr lang="en-US" b="0" i="1" smtClean="0">
                            <a:latin typeface="Cambria Math"/>
                          </a:rPr>
                          <m:t>𝑋</m:t>
                        </m:r>
                        <m:r>
                          <a:rPr lang="en-US" b="0" i="1" smtClean="0">
                            <a:latin typeface="Cambria Math"/>
                          </a:rPr>
                          <m:t>−1</m:t>
                        </m:r>
                      </m:e>
                    </m:d>
                  </m:oMath>
                </a14:m>
                <a:r>
                  <a:rPr lang="en-US" dirty="0"/>
                  <a:t> for the random variable related to defective items in a shipment. Using the theorem just given, calculate this value again.</a:t>
                </a:r>
              </a:p>
              <a:p>
                <a:endParaRPr lang="en-US" dirty="0"/>
              </a:p>
              <a:p>
                <a:r>
                  <a:rPr lang="en-US" dirty="0"/>
                  <a:t>Example: Calculate </a:t>
                </a:r>
                <a14:m>
                  <m:oMath xmlns:m="http://schemas.openxmlformats.org/officeDocument/2006/math">
                    <m:r>
                      <a:rPr lang="en-US" b="0" i="1" smtClean="0">
                        <a:latin typeface="Cambria Math"/>
                      </a:rPr>
                      <m:t>𝐸</m:t>
                    </m:r>
                    <m:r>
                      <a:rPr lang="en-US" b="0" i="1" smtClean="0">
                        <a:latin typeface="Cambria Math"/>
                      </a:rPr>
                      <m:t>(3</m:t>
                    </m:r>
                    <m:r>
                      <a:rPr lang="en-US" b="0" i="1" smtClean="0">
                        <a:latin typeface="Cambria Math"/>
                      </a:rPr>
                      <m:t>𝑋</m:t>
                    </m:r>
                    <m:r>
                      <a:rPr lang="en-US" b="0" i="1" smtClean="0">
                        <a:latin typeface="Cambria Math"/>
                      </a:rPr>
                      <m:t>+7)</m:t>
                    </m:r>
                  </m:oMath>
                </a14:m>
                <a:r>
                  <a:rPr lang="en-US" dirty="0"/>
                  <a:t> for the random variable related to the lifetime of a certain electronic device.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889"/>
                </a:stretch>
              </a:blipFill>
            </p:spPr>
            <p:txBody>
              <a:bodyPr/>
              <a:lstStyle/>
              <a:p>
                <a:r>
                  <a:rPr lang="en-US">
                    <a:noFill/>
                  </a:rPr>
                  <a:t> </a:t>
                </a:r>
              </a:p>
            </p:txBody>
          </p:sp>
        </mc:Fallback>
      </mc:AlternateContent>
    </p:spTree>
    <p:extLst>
      <p:ext uri="{BB962C8B-B14F-4D97-AF65-F5344CB8AC3E}">
        <p14:creationId xmlns:p14="http://schemas.microsoft.com/office/powerpoint/2010/main" val="2670529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The next theorem deals with general functions of a random variable </a:t>
                </a:r>
                <a14:m>
                  <m:oMath xmlns:m="http://schemas.openxmlformats.org/officeDocument/2006/math">
                    <m:r>
                      <a:rPr lang="en-US" b="0" i="1" smtClean="0">
                        <a:latin typeface="Cambria Math"/>
                      </a:rPr>
                      <m:t>𝑋</m:t>
                    </m:r>
                  </m:oMath>
                </a14:m>
                <a:r>
                  <a:rPr lang="en-US" dirty="0"/>
                  <a:t>. Suppose we have two functions of </a:t>
                </a:r>
                <a14:m>
                  <m:oMath xmlns:m="http://schemas.openxmlformats.org/officeDocument/2006/math">
                    <m:r>
                      <a:rPr lang="en-US" b="0" i="1" smtClean="0">
                        <a:latin typeface="Cambria Math"/>
                      </a:rPr>
                      <m:t>𝑋</m:t>
                    </m:r>
                  </m:oMath>
                </a14:m>
                <a:r>
                  <a:rPr lang="en-US" dirty="0"/>
                  <a:t>, </a:t>
                </a:r>
                <a14:m>
                  <m:oMath xmlns:m="http://schemas.openxmlformats.org/officeDocument/2006/math">
                    <m:r>
                      <a:rPr lang="en-US" b="0" i="1" smtClean="0">
                        <a:latin typeface="Cambria Math"/>
                      </a:rPr>
                      <m:t>𝑔</m:t>
                    </m:r>
                    <m:r>
                      <a:rPr lang="en-US" b="0" i="1" smtClean="0">
                        <a:latin typeface="Cambria Math"/>
                      </a:rPr>
                      <m:t>(</m:t>
                    </m:r>
                    <m:r>
                      <a:rPr lang="en-US" b="0" i="1" smtClean="0">
                        <a:latin typeface="Cambria Math"/>
                      </a:rPr>
                      <m:t>𝑋</m:t>
                    </m:r>
                    <m:r>
                      <a:rPr lang="en-US" b="0" i="1" smtClean="0">
                        <a:latin typeface="Cambria Math"/>
                      </a:rPr>
                      <m:t>)</m:t>
                    </m:r>
                  </m:oMath>
                </a14:m>
                <a:r>
                  <a:rPr lang="en-US" dirty="0"/>
                  <a:t> and </a:t>
                </a:r>
                <a14:m>
                  <m:oMath xmlns:m="http://schemas.openxmlformats.org/officeDocument/2006/math">
                    <m:r>
                      <a:rPr lang="en-US" b="0" i="1" smtClean="0">
                        <a:latin typeface="Cambria Math"/>
                      </a:rPr>
                      <m:t>h</m:t>
                    </m:r>
                    <m:r>
                      <a:rPr lang="en-US" b="0" i="1" smtClean="0">
                        <a:latin typeface="Cambria Math"/>
                      </a:rPr>
                      <m:t>(</m:t>
                    </m:r>
                    <m:r>
                      <a:rPr lang="en-US" b="0" i="1" smtClean="0">
                        <a:latin typeface="Cambria Math"/>
                      </a:rPr>
                      <m:t>𝑋</m:t>
                    </m:r>
                    <m:r>
                      <a:rPr lang="en-US" b="0" i="1" smtClean="0">
                        <a:latin typeface="Cambria Math"/>
                      </a:rPr>
                      <m:t>)</m:t>
                    </m:r>
                  </m:oMath>
                </a14:m>
                <a:r>
                  <a:rPr lang="en-US" dirty="0"/>
                  <a:t>. Then</a:t>
                </a:r>
              </a:p>
              <a:p>
                <a:endParaRPr lang="en-US" dirty="0"/>
              </a:p>
              <a:p>
                <a:pPr marL="109728" indent="0">
                  <a:buNone/>
                </a:pPr>
                <a14:m>
                  <m:oMathPara xmlns:m="http://schemas.openxmlformats.org/officeDocument/2006/math">
                    <m:oMathParaPr>
                      <m:jc m:val="centerGroup"/>
                    </m:oMathParaPr>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h</m:t>
                          </m:r>
                          <m:d>
                            <m:dPr>
                              <m:ctrlPr>
                                <a:rPr lang="en-US" b="0" i="1" smtClean="0">
                                  <a:latin typeface="Cambria Math" panose="02040503050406030204" pitchFamily="18" charset="0"/>
                                </a:rPr>
                              </m:ctrlPr>
                            </m:dPr>
                            <m:e>
                              <m:r>
                                <a:rPr lang="en-US" b="0" i="1" smtClean="0">
                                  <a:latin typeface="Cambria Math"/>
                                </a:rPr>
                                <m:t>𝑋</m:t>
                              </m:r>
                            </m:e>
                          </m:d>
                        </m:e>
                      </m:d>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e>
                          </m:d>
                        </m:e>
                      </m:d>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h</m:t>
                          </m:r>
                          <m:d>
                            <m:dPr>
                              <m:ctrlPr>
                                <a:rPr lang="en-US" b="0" i="1" smtClean="0">
                                  <a:latin typeface="Cambria Math" panose="02040503050406030204" pitchFamily="18" charset="0"/>
                                </a:rPr>
                              </m:ctrlPr>
                            </m:dPr>
                            <m:e>
                              <m:r>
                                <a:rPr lang="en-US" b="0" i="1" smtClean="0">
                                  <a:latin typeface="Cambria Math"/>
                                </a:rPr>
                                <m:t>𝑋</m:t>
                              </m:r>
                            </m:e>
                          </m:d>
                        </m:e>
                      </m:d>
                    </m:oMath>
                  </m:oMathPara>
                </a14:m>
                <a:endParaRPr lang="en-US" dirty="0"/>
              </a:p>
              <a:p>
                <a:pPr marL="109728" indent="0">
                  <a:buNone/>
                </a:pPr>
                <a:endParaRPr lang="en-US" dirty="0"/>
              </a:p>
              <a:p>
                <a:r>
                  <a:rPr lang="en-US" dirty="0"/>
                  <a:t>This also extends to the multivariate case. Suppose we have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𝑌</m:t>
                        </m:r>
                      </m:e>
                    </m:d>
                  </m:oMath>
                </a14:m>
                <a:r>
                  <a:rPr lang="en-US" dirty="0"/>
                  <a:t> and </a:t>
                </a:r>
                <a14:m>
                  <m:oMath xmlns:m="http://schemas.openxmlformats.org/officeDocument/2006/math">
                    <m:r>
                      <a:rPr lang="en-US" b="0" i="1" smtClean="0">
                        <a:latin typeface="Cambria Math"/>
                      </a:rPr>
                      <m:t>h</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𝑌</m:t>
                        </m:r>
                      </m:e>
                    </m:d>
                  </m:oMath>
                </a14:m>
                <a:r>
                  <a:rPr lang="en-US" dirty="0"/>
                  <a:t> as functions of random variables. Then</a:t>
                </a:r>
              </a:p>
              <a:p>
                <a:endParaRPr lang="en-US" dirty="0"/>
              </a:p>
              <a:p>
                <a:pPr marL="109728" indent="0">
                  <a:buNone/>
                </a:pPr>
                <a14:m>
                  <m:oMathPara xmlns:m="http://schemas.openxmlformats.org/officeDocument/2006/math">
                    <m:oMathParaPr>
                      <m:jc m:val="centerGroup"/>
                    </m:oMathParaPr>
                    <m:oMath xmlns:m="http://schemas.openxmlformats.org/officeDocument/2006/math">
                      <m:r>
                        <a:rPr lang="en-US" i="1">
                          <a:latin typeface="Cambria Math"/>
                        </a:rPr>
                        <m:t>𝐸</m:t>
                      </m:r>
                      <m:d>
                        <m:dPr>
                          <m:ctrlPr>
                            <a:rPr lang="en-US" i="1">
                              <a:latin typeface="Cambria Math" panose="02040503050406030204" pitchFamily="18" charset="0"/>
                            </a:rPr>
                          </m:ctrlPr>
                        </m:dPr>
                        <m:e>
                          <m:r>
                            <a:rPr lang="en-US" i="1">
                              <a:latin typeface="Cambria Math"/>
                            </a:rPr>
                            <m:t>𝑔</m:t>
                          </m:r>
                          <m:d>
                            <m:dPr>
                              <m:ctrlPr>
                                <a:rPr lang="en-US" i="1">
                                  <a:latin typeface="Cambria Math" panose="02040503050406030204" pitchFamily="18" charset="0"/>
                                </a:rPr>
                              </m:ctrlPr>
                            </m:dPr>
                            <m:e>
                              <m:r>
                                <a:rPr lang="en-US" i="1">
                                  <a:latin typeface="Cambria Math"/>
                                </a:rPr>
                                <m:t>𝑋</m:t>
                              </m:r>
                              <m:r>
                                <a:rPr lang="en-US" b="0" i="1" smtClean="0">
                                  <a:latin typeface="Cambria Math"/>
                                </a:rPr>
                                <m:t>,</m:t>
                              </m:r>
                              <m:r>
                                <a:rPr lang="en-US" b="0" i="1" smtClean="0">
                                  <a:latin typeface="Cambria Math"/>
                                </a:rPr>
                                <m:t>𝑌</m:t>
                              </m:r>
                            </m:e>
                          </m:d>
                          <m:r>
                            <a:rPr lang="en-US" i="1">
                              <a:latin typeface="Cambria Math"/>
                            </a:rPr>
                            <m:t>±</m:t>
                          </m:r>
                          <m:r>
                            <a:rPr lang="en-US" i="1">
                              <a:latin typeface="Cambria Math"/>
                            </a:rPr>
                            <m:t>h</m:t>
                          </m:r>
                          <m:d>
                            <m:dPr>
                              <m:ctrlPr>
                                <a:rPr lang="en-US" i="1">
                                  <a:latin typeface="Cambria Math" panose="02040503050406030204" pitchFamily="18" charset="0"/>
                                </a:rPr>
                              </m:ctrlPr>
                            </m:dPr>
                            <m:e>
                              <m:r>
                                <a:rPr lang="en-US" i="1">
                                  <a:latin typeface="Cambria Math"/>
                                </a:rPr>
                                <m:t>𝑋</m:t>
                              </m:r>
                              <m:r>
                                <a:rPr lang="en-US" b="0" i="1" smtClean="0">
                                  <a:latin typeface="Cambria Math"/>
                                </a:rPr>
                                <m:t>,</m:t>
                              </m:r>
                              <m:r>
                                <a:rPr lang="en-US" b="0" i="1" smtClean="0">
                                  <a:latin typeface="Cambria Math"/>
                                </a:rPr>
                                <m:t>𝑌</m:t>
                              </m:r>
                            </m:e>
                          </m:d>
                        </m:e>
                      </m:d>
                      <m:r>
                        <a:rPr lang="en-US" i="1">
                          <a:latin typeface="Cambria Math"/>
                        </a:rPr>
                        <m:t>=</m:t>
                      </m:r>
                      <m:r>
                        <a:rPr lang="en-US" i="1">
                          <a:latin typeface="Cambria Math"/>
                        </a:rPr>
                        <m:t>𝐸</m:t>
                      </m:r>
                      <m:d>
                        <m:dPr>
                          <m:ctrlPr>
                            <a:rPr lang="en-US" i="1">
                              <a:latin typeface="Cambria Math" panose="02040503050406030204" pitchFamily="18" charset="0"/>
                            </a:rPr>
                          </m:ctrlPr>
                        </m:dPr>
                        <m:e>
                          <m:r>
                            <a:rPr lang="en-US" i="1">
                              <a:latin typeface="Cambria Math"/>
                            </a:rPr>
                            <m:t>𝑔</m:t>
                          </m:r>
                          <m:d>
                            <m:dPr>
                              <m:ctrlPr>
                                <a:rPr lang="en-US" i="1">
                                  <a:latin typeface="Cambria Math" panose="02040503050406030204" pitchFamily="18" charset="0"/>
                                </a:rPr>
                              </m:ctrlPr>
                            </m:dPr>
                            <m:e>
                              <m:r>
                                <a:rPr lang="en-US" i="1">
                                  <a:latin typeface="Cambria Math"/>
                                </a:rPr>
                                <m:t>𝑋</m:t>
                              </m:r>
                              <m:r>
                                <a:rPr lang="en-US" b="0" i="1" smtClean="0">
                                  <a:latin typeface="Cambria Math"/>
                                </a:rPr>
                                <m:t>,</m:t>
                              </m:r>
                              <m:r>
                                <a:rPr lang="en-US" b="0" i="1" smtClean="0">
                                  <a:latin typeface="Cambria Math"/>
                                </a:rPr>
                                <m:t>𝑌</m:t>
                              </m:r>
                            </m:e>
                          </m:d>
                        </m:e>
                      </m:d>
                      <m:r>
                        <a:rPr lang="en-US" i="1">
                          <a:latin typeface="Cambria Math"/>
                        </a:rPr>
                        <m:t>±</m:t>
                      </m:r>
                      <m:r>
                        <a:rPr lang="en-US" i="1">
                          <a:latin typeface="Cambria Math"/>
                        </a:rPr>
                        <m:t>𝐸</m:t>
                      </m:r>
                      <m:d>
                        <m:dPr>
                          <m:ctrlPr>
                            <a:rPr lang="en-US" i="1">
                              <a:latin typeface="Cambria Math" panose="02040503050406030204" pitchFamily="18" charset="0"/>
                            </a:rPr>
                          </m:ctrlPr>
                        </m:dPr>
                        <m:e>
                          <m:r>
                            <a:rPr lang="en-US" i="1">
                              <a:latin typeface="Cambria Math"/>
                            </a:rPr>
                            <m:t>h</m:t>
                          </m:r>
                          <m:d>
                            <m:dPr>
                              <m:ctrlPr>
                                <a:rPr lang="en-US" i="1">
                                  <a:latin typeface="Cambria Math" panose="02040503050406030204" pitchFamily="18" charset="0"/>
                                </a:rPr>
                              </m:ctrlPr>
                            </m:dPr>
                            <m:e>
                              <m:r>
                                <a:rPr lang="en-US" i="1">
                                  <a:latin typeface="Cambria Math"/>
                                </a:rPr>
                                <m:t>𝑋</m:t>
                              </m:r>
                              <m:r>
                                <a:rPr lang="en-US" b="0" i="1" smtClean="0">
                                  <a:latin typeface="Cambria Math"/>
                                </a:rPr>
                                <m:t>,</m:t>
                              </m:r>
                              <m:r>
                                <a:rPr lang="en-US" b="0" i="1" smtClean="0">
                                  <a:latin typeface="Cambria Math"/>
                                </a:rPr>
                                <m:t>𝑌</m:t>
                              </m:r>
                            </m:e>
                          </m:d>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3099"/>
                </a:stretch>
              </a:blipFill>
            </p:spPr>
            <p:txBody>
              <a:bodyPr/>
              <a:lstStyle/>
              <a:p>
                <a:r>
                  <a:rPr lang="en-US">
                    <a:noFill/>
                  </a:rPr>
                  <a:t> </a:t>
                </a:r>
              </a:p>
            </p:txBody>
          </p:sp>
        </mc:Fallback>
      </mc:AlternateContent>
    </p:spTree>
    <p:extLst>
      <p:ext uri="{BB962C8B-B14F-4D97-AF65-F5344CB8AC3E}">
        <p14:creationId xmlns:p14="http://schemas.microsoft.com/office/powerpoint/2010/main" val="24510600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will soon look at some theorems that deal with independent variables, as independence makes some things easier. However, the previous theorem implies that, </a:t>
                </a:r>
                <a:r>
                  <a:rPr lang="en-US" i="1" dirty="0"/>
                  <a:t>for any two random variables</a:t>
                </a:r>
                <a:r>
                  <a:rPr lang="en-US" dirty="0"/>
                  <a:t>,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we have </a:t>
                </a:r>
              </a:p>
              <a:p>
                <a:pPr marL="109728" indent="0">
                  <a:buNone/>
                </a:pPr>
                <a:endParaRPr lang="en-US" dirty="0"/>
              </a:p>
              <a:p>
                <a:pPr marL="109728" indent="0">
                  <a:buNone/>
                </a:pPr>
                <a14:m>
                  <m:oMathPara xmlns:m="http://schemas.openxmlformats.org/officeDocument/2006/math">
                    <m:oMathParaPr>
                      <m:jc m:val="centerGroup"/>
                    </m:oMathParaPr>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𝑌</m:t>
                          </m:r>
                        </m:e>
                      </m:d>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𝐸</m:t>
                      </m:r>
                      <m:r>
                        <a:rPr lang="en-US" b="0" i="1" smtClean="0">
                          <a:latin typeface="Cambria Math"/>
                        </a:rPr>
                        <m:t>(</m:t>
                      </m:r>
                      <m:r>
                        <a:rPr lang="en-US" b="0" i="1" smtClean="0">
                          <a:latin typeface="Cambria Math"/>
                        </a:rPr>
                        <m:t>𝑌</m:t>
                      </m:r>
                      <m:r>
                        <a:rPr lang="en-US" b="0" i="1" smtClean="0">
                          <a:latin typeface="Cambria Math"/>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886651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Given the joint PDF, </a:t>
                </a:r>
                <a14:m>
                  <m:oMath xmlns:m="http://schemas.openxmlformats.org/officeDocument/2006/math">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e>
                    </m:d>
                    <m:r>
                      <a:rPr lang="en-US" i="1">
                        <a:latin typeface="Cambria Math"/>
                      </a:rPr>
                      <m:t>=</m:t>
                    </m:r>
                    <m:f>
                      <m:fPr>
                        <m:ctrlPr>
                          <a:rPr lang="en-US" i="1">
                            <a:latin typeface="Cambria Math" panose="02040503050406030204" pitchFamily="18" charset="0"/>
                          </a:rPr>
                        </m:ctrlPr>
                      </m:fPr>
                      <m:num>
                        <m:r>
                          <a:rPr lang="en-US" i="1">
                            <a:latin typeface="Cambria Math"/>
                          </a:rPr>
                          <m:t>𝑥</m:t>
                        </m:r>
                        <m:d>
                          <m:dPr>
                            <m:ctrlPr>
                              <a:rPr lang="en-US" i="1">
                                <a:latin typeface="Cambria Math" panose="02040503050406030204" pitchFamily="18" charset="0"/>
                              </a:rPr>
                            </m:ctrlPr>
                          </m:dPr>
                          <m:e>
                            <m:r>
                              <a:rPr lang="en-US" i="1">
                                <a:latin typeface="Cambria Math"/>
                              </a:rPr>
                              <m:t>1+3</m:t>
                            </m:r>
                            <m:sSup>
                              <m:sSupPr>
                                <m:ctrlPr>
                                  <a:rPr lang="en-US" i="1">
                                    <a:latin typeface="Cambria Math" panose="02040503050406030204" pitchFamily="18" charset="0"/>
                                  </a:rPr>
                                </m:ctrlPr>
                              </m:sSupPr>
                              <m:e>
                                <m:r>
                                  <a:rPr lang="en-US" i="1">
                                    <a:latin typeface="Cambria Math"/>
                                  </a:rPr>
                                  <m:t>𝑦</m:t>
                                </m:r>
                              </m:e>
                              <m:sup>
                                <m:r>
                                  <a:rPr lang="en-US" i="1">
                                    <a:latin typeface="Cambria Math"/>
                                  </a:rPr>
                                  <m:t>2</m:t>
                                </m:r>
                              </m:sup>
                            </m:sSup>
                          </m:e>
                        </m:d>
                      </m:num>
                      <m:den>
                        <m:r>
                          <a:rPr lang="en-US" i="1">
                            <a:latin typeface="Cambria Math"/>
                          </a:rPr>
                          <m:t>4</m:t>
                        </m:r>
                      </m:den>
                    </m:f>
                  </m:oMath>
                </a14:m>
                <a:r>
                  <a:rPr lang="en-US" dirty="0"/>
                  <a:t>, </a:t>
                </a:r>
                <a14:m>
                  <m:oMath xmlns:m="http://schemas.openxmlformats.org/officeDocument/2006/math">
                    <m:r>
                      <a:rPr lang="en-US" i="1" dirty="0">
                        <a:latin typeface="Cambria Math"/>
                      </a:rPr>
                      <m:t>0&lt;</m:t>
                    </m:r>
                    <m:r>
                      <a:rPr lang="en-US" i="1" dirty="0">
                        <a:latin typeface="Cambria Math"/>
                      </a:rPr>
                      <m:t>𝑥</m:t>
                    </m:r>
                    <m:r>
                      <a:rPr lang="en-US" i="1" dirty="0">
                        <a:latin typeface="Cambria Math"/>
                      </a:rPr>
                      <m:t>&lt;2, 0&lt;</m:t>
                    </m:r>
                    <m:r>
                      <a:rPr lang="en-US" i="1" dirty="0">
                        <a:latin typeface="Cambria Math"/>
                      </a:rPr>
                      <m:t>𝑦</m:t>
                    </m:r>
                    <m:r>
                      <a:rPr lang="en-US" i="1" dirty="0">
                        <a:latin typeface="Cambria Math"/>
                      </a:rPr>
                      <m:t>&lt;1</m:t>
                    </m:r>
                  </m:oMath>
                </a14:m>
                <a:r>
                  <a:rPr lang="en-US" dirty="0"/>
                  <a:t> and </a:t>
                </a:r>
                <a14:m>
                  <m:oMath xmlns:m="http://schemas.openxmlformats.org/officeDocument/2006/math">
                    <m:r>
                      <a:rPr lang="en-US" i="1">
                        <a:latin typeface="Cambria Math"/>
                      </a:rPr>
                      <m:t>0</m:t>
                    </m:r>
                  </m:oMath>
                </a14:m>
                <a:r>
                  <a:rPr lang="en-US" dirty="0"/>
                  <a:t> elsewhere, find </a:t>
                </a:r>
                <a14:m>
                  <m:oMath xmlns:m="http://schemas.openxmlformats.org/officeDocument/2006/math">
                    <m:r>
                      <a:rPr lang="en-US" b="0" i="1" smtClean="0">
                        <a:latin typeface="Cambria Math"/>
                      </a:rPr>
                      <m:t>𝐸</m:t>
                    </m:r>
                    <m:r>
                      <a:rPr lang="en-US" b="0" i="1" smtClean="0">
                        <a:latin typeface="Cambria Math"/>
                      </a:rPr>
                      <m:t>(3</m:t>
                    </m:r>
                    <m:r>
                      <a:rPr lang="en-US" b="0" i="1" smtClean="0">
                        <a:latin typeface="Cambria Math"/>
                      </a:rPr>
                      <m:t>𝑋</m:t>
                    </m:r>
                    <m:r>
                      <a:rPr lang="en-US" b="0" i="1" smtClean="0">
                        <a:latin typeface="Cambria Math"/>
                      </a:rPr>
                      <m:t>+2</m:t>
                    </m:r>
                    <m:r>
                      <a:rPr lang="en-US" b="0" i="1" smtClean="0">
                        <a:latin typeface="Cambria Math"/>
                      </a:rPr>
                      <m:t>𝑌</m:t>
                    </m:r>
                    <m:r>
                      <a:rPr lang="en-US" b="0" i="1" smtClean="0">
                        <a:latin typeface="Cambria Math"/>
                      </a:rPr>
                      <m:t>−1)</m:t>
                    </m:r>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2222"/>
                </a:stretch>
              </a:blipFill>
            </p:spPr>
            <p:txBody>
              <a:bodyPr/>
              <a:lstStyle/>
              <a:p>
                <a:r>
                  <a:rPr lang="en-US">
                    <a:noFill/>
                  </a:rPr>
                  <a:t> </a:t>
                </a:r>
              </a:p>
            </p:txBody>
          </p:sp>
        </mc:Fallback>
      </mc:AlternateContent>
    </p:spTree>
    <p:extLst>
      <p:ext uri="{BB962C8B-B14F-4D97-AF65-F5344CB8AC3E}">
        <p14:creationId xmlns:p14="http://schemas.microsoft.com/office/powerpoint/2010/main" val="11244766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In section 4.2, we claimed that for any random variable </a:t>
                </a:r>
                <a14:m>
                  <m:oMath xmlns:m="http://schemas.openxmlformats.org/officeDocument/2006/math">
                    <m:r>
                      <a:rPr lang="en-US" b="0" i="1" smtClean="0">
                        <a:latin typeface="Cambria Math"/>
                      </a:rPr>
                      <m:t>𝑋</m:t>
                    </m:r>
                  </m:oMath>
                </a14:m>
                <a:r>
                  <a:rPr lang="en-US" dirty="0"/>
                  <a:t>, </a:t>
                </a:r>
                <a14:m>
                  <m:oMath xmlns:m="http://schemas.openxmlformats.org/officeDocument/2006/math">
                    <m:r>
                      <a:rPr lang="en-US" b="0" i="1" smtClean="0">
                        <a:latin typeface="Cambria Math"/>
                      </a:rPr>
                      <m:t>𝑉</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m:t>
                    </m:r>
                    <m:r>
                      <a:rPr lang="en-US" b="0" i="1" smtClean="0">
                        <a:latin typeface="Cambria Math"/>
                      </a:rPr>
                      <m:t>𝐸</m:t>
                    </m:r>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𝜇</m:t>
                                </m:r>
                              </m:e>
                            </m:d>
                          </m:e>
                          <m:sup>
                            <m:r>
                              <a:rPr lang="en-US" b="0" i="1" smtClean="0">
                                <a:latin typeface="Cambria Math"/>
                              </a:rPr>
                              <m:t>2</m:t>
                            </m:r>
                          </m:sup>
                        </m:sSup>
                      </m:e>
                    </m:d>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e>
                    </m:d>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𝜇</m:t>
                        </m:r>
                      </m:e>
                      <m:sup>
                        <m:r>
                          <a:rPr lang="en-US" b="0" i="1" smtClean="0">
                            <a:latin typeface="Cambria Math"/>
                          </a:rPr>
                          <m:t>2</m:t>
                        </m:r>
                      </m:sup>
                    </m:sSup>
                  </m:oMath>
                </a14:m>
                <a:r>
                  <a:rPr lang="en-US" dirty="0"/>
                  <a:t>. Using the properties introduced so far in this section, prove that this holds.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222"/>
                </a:stretch>
              </a:blipFill>
            </p:spPr>
            <p:txBody>
              <a:bodyPr/>
              <a:lstStyle/>
              <a:p>
                <a:r>
                  <a:rPr lang="en-US">
                    <a:noFill/>
                  </a:rPr>
                  <a:t> </a:t>
                </a:r>
              </a:p>
            </p:txBody>
          </p:sp>
        </mc:Fallback>
      </mc:AlternateContent>
    </p:spTree>
    <p:extLst>
      <p:ext uri="{BB962C8B-B14F-4D97-AF65-F5344CB8AC3E}">
        <p14:creationId xmlns:p14="http://schemas.microsoft.com/office/powerpoint/2010/main" val="37920864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next theorem we have says that for two </a:t>
                </a:r>
                <a:r>
                  <a:rPr lang="en-US" i="1" dirty="0"/>
                  <a:t>independent</a:t>
                </a:r>
                <a:r>
                  <a:rPr lang="en-US" dirty="0"/>
                  <a:t> random variables,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t>
                </a:r>
              </a:p>
              <a:p>
                <a:pPr marL="109728" indent="0">
                  <a:buNone/>
                </a:pPr>
                <a:endParaRPr lang="en-US" dirty="0"/>
              </a:p>
              <a:p>
                <a:pPr marL="109728" indent="0">
                  <a:buNone/>
                </a:pPr>
                <a14:m>
                  <m:oMathPara xmlns:m="http://schemas.openxmlformats.org/officeDocument/2006/math">
                    <m:oMathParaPr>
                      <m:jc m:val="centerGroup"/>
                    </m:oMathParaPr>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𝑋𝑌</m:t>
                          </m:r>
                        </m:e>
                      </m:d>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𝐸</m:t>
                      </m:r>
                      <m:r>
                        <a:rPr lang="en-US" b="0" i="1" smtClean="0">
                          <a:latin typeface="Cambria Math"/>
                        </a:rPr>
                        <m:t>(</m:t>
                      </m:r>
                      <m:r>
                        <a:rPr lang="en-US" b="0" i="1" smtClean="0">
                          <a:latin typeface="Cambria Math"/>
                        </a:rPr>
                        <m:t>𝑌</m:t>
                      </m:r>
                      <m:r>
                        <a:rPr lang="en-US" b="0" i="1" smtClean="0">
                          <a:latin typeface="Cambria Math"/>
                        </a:rPr>
                        <m:t>)</m:t>
                      </m:r>
                    </m:oMath>
                  </m:oMathPara>
                </a14:m>
                <a:endParaRPr lang="en-US" dirty="0"/>
              </a:p>
              <a:p>
                <a:pPr marL="109728" indent="0">
                  <a:buNone/>
                </a:pPr>
                <a:endParaRPr lang="en-US" dirty="0"/>
              </a:p>
              <a:p>
                <a:r>
                  <a:rPr lang="en-US" dirty="0"/>
                  <a:t>This makes some calculations significantly easier. We turn a double integration problem into two single integrations.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9054679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Recall two facts given about covariance in 4.2:</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𝑋𝑌</m:t>
                        </m:r>
                      </m:sub>
                    </m:sSub>
                    <m:r>
                      <a:rPr lang="en-US" b="0" i="1" smtClean="0">
                        <a:latin typeface="Cambria Math"/>
                      </a:rPr>
                      <m:t>=</m:t>
                    </m:r>
                    <m:r>
                      <m:rPr>
                        <m:sty m:val="p"/>
                      </m:rPr>
                      <a:rPr lang="en-US" b="0" i="0" smtClean="0">
                        <a:latin typeface="Cambria Math"/>
                      </a:rPr>
                      <m:t>E</m:t>
                    </m:r>
                    <m:d>
                      <m:dPr>
                        <m:begChr m:val="["/>
                        <m:endChr m:val="]"/>
                        <m:ctrlPr>
                          <a:rPr lang="en-US" b="0" i="1" smtClean="0">
                            <a:latin typeface="Cambria Math" panose="02040503050406030204" pitchFamily="18" charset="0"/>
                          </a:rPr>
                        </m:ctrlPr>
                      </m:dPr>
                      <m:e>
                        <m:r>
                          <a:rPr lang="en-US" b="0" i="1" smtClean="0">
                            <a:latin typeface="Cambria Math"/>
                          </a:rPr>
                          <m:t>(</m:t>
                        </m:r>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𝑥</m:t>
                            </m:r>
                          </m:sub>
                        </m:sSub>
                        <m:r>
                          <a:rPr lang="en-US" b="0" i="1" smtClean="0">
                            <a:latin typeface="Cambria Math"/>
                          </a:rPr>
                          <m:t>)(</m:t>
                        </m:r>
                        <m:r>
                          <a:rPr lang="en-US" b="0" i="1" smtClean="0">
                            <a:latin typeface="Cambria Math"/>
                          </a:rPr>
                          <m:t>𝑌</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𝜇</m:t>
                            </m:r>
                          </m:e>
                          <m:sub>
                            <m:r>
                              <a:rPr lang="en-US" b="0" i="1" smtClean="0">
                                <a:latin typeface="Cambria Math"/>
                              </a:rPr>
                              <m:t>𝑦</m:t>
                            </m:r>
                          </m:sub>
                        </m:sSub>
                        <m:r>
                          <a:rPr lang="en-US" b="0" i="1" smtClean="0">
                            <a:latin typeface="Cambria Math"/>
                          </a:rPr>
                          <m:t>)</m:t>
                        </m:r>
                      </m:e>
                    </m:d>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𝑋𝑌</m:t>
                        </m:r>
                      </m:e>
                    </m:d>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𝑋</m:t>
                        </m:r>
                      </m:e>
                    </m:d>
                    <m:r>
                      <a:rPr lang="en-US" b="0" i="1" smtClean="0">
                        <a:latin typeface="Cambria Math"/>
                      </a:rPr>
                      <m:t>𝐸</m:t>
                    </m:r>
                    <m:d>
                      <m:dPr>
                        <m:ctrlPr>
                          <a:rPr lang="en-US" b="0" i="1" smtClean="0">
                            <a:latin typeface="Cambria Math" panose="02040503050406030204" pitchFamily="18" charset="0"/>
                          </a:rPr>
                        </m:ctrlPr>
                      </m:dPr>
                      <m:e>
                        <m:r>
                          <a:rPr lang="en-US" b="0" i="1" smtClean="0">
                            <a:latin typeface="Cambria Math"/>
                          </a:rPr>
                          <m:t>𝑌</m:t>
                        </m:r>
                      </m:e>
                    </m:d>
                  </m:oMath>
                </a14:m>
                <a:endParaRPr lang="en-US" b="0" dirty="0"/>
              </a:p>
              <a:p>
                <a:pPr lvl="1"/>
                <a:r>
                  <a:rPr lang="en-US" dirty="0"/>
                  <a:t>If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are independent,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𝜎</m:t>
                        </m:r>
                      </m:e>
                      <m:sub>
                        <m:r>
                          <a:rPr lang="en-US" b="0" i="1" smtClean="0">
                            <a:latin typeface="Cambria Math"/>
                          </a:rPr>
                          <m:t>𝑋𝑌</m:t>
                        </m:r>
                      </m:sub>
                    </m:sSub>
                    <m:r>
                      <a:rPr lang="en-US" b="0" i="1" smtClean="0">
                        <a:latin typeface="Cambria Math"/>
                      </a:rPr>
                      <m:t>=0</m:t>
                    </m:r>
                  </m:oMath>
                </a14:m>
                <a:endParaRPr lang="en-US" dirty="0"/>
              </a:p>
              <a:p>
                <a:endParaRPr lang="en-US" dirty="0"/>
              </a:p>
              <a:p>
                <a:r>
                  <a:rPr lang="en-US" dirty="0"/>
                  <a:t>Prove both of these facts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r="-2074"/>
                </a:stretch>
              </a:blipFill>
            </p:spPr>
            <p:txBody>
              <a:bodyPr/>
              <a:lstStyle/>
              <a:p>
                <a:r>
                  <a:rPr lang="en-US">
                    <a:noFill/>
                  </a:rPr>
                  <a:t> </a:t>
                </a:r>
              </a:p>
            </p:txBody>
          </p:sp>
        </mc:Fallback>
      </mc:AlternateContent>
    </p:spTree>
    <p:extLst>
      <p:ext uri="{BB962C8B-B14F-4D97-AF65-F5344CB8AC3E}">
        <p14:creationId xmlns:p14="http://schemas.microsoft.com/office/powerpoint/2010/main" val="2384947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now discuss some properties relating to variance.</a:t>
                </a:r>
              </a:p>
              <a:p>
                <a:endParaRPr lang="en-US" dirty="0"/>
              </a:p>
              <a:p>
                <a:r>
                  <a:rPr lang="en-US" dirty="0"/>
                  <a:t>For random variables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and constants </a:t>
                </a:r>
                <a14:m>
                  <m:oMath xmlns:m="http://schemas.openxmlformats.org/officeDocument/2006/math">
                    <m:r>
                      <a:rPr lang="en-US" b="0" i="1" smtClean="0">
                        <a:latin typeface="Cambria Math"/>
                      </a:rPr>
                      <m:t>𝑎</m:t>
                    </m:r>
                  </m:oMath>
                </a14:m>
                <a:r>
                  <a:rPr lang="en-US" dirty="0"/>
                  <a:t>, </a:t>
                </a:r>
                <a14:m>
                  <m:oMath xmlns:m="http://schemas.openxmlformats.org/officeDocument/2006/math">
                    <m:r>
                      <a:rPr lang="en-US" b="0" i="1" smtClean="0">
                        <a:latin typeface="Cambria Math"/>
                      </a:rPr>
                      <m:t>𝑏</m:t>
                    </m:r>
                    <m:r>
                      <a:rPr lang="en-US" b="0" i="1" smtClean="0">
                        <a:latin typeface="Cambria Math"/>
                      </a:rPr>
                      <m:t>,</m:t>
                    </m:r>
                  </m:oMath>
                </a14:m>
                <a:r>
                  <a:rPr lang="en-US" dirty="0"/>
                  <a:t> and </a:t>
                </a:r>
                <a14:m>
                  <m:oMath xmlns:m="http://schemas.openxmlformats.org/officeDocument/2006/math">
                    <m:r>
                      <a:rPr lang="en-US" b="0" i="1" smtClean="0">
                        <a:latin typeface="Cambria Math"/>
                      </a:rPr>
                      <m:t>𝑐</m:t>
                    </m:r>
                  </m:oMath>
                </a14:m>
                <a:r>
                  <a:rPr lang="en-US" dirty="0"/>
                  <a:t>,</a:t>
                </a:r>
              </a:p>
              <a:p>
                <a:endParaRPr lang="en-US" dirty="0"/>
              </a:p>
              <a:p>
                <a:pPr marL="109728" indent="0">
                  <a:buNone/>
                </a:pPr>
                <a14:m>
                  <m:oMathPara xmlns:m="http://schemas.openxmlformats.org/officeDocument/2006/math">
                    <m:oMathParaPr>
                      <m:jc m:val="centerGroup"/>
                    </m:oMathParaPr>
                    <m:oMath xmlns:m="http://schemas.openxmlformats.org/officeDocument/2006/math">
                      <m:r>
                        <a:rPr lang="en-US" sz="2400" b="0" i="1" smtClean="0">
                          <a:latin typeface="Cambria Math"/>
                        </a:rPr>
                        <m:t>𝑉</m:t>
                      </m:r>
                      <m:d>
                        <m:dPr>
                          <m:ctrlPr>
                            <a:rPr lang="en-US" sz="2400" b="0" i="1" smtClean="0">
                              <a:latin typeface="Cambria Math" panose="02040503050406030204" pitchFamily="18" charset="0"/>
                            </a:rPr>
                          </m:ctrlPr>
                        </m:dPr>
                        <m:e>
                          <m:r>
                            <a:rPr lang="en-US" sz="2400" b="0" i="1" smtClean="0">
                              <a:latin typeface="Cambria Math"/>
                            </a:rPr>
                            <m:t>𝑎𝑋</m:t>
                          </m:r>
                          <m:r>
                            <a:rPr lang="en-US" sz="2400" b="0" i="1" smtClean="0">
                              <a:latin typeface="Cambria Math"/>
                            </a:rPr>
                            <m:t>+</m:t>
                          </m:r>
                          <m:r>
                            <a:rPr lang="en-US" sz="2400" b="0" i="1" smtClean="0">
                              <a:latin typeface="Cambria Math"/>
                            </a:rPr>
                            <m:t>𝑏𝑌</m:t>
                          </m:r>
                          <m:r>
                            <a:rPr lang="en-US" sz="2400" b="0" i="1" smtClean="0">
                              <a:latin typeface="Cambria Math"/>
                            </a:rPr>
                            <m:t>+</m:t>
                          </m:r>
                          <m:r>
                            <a:rPr lang="en-US" sz="2400" b="0" i="1" smtClean="0">
                              <a:latin typeface="Cambria Math"/>
                            </a:rPr>
                            <m:t>𝑐</m:t>
                          </m:r>
                        </m:e>
                      </m:d>
                      <m:r>
                        <a:rPr lang="en-US" sz="2400" b="0" i="1" smtClean="0">
                          <a:latin typeface="Cambria Math"/>
                        </a:rPr>
                        <m:t>=</m:t>
                      </m:r>
                      <m:sSup>
                        <m:sSupPr>
                          <m:ctrlPr>
                            <a:rPr lang="en-US" sz="2400" b="0" i="1" smtClean="0">
                              <a:latin typeface="Cambria Math" panose="02040503050406030204" pitchFamily="18" charset="0"/>
                            </a:rPr>
                          </m:ctrlPr>
                        </m:sSupPr>
                        <m:e>
                          <m:r>
                            <a:rPr lang="en-US" sz="2400" b="0" i="1" smtClean="0">
                              <a:latin typeface="Cambria Math"/>
                            </a:rPr>
                            <m:t>𝑎</m:t>
                          </m:r>
                        </m:e>
                        <m:sup>
                          <m:r>
                            <a:rPr lang="en-US" sz="2400" b="0" i="1" smtClean="0">
                              <a:latin typeface="Cambria Math"/>
                            </a:rPr>
                            <m:t>2</m:t>
                          </m:r>
                        </m:sup>
                      </m:sSup>
                      <m:r>
                        <a:rPr lang="en-US" sz="2400" b="0" i="1" smtClean="0">
                          <a:latin typeface="Cambria Math"/>
                        </a:rPr>
                        <m:t>𝑉</m:t>
                      </m:r>
                      <m:d>
                        <m:dPr>
                          <m:ctrlPr>
                            <a:rPr lang="en-US" sz="2400" b="0" i="1" smtClean="0">
                              <a:latin typeface="Cambria Math" panose="02040503050406030204" pitchFamily="18" charset="0"/>
                            </a:rPr>
                          </m:ctrlPr>
                        </m:dPr>
                        <m:e>
                          <m:r>
                            <a:rPr lang="en-US" sz="2400" b="0" i="1" smtClean="0">
                              <a:latin typeface="Cambria Math"/>
                            </a:rPr>
                            <m:t>𝑋</m:t>
                          </m:r>
                        </m:e>
                      </m:d>
                      <m:r>
                        <a:rPr lang="en-US" sz="2400" b="0" i="1" smtClean="0">
                          <a:latin typeface="Cambria Math"/>
                        </a:rPr>
                        <m:t>+</m:t>
                      </m:r>
                      <m:sSup>
                        <m:sSupPr>
                          <m:ctrlPr>
                            <a:rPr lang="en-US" sz="2400" b="0" i="1" smtClean="0">
                              <a:latin typeface="Cambria Math" panose="02040503050406030204" pitchFamily="18" charset="0"/>
                            </a:rPr>
                          </m:ctrlPr>
                        </m:sSupPr>
                        <m:e>
                          <m:r>
                            <a:rPr lang="en-US" sz="2400" b="0" i="1" smtClean="0">
                              <a:latin typeface="Cambria Math"/>
                            </a:rPr>
                            <m:t>𝑏</m:t>
                          </m:r>
                        </m:e>
                        <m:sup>
                          <m:r>
                            <a:rPr lang="en-US" sz="2400" b="0" i="1" smtClean="0">
                              <a:latin typeface="Cambria Math"/>
                            </a:rPr>
                            <m:t>2</m:t>
                          </m:r>
                        </m:sup>
                      </m:sSup>
                      <m:r>
                        <a:rPr lang="en-US" sz="2400" b="0" i="1" smtClean="0">
                          <a:latin typeface="Cambria Math"/>
                        </a:rPr>
                        <m:t>𝑉</m:t>
                      </m:r>
                      <m:d>
                        <m:dPr>
                          <m:ctrlPr>
                            <a:rPr lang="en-US" sz="2400" b="0" i="1" smtClean="0">
                              <a:latin typeface="Cambria Math" panose="02040503050406030204" pitchFamily="18" charset="0"/>
                            </a:rPr>
                          </m:ctrlPr>
                        </m:dPr>
                        <m:e>
                          <m:r>
                            <a:rPr lang="en-US" sz="2400" b="0" i="1" smtClean="0">
                              <a:latin typeface="Cambria Math"/>
                            </a:rPr>
                            <m:t>𝑌</m:t>
                          </m:r>
                        </m:e>
                      </m:d>
                      <m:r>
                        <a:rPr lang="en-US" sz="2400" b="0" i="1" smtClean="0">
                          <a:latin typeface="Cambria Math"/>
                        </a:rPr>
                        <m:t>+2</m:t>
                      </m:r>
                      <m:r>
                        <a:rPr lang="en-US" sz="2400" b="0" i="1" smtClean="0">
                          <a:latin typeface="Cambria Math"/>
                        </a:rPr>
                        <m:t>𝑎𝑏𝐶𝑜𝑣</m:t>
                      </m:r>
                      <m:r>
                        <a:rPr lang="en-US" sz="2400" b="0" i="1" smtClean="0">
                          <a:latin typeface="Cambria Math"/>
                        </a:rPr>
                        <m:t>(</m:t>
                      </m:r>
                      <m:r>
                        <a:rPr lang="en-US" sz="2400" b="0" i="1" smtClean="0">
                          <a:latin typeface="Cambria Math"/>
                        </a:rPr>
                        <m:t>𝑋</m:t>
                      </m:r>
                      <m:r>
                        <a:rPr lang="en-US" sz="2400" b="0" i="1" smtClean="0">
                          <a:latin typeface="Cambria Math"/>
                        </a:rPr>
                        <m:t>,</m:t>
                      </m:r>
                      <m:r>
                        <a:rPr lang="en-US" sz="2400" b="0" i="1" smtClean="0">
                          <a:latin typeface="Cambria Math"/>
                        </a:rPr>
                        <m:t>𝑌</m:t>
                      </m:r>
                      <m:r>
                        <a:rPr lang="en-US" sz="2400" b="0" i="1" smtClean="0">
                          <a:latin typeface="Cambria Math"/>
                        </a:rPr>
                        <m:t>)</m:t>
                      </m:r>
                    </m:oMath>
                  </m:oMathPara>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31767810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4.3 – Linear Combinations of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From this theorem, we can see some important corollaries:</a:t>
                </a:r>
              </a:p>
              <a:p>
                <a:pPr lvl="1"/>
                <a14:m>
                  <m:oMath xmlns:m="http://schemas.openxmlformats.org/officeDocument/2006/math">
                    <m:r>
                      <a:rPr lang="en-US" sz="2200" b="0" i="1" smtClean="0">
                        <a:latin typeface="Cambria Math"/>
                      </a:rPr>
                      <m:t>𝑉</m:t>
                    </m:r>
                    <m:d>
                      <m:dPr>
                        <m:ctrlPr>
                          <a:rPr lang="en-US" sz="2200" b="0" i="1" smtClean="0">
                            <a:latin typeface="Cambria Math" panose="02040503050406030204" pitchFamily="18" charset="0"/>
                          </a:rPr>
                        </m:ctrlPr>
                      </m:dPr>
                      <m:e>
                        <m:r>
                          <a:rPr lang="en-US" sz="2200" b="0" i="1" smtClean="0">
                            <a:latin typeface="Cambria Math"/>
                          </a:rPr>
                          <m:t>𝑐</m:t>
                        </m:r>
                      </m:e>
                    </m:d>
                    <m:r>
                      <a:rPr lang="en-US" sz="2200" b="0" i="1" smtClean="0">
                        <a:latin typeface="Cambria Math"/>
                      </a:rPr>
                      <m:t>=0</m:t>
                    </m:r>
                  </m:oMath>
                </a14:m>
                <a:r>
                  <a:rPr lang="en-US" sz="2200" dirty="0"/>
                  <a:t> for any constant </a:t>
                </a:r>
                <a14:m>
                  <m:oMath xmlns:m="http://schemas.openxmlformats.org/officeDocument/2006/math">
                    <m:r>
                      <a:rPr lang="en-US" sz="2200" b="0" i="1" smtClean="0">
                        <a:latin typeface="Cambria Math"/>
                      </a:rPr>
                      <m:t>𝑐</m:t>
                    </m:r>
                  </m:oMath>
                </a14:m>
                <a:endParaRPr lang="en-US" sz="2200" dirty="0"/>
              </a:p>
              <a:p>
                <a:pPr lvl="1"/>
                <a14:m>
                  <m:oMath xmlns:m="http://schemas.openxmlformats.org/officeDocument/2006/math">
                    <m:r>
                      <a:rPr lang="en-US" sz="2200" b="0" i="1" smtClean="0">
                        <a:latin typeface="Cambria Math"/>
                      </a:rPr>
                      <m:t>𝑉</m:t>
                    </m:r>
                    <m:d>
                      <m:dPr>
                        <m:ctrlPr>
                          <a:rPr lang="en-US" sz="2200" b="0" i="1" smtClean="0">
                            <a:latin typeface="Cambria Math" panose="02040503050406030204" pitchFamily="18" charset="0"/>
                          </a:rPr>
                        </m:ctrlPr>
                      </m:dPr>
                      <m:e>
                        <m:r>
                          <a:rPr lang="en-US" sz="2200" b="0" i="1" smtClean="0">
                            <a:latin typeface="Cambria Math"/>
                          </a:rPr>
                          <m:t>𝑎𝑋</m:t>
                        </m:r>
                      </m:e>
                    </m:d>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rPr>
                          <m:t>𝑎</m:t>
                        </m:r>
                      </m:e>
                      <m:sup>
                        <m:r>
                          <a:rPr lang="en-US" sz="2200" b="0" i="1" smtClean="0">
                            <a:latin typeface="Cambria Math"/>
                          </a:rPr>
                          <m:t>2</m:t>
                        </m:r>
                      </m:sup>
                    </m:sSup>
                    <m:r>
                      <a:rPr lang="en-US" sz="2200" b="0" i="1" smtClean="0">
                        <a:latin typeface="Cambria Math"/>
                      </a:rPr>
                      <m:t>𝑉</m:t>
                    </m:r>
                    <m:r>
                      <a:rPr lang="en-US" sz="2200" b="0" i="1" smtClean="0">
                        <a:latin typeface="Cambria Math"/>
                      </a:rPr>
                      <m:t>(</m:t>
                    </m:r>
                    <m:r>
                      <a:rPr lang="en-US" sz="2200" b="0" i="1" smtClean="0">
                        <a:latin typeface="Cambria Math"/>
                      </a:rPr>
                      <m:t>𝑋</m:t>
                    </m:r>
                    <m:r>
                      <a:rPr lang="en-US" sz="2200" b="0" i="1" smtClean="0">
                        <a:latin typeface="Cambria Math"/>
                      </a:rPr>
                      <m:t>)</m:t>
                    </m:r>
                  </m:oMath>
                </a14:m>
                <a:r>
                  <a:rPr lang="en-US" sz="2200" dirty="0"/>
                  <a:t> for any constant </a:t>
                </a:r>
                <a14:m>
                  <m:oMath xmlns:m="http://schemas.openxmlformats.org/officeDocument/2006/math">
                    <m:r>
                      <a:rPr lang="en-US" sz="2200" b="0" i="1" smtClean="0">
                        <a:latin typeface="Cambria Math"/>
                      </a:rPr>
                      <m:t>𝑎</m:t>
                    </m:r>
                  </m:oMath>
                </a14:m>
                <a:r>
                  <a:rPr lang="en-US" sz="2200" dirty="0"/>
                  <a:t> and any random variable </a:t>
                </a:r>
                <a14:m>
                  <m:oMath xmlns:m="http://schemas.openxmlformats.org/officeDocument/2006/math">
                    <m:r>
                      <a:rPr lang="en-US" sz="2200" b="0" i="1" smtClean="0">
                        <a:latin typeface="Cambria Math"/>
                      </a:rPr>
                      <m:t>𝑋</m:t>
                    </m:r>
                  </m:oMath>
                </a14:m>
                <a:r>
                  <a:rPr lang="en-US" sz="2200" dirty="0"/>
                  <a:t>.</a:t>
                </a:r>
              </a:p>
              <a:p>
                <a:pPr lvl="1"/>
                <a:r>
                  <a:rPr lang="en-US" sz="2200" dirty="0"/>
                  <a:t>If </a:t>
                </a:r>
                <a14:m>
                  <m:oMath xmlns:m="http://schemas.openxmlformats.org/officeDocument/2006/math">
                    <m:r>
                      <a:rPr lang="en-US" sz="2200" b="0" i="1" smtClean="0">
                        <a:latin typeface="Cambria Math"/>
                      </a:rPr>
                      <m:t>𝑋</m:t>
                    </m:r>
                  </m:oMath>
                </a14:m>
                <a:r>
                  <a:rPr lang="en-US" sz="2200" dirty="0"/>
                  <a:t> and </a:t>
                </a:r>
                <a14:m>
                  <m:oMath xmlns:m="http://schemas.openxmlformats.org/officeDocument/2006/math">
                    <m:r>
                      <a:rPr lang="en-US" sz="2200" b="0" i="1" smtClean="0">
                        <a:latin typeface="Cambria Math"/>
                      </a:rPr>
                      <m:t>𝑌</m:t>
                    </m:r>
                  </m:oMath>
                </a14:m>
                <a:r>
                  <a:rPr lang="en-US" sz="2200" dirty="0"/>
                  <a:t> are independent, then:</a:t>
                </a:r>
              </a:p>
              <a:p>
                <a:pPr lvl="2"/>
                <a14:m>
                  <m:oMath xmlns:m="http://schemas.openxmlformats.org/officeDocument/2006/math">
                    <m:r>
                      <a:rPr lang="en-US" sz="2000" b="0" i="1" smtClean="0">
                        <a:latin typeface="Cambria Math"/>
                      </a:rPr>
                      <m:t>𝑉</m:t>
                    </m:r>
                    <m:d>
                      <m:dPr>
                        <m:ctrlPr>
                          <a:rPr lang="en-US" sz="2000" b="0" i="1" smtClean="0">
                            <a:latin typeface="Cambria Math" panose="02040503050406030204" pitchFamily="18" charset="0"/>
                          </a:rPr>
                        </m:ctrlPr>
                      </m:dPr>
                      <m:e>
                        <m:r>
                          <a:rPr lang="en-US" sz="2000" b="0" i="1" smtClean="0">
                            <a:latin typeface="Cambria Math"/>
                          </a:rPr>
                          <m:t>𝑎𝑋</m:t>
                        </m:r>
                        <m:r>
                          <a:rPr lang="en-US" sz="2000" b="0" i="1" smtClean="0">
                            <a:latin typeface="Cambria Math"/>
                          </a:rPr>
                          <m:t>+</m:t>
                        </m:r>
                        <m:r>
                          <a:rPr lang="en-US" sz="2000" b="0" i="1" smtClean="0">
                            <a:latin typeface="Cambria Math"/>
                          </a:rPr>
                          <m:t>𝑏𝑌</m:t>
                        </m:r>
                      </m:e>
                    </m:d>
                    <m:r>
                      <a:rPr lang="en-US" sz="2000" b="0" i="1" smtClean="0">
                        <a:latin typeface="Cambria Math"/>
                      </a:rPr>
                      <m:t>=</m:t>
                    </m:r>
                    <m:sSup>
                      <m:sSupPr>
                        <m:ctrlPr>
                          <a:rPr lang="en-US" sz="2000" b="0" i="1" smtClean="0">
                            <a:latin typeface="Cambria Math" panose="02040503050406030204" pitchFamily="18" charset="0"/>
                          </a:rPr>
                        </m:ctrlPr>
                      </m:sSupPr>
                      <m:e>
                        <m:r>
                          <a:rPr lang="en-US" sz="2000" b="0" i="1" smtClean="0">
                            <a:latin typeface="Cambria Math"/>
                          </a:rPr>
                          <m:t>𝑎</m:t>
                        </m:r>
                      </m:e>
                      <m:sup>
                        <m:r>
                          <a:rPr lang="en-US" sz="2000" b="0" i="1" smtClean="0">
                            <a:latin typeface="Cambria Math"/>
                          </a:rPr>
                          <m:t>2</m:t>
                        </m:r>
                      </m:sup>
                    </m:sSup>
                    <m:r>
                      <a:rPr lang="en-US" sz="2000" b="0" i="1" smtClean="0">
                        <a:latin typeface="Cambria Math"/>
                      </a:rPr>
                      <m:t>𝑉</m:t>
                    </m:r>
                    <m:d>
                      <m:dPr>
                        <m:ctrlPr>
                          <a:rPr lang="en-US" sz="2000" b="0" i="1" smtClean="0">
                            <a:latin typeface="Cambria Math" panose="02040503050406030204" pitchFamily="18" charset="0"/>
                          </a:rPr>
                        </m:ctrlPr>
                      </m:dPr>
                      <m:e>
                        <m:r>
                          <a:rPr lang="en-US" sz="2000" b="0" i="1" smtClean="0">
                            <a:latin typeface="Cambria Math"/>
                          </a:rPr>
                          <m:t>𝑋</m:t>
                        </m:r>
                      </m:e>
                    </m:d>
                    <m:r>
                      <a:rPr lang="en-US" sz="2000" b="0" i="1" smtClean="0">
                        <a:latin typeface="Cambria Math"/>
                      </a:rPr>
                      <m:t>+</m:t>
                    </m:r>
                    <m:sSup>
                      <m:sSupPr>
                        <m:ctrlPr>
                          <a:rPr lang="en-US" sz="2000" b="0" i="1" smtClean="0">
                            <a:latin typeface="Cambria Math" panose="02040503050406030204" pitchFamily="18" charset="0"/>
                          </a:rPr>
                        </m:ctrlPr>
                      </m:sSupPr>
                      <m:e>
                        <m:r>
                          <a:rPr lang="en-US" sz="2000" b="0" i="1" smtClean="0">
                            <a:latin typeface="Cambria Math"/>
                          </a:rPr>
                          <m:t>𝑏</m:t>
                        </m:r>
                      </m:e>
                      <m:sup>
                        <m:r>
                          <a:rPr lang="en-US" sz="2000" b="0" i="1" smtClean="0">
                            <a:latin typeface="Cambria Math"/>
                          </a:rPr>
                          <m:t>2</m:t>
                        </m:r>
                      </m:sup>
                    </m:sSup>
                    <m:r>
                      <a:rPr lang="en-US" sz="2000" b="0" i="1" smtClean="0">
                        <a:latin typeface="Cambria Math"/>
                      </a:rPr>
                      <m:t>𝑉</m:t>
                    </m:r>
                    <m:d>
                      <m:dPr>
                        <m:ctrlPr>
                          <a:rPr lang="en-US" sz="2000" b="0" i="1" smtClean="0">
                            <a:latin typeface="Cambria Math" panose="02040503050406030204" pitchFamily="18" charset="0"/>
                          </a:rPr>
                        </m:ctrlPr>
                      </m:dPr>
                      <m:e>
                        <m:r>
                          <a:rPr lang="en-US" sz="2000" b="0" i="1" smtClean="0">
                            <a:latin typeface="Cambria Math"/>
                          </a:rPr>
                          <m:t>𝑌</m:t>
                        </m:r>
                      </m:e>
                    </m:d>
                    <m:r>
                      <a:rPr lang="en-US" sz="2000" b="0" i="1" smtClean="0">
                        <a:latin typeface="Cambria Math"/>
                      </a:rPr>
                      <m:t>=</m:t>
                    </m:r>
                    <m:r>
                      <a:rPr lang="en-US" sz="2000" b="0" i="1" smtClean="0">
                        <a:latin typeface="Cambria Math"/>
                      </a:rPr>
                      <m:t>𝑉</m:t>
                    </m:r>
                    <m:r>
                      <a:rPr lang="en-US" sz="2000" b="0" i="1" smtClean="0">
                        <a:latin typeface="Cambria Math"/>
                      </a:rPr>
                      <m:t>(</m:t>
                    </m:r>
                    <m:r>
                      <a:rPr lang="en-US" sz="2000" b="0" i="1" smtClean="0">
                        <a:latin typeface="Cambria Math"/>
                      </a:rPr>
                      <m:t>𝑎𝑋</m:t>
                    </m:r>
                    <m:r>
                      <a:rPr lang="en-US" sz="2000" b="0" i="1" smtClean="0">
                        <a:latin typeface="Cambria Math"/>
                      </a:rPr>
                      <m:t>−</m:t>
                    </m:r>
                    <m:r>
                      <a:rPr lang="en-US" sz="2000" b="0" i="1" smtClean="0">
                        <a:latin typeface="Cambria Math"/>
                      </a:rPr>
                      <m:t>𝑏𝑌</m:t>
                    </m:r>
                    <m:r>
                      <a:rPr lang="en-US" sz="2000" b="0" i="1" smtClean="0">
                        <a:latin typeface="Cambria Math"/>
                      </a:rPr>
                      <m:t>)</m:t>
                    </m:r>
                  </m:oMath>
                </a14:m>
                <a:r>
                  <a:rPr lang="en-US" sz="2000" dirty="0"/>
                  <a:t>. The difference here is that the covariance term has dropped out. This makes sense as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a:rPr>
                          <m:t>𝜎</m:t>
                        </m:r>
                      </m:e>
                      <m:sub>
                        <m:r>
                          <a:rPr lang="en-US" sz="2000" b="0" i="1" smtClean="0">
                            <a:latin typeface="Cambria Math"/>
                          </a:rPr>
                          <m:t>𝑋𝑌</m:t>
                        </m:r>
                      </m:sub>
                    </m:sSub>
                    <m:r>
                      <a:rPr lang="en-US" sz="2000" b="0" i="1" smtClean="0">
                        <a:latin typeface="Cambria Math"/>
                      </a:rPr>
                      <m:t>=0</m:t>
                    </m:r>
                  </m:oMath>
                </a14:m>
                <a:r>
                  <a:rPr lang="en-US" sz="2000" dirty="0"/>
                  <a:t> for independent random variables.</a:t>
                </a:r>
              </a:p>
              <a:p>
                <a:pPr lvl="1"/>
                <a:endParaRPr lang="en-US" sz="2200" dirty="0"/>
              </a:p>
              <a:p>
                <a:pPr lvl="1"/>
                <a:endParaRPr lang="en-US" sz="2400" dirty="0"/>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16049623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424456"/>
                </a:solidFill>
              </a:rPr>
              <a:t>4.3 – Linear Combinations of Random Variables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 final corollary relates to </a:t>
                </a:r>
                <a14:m>
                  <m:oMath xmlns:m="http://schemas.openxmlformats.org/officeDocument/2006/math">
                    <m:r>
                      <a:rPr lang="en-US" b="0" i="1" smtClean="0">
                        <a:latin typeface="Cambria Math"/>
                      </a:rPr>
                      <m:t>𝑛</m:t>
                    </m:r>
                  </m:oMath>
                </a14:m>
                <a:r>
                  <a:rPr lang="en-US" dirty="0"/>
                  <a:t> independent random variables. 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2</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𝑛</m:t>
                        </m:r>
                      </m:sub>
                    </m:sSub>
                  </m:oMath>
                </a14:m>
                <a:r>
                  <a:rPr lang="en-US" dirty="0"/>
                  <a:t> are independent. Then </a:t>
                </a:r>
              </a:p>
              <a:p>
                <a:endParaRPr lang="en-US" dirty="0"/>
              </a:p>
              <a:p>
                <a:pPr marL="109728"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𝑉</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1</m:t>
                              </m:r>
                            </m:sub>
                          </m:sSub>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1</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2</m:t>
                              </m:r>
                            </m:sub>
                          </m:sSub>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2</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𝑛</m:t>
                              </m:r>
                            </m:sub>
                          </m:sSub>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𝑛</m:t>
                              </m:r>
                            </m:sub>
                          </m:sSub>
                        </m:e>
                      </m:d>
                      <m:r>
                        <a:rPr lang="en-US" sz="2000" b="0" i="1" smtClean="0">
                          <a:latin typeface="Cambria Math"/>
                        </a:rPr>
                        <m:t>=</m:t>
                      </m:r>
                      <m:sSubSup>
                        <m:sSubSupPr>
                          <m:ctrlPr>
                            <a:rPr lang="en-US" sz="2000" b="0" i="1" smtClean="0">
                              <a:latin typeface="Cambria Math" panose="02040503050406030204" pitchFamily="18" charset="0"/>
                            </a:rPr>
                          </m:ctrlPr>
                        </m:sSubSupPr>
                        <m:e>
                          <m:r>
                            <a:rPr lang="en-US" sz="2000" b="0" i="1" smtClean="0">
                              <a:latin typeface="Cambria Math"/>
                            </a:rPr>
                            <m:t> </m:t>
                          </m:r>
                          <m:r>
                            <a:rPr lang="en-US" sz="2000" b="0" i="1" smtClean="0">
                              <a:latin typeface="Cambria Math"/>
                            </a:rPr>
                            <m:t>𝑎</m:t>
                          </m:r>
                        </m:e>
                        <m:sub>
                          <m:r>
                            <a:rPr lang="en-US" sz="2000" b="0" i="1" smtClean="0">
                              <a:latin typeface="Cambria Math"/>
                            </a:rPr>
                            <m:t>1</m:t>
                          </m:r>
                        </m:sub>
                        <m:sup>
                          <m:r>
                            <a:rPr lang="en-US" sz="2000" b="0" i="1" smtClean="0">
                              <a:latin typeface="Cambria Math"/>
                            </a:rPr>
                            <m:t>2</m:t>
                          </m:r>
                        </m:sup>
                      </m:sSubSup>
                      <m:r>
                        <a:rPr lang="en-US" sz="2000" b="0" i="1" smtClean="0">
                          <a:latin typeface="Cambria Math"/>
                        </a:rPr>
                        <m:t>𝑉</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1</m:t>
                              </m:r>
                            </m:sub>
                          </m:sSub>
                        </m:e>
                      </m:d>
                      <m:r>
                        <a:rPr lang="en-US" sz="2000" b="0" i="1" smtClean="0">
                          <a:latin typeface="Cambria Math"/>
                        </a:rPr>
                        <m:t>+</m:t>
                      </m:r>
                      <m:sSubSup>
                        <m:sSubSupPr>
                          <m:ctrlPr>
                            <a:rPr lang="en-US" sz="2000" b="0" i="1" smtClean="0">
                              <a:latin typeface="Cambria Math" panose="02040503050406030204" pitchFamily="18" charset="0"/>
                            </a:rPr>
                          </m:ctrlPr>
                        </m:sSubSupPr>
                        <m:e>
                          <m:r>
                            <a:rPr lang="en-US" sz="2000" b="0" i="1" smtClean="0">
                              <a:latin typeface="Cambria Math"/>
                            </a:rPr>
                            <m:t>𝑎</m:t>
                          </m:r>
                        </m:e>
                        <m:sub>
                          <m:r>
                            <a:rPr lang="en-US" sz="2000" b="0" i="1" smtClean="0">
                              <a:latin typeface="Cambria Math"/>
                            </a:rPr>
                            <m:t>2</m:t>
                          </m:r>
                        </m:sub>
                        <m:sup>
                          <m:r>
                            <a:rPr lang="en-US" sz="2000" b="0" i="1" smtClean="0">
                              <a:latin typeface="Cambria Math"/>
                            </a:rPr>
                            <m:t>2</m:t>
                          </m:r>
                        </m:sup>
                      </m:sSubSup>
                      <m:r>
                        <a:rPr lang="en-US" sz="2000" b="0" i="1" smtClean="0">
                          <a:latin typeface="Cambria Math"/>
                        </a:rPr>
                        <m:t>𝑉</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2</m:t>
                              </m:r>
                            </m:sub>
                          </m:sSub>
                        </m:e>
                      </m:d>
                      <m:r>
                        <a:rPr lang="en-US" sz="2000" b="0" i="1" smtClean="0">
                          <a:latin typeface="Cambria Math"/>
                        </a:rPr>
                        <m:t>+…+</m:t>
                      </m:r>
                      <m:sSubSup>
                        <m:sSubSupPr>
                          <m:ctrlPr>
                            <a:rPr lang="en-US" sz="2000" b="0" i="1" smtClean="0">
                              <a:latin typeface="Cambria Math" panose="02040503050406030204" pitchFamily="18" charset="0"/>
                            </a:rPr>
                          </m:ctrlPr>
                        </m:sSubSupPr>
                        <m:e>
                          <m:r>
                            <a:rPr lang="en-US" sz="2000" b="0" i="1" smtClean="0">
                              <a:latin typeface="Cambria Math"/>
                            </a:rPr>
                            <m:t>𝑎</m:t>
                          </m:r>
                        </m:e>
                        <m:sub>
                          <m:r>
                            <a:rPr lang="en-US" sz="2000" b="0" i="1" smtClean="0">
                              <a:latin typeface="Cambria Math"/>
                            </a:rPr>
                            <m:t>𝑛</m:t>
                          </m:r>
                        </m:sub>
                        <m:sup>
                          <m:r>
                            <a:rPr lang="en-US" sz="2000" b="0" i="1" smtClean="0">
                              <a:latin typeface="Cambria Math"/>
                            </a:rPr>
                            <m:t>2</m:t>
                          </m:r>
                        </m:sup>
                      </m:sSubSup>
                      <m:r>
                        <a:rPr lang="en-US" sz="2000" b="0" i="1" smtClean="0">
                          <a:latin typeface="Cambria Math"/>
                        </a:rPr>
                        <m:t>𝑉</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a:rPr>
                                <m:t>𝑋</m:t>
                              </m:r>
                            </m:e>
                            <m:sub>
                              <m:r>
                                <a:rPr lang="en-US" sz="2000" b="0" i="1" smtClean="0">
                                  <a:latin typeface="Cambria Math"/>
                                </a:rPr>
                                <m:t>𝑛</m:t>
                              </m:r>
                            </m:sub>
                          </m:sSub>
                        </m:e>
                      </m:d>
                    </m:oMath>
                  </m:oMathPara>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408"/>
                </a:stretch>
              </a:blipFill>
            </p:spPr>
            <p:txBody>
              <a:bodyPr/>
              <a:lstStyle/>
              <a:p>
                <a:r>
                  <a:rPr lang="en-US">
                    <a:noFill/>
                  </a:rPr>
                  <a:t> </a:t>
                </a:r>
              </a:p>
            </p:txBody>
          </p:sp>
        </mc:Fallback>
      </mc:AlternateContent>
    </p:spTree>
    <p:extLst>
      <p:ext uri="{BB962C8B-B14F-4D97-AF65-F5344CB8AC3E}">
        <p14:creationId xmlns:p14="http://schemas.microsoft.com/office/powerpoint/2010/main" val="36069803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424456"/>
                </a:solidFill>
              </a:rPr>
              <a:t>4.3 – Linear Combinations of Random Variables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Exercise: For the joint PDF </a:t>
                </a:r>
                <a14:m>
                  <m:oMath xmlns:m="http://schemas.openxmlformats.org/officeDocument/2006/math">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e>
                    </m:d>
                    <m:r>
                      <a:rPr lang="en-US" i="1">
                        <a:latin typeface="Cambria Math"/>
                      </a:rPr>
                      <m:t>=</m:t>
                    </m:r>
                    <m:f>
                      <m:fPr>
                        <m:ctrlPr>
                          <a:rPr lang="en-US" i="1">
                            <a:latin typeface="Cambria Math" panose="02040503050406030204" pitchFamily="18" charset="0"/>
                          </a:rPr>
                        </m:ctrlPr>
                      </m:fPr>
                      <m:num>
                        <m:r>
                          <a:rPr lang="en-US" i="1">
                            <a:latin typeface="Cambria Math"/>
                          </a:rPr>
                          <m:t>2</m:t>
                        </m:r>
                      </m:num>
                      <m:den>
                        <m:r>
                          <a:rPr lang="en-US" i="1">
                            <a:latin typeface="Cambria Math"/>
                          </a:rPr>
                          <m:t>5</m:t>
                        </m:r>
                      </m:den>
                    </m:f>
                    <m:r>
                      <a:rPr lang="en-US" i="1">
                        <a:latin typeface="Cambria Math"/>
                      </a:rPr>
                      <m:t>(2</m:t>
                    </m:r>
                    <m:r>
                      <a:rPr lang="en-US" i="1">
                        <a:latin typeface="Cambria Math"/>
                      </a:rPr>
                      <m:t>𝑥</m:t>
                    </m:r>
                    <m:r>
                      <a:rPr lang="en-US" i="1">
                        <a:latin typeface="Cambria Math"/>
                      </a:rPr>
                      <m:t>+3</m:t>
                    </m:r>
                    <m:r>
                      <a:rPr lang="en-US" i="1">
                        <a:latin typeface="Cambria Math"/>
                      </a:rPr>
                      <m:t>𝑦</m:t>
                    </m:r>
                    <m:r>
                      <a:rPr lang="en-US" i="1">
                        <a:latin typeface="Cambria Math"/>
                      </a:rPr>
                      <m:t>)</m:t>
                    </m:r>
                  </m:oMath>
                </a14:m>
                <a:r>
                  <a:rPr lang="en-US" dirty="0"/>
                  <a:t> for </a:t>
                </a:r>
                <a14:m>
                  <m:oMath xmlns:m="http://schemas.openxmlformats.org/officeDocument/2006/math">
                    <m:r>
                      <a:rPr lang="en-US" i="1">
                        <a:latin typeface="Cambria Math"/>
                      </a:rPr>
                      <m:t>0&lt;</m:t>
                    </m:r>
                    <m:r>
                      <a:rPr lang="en-US" i="1">
                        <a:latin typeface="Cambria Math"/>
                      </a:rPr>
                      <m:t>𝑥</m:t>
                    </m:r>
                    <m:r>
                      <a:rPr lang="en-US" i="1">
                        <a:latin typeface="Cambria Math"/>
                      </a:rPr>
                      <m:t>&lt;1, 0&lt;</m:t>
                    </m:r>
                    <m:r>
                      <a:rPr lang="en-US" i="1">
                        <a:latin typeface="Cambria Math"/>
                      </a:rPr>
                      <m:t>𝑦</m:t>
                    </m:r>
                    <m:r>
                      <a:rPr lang="en-US" i="1">
                        <a:latin typeface="Cambria Math"/>
                      </a:rPr>
                      <m:t>&lt;1</m:t>
                    </m:r>
                  </m:oMath>
                </a14:m>
                <a:r>
                  <a:rPr lang="en-US" dirty="0"/>
                  <a:t> and </a:t>
                </a:r>
                <a14:m>
                  <m:oMath xmlns:m="http://schemas.openxmlformats.org/officeDocument/2006/math">
                    <m:r>
                      <a:rPr lang="en-US" i="1">
                        <a:latin typeface="Cambria Math"/>
                      </a:rPr>
                      <m:t>0</m:t>
                    </m:r>
                  </m:oMath>
                </a14:m>
                <a:r>
                  <a:rPr lang="en-US" dirty="0"/>
                  <a:t> otherwise, find </a:t>
                </a:r>
                <a14:m>
                  <m:oMath xmlns:m="http://schemas.openxmlformats.org/officeDocument/2006/math">
                    <m:r>
                      <a:rPr lang="en-US" b="0" i="1" smtClean="0">
                        <a:latin typeface="Cambria Math"/>
                      </a:rPr>
                      <m:t>𝑉</m:t>
                    </m:r>
                    <m:d>
                      <m:dPr>
                        <m:ctrlPr>
                          <a:rPr lang="en-US" b="0" i="1" smtClean="0">
                            <a:latin typeface="Cambria Math" panose="02040503050406030204" pitchFamily="18" charset="0"/>
                          </a:rPr>
                        </m:ctrlPr>
                      </m:dPr>
                      <m:e>
                        <m:r>
                          <a:rPr lang="en-US" b="0" i="1" smtClean="0">
                            <a:latin typeface="Cambria Math"/>
                          </a:rPr>
                          <m:t>4</m:t>
                        </m:r>
                        <m:r>
                          <a:rPr lang="en-US" b="0" i="1" smtClean="0">
                            <a:latin typeface="Cambria Math"/>
                          </a:rPr>
                          <m:t>𝑋</m:t>
                        </m:r>
                        <m:r>
                          <a:rPr lang="en-US" b="0" i="1" smtClean="0">
                            <a:latin typeface="Cambria Math"/>
                          </a:rPr>
                          <m:t>−3</m:t>
                        </m:r>
                        <m:r>
                          <a:rPr lang="en-US" b="0" i="1" smtClean="0">
                            <a:latin typeface="Cambria Math"/>
                          </a:rPr>
                          <m:t>𝑌</m:t>
                        </m:r>
                        <m:r>
                          <a:rPr lang="en-US" b="0" i="1" smtClean="0">
                            <a:latin typeface="Cambria Math"/>
                          </a:rPr>
                          <m:t>+10</m:t>
                        </m:r>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98220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5104</TotalTime>
  <Words>2736</Words>
  <Application>Microsoft Office PowerPoint</Application>
  <PresentationFormat>On-screen Show (4:3)</PresentationFormat>
  <Paragraphs>258</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Cambria Math</vt:lpstr>
      <vt:lpstr>Georgia</vt:lpstr>
      <vt:lpstr>Trebuchet MS</vt:lpstr>
      <vt:lpstr>Wingdings 2</vt:lpstr>
      <vt:lpstr>Urban</vt:lpstr>
      <vt:lpstr>Mathematical Expectation</vt:lpstr>
      <vt:lpstr>Chapter 4</vt:lpstr>
      <vt:lpstr>4.1 – Mean of a Random Variable</vt:lpstr>
      <vt:lpstr>4.1 – Mean of a Random Variable</vt:lpstr>
      <vt:lpstr>4.1 – Mean of a Random Variable</vt:lpstr>
      <vt:lpstr>4.1 – Mean of a Random Variable</vt:lpstr>
      <vt:lpstr>4.1 – Mean of a Random Variable</vt:lpstr>
      <vt:lpstr>4.1 – Mean of a Random Variable</vt:lpstr>
      <vt:lpstr>4.1 – Mean of a Random Variable</vt:lpstr>
      <vt:lpstr>4.1 – Mean of a Random Variable</vt:lpstr>
      <vt:lpstr>4.1 – Mean of a Random Variable</vt:lpstr>
      <vt:lpstr>4.1 – Mean of a Random Variable</vt:lpstr>
      <vt:lpstr>4.1 – Mean of a Random Variable</vt:lpstr>
      <vt:lpstr>4.1 – Mean of a Random Variable</vt:lpstr>
      <vt:lpstr>4.1 – Mean of a Random Variable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4.2 – Variance and Covariance</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lpstr>4.3 – Linear Combinations of Random Variables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Expectation</dc:title>
  <dc:creator>Jason Adams</dc:creator>
  <cp:lastModifiedBy>Lizzie Reida</cp:lastModifiedBy>
  <cp:revision>37</cp:revision>
  <dcterms:created xsi:type="dcterms:W3CDTF">2017-07-14T01:23:00Z</dcterms:created>
  <dcterms:modified xsi:type="dcterms:W3CDTF">2021-01-14T15:36:18Z</dcterms:modified>
</cp:coreProperties>
</file>
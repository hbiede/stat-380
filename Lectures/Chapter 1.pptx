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56" r:id="rId3"/>
    <p:sldId id="257" r:id="rId4"/>
    <p:sldId id="258" r:id="rId5"/>
    <p:sldId id="260" r:id="rId6"/>
    <p:sldId id="262" r:id="rId7"/>
    <p:sldId id="261" r:id="rId8"/>
    <p:sldId id="264" r:id="rId9"/>
    <p:sldId id="265" r:id="rId10"/>
    <p:sldId id="266" r:id="rId11"/>
    <p:sldId id="267" r:id="rId12"/>
    <p:sldId id="268" r:id="rId13"/>
    <p:sldId id="269" r:id="rId14"/>
    <p:sldId id="270" r:id="rId15"/>
    <p:sldId id="263" r:id="rId16"/>
    <p:sldId id="271" r:id="rId17"/>
    <p:sldId id="272" r:id="rId18"/>
    <p:sldId id="273" r:id="rId19"/>
    <p:sldId id="274" r:id="rId20"/>
    <p:sldId id="275" r:id="rId21"/>
    <p:sldId id="276" r:id="rId22"/>
    <p:sldId id="278" r:id="rId23"/>
    <p:sldId id="277" r:id="rId24"/>
    <p:sldId id="279" r:id="rId25"/>
    <p:sldId id="280" r:id="rId26"/>
    <p:sldId id="281" r:id="rId27"/>
    <p:sldId id="283" r:id="rId28"/>
    <p:sldId id="284" r:id="rId29"/>
    <p:sldId id="286" r:id="rId30"/>
    <p:sldId id="287" r:id="rId31"/>
    <p:sldId id="288" r:id="rId32"/>
    <p:sldId id="289" r:id="rId33"/>
    <p:sldId id="291" r:id="rId34"/>
    <p:sldId id="290" r:id="rId35"/>
    <p:sldId id="292" r:id="rId36"/>
    <p:sldId id="293" r:id="rId37"/>
    <p:sldId id="294" r:id="rId38"/>
    <p:sldId id="296" r:id="rId39"/>
    <p:sldId id="297" r:id="rId40"/>
    <p:sldId id="298" r:id="rId41"/>
    <p:sldId id="299" r:id="rId42"/>
    <p:sldId id="301" r:id="rId43"/>
    <p:sldId id="302" r:id="rId44"/>
    <p:sldId id="300" r:id="rId45"/>
    <p:sldId id="303" r:id="rId46"/>
    <p:sldId id="304" r:id="rId47"/>
    <p:sldId id="306" r:id="rId48"/>
    <p:sldId id="305" r:id="rId49"/>
    <p:sldId id="307" r:id="rId50"/>
    <p:sldId id="308" r:id="rId51"/>
    <p:sldId id="309" r:id="rId52"/>
    <p:sldId id="311" r:id="rId53"/>
    <p:sldId id="312" r:id="rId54"/>
    <p:sldId id="313" r:id="rId55"/>
    <p:sldId id="314" r:id="rId56"/>
    <p:sldId id="315"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696D95C3-8820-416A-9DCE-8BFD8D099275}" type="datetimeFigureOut">
              <a:rPr lang="en-US" smtClean="0"/>
              <a:t>1/14/2021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85C5ED60-7968-4680-B956-5B257635B91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96D95C3-8820-416A-9DCE-8BFD8D09927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C5ED60-7968-4680-B956-5B257635B912}" type="slidenum">
              <a:rPr lang="en-US" smtClean="0"/>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96D95C3-8820-416A-9DCE-8BFD8D09927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C5ED60-7968-4680-B956-5B257635B912}"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96D95C3-8820-416A-9DCE-8BFD8D099275}"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C5ED60-7968-4680-B956-5B257635B912}" type="slidenum">
              <a:rPr lang="en-US" smtClean="0"/>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96D95C3-8820-416A-9DCE-8BFD8D099275}" type="datetimeFigureOut">
              <a:rPr lang="en-US" smtClean="0"/>
              <a:t>1/14/2021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C5ED60-7968-4680-B956-5B257635B912}"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96D95C3-8820-416A-9DCE-8BFD8D099275}" type="datetimeFigureOut">
              <a:rPr lang="en-US" smtClean="0"/>
              <a:t>1/14/2021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C5ED60-7968-4680-B956-5B257635B912}" type="slidenum">
              <a:rPr lang="en-US" smtClean="0"/>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6D95C3-8820-416A-9DCE-8BFD8D099275}"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C5ED60-7968-4680-B956-5B257635B91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696D95C3-8820-416A-9DCE-8BFD8D099275}"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C5ED60-7968-4680-B956-5B257635B912}"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696D95C3-8820-416A-9DCE-8BFD8D099275}" type="datetimeFigureOut">
              <a:rPr lang="en-US" smtClean="0"/>
              <a:t>1/14/2021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85C5ED60-7968-4680-B956-5B257635B912}"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96D95C3-8820-416A-9DCE-8BFD8D09927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C5ED60-7968-4680-B956-5B257635B91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96D95C3-8820-416A-9DCE-8BFD8D099275}"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C5ED60-7968-4680-B956-5B257635B91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23053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7815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3625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895673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2280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14231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2915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537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8192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09412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79998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696D95C3-8820-416A-9DCE-8BFD8D099275}" type="datetimeFigureOut">
              <a:rPr lang="en-US" smtClean="0"/>
              <a:t>1/14/2021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5C5ED60-7968-4680-B956-5B257635B91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28B523-64C1-42CF-97EF-01E5FA3F675B}" type="datetimeFigureOut">
              <a:rPr lang="en-US" smtClean="0">
                <a:solidFill>
                  <a:prstClr val="black">
                    <a:tint val="75000"/>
                  </a:prstClr>
                </a:solidFill>
              </a:rPr>
              <a:pPr/>
              <a:t>1/14/2021</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4D1F64-0EA6-4058-8136-2B19FBBEC93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51751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1</a:t>
            </a:r>
          </a:p>
        </p:txBody>
      </p:sp>
      <p:sp>
        <p:nvSpPr>
          <p:cNvPr id="3" name="Subtitle 2"/>
          <p:cNvSpPr>
            <a:spLocks noGrp="1"/>
          </p:cNvSpPr>
          <p:nvPr>
            <p:ph type="subTitle" idx="1"/>
          </p:nvPr>
        </p:nvSpPr>
        <p:spPr/>
        <p:txBody>
          <a:bodyPr/>
          <a:lstStyle/>
          <a:p>
            <a:r>
              <a:rPr lang="en-US" dirty="0"/>
              <a:t>Introduction to Statistics and Data Analysis</a:t>
            </a:r>
          </a:p>
        </p:txBody>
      </p:sp>
    </p:spTree>
    <p:extLst>
      <p:ext uri="{BB962C8B-B14F-4D97-AF65-F5344CB8AC3E}">
        <p14:creationId xmlns:p14="http://schemas.microsoft.com/office/powerpoint/2010/main" val="458254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Definition of Statistics that I like:</a:t>
            </a:r>
          </a:p>
          <a:p>
            <a:pPr lvl="1"/>
            <a:r>
              <a:rPr lang="en-US" i="1" dirty="0"/>
              <a:t>The science of collecting, analyzing, and interpreting data</a:t>
            </a:r>
            <a:r>
              <a:rPr lang="en-US" dirty="0"/>
              <a:t>.</a:t>
            </a:r>
          </a:p>
          <a:p>
            <a:pPr lvl="1"/>
            <a:endParaRPr lang="en-US" dirty="0"/>
          </a:p>
          <a:p>
            <a:r>
              <a:rPr lang="en-US" dirty="0"/>
              <a:t>While brief, I think this definition provides a good idea of the overarching goals in statistics.</a:t>
            </a:r>
          </a:p>
        </p:txBody>
      </p:sp>
      <p:sp>
        <p:nvSpPr>
          <p:cNvPr id="3" name="Title 2"/>
          <p:cNvSpPr>
            <a:spLocks noGrp="1"/>
          </p:cNvSpPr>
          <p:nvPr>
            <p:ph type="title"/>
          </p:nvPr>
        </p:nvSpPr>
        <p:spPr/>
        <p:txBody>
          <a:bodyPr/>
          <a:lstStyle/>
          <a:p>
            <a:r>
              <a:rPr lang="en-US" dirty="0"/>
              <a:t>1.1 – Overview of Statistics</a:t>
            </a:r>
          </a:p>
        </p:txBody>
      </p:sp>
    </p:spTree>
    <p:extLst>
      <p:ext uri="{BB962C8B-B14F-4D97-AF65-F5344CB8AC3E}">
        <p14:creationId xmlns:p14="http://schemas.microsoft.com/office/powerpoint/2010/main" val="708265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question for you:</a:t>
            </a:r>
          </a:p>
          <a:p>
            <a:pPr lvl="1"/>
            <a:r>
              <a:rPr lang="en-US" dirty="0"/>
              <a:t>Why do we need data? Why is proper collection, analysis, and interpretation of data important?</a:t>
            </a:r>
          </a:p>
        </p:txBody>
      </p:sp>
      <p:sp>
        <p:nvSpPr>
          <p:cNvPr id="3" name="Title 2"/>
          <p:cNvSpPr>
            <a:spLocks noGrp="1"/>
          </p:cNvSpPr>
          <p:nvPr>
            <p:ph type="title"/>
          </p:nvPr>
        </p:nvSpPr>
        <p:spPr/>
        <p:txBody>
          <a:bodyPr/>
          <a:lstStyle/>
          <a:p>
            <a:r>
              <a:rPr lang="en-US" dirty="0"/>
              <a:t>1.1 – Overview of Statistics</a:t>
            </a:r>
          </a:p>
        </p:txBody>
      </p:sp>
    </p:spTree>
    <p:extLst>
      <p:ext uri="{BB962C8B-B14F-4D97-AF65-F5344CB8AC3E}">
        <p14:creationId xmlns:p14="http://schemas.microsoft.com/office/powerpoint/2010/main" val="2834273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To me, Statistics is the best tool we have to understand uncertainty. Being able to collect, analyze, and interpret data is essential in fields like Chemistry, Biology, Sociology, Psychology, Physics, Economics, and many others.</a:t>
            </a:r>
          </a:p>
          <a:p>
            <a:endParaRPr lang="en-US" dirty="0"/>
          </a:p>
          <a:p>
            <a:r>
              <a:rPr lang="en-US" dirty="0"/>
              <a:t>The proper application of statistical methods is crucial in most if not all of the steps of the scientific method.</a:t>
            </a:r>
          </a:p>
        </p:txBody>
      </p:sp>
      <p:sp>
        <p:nvSpPr>
          <p:cNvPr id="3" name="Title 2"/>
          <p:cNvSpPr>
            <a:spLocks noGrp="1"/>
          </p:cNvSpPr>
          <p:nvPr>
            <p:ph type="title"/>
          </p:nvPr>
        </p:nvSpPr>
        <p:spPr/>
        <p:txBody>
          <a:bodyPr/>
          <a:lstStyle/>
          <a:p>
            <a:r>
              <a:rPr lang="en-US" dirty="0"/>
              <a:t>1.1 – Overview of Statistics</a:t>
            </a:r>
          </a:p>
        </p:txBody>
      </p:sp>
    </p:spTree>
    <p:extLst>
      <p:ext uri="{BB962C8B-B14F-4D97-AF65-F5344CB8AC3E}">
        <p14:creationId xmlns:p14="http://schemas.microsoft.com/office/powerpoint/2010/main" val="2005342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Examples:</a:t>
            </a:r>
          </a:p>
          <a:p>
            <a:pPr lvl="1"/>
            <a:r>
              <a:rPr lang="en-US" dirty="0"/>
              <a:t>Medicine – Drug testing</a:t>
            </a:r>
          </a:p>
          <a:p>
            <a:pPr lvl="1"/>
            <a:r>
              <a:rPr lang="en-US" dirty="0"/>
              <a:t>Epidemiology – Lung cancer and smoking</a:t>
            </a:r>
          </a:p>
          <a:p>
            <a:pPr lvl="1"/>
            <a:r>
              <a:rPr lang="en-US" dirty="0"/>
              <a:t>Cryptography – Alan Turing and Enigma</a:t>
            </a:r>
          </a:p>
          <a:p>
            <a:pPr lvl="1"/>
            <a:r>
              <a:rPr lang="en-US" dirty="0"/>
              <a:t>Machine Learning – Self-driving cars, facial recognition</a:t>
            </a:r>
          </a:p>
          <a:p>
            <a:pPr lvl="1"/>
            <a:r>
              <a:rPr lang="en-US" dirty="0"/>
              <a:t>Sports – Three point revolution in NBA</a:t>
            </a:r>
          </a:p>
          <a:p>
            <a:pPr lvl="1"/>
            <a:endParaRPr lang="en-US" dirty="0"/>
          </a:p>
        </p:txBody>
      </p:sp>
      <p:sp>
        <p:nvSpPr>
          <p:cNvPr id="3" name="Title 2"/>
          <p:cNvSpPr>
            <a:spLocks noGrp="1"/>
          </p:cNvSpPr>
          <p:nvPr>
            <p:ph type="title"/>
          </p:nvPr>
        </p:nvSpPr>
        <p:spPr/>
        <p:txBody>
          <a:bodyPr/>
          <a:lstStyle/>
          <a:p>
            <a:r>
              <a:rPr lang="en-US" dirty="0"/>
              <a:t>1.1 – Overview of Statistics</a:t>
            </a:r>
          </a:p>
        </p:txBody>
      </p:sp>
    </p:spTree>
    <p:extLst>
      <p:ext uri="{BB962C8B-B14F-4D97-AF65-F5344CB8AC3E}">
        <p14:creationId xmlns:p14="http://schemas.microsoft.com/office/powerpoint/2010/main" val="739799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Generally, our goal in statistics is gather information from a </a:t>
            </a:r>
            <a:r>
              <a:rPr lang="en-US" i="1" dirty="0"/>
              <a:t>sample</a:t>
            </a:r>
            <a:r>
              <a:rPr lang="en-US" dirty="0"/>
              <a:t> and then generalize the results from the sample to some larger </a:t>
            </a:r>
            <a:r>
              <a:rPr lang="en-US" i="1" dirty="0"/>
              <a:t>population </a:t>
            </a:r>
            <a:r>
              <a:rPr lang="en-US" dirty="0"/>
              <a:t>of interest.</a:t>
            </a:r>
          </a:p>
          <a:p>
            <a:endParaRPr lang="en-US" dirty="0"/>
          </a:p>
          <a:p>
            <a:r>
              <a:rPr lang="en-US" dirty="0"/>
              <a:t>This is done by calculating </a:t>
            </a:r>
            <a:r>
              <a:rPr lang="en-US" i="1" dirty="0"/>
              <a:t>statistics </a:t>
            </a:r>
            <a:r>
              <a:rPr lang="en-US" dirty="0"/>
              <a:t>– numerical properties of the sample – and using them to estimate </a:t>
            </a:r>
            <a:r>
              <a:rPr lang="en-US" i="1" dirty="0"/>
              <a:t>parameters</a:t>
            </a:r>
            <a:r>
              <a:rPr lang="en-US" dirty="0"/>
              <a:t> – numerical properties of the population.</a:t>
            </a:r>
          </a:p>
          <a:p>
            <a:endParaRPr lang="en-US" dirty="0"/>
          </a:p>
          <a:p>
            <a:r>
              <a:rPr lang="en-US" dirty="0"/>
              <a:t>This process is called </a:t>
            </a:r>
            <a:r>
              <a:rPr lang="en-US" i="1" dirty="0"/>
              <a:t>statistical inference</a:t>
            </a:r>
            <a:r>
              <a:rPr lang="en-US" dirty="0"/>
              <a:t> and is illustrated in the next few slides.</a:t>
            </a:r>
          </a:p>
        </p:txBody>
      </p:sp>
      <p:sp>
        <p:nvSpPr>
          <p:cNvPr id="3" name="Title 2"/>
          <p:cNvSpPr>
            <a:spLocks noGrp="1"/>
          </p:cNvSpPr>
          <p:nvPr>
            <p:ph type="title"/>
          </p:nvPr>
        </p:nvSpPr>
        <p:spPr/>
        <p:txBody>
          <a:bodyPr/>
          <a:lstStyle/>
          <a:p>
            <a:r>
              <a:rPr lang="en-US" dirty="0"/>
              <a:t>1.1 – Overview of Statistics</a:t>
            </a:r>
          </a:p>
        </p:txBody>
      </p:sp>
    </p:spTree>
    <p:extLst>
      <p:ext uri="{BB962C8B-B14F-4D97-AF65-F5344CB8AC3E}">
        <p14:creationId xmlns:p14="http://schemas.microsoft.com/office/powerpoint/2010/main" val="394043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6248400" cy="586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3429000" y="1295400"/>
            <a:ext cx="1371600" cy="369332"/>
          </a:xfrm>
          <a:prstGeom prst="rect">
            <a:avLst/>
          </a:prstGeom>
          <a:noFill/>
        </p:spPr>
        <p:txBody>
          <a:bodyPr wrap="square" rtlCol="0">
            <a:spAutoFit/>
          </a:bodyPr>
          <a:lstStyle/>
          <a:p>
            <a:r>
              <a:rPr lang="en-US" dirty="0">
                <a:solidFill>
                  <a:prstClr val="black"/>
                </a:solidFill>
              </a:rPr>
              <a:t>Population</a:t>
            </a:r>
          </a:p>
        </p:txBody>
      </p:sp>
    </p:spTree>
    <p:extLst>
      <p:ext uri="{BB962C8B-B14F-4D97-AF65-F5344CB8AC3E}">
        <p14:creationId xmlns:p14="http://schemas.microsoft.com/office/powerpoint/2010/main" val="2546381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6248400" cy="586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3429000" y="1295400"/>
            <a:ext cx="1371600" cy="369332"/>
          </a:xfrm>
          <a:prstGeom prst="rect">
            <a:avLst/>
          </a:prstGeom>
          <a:noFill/>
        </p:spPr>
        <p:txBody>
          <a:bodyPr wrap="square" rtlCol="0">
            <a:spAutoFit/>
          </a:bodyPr>
          <a:lstStyle/>
          <a:p>
            <a:r>
              <a:rPr lang="en-US" dirty="0">
                <a:solidFill>
                  <a:prstClr val="black"/>
                </a:solidFill>
              </a:rPr>
              <a:t>Population</a:t>
            </a:r>
          </a:p>
        </p:txBody>
      </p:sp>
      <p:sp>
        <p:nvSpPr>
          <p:cNvPr id="2" name="Oval 1"/>
          <p:cNvSpPr/>
          <p:nvPr/>
        </p:nvSpPr>
        <p:spPr>
          <a:xfrm>
            <a:off x="3886200" y="3886200"/>
            <a:ext cx="2133600" cy="1981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sp>
        <p:nvSpPr>
          <p:cNvPr id="3" name="TextBox 2"/>
          <p:cNvSpPr txBox="1"/>
          <p:nvPr/>
        </p:nvSpPr>
        <p:spPr>
          <a:xfrm>
            <a:off x="4343400" y="4495800"/>
            <a:ext cx="1371600" cy="369332"/>
          </a:xfrm>
          <a:prstGeom prst="rect">
            <a:avLst/>
          </a:prstGeom>
          <a:noFill/>
        </p:spPr>
        <p:txBody>
          <a:bodyPr wrap="square" rtlCol="0">
            <a:spAutoFit/>
          </a:bodyPr>
          <a:lstStyle/>
          <a:p>
            <a:r>
              <a:rPr lang="en-US" dirty="0">
                <a:solidFill>
                  <a:prstClr val="black"/>
                </a:solidFill>
              </a:rPr>
              <a:t>Sample</a:t>
            </a:r>
          </a:p>
        </p:txBody>
      </p:sp>
    </p:spTree>
    <p:extLst>
      <p:ext uri="{BB962C8B-B14F-4D97-AF65-F5344CB8AC3E}">
        <p14:creationId xmlns:p14="http://schemas.microsoft.com/office/powerpoint/2010/main" val="393166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6248400" cy="586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3429000" y="1295400"/>
            <a:ext cx="1371600" cy="369332"/>
          </a:xfrm>
          <a:prstGeom prst="rect">
            <a:avLst/>
          </a:prstGeom>
          <a:noFill/>
        </p:spPr>
        <p:txBody>
          <a:bodyPr wrap="square" rtlCol="0">
            <a:spAutoFit/>
          </a:bodyPr>
          <a:lstStyle/>
          <a:p>
            <a:r>
              <a:rPr lang="en-US" dirty="0">
                <a:solidFill>
                  <a:prstClr val="black"/>
                </a:solidFill>
              </a:rPr>
              <a:t>Population</a:t>
            </a:r>
          </a:p>
        </p:txBody>
      </p:sp>
      <p:sp>
        <p:nvSpPr>
          <p:cNvPr id="2" name="Oval 1"/>
          <p:cNvSpPr/>
          <p:nvPr/>
        </p:nvSpPr>
        <p:spPr>
          <a:xfrm>
            <a:off x="3886200" y="3886200"/>
            <a:ext cx="2133600" cy="1981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sp>
        <p:nvSpPr>
          <p:cNvPr id="3" name="TextBox 2"/>
          <p:cNvSpPr txBox="1"/>
          <p:nvPr/>
        </p:nvSpPr>
        <p:spPr>
          <a:xfrm>
            <a:off x="4572000" y="4311134"/>
            <a:ext cx="914400" cy="369332"/>
          </a:xfrm>
          <a:prstGeom prst="rect">
            <a:avLst/>
          </a:prstGeom>
          <a:noFill/>
        </p:spPr>
        <p:txBody>
          <a:bodyPr wrap="square" rtlCol="0">
            <a:spAutoFit/>
          </a:bodyPr>
          <a:lstStyle/>
          <a:p>
            <a:r>
              <a:rPr lang="en-US" dirty="0">
                <a:solidFill>
                  <a:prstClr val="black"/>
                </a:solidFill>
              </a:rPr>
              <a:t>Sample</a:t>
            </a:r>
          </a:p>
        </p:txBody>
      </p:sp>
      <p:sp>
        <p:nvSpPr>
          <p:cNvPr id="5" name="TextBox 4"/>
          <p:cNvSpPr txBox="1"/>
          <p:nvPr/>
        </p:nvSpPr>
        <p:spPr>
          <a:xfrm>
            <a:off x="3429000" y="2133600"/>
            <a:ext cx="1371600" cy="369332"/>
          </a:xfrm>
          <a:prstGeom prst="rect">
            <a:avLst/>
          </a:prstGeom>
          <a:noFill/>
        </p:spPr>
        <p:txBody>
          <a:bodyPr wrap="square" rtlCol="0">
            <a:spAutoFit/>
          </a:bodyPr>
          <a:lstStyle/>
          <a:p>
            <a:r>
              <a:rPr lang="en-US" b="1" dirty="0">
                <a:solidFill>
                  <a:prstClr val="black"/>
                </a:solidFill>
              </a:rPr>
              <a:t>Parameters</a:t>
            </a:r>
          </a:p>
        </p:txBody>
      </p:sp>
    </p:spTree>
    <p:extLst>
      <p:ext uri="{BB962C8B-B14F-4D97-AF65-F5344CB8AC3E}">
        <p14:creationId xmlns:p14="http://schemas.microsoft.com/office/powerpoint/2010/main" val="4093703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6248400" cy="586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3429000" y="1295400"/>
            <a:ext cx="1371600" cy="369332"/>
          </a:xfrm>
          <a:prstGeom prst="rect">
            <a:avLst/>
          </a:prstGeom>
          <a:noFill/>
        </p:spPr>
        <p:txBody>
          <a:bodyPr wrap="square" rtlCol="0">
            <a:spAutoFit/>
          </a:bodyPr>
          <a:lstStyle/>
          <a:p>
            <a:r>
              <a:rPr lang="en-US" dirty="0">
                <a:solidFill>
                  <a:prstClr val="black"/>
                </a:solidFill>
              </a:rPr>
              <a:t>Population</a:t>
            </a:r>
          </a:p>
        </p:txBody>
      </p:sp>
      <p:sp>
        <p:nvSpPr>
          <p:cNvPr id="2" name="Oval 1"/>
          <p:cNvSpPr/>
          <p:nvPr/>
        </p:nvSpPr>
        <p:spPr>
          <a:xfrm>
            <a:off x="3886200" y="3886200"/>
            <a:ext cx="2133600" cy="1981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sp>
        <p:nvSpPr>
          <p:cNvPr id="3" name="TextBox 2"/>
          <p:cNvSpPr txBox="1"/>
          <p:nvPr/>
        </p:nvSpPr>
        <p:spPr>
          <a:xfrm>
            <a:off x="4572000" y="4311134"/>
            <a:ext cx="914400" cy="369332"/>
          </a:xfrm>
          <a:prstGeom prst="rect">
            <a:avLst/>
          </a:prstGeom>
          <a:noFill/>
        </p:spPr>
        <p:txBody>
          <a:bodyPr wrap="square" rtlCol="0">
            <a:spAutoFit/>
          </a:bodyPr>
          <a:lstStyle/>
          <a:p>
            <a:r>
              <a:rPr lang="en-US" dirty="0">
                <a:solidFill>
                  <a:prstClr val="black"/>
                </a:solidFill>
              </a:rPr>
              <a:t>Sample</a:t>
            </a:r>
          </a:p>
        </p:txBody>
      </p:sp>
      <p:sp>
        <p:nvSpPr>
          <p:cNvPr id="5" name="TextBox 4"/>
          <p:cNvSpPr txBox="1"/>
          <p:nvPr/>
        </p:nvSpPr>
        <p:spPr>
          <a:xfrm>
            <a:off x="3429000" y="2133600"/>
            <a:ext cx="1371600" cy="369332"/>
          </a:xfrm>
          <a:prstGeom prst="rect">
            <a:avLst/>
          </a:prstGeom>
          <a:noFill/>
        </p:spPr>
        <p:txBody>
          <a:bodyPr wrap="square" rtlCol="0">
            <a:spAutoFit/>
          </a:bodyPr>
          <a:lstStyle/>
          <a:p>
            <a:r>
              <a:rPr lang="en-US" b="1" dirty="0">
                <a:solidFill>
                  <a:prstClr val="black"/>
                </a:solidFill>
              </a:rPr>
              <a:t>Parameters</a:t>
            </a:r>
          </a:p>
        </p:txBody>
      </p:sp>
      <p:sp>
        <p:nvSpPr>
          <p:cNvPr id="7" name="TextBox 6"/>
          <p:cNvSpPr txBox="1"/>
          <p:nvPr/>
        </p:nvSpPr>
        <p:spPr>
          <a:xfrm>
            <a:off x="4419600" y="4876800"/>
            <a:ext cx="1371600" cy="369332"/>
          </a:xfrm>
          <a:prstGeom prst="rect">
            <a:avLst/>
          </a:prstGeom>
          <a:noFill/>
        </p:spPr>
        <p:txBody>
          <a:bodyPr wrap="square" rtlCol="0">
            <a:spAutoFit/>
          </a:bodyPr>
          <a:lstStyle/>
          <a:p>
            <a:r>
              <a:rPr lang="en-US" b="1" dirty="0">
                <a:solidFill>
                  <a:prstClr val="black"/>
                </a:solidFill>
              </a:rPr>
              <a:t>Statistics</a:t>
            </a:r>
          </a:p>
        </p:txBody>
      </p:sp>
    </p:spTree>
    <p:extLst>
      <p:ext uri="{BB962C8B-B14F-4D97-AF65-F5344CB8AC3E}">
        <p14:creationId xmlns:p14="http://schemas.microsoft.com/office/powerpoint/2010/main" val="4038162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6248400" cy="586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3429000" y="1295400"/>
            <a:ext cx="1371600" cy="369332"/>
          </a:xfrm>
          <a:prstGeom prst="rect">
            <a:avLst/>
          </a:prstGeom>
          <a:noFill/>
        </p:spPr>
        <p:txBody>
          <a:bodyPr wrap="square" rtlCol="0">
            <a:spAutoFit/>
          </a:bodyPr>
          <a:lstStyle/>
          <a:p>
            <a:r>
              <a:rPr lang="en-US" dirty="0">
                <a:solidFill>
                  <a:prstClr val="black"/>
                </a:solidFill>
              </a:rPr>
              <a:t>Population</a:t>
            </a:r>
          </a:p>
        </p:txBody>
      </p:sp>
      <p:sp>
        <p:nvSpPr>
          <p:cNvPr id="2" name="Oval 1"/>
          <p:cNvSpPr/>
          <p:nvPr/>
        </p:nvSpPr>
        <p:spPr>
          <a:xfrm>
            <a:off x="3886200" y="3886200"/>
            <a:ext cx="2133600" cy="1981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sp>
        <p:nvSpPr>
          <p:cNvPr id="3" name="TextBox 2"/>
          <p:cNvSpPr txBox="1"/>
          <p:nvPr/>
        </p:nvSpPr>
        <p:spPr>
          <a:xfrm>
            <a:off x="4572000" y="4311134"/>
            <a:ext cx="914400" cy="369332"/>
          </a:xfrm>
          <a:prstGeom prst="rect">
            <a:avLst/>
          </a:prstGeom>
          <a:noFill/>
        </p:spPr>
        <p:txBody>
          <a:bodyPr wrap="square" rtlCol="0">
            <a:spAutoFit/>
          </a:bodyPr>
          <a:lstStyle/>
          <a:p>
            <a:r>
              <a:rPr lang="en-US" dirty="0">
                <a:solidFill>
                  <a:prstClr val="black"/>
                </a:solidFill>
              </a:rPr>
              <a:t>Sample</a:t>
            </a:r>
          </a:p>
        </p:txBody>
      </p:sp>
      <p:sp>
        <p:nvSpPr>
          <p:cNvPr id="5" name="TextBox 4"/>
          <p:cNvSpPr txBox="1"/>
          <p:nvPr/>
        </p:nvSpPr>
        <p:spPr>
          <a:xfrm>
            <a:off x="3429000" y="2133600"/>
            <a:ext cx="1371600" cy="369332"/>
          </a:xfrm>
          <a:prstGeom prst="rect">
            <a:avLst/>
          </a:prstGeom>
          <a:noFill/>
        </p:spPr>
        <p:txBody>
          <a:bodyPr wrap="square" rtlCol="0">
            <a:spAutoFit/>
          </a:bodyPr>
          <a:lstStyle/>
          <a:p>
            <a:r>
              <a:rPr lang="en-US" b="1" dirty="0">
                <a:solidFill>
                  <a:prstClr val="black"/>
                </a:solidFill>
              </a:rPr>
              <a:t>Parameters</a:t>
            </a:r>
          </a:p>
        </p:txBody>
      </p:sp>
      <p:sp>
        <p:nvSpPr>
          <p:cNvPr id="7" name="TextBox 6"/>
          <p:cNvSpPr txBox="1"/>
          <p:nvPr/>
        </p:nvSpPr>
        <p:spPr>
          <a:xfrm>
            <a:off x="4419600" y="4876800"/>
            <a:ext cx="1371600" cy="369332"/>
          </a:xfrm>
          <a:prstGeom prst="rect">
            <a:avLst/>
          </a:prstGeom>
          <a:noFill/>
        </p:spPr>
        <p:txBody>
          <a:bodyPr wrap="square" rtlCol="0">
            <a:spAutoFit/>
          </a:bodyPr>
          <a:lstStyle/>
          <a:p>
            <a:r>
              <a:rPr lang="en-US" b="1" dirty="0">
                <a:solidFill>
                  <a:prstClr val="black"/>
                </a:solidFill>
              </a:rPr>
              <a:t>Statistics</a:t>
            </a:r>
          </a:p>
        </p:txBody>
      </p:sp>
      <p:sp>
        <p:nvSpPr>
          <p:cNvPr id="9" name="TextBox 8"/>
          <p:cNvSpPr txBox="1"/>
          <p:nvPr/>
        </p:nvSpPr>
        <p:spPr>
          <a:xfrm>
            <a:off x="6629400" y="838200"/>
            <a:ext cx="2209800" cy="1200329"/>
          </a:xfrm>
          <a:prstGeom prst="rect">
            <a:avLst/>
          </a:prstGeom>
          <a:noFill/>
        </p:spPr>
        <p:txBody>
          <a:bodyPr wrap="square" rtlCol="0">
            <a:spAutoFit/>
          </a:bodyPr>
          <a:lstStyle/>
          <a:p>
            <a:r>
              <a:rPr lang="en-US" dirty="0">
                <a:solidFill>
                  <a:prstClr val="black"/>
                </a:solidFill>
              </a:rPr>
              <a:t>In practice, we rarely (if ever) know the true value of a parameter.</a:t>
            </a:r>
          </a:p>
        </p:txBody>
      </p:sp>
    </p:spTree>
    <p:extLst>
      <p:ext uri="{BB962C8B-B14F-4D97-AF65-F5344CB8AC3E}">
        <p14:creationId xmlns:p14="http://schemas.microsoft.com/office/powerpoint/2010/main" val="1136326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6248400" cy="586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3429000" y="1295400"/>
            <a:ext cx="1371600" cy="369332"/>
          </a:xfrm>
          <a:prstGeom prst="rect">
            <a:avLst/>
          </a:prstGeom>
          <a:noFill/>
        </p:spPr>
        <p:txBody>
          <a:bodyPr wrap="square" rtlCol="0">
            <a:spAutoFit/>
          </a:bodyPr>
          <a:lstStyle/>
          <a:p>
            <a:r>
              <a:rPr lang="en-US" dirty="0">
                <a:solidFill>
                  <a:prstClr val="black"/>
                </a:solidFill>
              </a:rPr>
              <a:t>Population</a:t>
            </a:r>
          </a:p>
        </p:txBody>
      </p:sp>
      <p:sp>
        <p:nvSpPr>
          <p:cNvPr id="2" name="Oval 1"/>
          <p:cNvSpPr/>
          <p:nvPr/>
        </p:nvSpPr>
        <p:spPr>
          <a:xfrm>
            <a:off x="3886200" y="3886200"/>
            <a:ext cx="2133600" cy="1981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sp>
        <p:nvSpPr>
          <p:cNvPr id="3" name="TextBox 2"/>
          <p:cNvSpPr txBox="1"/>
          <p:nvPr/>
        </p:nvSpPr>
        <p:spPr>
          <a:xfrm>
            <a:off x="4572000" y="4311134"/>
            <a:ext cx="914400" cy="369332"/>
          </a:xfrm>
          <a:prstGeom prst="rect">
            <a:avLst/>
          </a:prstGeom>
          <a:noFill/>
        </p:spPr>
        <p:txBody>
          <a:bodyPr wrap="square" rtlCol="0">
            <a:spAutoFit/>
          </a:bodyPr>
          <a:lstStyle/>
          <a:p>
            <a:r>
              <a:rPr lang="en-US" dirty="0">
                <a:solidFill>
                  <a:prstClr val="black"/>
                </a:solidFill>
              </a:rPr>
              <a:t>Sample</a:t>
            </a:r>
          </a:p>
        </p:txBody>
      </p:sp>
      <p:sp>
        <p:nvSpPr>
          <p:cNvPr id="5" name="TextBox 4"/>
          <p:cNvSpPr txBox="1"/>
          <p:nvPr/>
        </p:nvSpPr>
        <p:spPr>
          <a:xfrm>
            <a:off x="3429000" y="2133600"/>
            <a:ext cx="1371600" cy="369332"/>
          </a:xfrm>
          <a:prstGeom prst="rect">
            <a:avLst/>
          </a:prstGeom>
          <a:noFill/>
        </p:spPr>
        <p:txBody>
          <a:bodyPr wrap="square" rtlCol="0">
            <a:spAutoFit/>
          </a:bodyPr>
          <a:lstStyle/>
          <a:p>
            <a:r>
              <a:rPr lang="en-US" b="1" dirty="0">
                <a:solidFill>
                  <a:prstClr val="black"/>
                </a:solidFill>
              </a:rPr>
              <a:t>Parameters</a:t>
            </a:r>
          </a:p>
        </p:txBody>
      </p:sp>
      <p:sp>
        <p:nvSpPr>
          <p:cNvPr id="7" name="TextBox 6"/>
          <p:cNvSpPr txBox="1"/>
          <p:nvPr/>
        </p:nvSpPr>
        <p:spPr>
          <a:xfrm>
            <a:off x="4419600" y="4876800"/>
            <a:ext cx="1371600" cy="369332"/>
          </a:xfrm>
          <a:prstGeom prst="rect">
            <a:avLst/>
          </a:prstGeom>
          <a:noFill/>
        </p:spPr>
        <p:txBody>
          <a:bodyPr wrap="square" rtlCol="0">
            <a:spAutoFit/>
          </a:bodyPr>
          <a:lstStyle/>
          <a:p>
            <a:r>
              <a:rPr lang="en-US" b="1" dirty="0">
                <a:solidFill>
                  <a:prstClr val="black"/>
                </a:solidFill>
              </a:rPr>
              <a:t>Statistics</a:t>
            </a:r>
          </a:p>
        </p:txBody>
      </p:sp>
      <p:sp>
        <p:nvSpPr>
          <p:cNvPr id="9" name="TextBox 8"/>
          <p:cNvSpPr txBox="1"/>
          <p:nvPr/>
        </p:nvSpPr>
        <p:spPr>
          <a:xfrm>
            <a:off x="6629400" y="838200"/>
            <a:ext cx="2209800" cy="1200329"/>
          </a:xfrm>
          <a:prstGeom prst="rect">
            <a:avLst/>
          </a:prstGeom>
          <a:noFill/>
        </p:spPr>
        <p:txBody>
          <a:bodyPr wrap="square" rtlCol="0">
            <a:spAutoFit/>
          </a:bodyPr>
          <a:lstStyle/>
          <a:p>
            <a:r>
              <a:rPr lang="en-US" dirty="0">
                <a:solidFill>
                  <a:prstClr val="black"/>
                </a:solidFill>
              </a:rPr>
              <a:t>In practice, we rarely (if ever) know the true value of a parameter.</a:t>
            </a:r>
          </a:p>
        </p:txBody>
      </p:sp>
      <p:sp>
        <p:nvSpPr>
          <p:cNvPr id="8" name="TextBox 7"/>
          <p:cNvSpPr txBox="1"/>
          <p:nvPr/>
        </p:nvSpPr>
        <p:spPr>
          <a:xfrm>
            <a:off x="6934200" y="4876800"/>
            <a:ext cx="2133600" cy="1754326"/>
          </a:xfrm>
          <a:prstGeom prst="rect">
            <a:avLst/>
          </a:prstGeom>
          <a:noFill/>
        </p:spPr>
        <p:txBody>
          <a:bodyPr wrap="square" rtlCol="0">
            <a:spAutoFit/>
          </a:bodyPr>
          <a:lstStyle/>
          <a:p>
            <a:r>
              <a:rPr lang="en-US" dirty="0">
                <a:solidFill>
                  <a:prstClr val="black"/>
                </a:solidFill>
              </a:rPr>
              <a:t>Statistics, on the other hand, can </a:t>
            </a:r>
            <a:r>
              <a:rPr lang="en-US" b="1" dirty="0">
                <a:solidFill>
                  <a:prstClr val="black"/>
                </a:solidFill>
              </a:rPr>
              <a:t>always</a:t>
            </a:r>
            <a:r>
              <a:rPr lang="en-US" dirty="0">
                <a:solidFill>
                  <a:prstClr val="black"/>
                </a:solidFill>
              </a:rPr>
              <a:t> be calculated based on the data we obtain from the sample.</a:t>
            </a:r>
          </a:p>
        </p:txBody>
      </p:sp>
    </p:spTree>
    <p:extLst>
      <p:ext uri="{BB962C8B-B14F-4D97-AF65-F5344CB8AC3E}">
        <p14:creationId xmlns:p14="http://schemas.microsoft.com/office/powerpoint/2010/main" val="3884957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38200" y="533400"/>
            <a:ext cx="4419600" cy="4528066"/>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solidFill>
                <a:prstClr val="black"/>
              </a:solidFill>
            </a:endParaRPr>
          </a:p>
        </p:txBody>
      </p:sp>
      <p:sp>
        <p:nvSpPr>
          <p:cNvPr id="6" name="TextBox 5"/>
          <p:cNvSpPr txBox="1"/>
          <p:nvPr/>
        </p:nvSpPr>
        <p:spPr>
          <a:xfrm>
            <a:off x="2077844" y="1295399"/>
            <a:ext cx="1960756" cy="369332"/>
          </a:xfrm>
          <a:prstGeom prst="rect">
            <a:avLst/>
          </a:prstGeom>
          <a:noFill/>
        </p:spPr>
        <p:txBody>
          <a:bodyPr wrap="square" rtlCol="0">
            <a:spAutoFit/>
          </a:bodyPr>
          <a:lstStyle/>
          <a:p>
            <a:r>
              <a:rPr lang="en-US" dirty="0">
                <a:solidFill>
                  <a:prstClr val="black"/>
                </a:solidFill>
              </a:rPr>
              <a:t>Population</a:t>
            </a:r>
          </a:p>
        </p:txBody>
      </p:sp>
      <p:sp>
        <p:nvSpPr>
          <p:cNvPr id="2" name="Oval 1"/>
          <p:cNvSpPr/>
          <p:nvPr/>
        </p:nvSpPr>
        <p:spPr>
          <a:xfrm>
            <a:off x="3006605" y="2971800"/>
            <a:ext cx="1509132" cy="1528957"/>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sp>
        <p:nvSpPr>
          <p:cNvPr id="3" name="TextBox 2"/>
          <p:cNvSpPr txBox="1"/>
          <p:nvPr/>
        </p:nvSpPr>
        <p:spPr>
          <a:xfrm>
            <a:off x="3270686" y="3200400"/>
            <a:ext cx="1286615" cy="369332"/>
          </a:xfrm>
          <a:prstGeom prst="rect">
            <a:avLst/>
          </a:prstGeom>
          <a:noFill/>
        </p:spPr>
        <p:txBody>
          <a:bodyPr wrap="square" rtlCol="0">
            <a:spAutoFit/>
          </a:bodyPr>
          <a:lstStyle/>
          <a:p>
            <a:r>
              <a:rPr lang="en-US" dirty="0">
                <a:solidFill>
                  <a:prstClr val="black"/>
                </a:solidFill>
              </a:rPr>
              <a:t>Sample</a:t>
            </a:r>
          </a:p>
        </p:txBody>
      </p:sp>
      <p:sp>
        <p:nvSpPr>
          <p:cNvPr id="5" name="TextBox 4"/>
          <p:cNvSpPr txBox="1"/>
          <p:nvPr/>
        </p:nvSpPr>
        <p:spPr>
          <a:xfrm>
            <a:off x="2120420" y="1853863"/>
            <a:ext cx="1676400" cy="369332"/>
          </a:xfrm>
          <a:prstGeom prst="rect">
            <a:avLst/>
          </a:prstGeom>
          <a:noFill/>
        </p:spPr>
        <p:txBody>
          <a:bodyPr wrap="square" rtlCol="0">
            <a:spAutoFit/>
          </a:bodyPr>
          <a:lstStyle/>
          <a:p>
            <a:r>
              <a:rPr lang="en-US" b="1" dirty="0">
                <a:solidFill>
                  <a:prstClr val="black"/>
                </a:solidFill>
              </a:rPr>
              <a:t>Parameters</a:t>
            </a:r>
          </a:p>
        </p:txBody>
      </p:sp>
      <p:sp>
        <p:nvSpPr>
          <p:cNvPr id="7" name="TextBox 6"/>
          <p:cNvSpPr txBox="1"/>
          <p:nvPr/>
        </p:nvSpPr>
        <p:spPr>
          <a:xfrm>
            <a:off x="3270685" y="3597441"/>
            <a:ext cx="1245051" cy="369332"/>
          </a:xfrm>
          <a:prstGeom prst="rect">
            <a:avLst/>
          </a:prstGeom>
          <a:noFill/>
        </p:spPr>
        <p:txBody>
          <a:bodyPr wrap="square" rtlCol="0">
            <a:spAutoFit/>
          </a:bodyPr>
          <a:lstStyle/>
          <a:p>
            <a:r>
              <a:rPr lang="en-US" b="1" dirty="0">
                <a:solidFill>
                  <a:prstClr val="black"/>
                </a:solidFill>
              </a:rPr>
              <a:t>Statistics</a:t>
            </a:r>
          </a:p>
        </p:txBody>
      </p:sp>
      <p:sp>
        <p:nvSpPr>
          <p:cNvPr id="9" name="TextBox 8"/>
          <p:cNvSpPr txBox="1"/>
          <p:nvPr/>
        </p:nvSpPr>
        <p:spPr>
          <a:xfrm>
            <a:off x="5524500" y="831273"/>
            <a:ext cx="2209800" cy="1200329"/>
          </a:xfrm>
          <a:prstGeom prst="rect">
            <a:avLst/>
          </a:prstGeom>
          <a:noFill/>
        </p:spPr>
        <p:txBody>
          <a:bodyPr wrap="square" rtlCol="0">
            <a:spAutoFit/>
          </a:bodyPr>
          <a:lstStyle/>
          <a:p>
            <a:r>
              <a:rPr lang="en-US" dirty="0">
                <a:solidFill>
                  <a:prstClr val="black"/>
                </a:solidFill>
              </a:rPr>
              <a:t>In practice, we rarely (if ever) know the true value of a parameter.</a:t>
            </a:r>
          </a:p>
        </p:txBody>
      </p:sp>
      <p:sp>
        <p:nvSpPr>
          <p:cNvPr id="8" name="TextBox 7"/>
          <p:cNvSpPr txBox="1"/>
          <p:nvPr/>
        </p:nvSpPr>
        <p:spPr>
          <a:xfrm>
            <a:off x="5410200" y="2184738"/>
            <a:ext cx="2133600" cy="1754326"/>
          </a:xfrm>
          <a:prstGeom prst="rect">
            <a:avLst/>
          </a:prstGeom>
          <a:noFill/>
        </p:spPr>
        <p:txBody>
          <a:bodyPr wrap="square" rtlCol="0">
            <a:spAutoFit/>
          </a:bodyPr>
          <a:lstStyle/>
          <a:p>
            <a:r>
              <a:rPr lang="en-US" dirty="0">
                <a:solidFill>
                  <a:prstClr val="black"/>
                </a:solidFill>
              </a:rPr>
              <a:t>Statistics, on the other hand, can </a:t>
            </a:r>
            <a:r>
              <a:rPr lang="en-US" b="1" dirty="0">
                <a:solidFill>
                  <a:prstClr val="black"/>
                </a:solidFill>
              </a:rPr>
              <a:t>always</a:t>
            </a:r>
            <a:r>
              <a:rPr lang="en-US" dirty="0">
                <a:solidFill>
                  <a:prstClr val="black"/>
                </a:solidFill>
              </a:rPr>
              <a:t> be calculated based on the data we obtain from the sample.</a:t>
            </a:r>
          </a:p>
        </p:txBody>
      </p:sp>
      <p:sp>
        <p:nvSpPr>
          <p:cNvPr id="10" name="TextBox 9"/>
          <p:cNvSpPr txBox="1"/>
          <p:nvPr/>
        </p:nvSpPr>
        <p:spPr>
          <a:xfrm>
            <a:off x="457200" y="5257800"/>
            <a:ext cx="8229600" cy="1200329"/>
          </a:xfrm>
          <a:prstGeom prst="rect">
            <a:avLst/>
          </a:prstGeom>
          <a:noFill/>
        </p:spPr>
        <p:txBody>
          <a:bodyPr wrap="square" rtlCol="0">
            <a:spAutoFit/>
          </a:bodyPr>
          <a:lstStyle/>
          <a:p>
            <a:r>
              <a:rPr lang="en-US" b="1" dirty="0">
                <a:solidFill>
                  <a:prstClr val="black"/>
                </a:solidFill>
              </a:rPr>
              <a:t>The whole purpose of inference is to use the information we obtain from the sample to better understand the population. We use statistics (numerical summaries of the sample) to try to understand and estimate the parameters (numerical summaries of the population).</a:t>
            </a:r>
          </a:p>
        </p:txBody>
      </p:sp>
    </p:spTree>
    <p:extLst>
      <p:ext uri="{BB962C8B-B14F-4D97-AF65-F5344CB8AC3E}">
        <p14:creationId xmlns:p14="http://schemas.microsoft.com/office/powerpoint/2010/main" val="140929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part of the process where we actually make inferences back to the population relies heavily on probability theory. </a:t>
            </a:r>
          </a:p>
          <a:p>
            <a:endParaRPr lang="en-US" dirty="0"/>
          </a:p>
          <a:p>
            <a:r>
              <a:rPr lang="en-US" dirty="0"/>
              <a:t>This class is split into two main parts. In chapters 2-6, we focus on probability theory. Chapter 8 has more on probability, but it also sets the foundation for how we make inferences. Then chapters 9 and 10 focus on the two main tools of inference: estimation and significance testing.</a:t>
            </a:r>
          </a:p>
        </p:txBody>
      </p:sp>
      <p:sp>
        <p:nvSpPr>
          <p:cNvPr id="3" name="Title 2"/>
          <p:cNvSpPr>
            <a:spLocks noGrp="1"/>
          </p:cNvSpPr>
          <p:nvPr>
            <p:ph type="title"/>
          </p:nvPr>
        </p:nvSpPr>
        <p:spPr/>
        <p:txBody>
          <a:bodyPr/>
          <a:lstStyle/>
          <a:p>
            <a:r>
              <a:rPr lang="en-US" dirty="0"/>
              <a:t>1.1 – Overview of Statistics</a:t>
            </a:r>
          </a:p>
        </p:txBody>
      </p:sp>
    </p:spTree>
    <p:extLst>
      <p:ext uri="{BB962C8B-B14F-4D97-AF65-F5344CB8AC3E}">
        <p14:creationId xmlns:p14="http://schemas.microsoft.com/office/powerpoint/2010/main" val="1023715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r>
              <a:rPr lang="en-US" dirty="0"/>
              <a:t>While we will spend very little time on the proper collection of data, there are still a few important ideas to mention regarding how the data we use are obtained.</a:t>
            </a:r>
          </a:p>
          <a:p>
            <a:endParaRPr lang="en-US" dirty="0"/>
          </a:p>
          <a:p>
            <a:r>
              <a:rPr lang="en-US" dirty="0"/>
              <a:t>A main goal of data collection is to create a sample that is </a:t>
            </a:r>
            <a:r>
              <a:rPr lang="en-US" i="1" dirty="0"/>
              <a:t>representative </a:t>
            </a:r>
            <a:r>
              <a:rPr lang="en-US" dirty="0"/>
              <a:t>of the population. That is, we want the characteristics of the sample to be as similar as possible to the characteristics of the population.</a:t>
            </a:r>
          </a:p>
          <a:p>
            <a:endParaRPr lang="en-US" dirty="0"/>
          </a:p>
          <a:p>
            <a:r>
              <a:rPr lang="en-US" dirty="0"/>
              <a:t>Consider this example: We want to find out the average number of hours that UNL students spend in Love Library each week. </a:t>
            </a:r>
          </a:p>
        </p:txBody>
      </p:sp>
      <p:sp>
        <p:nvSpPr>
          <p:cNvPr id="3" name="Title 2"/>
          <p:cNvSpPr>
            <a:spLocks noGrp="1"/>
          </p:cNvSpPr>
          <p:nvPr>
            <p:ph type="title"/>
          </p:nvPr>
        </p:nvSpPr>
        <p:spPr/>
        <p:txBody>
          <a:bodyPr/>
          <a:lstStyle/>
          <a:p>
            <a:r>
              <a:rPr lang="en-US" dirty="0"/>
              <a:t>1.2 – Collection of Data</a:t>
            </a:r>
          </a:p>
        </p:txBody>
      </p:sp>
    </p:spTree>
    <p:extLst>
      <p:ext uri="{BB962C8B-B14F-4D97-AF65-F5344CB8AC3E}">
        <p14:creationId xmlns:p14="http://schemas.microsoft.com/office/powerpoint/2010/main" val="58125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Suppose we decide that we need to sample 100 UNL students (we’ll talk in a later section about how to come up with an appropriate </a:t>
            </a:r>
            <a:r>
              <a:rPr lang="en-US" i="1" dirty="0"/>
              <a:t>sample size </a:t>
            </a:r>
            <a:r>
              <a:rPr lang="en-US" dirty="0"/>
              <a:t>). </a:t>
            </a:r>
          </a:p>
          <a:p>
            <a:endParaRPr lang="en-US" dirty="0"/>
          </a:p>
          <a:p>
            <a:r>
              <a:rPr lang="en-US" dirty="0"/>
              <a:t>Now we need to determine which 100 UNL students to talk to. Is it a good idea to go stand outside of Love Library and talk to people who are going in until we have information from 100 students? Why or why not?</a:t>
            </a:r>
          </a:p>
          <a:p>
            <a:endParaRPr lang="en-US" dirty="0"/>
          </a:p>
          <a:p>
            <a:endParaRPr lang="en-US" dirty="0"/>
          </a:p>
        </p:txBody>
      </p:sp>
      <p:sp>
        <p:nvSpPr>
          <p:cNvPr id="3" name="Title 2"/>
          <p:cNvSpPr>
            <a:spLocks noGrp="1"/>
          </p:cNvSpPr>
          <p:nvPr>
            <p:ph type="title"/>
          </p:nvPr>
        </p:nvSpPr>
        <p:spPr/>
        <p:txBody>
          <a:bodyPr/>
          <a:lstStyle/>
          <a:p>
            <a:r>
              <a:rPr lang="en-US" dirty="0"/>
              <a:t>1.2 – Collection of Data</a:t>
            </a:r>
          </a:p>
        </p:txBody>
      </p:sp>
    </p:spTree>
    <p:extLst>
      <p:ext uri="{BB962C8B-B14F-4D97-AF65-F5344CB8AC3E}">
        <p14:creationId xmlns:p14="http://schemas.microsoft.com/office/powerpoint/2010/main" val="2236591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If we go to Love Library, our sampling method is biased towards those who actually go to Love Library.</a:t>
            </a:r>
          </a:p>
          <a:p>
            <a:endParaRPr lang="en-US" dirty="0"/>
          </a:p>
          <a:p>
            <a:r>
              <a:rPr lang="en-US" dirty="0"/>
              <a:t>Remember that we want to know the average number of hours spent in Love Library for </a:t>
            </a:r>
            <a:r>
              <a:rPr lang="en-US" b="1" dirty="0"/>
              <a:t>all</a:t>
            </a:r>
            <a:r>
              <a:rPr lang="en-US" dirty="0"/>
              <a:t> UNL students. With this sampling plan, we will never talk to students who don’t go to Love Library. We would also probably miss those who only occasionally or rarely go.</a:t>
            </a:r>
          </a:p>
          <a:p>
            <a:endParaRPr lang="en-US" dirty="0"/>
          </a:p>
          <a:p>
            <a:endParaRPr lang="en-US" dirty="0"/>
          </a:p>
        </p:txBody>
      </p:sp>
      <p:sp>
        <p:nvSpPr>
          <p:cNvPr id="3" name="Title 2"/>
          <p:cNvSpPr>
            <a:spLocks noGrp="1"/>
          </p:cNvSpPr>
          <p:nvPr>
            <p:ph type="title"/>
          </p:nvPr>
        </p:nvSpPr>
        <p:spPr/>
        <p:txBody>
          <a:bodyPr/>
          <a:lstStyle/>
          <a:p>
            <a:r>
              <a:rPr lang="en-US" dirty="0"/>
              <a:t>1.2 – Collection of Data</a:t>
            </a:r>
          </a:p>
        </p:txBody>
      </p:sp>
    </p:spTree>
    <p:extLst>
      <p:ext uri="{BB962C8B-B14F-4D97-AF65-F5344CB8AC3E}">
        <p14:creationId xmlns:p14="http://schemas.microsoft.com/office/powerpoint/2010/main" val="3546758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This is an example of </a:t>
            </a:r>
            <a:r>
              <a:rPr lang="en-US" i="1" dirty="0"/>
              <a:t>convenience sampling</a:t>
            </a:r>
            <a:r>
              <a:rPr lang="en-US" dirty="0"/>
              <a:t>. Convenience sampling usually leads to samples that are not representative of the population.</a:t>
            </a:r>
          </a:p>
          <a:p>
            <a:endParaRPr lang="en-US" dirty="0"/>
          </a:p>
          <a:p>
            <a:r>
              <a:rPr lang="en-US" dirty="0"/>
              <a:t>So what do we need to do instead? Use some form of </a:t>
            </a:r>
            <a:r>
              <a:rPr lang="en-US" i="1" dirty="0"/>
              <a:t>random sampling</a:t>
            </a:r>
            <a:r>
              <a:rPr lang="en-US" dirty="0"/>
              <a:t>. In order for a sampling method to be random, </a:t>
            </a:r>
            <a:r>
              <a:rPr lang="en-US" b="1" dirty="0"/>
              <a:t>every unit in the population has to have the same probability of being selected for the sample</a:t>
            </a:r>
            <a:r>
              <a:rPr lang="en-US" dirty="0"/>
              <a:t>.</a:t>
            </a:r>
          </a:p>
          <a:p>
            <a:endParaRPr lang="en-US" dirty="0"/>
          </a:p>
          <a:p>
            <a:endParaRPr lang="en-US" dirty="0"/>
          </a:p>
        </p:txBody>
      </p:sp>
      <p:sp>
        <p:nvSpPr>
          <p:cNvPr id="3" name="Title 2"/>
          <p:cNvSpPr>
            <a:spLocks noGrp="1"/>
          </p:cNvSpPr>
          <p:nvPr>
            <p:ph type="title"/>
          </p:nvPr>
        </p:nvSpPr>
        <p:spPr/>
        <p:txBody>
          <a:bodyPr/>
          <a:lstStyle/>
          <a:p>
            <a:r>
              <a:rPr lang="en-US" dirty="0"/>
              <a:t>1.2 – Collection of Data</a:t>
            </a:r>
          </a:p>
        </p:txBody>
      </p:sp>
    </p:spTree>
    <p:extLst>
      <p:ext uri="{BB962C8B-B14F-4D97-AF65-F5344CB8AC3E}">
        <p14:creationId xmlns:p14="http://schemas.microsoft.com/office/powerpoint/2010/main" val="1122176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Random sampling is often very difficult. But here’s the upside: random samples tend to produce samples that are representative. That is, if our sample is truly random, we can generalize the results from the sample to the population.</a:t>
            </a:r>
          </a:p>
          <a:p>
            <a:endParaRPr lang="en-US" dirty="0"/>
          </a:p>
          <a:p>
            <a:endParaRPr lang="en-US" dirty="0"/>
          </a:p>
          <a:p>
            <a:endParaRPr lang="en-US" dirty="0"/>
          </a:p>
        </p:txBody>
      </p:sp>
      <p:sp>
        <p:nvSpPr>
          <p:cNvPr id="3" name="Title 2"/>
          <p:cNvSpPr>
            <a:spLocks noGrp="1"/>
          </p:cNvSpPr>
          <p:nvPr>
            <p:ph type="title"/>
          </p:nvPr>
        </p:nvSpPr>
        <p:spPr/>
        <p:txBody>
          <a:bodyPr/>
          <a:lstStyle/>
          <a:p>
            <a:r>
              <a:rPr lang="en-US" dirty="0"/>
              <a:t>1.2 – Collection of Data</a:t>
            </a:r>
          </a:p>
        </p:txBody>
      </p:sp>
    </p:spTree>
    <p:extLst>
      <p:ext uri="{BB962C8B-B14F-4D97-AF65-F5344CB8AC3E}">
        <p14:creationId xmlns:p14="http://schemas.microsoft.com/office/powerpoint/2010/main" val="1273877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While entire classes can be taken on sampling methods, this is all we will mention for now. </a:t>
            </a:r>
          </a:p>
          <a:p>
            <a:endParaRPr lang="en-US" dirty="0"/>
          </a:p>
          <a:p>
            <a:r>
              <a:rPr lang="en-US" dirty="0"/>
              <a:t>Things for you to take away from this discussion:</a:t>
            </a:r>
          </a:p>
          <a:p>
            <a:pPr lvl="1"/>
            <a:r>
              <a:rPr lang="en-US" dirty="0"/>
              <a:t>Convenience sampling leads to bad samples</a:t>
            </a:r>
          </a:p>
          <a:p>
            <a:pPr lvl="1"/>
            <a:r>
              <a:rPr lang="en-US" dirty="0"/>
              <a:t>Definition of random sampling</a:t>
            </a:r>
          </a:p>
          <a:p>
            <a:pPr lvl="1"/>
            <a:r>
              <a:rPr lang="en-US" dirty="0"/>
              <a:t>Reason why random sampling is important: allows us to generalize sample results back to the population.</a:t>
            </a:r>
          </a:p>
          <a:p>
            <a:endParaRPr lang="en-US" dirty="0"/>
          </a:p>
          <a:p>
            <a:endParaRPr lang="en-US" dirty="0"/>
          </a:p>
          <a:p>
            <a:endParaRPr lang="en-US" dirty="0"/>
          </a:p>
        </p:txBody>
      </p:sp>
      <p:sp>
        <p:nvSpPr>
          <p:cNvPr id="3" name="Title 2"/>
          <p:cNvSpPr>
            <a:spLocks noGrp="1"/>
          </p:cNvSpPr>
          <p:nvPr>
            <p:ph type="title"/>
          </p:nvPr>
        </p:nvSpPr>
        <p:spPr/>
        <p:txBody>
          <a:bodyPr/>
          <a:lstStyle/>
          <a:p>
            <a:r>
              <a:rPr lang="en-US" dirty="0"/>
              <a:t>1.2 – Collection of Data</a:t>
            </a:r>
          </a:p>
        </p:txBody>
      </p:sp>
    </p:spTree>
    <p:extLst>
      <p:ext uri="{BB962C8B-B14F-4D97-AF65-F5344CB8AC3E}">
        <p14:creationId xmlns:p14="http://schemas.microsoft.com/office/powerpoint/2010/main" val="2678743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We now move into looking at ways to describe data. Two of the things we are most interested in when looking at data are (1) where the data are centered and (2) how spread out the data are.</a:t>
            </a:r>
          </a:p>
          <a:p>
            <a:endParaRPr lang="en-US" dirty="0"/>
          </a:p>
          <a:p>
            <a:r>
              <a:rPr lang="en-US" dirty="0"/>
              <a:t>We will next look at each of these two ideas and finish the chapter by exploring a few ways to visualize data.</a:t>
            </a:r>
          </a:p>
        </p:txBody>
      </p:sp>
      <p:sp>
        <p:nvSpPr>
          <p:cNvPr id="3" name="Title 2"/>
          <p:cNvSpPr>
            <a:spLocks noGrp="1"/>
          </p:cNvSpPr>
          <p:nvPr>
            <p:ph type="title"/>
          </p:nvPr>
        </p:nvSpPr>
        <p:spPr/>
        <p:txBody>
          <a:bodyPr/>
          <a:lstStyle/>
          <a:p>
            <a:r>
              <a:rPr lang="en-US" dirty="0"/>
              <a:t>Describing Data</a:t>
            </a:r>
          </a:p>
        </p:txBody>
      </p:sp>
    </p:spTree>
    <p:extLst>
      <p:ext uri="{BB962C8B-B14F-4D97-AF65-F5344CB8AC3E}">
        <p14:creationId xmlns:p14="http://schemas.microsoft.com/office/powerpoint/2010/main" val="3195938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In this section, we learn two basic measures of location/center.</a:t>
                </a:r>
              </a:p>
              <a:p>
                <a:endParaRPr lang="en-US" dirty="0"/>
              </a:p>
              <a:p>
                <a:r>
                  <a:rPr lang="en-US" dirty="0"/>
                  <a:t>The first measure of center is the </a:t>
                </a:r>
                <a:r>
                  <a:rPr lang="en-US" i="1" dirty="0"/>
                  <a:t>sample mean</a:t>
                </a:r>
                <a:r>
                  <a:rPr lang="en-US" dirty="0"/>
                  <a:t>. This is what is often called the average and is simply the arithmetic mean of the data.</a:t>
                </a:r>
              </a:p>
              <a:p>
                <a:endParaRPr lang="en-US" dirty="0"/>
              </a:p>
              <a:p>
                <a:r>
                  <a:rPr lang="en-US" dirty="0"/>
                  <a:t>We use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to denote the sample mean.</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213" r="-1556"/>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2584176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Suppose we have a sample size of </a:t>
                </a:r>
                <a14:m>
                  <m:oMath xmlns:m="http://schemas.openxmlformats.org/officeDocument/2006/math">
                    <m:r>
                      <a:rPr lang="en-US" b="0" i="1" smtClean="0">
                        <a:latin typeface="Cambria Math"/>
                      </a:rPr>
                      <m:t>𝑛</m:t>
                    </m:r>
                  </m:oMath>
                </a14:m>
                <a:r>
                  <a:rPr lang="en-US" dirty="0"/>
                  <a:t> (so </a:t>
                </a:r>
                <a14:m>
                  <m:oMath xmlns:m="http://schemas.openxmlformats.org/officeDocument/2006/math">
                    <m:r>
                      <a:rPr lang="en-US" b="0" i="1" smtClean="0">
                        <a:latin typeface="Cambria Math"/>
                      </a:rPr>
                      <m:t>𝑛</m:t>
                    </m:r>
                  </m:oMath>
                </a14:m>
                <a:r>
                  <a:rPr lang="en-US" dirty="0"/>
                  <a:t> total observations in our data set). We can denote these observations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oMath>
                </a14:m>
                <a:r>
                  <a:rPr lang="en-US" dirty="0"/>
                  <a:t>. </a:t>
                </a:r>
              </a:p>
              <a:p>
                <a:endParaRPr lang="en-US" dirty="0"/>
              </a:p>
              <a:p>
                <a:r>
                  <a:rPr lang="en-US" dirty="0"/>
                  <a:t>The sample mean is found by simply adding up all the observations and dividing by the sample size. That is:</a:t>
                </a:r>
              </a:p>
              <a:p>
                <a:pPr lvl="1"/>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 </m:t>
                    </m:r>
                    <m:nary>
                      <m:naryPr>
                        <m:chr m:val="∑"/>
                        <m:ctrlPr>
                          <a:rPr lang="en-US" b="0" i="1" dirty="0" smtClean="0">
                            <a:latin typeface="Cambria Math" panose="02040503050406030204" pitchFamily="18" charset="0"/>
                          </a:rPr>
                        </m:ctrlPr>
                      </m:naryPr>
                      <m:sub>
                        <m:r>
                          <m:rPr>
                            <m:brk m:alnAt="23"/>
                          </m:rPr>
                          <a:rPr lang="en-US" b="0" i="1" dirty="0" smtClean="0">
                            <a:latin typeface="Cambria Math"/>
                          </a:rPr>
                          <m:t>𝑖</m:t>
                        </m:r>
                        <m:r>
                          <a:rPr lang="en-US" b="0" i="1" dirty="0" smtClean="0">
                            <a:latin typeface="Cambria Math"/>
                          </a:rPr>
                          <m:t>=1</m:t>
                        </m:r>
                      </m:sub>
                      <m:sup>
                        <m:r>
                          <a:rPr lang="en-US" b="0" i="1" dirty="0" smtClean="0">
                            <a:latin typeface="Cambria Math"/>
                          </a:rPr>
                          <m:t>𝑛</m:t>
                        </m:r>
                      </m:sup>
                      <m:e>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𝑖</m:t>
                                </m:r>
                              </m:sub>
                            </m:sSub>
                          </m:num>
                          <m:den>
                            <m:r>
                              <a:rPr lang="en-US" b="0" i="1" dirty="0" smtClean="0">
                                <a:latin typeface="Cambria Math"/>
                              </a:rPr>
                              <m:t>𝑛</m:t>
                            </m:r>
                          </m:den>
                        </m:f>
                      </m:e>
                    </m:nary>
                    <m:r>
                      <a:rPr lang="en-US" b="0" i="1" dirty="0" smtClean="0">
                        <a:latin typeface="Cambria Math"/>
                      </a:rPr>
                      <m:t>=</m:t>
                    </m:r>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2</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𝑛</m:t>
                            </m:r>
                          </m:sub>
                        </m:sSub>
                      </m:num>
                      <m:den>
                        <m:r>
                          <a:rPr lang="en-US" b="0" i="1" dirty="0" smtClean="0">
                            <a:latin typeface="Cambria Math"/>
                          </a:rPr>
                          <m:t>𝑛</m:t>
                        </m:r>
                      </m:den>
                    </m:f>
                  </m:oMath>
                </a14:m>
                <a:r>
                  <a:rPr lang="en-US" dirty="0"/>
                  <a: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94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1910157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Suppose we have GPAs of 5 students: 4.0, 3.5, 3.61, 2.9, 3.87. Then we calculate the sample mean by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4+3.5+3.61+2.9+3.87</m:t>
                        </m:r>
                      </m:num>
                      <m:den>
                        <m:r>
                          <a:rPr lang="en-US" b="0" i="1" dirty="0" smtClean="0">
                            <a:latin typeface="Cambria Math"/>
                          </a:rPr>
                          <m:t>5</m:t>
                        </m:r>
                      </m:den>
                    </m:f>
                    <m:r>
                      <a:rPr lang="en-US" b="0" i="1" dirty="0" smtClean="0">
                        <a:latin typeface="Cambria Math"/>
                      </a:rPr>
                      <m:t>=3.576</m:t>
                    </m:r>
                  </m:oMath>
                </a14:m>
                <a:r>
                  <a:rPr lang="en-US" dirty="0"/>
                  <a:t>. That is, the average GPA for these 5 students is 3.576.</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213" r="-741"/>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3794652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sample mean is commonly used because (1) it is easy to work with and (2) is usually a good measure of center.</a:t>
            </a:r>
          </a:p>
          <a:p>
            <a:endParaRPr lang="en-US" dirty="0"/>
          </a:p>
          <a:p>
            <a:r>
              <a:rPr lang="en-US" dirty="0"/>
              <a:t>One situation where the sample mean is not a good measure of center is when outliers are present in the data (outliers are observations that do not fit the overall pattern of the data). In such a case, it is often preferable to use the </a:t>
            </a:r>
            <a:r>
              <a:rPr lang="en-US" i="1" dirty="0"/>
              <a:t>sample median</a:t>
            </a:r>
            <a:r>
              <a:rPr lang="en-US" dirty="0"/>
              <a:t> instead of the sample mean.</a:t>
            </a:r>
          </a:p>
        </p:txBody>
      </p:sp>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1404590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You can think of the sample median as the middle data value.</a:t>
                </a:r>
              </a:p>
              <a:p>
                <a:endParaRPr lang="en-US" dirty="0"/>
              </a:p>
              <a:p>
                <a:r>
                  <a:rPr lang="en-US" dirty="0"/>
                  <a:t>This time, assume our observations,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 </m:t>
                    </m:r>
                    <m:sSub>
                      <m:sSubPr>
                        <m:ctrlPr>
                          <a:rPr lang="en-US" i="1">
                            <a:latin typeface="Cambria Math" panose="02040503050406030204" pitchFamily="18" charset="0"/>
                          </a:rPr>
                        </m:ctrlPr>
                      </m:sSubPr>
                      <m:e>
                        <m:r>
                          <a:rPr lang="en-US" i="1">
                            <a:latin typeface="Cambria Math"/>
                          </a:rPr>
                          <m:t>𝑥</m:t>
                        </m:r>
                      </m:e>
                      <m:sub>
                        <m:r>
                          <a:rPr lang="en-US" i="1">
                            <a:latin typeface="Cambria Math"/>
                          </a:rPr>
                          <m:t>𝑛</m:t>
                        </m:r>
                      </m:sub>
                    </m:sSub>
                  </m:oMath>
                </a14:m>
                <a:r>
                  <a:rPr lang="en-US" dirty="0"/>
                  <a:t>, are in ascending order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oMath>
                </a14:m>
                <a:r>
                  <a:rPr lang="en-US" dirty="0"/>
                  <a:t> is the smallest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𝑛</m:t>
                        </m:r>
                      </m:sub>
                    </m:sSub>
                  </m:oMath>
                </a14:m>
                <a:r>
                  <a:rPr lang="en-US" dirty="0"/>
                  <a:t> is the largest). Denoting the sample median by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we have the following rule for finding the median:</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21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487199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smtClean="0">
                        <a:latin typeface="Cambria Math"/>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m:t>
                                </m:r>
                                <m:r>
                                  <a:rPr lang="en-US" b="0" i="1" smtClean="0">
                                    <a:latin typeface="Cambria Math"/>
                                  </a:rPr>
                                  <m:t>𝑛</m:t>
                                </m:r>
                                <m:r>
                                  <a:rPr lang="en-US" b="0" i="1" smtClean="0">
                                    <a:latin typeface="Cambria Math"/>
                                  </a:rPr>
                                  <m:t>+1)/2</m:t>
                                </m:r>
                              </m:sub>
                            </m:sSub>
                            <m:r>
                              <a:rPr lang="en-US" b="0" i="1" smtClean="0">
                                <a:latin typeface="Cambria Math"/>
                              </a:rPr>
                              <m:t>          , </m:t>
                            </m:r>
                            <m:r>
                              <a:rPr lang="en-US" b="0" i="1" smtClean="0">
                                <a:latin typeface="Cambria Math"/>
                              </a:rPr>
                              <m:t>𝑛</m:t>
                            </m:r>
                            <m:r>
                              <a:rPr lang="en-US" b="0" i="1" smtClean="0">
                                <a:latin typeface="Cambria Math"/>
                              </a:rPr>
                              <m:t> </m:t>
                            </m:r>
                            <m:r>
                              <m:rPr>
                                <m:sty m:val="p"/>
                              </m:rPr>
                              <a:rPr lang="en-US" b="0" i="0" smtClean="0">
                                <a:latin typeface="Cambria Math"/>
                              </a:rPr>
                              <m:t>odd</m:t>
                            </m:r>
                          </m:e>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𝑛</m:t>
                                    </m:r>
                                    <m:r>
                                      <a:rPr lang="en-US" b="0" i="1" smtClean="0">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b="0" i="1" smtClean="0">
                                        <a:latin typeface="Cambria Math"/>
                                      </a:rPr>
                                      <m:t>𝑛</m:t>
                                    </m:r>
                                    <m:r>
                                      <a:rPr lang="en-US" b="0" i="1" smtClean="0">
                                        <a:latin typeface="Cambria Math"/>
                                      </a:rPr>
                                      <m:t>/2+1</m:t>
                                    </m:r>
                                  </m:sub>
                                </m:sSub>
                              </m:e>
                            </m:d>
                            <m:r>
                              <a:rPr lang="en-US" b="0" i="1" smtClean="0">
                                <a:latin typeface="Cambria Math"/>
                              </a:rPr>
                              <m:t> , </m:t>
                            </m:r>
                            <m:r>
                              <a:rPr lang="en-US" b="0" i="1" smtClean="0">
                                <a:latin typeface="Cambria Math"/>
                              </a:rPr>
                              <m:t>𝑛</m:t>
                            </m:r>
                            <m:r>
                              <a:rPr lang="en-US" b="0" i="1" smtClean="0">
                                <a:latin typeface="Cambria Math"/>
                              </a:rPr>
                              <m:t> </m:t>
                            </m:r>
                            <m:r>
                              <m:rPr>
                                <m:sty m:val="p"/>
                              </m:rPr>
                              <a:rPr lang="en-US" b="0" i="0" smtClean="0">
                                <a:latin typeface="Cambria Math"/>
                              </a:rPr>
                              <m:t>even</m:t>
                            </m:r>
                          </m:e>
                        </m:eqArr>
                        <m:r>
                          <a:rPr lang="en-US" b="0" i="1" smtClean="0">
                            <a:latin typeface="Cambria Math"/>
                          </a:rPr>
                          <m:t>   </m:t>
                        </m:r>
                      </m:e>
                    </m:d>
                  </m:oMath>
                </a14:m>
                <a:endParaRPr lang="en-US" dirty="0"/>
              </a:p>
              <a:p>
                <a:endParaRPr lang="en-US" dirty="0"/>
              </a:p>
              <a:p>
                <a:r>
                  <a:rPr lang="en-US" dirty="0"/>
                  <a:t>The idea is that if there is a middle data point (when there are an odd number of observations), the middle one is the median. If there is not one middle data point, simply take the average of the two middle data points.</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r="-1778"/>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199234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r>
                  <a:rPr lang="en-US" dirty="0"/>
                  <a:t>GPA example again:</a:t>
                </a:r>
              </a:p>
              <a:p>
                <a:pPr lvl="1"/>
                <a:r>
                  <a:rPr lang="en-US" dirty="0"/>
                  <a:t>Odd sample size: After ordering them, we have 2.9, 3.5, 3.61, 3.87, 4.0. Since </a:t>
                </a:r>
                <a14:m>
                  <m:oMath xmlns:m="http://schemas.openxmlformats.org/officeDocument/2006/math">
                    <m:r>
                      <a:rPr lang="en-US" b="0" i="1" smtClean="0">
                        <a:latin typeface="Cambria Math"/>
                      </a:rPr>
                      <m:t>𝑛</m:t>
                    </m:r>
                    <m:r>
                      <a:rPr lang="en-US" b="0" i="1" smtClean="0">
                        <a:latin typeface="Cambria Math"/>
                      </a:rPr>
                      <m:t>=5</m:t>
                    </m:r>
                  </m:oMath>
                </a14:m>
                <a:r>
                  <a:rPr lang="en-US"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𝑛</m:t>
                        </m:r>
                        <m:r>
                          <a:rPr lang="en-US" b="0" i="1" smtClean="0">
                            <a:latin typeface="Cambria Math"/>
                          </a:rPr>
                          <m:t>+1</m:t>
                        </m:r>
                      </m:num>
                      <m:den>
                        <m:r>
                          <a:rPr lang="en-US" b="0" i="1" smtClean="0">
                            <a:latin typeface="Cambria Math"/>
                          </a:rPr>
                          <m:t>2</m:t>
                        </m:r>
                      </m:den>
                    </m:f>
                    <m:r>
                      <a:rPr lang="en-US" b="0" i="1" smtClean="0">
                        <a:latin typeface="Cambria Math"/>
                      </a:rPr>
                      <m:t>=3.</m:t>
                    </m:r>
                  </m:oMath>
                </a14:m>
                <a:r>
                  <a:rPr lang="en-US" dirty="0"/>
                  <a:t> 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3</m:t>
                        </m:r>
                      </m:sub>
                    </m:sSub>
                    <m:r>
                      <a:rPr lang="en-US" b="0" i="1" smtClean="0">
                        <a:latin typeface="Cambria Math"/>
                      </a:rPr>
                      <m:t>=3.61</m:t>
                    </m:r>
                  </m:oMath>
                </a14:m>
                <a:r>
                  <a:rPr lang="en-US" dirty="0"/>
                  <a:t> so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 3.61.</a:t>
                </a:r>
              </a:p>
              <a:p>
                <a:pPr lvl="1"/>
                <a:endParaRPr lang="en-US" dirty="0"/>
              </a:p>
              <a:p>
                <a:pPr lvl="1"/>
                <a:r>
                  <a:rPr lang="en-US" dirty="0"/>
                  <a:t>Even sample size: Suppose we have instead the following data: 2.9, 3.17, 3.5, 3.61, 3.87, 4.0. Here,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3.5+3.61</m:t>
                        </m:r>
                      </m:num>
                      <m:den>
                        <m:r>
                          <a:rPr lang="en-US" b="0" i="1" dirty="0" smtClean="0">
                            <a:latin typeface="Cambria Math"/>
                          </a:rPr>
                          <m:t>2</m:t>
                        </m:r>
                      </m:den>
                    </m:f>
                    <m:r>
                      <a:rPr lang="en-US" b="0" i="1" dirty="0" smtClean="0">
                        <a:latin typeface="Cambria Math"/>
                      </a:rPr>
                      <m:t>=3.555</m:t>
                    </m:r>
                    <m:r>
                      <a:rPr lang="en-US" b="0" i="0" dirty="0" smtClean="0">
                        <a:latin typeface="Cambria Math"/>
                      </a:rPr>
                      <m:t>.</m:t>
                    </m:r>
                  </m:oMath>
                </a14:m>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213" r="-1556"/>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31276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Exercise: Suppose that there are four people in a room with Warren Buffett. The following numbers are the net worth of each individual in the room:</a:t>
            </a:r>
          </a:p>
          <a:p>
            <a:pPr lvl="1"/>
            <a:r>
              <a:rPr lang="en-US" dirty="0"/>
              <a:t>98000, 139000, 115000, 77100000000</a:t>
            </a:r>
          </a:p>
          <a:p>
            <a:endParaRPr lang="en-US" dirty="0"/>
          </a:p>
          <a:p>
            <a:r>
              <a:rPr lang="en-US" dirty="0"/>
              <a:t>Calculate both the sample mean and the sample median for this data set. Which do you think provides a better measure of the center of the data?</a:t>
            </a:r>
          </a:p>
        </p:txBody>
      </p:sp>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2927730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r>
                  <a:rPr lang="en-US" dirty="0"/>
                  <a:t>For these data,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=19275088000</m:t>
                    </m:r>
                  </m:oMath>
                </a14:m>
                <a:r>
                  <a:rPr lang="en-US" dirty="0"/>
                  <a:t> or $19.3 billion. We also have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=127000</m:t>
                    </m:r>
                  </m:oMath>
                </a14:m>
                <a:r>
                  <a:rPr lang="en-US" dirty="0"/>
                  <a:t>.</a:t>
                </a:r>
              </a:p>
              <a:p>
                <a:endParaRPr lang="en-US" dirty="0"/>
              </a:p>
              <a:p>
                <a:r>
                  <a:rPr lang="en-US" dirty="0"/>
                  <a:t>If both of these are attempting to measure the center of the data, why are the numbers so drastically different?</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943"/>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1124776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The reason the two numbers are so different is because of the outlier. </a:t>
            </a:r>
          </a:p>
          <a:p>
            <a:endParaRPr lang="en-US" dirty="0"/>
          </a:p>
          <a:p>
            <a:r>
              <a:rPr lang="en-US" dirty="0"/>
              <a:t>While it may be difficult to answer, “Which is better?” for a case with only 4 people, suppose we are instead looking at the net worth of all Nebraskans. While the effect will be less dramatic, Warren Buffet’s net worth will still inflate the sample mean. In such a case, using the median will give a better idea of the “true center” of the distribution of Nebraskans’ net worth.</a:t>
            </a:r>
          </a:p>
        </p:txBody>
      </p:sp>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661078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When the mean and median for a data set are dramatically different from one another, this is an indication that there is a problem with outliers. On the other hand, the mean and median being roughly the same is often (though not always) an indication that we don’t have outliers.</a:t>
            </a:r>
          </a:p>
        </p:txBody>
      </p:sp>
      <p:sp>
        <p:nvSpPr>
          <p:cNvPr id="3" name="Title 2"/>
          <p:cNvSpPr>
            <a:spLocks noGrp="1"/>
          </p:cNvSpPr>
          <p:nvPr>
            <p:ph type="title"/>
          </p:nvPr>
        </p:nvSpPr>
        <p:spPr/>
        <p:txBody>
          <a:bodyPr/>
          <a:lstStyle/>
          <a:p>
            <a:r>
              <a:rPr lang="en-US" dirty="0"/>
              <a:t>1.3 – Measures of Location</a:t>
            </a:r>
          </a:p>
        </p:txBody>
      </p:sp>
    </p:spTree>
    <p:extLst>
      <p:ext uri="{BB962C8B-B14F-4D97-AF65-F5344CB8AC3E}">
        <p14:creationId xmlns:p14="http://schemas.microsoft.com/office/powerpoint/2010/main" val="1178950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Measures of location are usually considered incomplete without a corresponding measure of variability. The numerical measures of variability we are interested in are </a:t>
            </a:r>
            <a:r>
              <a:rPr lang="en-US" i="1" dirty="0"/>
              <a:t>variance</a:t>
            </a:r>
            <a:r>
              <a:rPr lang="en-US" dirty="0"/>
              <a:t> and </a:t>
            </a:r>
            <a:r>
              <a:rPr lang="en-US" i="1" dirty="0"/>
              <a:t>standard deviation</a:t>
            </a:r>
            <a:r>
              <a:rPr lang="en-US" dirty="0"/>
              <a:t>. </a:t>
            </a:r>
          </a:p>
          <a:p>
            <a:endParaRPr lang="en-US" dirty="0"/>
          </a:p>
          <a:p>
            <a:r>
              <a:rPr lang="en-US" dirty="0"/>
              <a:t>Both of these numbers provide a measure of how spread out the data are. The larger the number, the more spread out the observations are.</a:t>
            </a:r>
          </a:p>
        </p:txBody>
      </p:sp>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3029601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lnSpcReduction="10000"/>
              </a:bodyPr>
              <a:lstStyle/>
              <a:p>
                <a:r>
                  <a:rPr lang="en-US" dirty="0"/>
                  <a:t>Using the same notation as was used for the sample mean, the sample variance is given by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𝑛</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𝑖</m:t>
                                        </m:r>
                                      </m:sub>
                                    </m:sSub>
                                    <m:r>
                                      <a:rPr lang="en-US" b="0" i="1" smtClean="0">
                                        <a:latin typeface="Cambria Math"/>
                                      </a:rPr>
                                      <m:t>−</m:t>
                                    </m:r>
                                    <m:acc>
                                      <m:accPr>
                                        <m:chr m:val="̅"/>
                                        <m:ctrlPr>
                                          <a:rPr lang="en-US" b="0" i="1" smtClean="0">
                                            <a:latin typeface="Cambria Math" panose="02040503050406030204" pitchFamily="18" charset="0"/>
                                          </a:rPr>
                                        </m:ctrlPr>
                                      </m:accPr>
                                      <m:e>
                                        <m:r>
                                          <a:rPr lang="en-US" b="0" i="1" smtClean="0">
                                            <a:latin typeface="Cambria Math"/>
                                          </a:rPr>
                                          <m:t>𝑥</m:t>
                                        </m:r>
                                      </m:e>
                                    </m:acc>
                                  </m:e>
                                </m:d>
                              </m:e>
                              <m:sup>
                                <m:r>
                                  <a:rPr lang="en-US" b="0" i="1" smtClean="0">
                                    <a:latin typeface="Cambria Math"/>
                                  </a:rPr>
                                  <m:t>2</m:t>
                                </m:r>
                              </m:sup>
                            </m:sSup>
                          </m:num>
                          <m:den>
                            <m:r>
                              <a:rPr lang="en-US" b="0" i="1" smtClean="0">
                                <a:latin typeface="Cambria Math"/>
                              </a:rPr>
                              <m:t>𝑛</m:t>
                            </m:r>
                            <m:r>
                              <a:rPr lang="en-US" b="0" i="1" smtClean="0">
                                <a:latin typeface="Cambria Math"/>
                              </a:rPr>
                              <m:t>−1</m:t>
                            </m:r>
                          </m:den>
                        </m:f>
                      </m:e>
                    </m:nary>
                  </m:oMath>
                </a14:m>
                <a:r>
                  <a:rPr lang="en-US" dirty="0"/>
                  <a:t> and the sample standard deviation is simply </a:t>
                </a:r>
                <a14:m>
                  <m:oMath xmlns:m="http://schemas.openxmlformats.org/officeDocument/2006/math">
                    <m:r>
                      <a:rPr lang="en-US" b="0" i="1" smtClean="0">
                        <a:latin typeface="Cambria Math"/>
                      </a:rPr>
                      <m:t>𝑠</m:t>
                    </m:r>
                    <m:r>
                      <a:rPr lang="en-US" b="0" i="1" smtClean="0">
                        <a:latin typeface="Cambria Math"/>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e>
                    </m:rad>
                  </m:oMath>
                </a14:m>
                <a:r>
                  <a:rPr lang="en-US" dirty="0"/>
                  <a:t>.</a:t>
                </a:r>
              </a:p>
              <a:p>
                <a:endParaRPr lang="en-US" dirty="0"/>
              </a:p>
              <a:p>
                <a:r>
                  <a:rPr lang="en-US" dirty="0"/>
                  <a:t>There are several things to notice about this formula. First, we are calculating how far away each observation is from the sample mean. Second, notice that we square that distance. Third, we divide by </a:t>
                </a:r>
                <a14:m>
                  <m:oMath xmlns:m="http://schemas.openxmlformats.org/officeDocument/2006/math">
                    <m:r>
                      <a:rPr lang="en-US" b="0" i="1" smtClean="0">
                        <a:latin typeface="Cambria Math"/>
                      </a:rPr>
                      <m:t>𝑛</m:t>
                    </m:r>
                    <m:r>
                      <a:rPr lang="en-US" b="0" i="1" smtClean="0">
                        <a:latin typeface="Cambria Math"/>
                      </a:rPr>
                      <m:t>−1</m:t>
                    </m:r>
                  </m:oMath>
                </a14:m>
                <a:r>
                  <a:rPr lang="en-US" dirty="0"/>
                  <a:t> rather than </a:t>
                </a:r>
                <a14:m>
                  <m:oMath xmlns:m="http://schemas.openxmlformats.org/officeDocument/2006/math">
                    <m:r>
                      <a:rPr lang="en-US" b="0" i="1" smtClean="0">
                        <a:latin typeface="Cambria Math"/>
                      </a:rPr>
                      <m:t>𝑛</m:t>
                    </m:r>
                  </m:oMath>
                </a14:m>
                <a:r>
                  <a:rPr lang="en-US" dirty="0"/>
                  <a:t>. </a:t>
                </a: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887" r="-2074" b="-3908"/>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3567365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Why do we square the distance?</a:t>
            </a:r>
          </a:p>
        </p:txBody>
      </p:sp>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3106931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Since observations will be on both sides of the mean, we don’t want positive and negative distances to cancel each other out. So we square the distances.</a:t>
            </a:r>
          </a:p>
          <a:p>
            <a:endParaRPr lang="en-US" dirty="0"/>
          </a:p>
          <a:p>
            <a:r>
              <a:rPr lang="en-US" dirty="0"/>
              <a:t>To “repair the damage” done by squaring, we take the square root to calculate the standard deviation. One benefit of the standard deviation is that it is given in the same units as the mean and the observations themselves. This is not the case for variance.</a:t>
            </a:r>
          </a:p>
          <a:p>
            <a:endParaRPr lang="en-US" dirty="0"/>
          </a:p>
        </p:txBody>
      </p:sp>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1892839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r>
                  <a:rPr lang="en-US" dirty="0"/>
                  <a:t>There is a discussion in the book on page 15 about why </a:t>
                </a:r>
                <a14:m>
                  <m:oMath xmlns:m="http://schemas.openxmlformats.org/officeDocument/2006/math">
                    <m:r>
                      <a:rPr lang="en-US" b="0" i="1" smtClean="0">
                        <a:latin typeface="Cambria Math"/>
                      </a:rPr>
                      <m:t>𝑛</m:t>
                    </m:r>
                    <m:r>
                      <a:rPr lang="en-US" b="0" i="1" smtClean="0">
                        <a:latin typeface="Cambria Math"/>
                      </a:rPr>
                      <m:t>−1</m:t>
                    </m:r>
                  </m:oMath>
                </a14:m>
                <a:r>
                  <a:rPr lang="en-US" dirty="0"/>
                  <a:t> is used instead of </a:t>
                </a:r>
                <a14:m>
                  <m:oMath xmlns:m="http://schemas.openxmlformats.org/officeDocument/2006/math">
                    <m:r>
                      <a:rPr lang="en-US" b="0" i="1" smtClean="0">
                        <a:latin typeface="Cambria Math"/>
                      </a:rPr>
                      <m:t>𝑛</m:t>
                    </m:r>
                  </m:oMath>
                </a14:m>
                <a:r>
                  <a:rPr lang="en-US" dirty="0"/>
                  <a:t> as the denominator for the variance. I will let you take a look at that on your own if you are interested. The reason has to do with the fact that we first have to calculate a mean for a data set before we can calculate the standard deviation.</a:t>
                </a: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213" r="-1481"/>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1981671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A final measure of variability is the </a:t>
            </a:r>
            <a:r>
              <a:rPr lang="en-US" i="1" dirty="0"/>
              <a:t>range</a:t>
            </a:r>
            <a:r>
              <a:rPr lang="en-US" dirty="0"/>
              <a:t>. This is simply the largest data value minus the smallest data value. </a:t>
            </a:r>
          </a:p>
          <a:p>
            <a:endParaRPr lang="en-US" dirty="0"/>
          </a:p>
          <a:p>
            <a:r>
              <a:rPr lang="en-US" dirty="0"/>
              <a:t>The range is not used nearly as much as the variance or the standard deviation, but it will come up in a homework problem or two. </a:t>
            </a:r>
          </a:p>
          <a:p>
            <a:endParaRPr lang="en-US" dirty="0"/>
          </a:p>
        </p:txBody>
      </p:sp>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21226123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Exercise: The following data set is given on page 15 in the book:</a:t>
            </a:r>
          </a:p>
          <a:p>
            <a:pPr lvl="1"/>
            <a:r>
              <a:rPr lang="en-US" dirty="0"/>
              <a:t>7.07, 7.00, 7.10, 6.97, 7.00, 7.03, 7.01, 7.01, 6.98, 7.08.</a:t>
            </a:r>
          </a:p>
          <a:p>
            <a:r>
              <a:rPr lang="en-US" dirty="0"/>
              <a:t>Calculate the variance, standard deviation, and range for this data set (note that you will have to calculate the mean along the way).</a:t>
            </a:r>
          </a:p>
          <a:p>
            <a:pPr marL="109728" indent="0">
              <a:buNone/>
            </a:pPr>
            <a:endParaRPr lang="en-US" dirty="0"/>
          </a:p>
          <a:p>
            <a:pPr lvl="1"/>
            <a:endParaRPr lang="en-US" dirty="0"/>
          </a:p>
          <a:p>
            <a:endParaRPr lang="en-US" dirty="0"/>
          </a:p>
        </p:txBody>
      </p:sp>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421720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smtClean="0">
                        <a:latin typeface="Cambria Math"/>
                      </a:rPr>
                      <m:t>=7.025</m:t>
                    </m:r>
                  </m:oMath>
                </a14:m>
                <a:endParaRPr lang="en-US" b="0" dirty="0"/>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7.07−7.025</m:t>
                                </m:r>
                              </m:e>
                            </m:d>
                          </m:e>
                          <m:sup>
                            <m:r>
                              <a:rPr lang="en-US" b="0" i="1" smtClean="0">
                                <a:latin typeface="Cambria Math"/>
                              </a:rPr>
                              <m:t>2</m:t>
                            </m:r>
                          </m:sup>
                        </m:sSup>
                        <m:r>
                          <a:rPr lang="en-US" b="0" i="1" smtClean="0">
                            <a:latin typeface="Cambria Math"/>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7.00−7.025</m:t>
                                </m:r>
                              </m:e>
                            </m:d>
                          </m:e>
                          <m:sup>
                            <m:r>
                              <a:rPr lang="en-US" b="0" i="1" smtClean="0">
                                <a:latin typeface="Cambria Math"/>
                              </a:rPr>
                              <m:t>2</m:t>
                            </m:r>
                          </m:sup>
                        </m:sSup>
                        <m:r>
                          <a:rPr lang="en-US" b="0" i="1" smtClean="0">
                            <a:latin typeface="Cambria Math"/>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7.08−7.025</m:t>
                                </m:r>
                              </m:e>
                            </m:d>
                          </m:e>
                          <m:sup>
                            <m:r>
                              <a:rPr lang="en-US" b="0" i="1" smtClean="0">
                                <a:latin typeface="Cambria Math"/>
                              </a:rPr>
                              <m:t>2</m:t>
                            </m:r>
                          </m:sup>
                        </m:sSup>
                      </m:num>
                      <m:den>
                        <m:r>
                          <a:rPr lang="en-US" b="0" i="1" smtClean="0">
                            <a:latin typeface="Cambria Math"/>
                          </a:rPr>
                          <m:t>9</m:t>
                        </m:r>
                      </m:den>
                    </m:f>
                    <m:r>
                      <a:rPr lang="en-US" b="0" i="1" smtClean="0">
                        <a:latin typeface="Cambria Math"/>
                      </a:rPr>
                      <m:t>=0.001939</m:t>
                    </m:r>
                  </m:oMath>
                </a14:m>
                <a:endParaRPr lang="en-US" dirty="0"/>
              </a:p>
              <a:p>
                <a14:m>
                  <m:oMath xmlns:m="http://schemas.openxmlformats.org/officeDocument/2006/math">
                    <m:r>
                      <a:rPr lang="en-US" b="0" i="1" smtClean="0">
                        <a:latin typeface="Cambria Math"/>
                      </a:rPr>
                      <m:t>𝑠</m:t>
                    </m:r>
                    <m:r>
                      <a:rPr lang="en-US" b="0" i="1" smtClean="0">
                        <a:latin typeface="Cambria Math"/>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a:rPr>
                              <m:t>𝑠</m:t>
                            </m:r>
                          </m:e>
                          <m:sup>
                            <m:r>
                              <a:rPr lang="en-US" b="0" i="1" smtClean="0">
                                <a:latin typeface="Cambria Math"/>
                              </a:rPr>
                              <m:t>2</m:t>
                            </m:r>
                          </m:sup>
                        </m:sSup>
                      </m:e>
                    </m:rad>
                    <m:r>
                      <a:rPr lang="en-US" b="0" i="1" smtClean="0">
                        <a:latin typeface="Cambria Math"/>
                      </a:rPr>
                      <m:t>=0.044</m:t>
                    </m:r>
                  </m:oMath>
                </a14:m>
                <a:endParaRPr lang="en-US" dirty="0"/>
              </a:p>
              <a:p>
                <a14:m>
                  <m:oMath xmlns:m="http://schemas.openxmlformats.org/officeDocument/2006/math">
                    <m:r>
                      <a:rPr lang="en-US" b="0" i="1" smtClean="0">
                        <a:latin typeface="Cambria Math"/>
                      </a:rPr>
                      <m:t>𝑟</m:t>
                    </m:r>
                    <m:r>
                      <a:rPr lang="en-US" b="0" i="1" smtClean="0">
                        <a:latin typeface="Cambria Math"/>
                      </a:rPr>
                      <m:t>=7.10−6.97=0.13</m:t>
                    </m:r>
                  </m:oMath>
                </a14:m>
                <a:endParaRPr lang="en-US" dirty="0"/>
              </a:p>
              <a:p>
                <a:pPr lvl="1"/>
                <a:endParaRPr lang="en-US" dirty="0"/>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1.4 – Measures of Variability</a:t>
            </a:r>
          </a:p>
        </p:txBody>
      </p:sp>
    </p:spTree>
    <p:extLst>
      <p:ext uri="{BB962C8B-B14F-4D97-AF65-F5344CB8AC3E}">
        <p14:creationId xmlns:p14="http://schemas.microsoft.com/office/powerpoint/2010/main" val="1289392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Visualizations are often very useful in helping us understand and draw conclusions from data.</a:t>
            </a:r>
          </a:p>
          <a:p>
            <a:endParaRPr lang="en-US" dirty="0"/>
          </a:p>
          <a:p>
            <a:r>
              <a:rPr lang="en-US" dirty="0"/>
              <a:t>We will briefly cover three basic types of visualizations. You will be asked to make several of these in your homework.  </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1767110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first visualization is the </a:t>
            </a:r>
            <a:r>
              <a:rPr lang="en-US" i="1" dirty="0" err="1"/>
              <a:t>dotplot</a:t>
            </a:r>
            <a:r>
              <a:rPr lang="en-US" dirty="0"/>
              <a:t>. This is an extremely simple way to visualize data. All we do is simply plot the values on a number line (usually as dots, hence the name, but you can use whatever symbols you like).</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3557781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following data are braking distances in feet of 50 cars (measurements were taken in the 1920s):</a:t>
            </a:r>
          </a:p>
          <a:p>
            <a:pPr marL="109728" indent="0">
              <a:buNone/>
            </a:pPr>
            <a:r>
              <a:rPr lang="en-US" dirty="0"/>
              <a:t>2 10 4 22 16 10 18 26 34 17 28 14 20 24 28 26 34 34 46 26 36 60 80 20 26 54 32 40 32 40 50 42 56 76 84 36 46 68 32 48 52 56 64 66 54 70 92 93 120 85</a:t>
            </a:r>
          </a:p>
          <a:p>
            <a:pPr marL="109728" indent="0">
              <a:buNone/>
            </a:pPr>
            <a:endParaRPr lang="en-US" dirty="0"/>
          </a:p>
          <a:p>
            <a:r>
              <a:rPr lang="en-US" dirty="0"/>
              <a:t>While looking at the raw numbers may not tell us much, a </a:t>
            </a:r>
            <a:r>
              <a:rPr lang="en-US" dirty="0" err="1"/>
              <a:t>dotplot</a:t>
            </a:r>
            <a:r>
              <a:rPr lang="en-US" dirty="0"/>
              <a:t> helps us visualize a number  of things.</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7882174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1.6 – Basic Visualizations</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205346"/>
            <a:ext cx="4953000"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43352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Where do the data appear to be centered? </a:t>
            </a:r>
          </a:p>
          <a:p>
            <a:endParaRPr lang="en-US" dirty="0"/>
          </a:p>
          <a:p>
            <a:r>
              <a:rPr lang="en-US" dirty="0"/>
              <a:t>How spread out are they? Do you think they have a large or small variance?</a:t>
            </a:r>
          </a:p>
          <a:p>
            <a:endParaRPr lang="en-US" dirty="0"/>
          </a:p>
          <a:p>
            <a:r>
              <a:rPr lang="en-US" dirty="0"/>
              <a:t>We can also use </a:t>
            </a:r>
            <a:r>
              <a:rPr lang="en-US" dirty="0" err="1"/>
              <a:t>dotplots</a:t>
            </a:r>
            <a:r>
              <a:rPr lang="en-US" dirty="0"/>
              <a:t> to compare two or more data sets. If we use a different symbol for each data set, we have an easy way to compare them.</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2844732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1.6 – Basic Visualizations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066799"/>
            <a:ext cx="5105401" cy="5105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21562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Where does each data set appear to be centered? Which one has the smaller variability?</a:t>
            </a:r>
          </a:p>
          <a:p>
            <a:pPr marL="109728" indent="0">
              <a:buNone/>
            </a:pPr>
            <a:endParaRPr lang="en-US" dirty="0"/>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4178097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The next visualization is the histogram. The histogram shows how many observations fall into different intervals (much like a bar graph).</a:t>
            </a:r>
          </a:p>
          <a:p>
            <a:endParaRPr lang="en-US" dirty="0"/>
          </a:p>
          <a:p>
            <a:r>
              <a:rPr lang="en-US" dirty="0"/>
              <a:t>We will focus on a </a:t>
            </a:r>
            <a:r>
              <a:rPr lang="en-US" i="1" dirty="0"/>
              <a:t>relative frequency histogram</a:t>
            </a:r>
            <a:r>
              <a:rPr lang="en-US" dirty="0"/>
              <a:t>. The difference here is that we look at the percentage of data that falls in a given interval.</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4190613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We use the braking distance data again to come up with the relative frequency histogram on the following slide.</a:t>
            </a:r>
          </a:p>
          <a:p>
            <a:endParaRPr lang="en-US" dirty="0"/>
          </a:p>
          <a:p>
            <a:r>
              <a:rPr lang="en-US" dirty="0"/>
              <a:t>Note that the heights of the bars represent the percentage of data that falls in each interval.</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3577181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1.6 – Basic Visualizations</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36964"/>
            <a:ext cx="502920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40165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Once you have the intervals, you simply need to count the number of observations in each interval. These are the frequencies. Then divide each frequency by the sample size. These are the relative frequencies. You draw the histogram bars at the relative frequencies.</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19754361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An easy thing to do is make a table.</a:t>
            </a:r>
          </a:p>
          <a:p>
            <a:endParaRPr lang="en-US" dirty="0"/>
          </a:p>
          <a:p>
            <a:endParaRPr lang="en-US" dirty="0"/>
          </a:p>
          <a:p>
            <a:endParaRPr lang="en-US" dirty="0"/>
          </a:p>
          <a:p>
            <a:endParaRPr lang="en-US" dirty="0"/>
          </a:p>
          <a:p>
            <a:endParaRPr lang="en-US" dirty="0"/>
          </a:p>
          <a:p>
            <a:endParaRPr lang="en-US" dirty="0"/>
          </a:p>
          <a:p>
            <a:r>
              <a:rPr lang="en-US" dirty="0"/>
              <a:t>Then use the intervals and relative frequencies to make the histogram.</a:t>
            </a:r>
          </a:p>
          <a:p>
            <a:pPr marL="109728" indent="0">
              <a:buNone/>
            </a:pPr>
            <a:endParaRPr lang="en-US" dirty="0"/>
          </a:p>
        </p:txBody>
      </p:sp>
      <p:sp>
        <p:nvSpPr>
          <p:cNvPr id="3" name="Title 2"/>
          <p:cNvSpPr>
            <a:spLocks noGrp="1"/>
          </p:cNvSpPr>
          <p:nvPr>
            <p:ph type="title"/>
          </p:nvPr>
        </p:nvSpPr>
        <p:spPr/>
        <p:txBody>
          <a:bodyPr/>
          <a:lstStyle/>
          <a:p>
            <a:r>
              <a:rPr lang="en-US" dirty="0"/>
              <a:t>1.6 – Basic Visualizations</a:t>
            </a:r>
          </a:p>
        </p:txBody>
      </p:sp>
      <p:graphicFrame>
        <p:nvGraphicFramePr>
          <p:cNvPr id="4" name="Table 3"/>
          <p:cNvGraphicFramePr>
            <a:graphicFrameLocks noGrp="1"/>
          </p:cNvGraphicFramePr>
          <p:nvPr>
            <p:extLst>
              <p:ext uri="{D42A27DB-BD31-4B8C-83A1-F6EECF244321}">
                <p14:modId xmlns:p14="http://schemas.microsoft.com/office/powerpoint/2010/main" val="313643831"/>
              </p:ext>
            </p:extLst>
          </p:nvPr>
        </p:nvGraphicFramePr>
        <p:xfrm>
          <a:off x="1447800" y="2667000"/>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dirty="0"/>
                        <a:t>Interval</a:t>
                      </a:r>
                    </a:p>
                  </a:txBody>
                  <a:tcPr/>
                </a:tc>
                <a:tc>
                  <a:txBody>
                    <a:bodyPr/>
                    <a:lstStyle/>
                    <a:p>
                      <a:pPr algn="ctr"/>
                      <a:r>
                        <a:rPr lang="en-US" dirty="0"/>
                        <a:t>Frequency</a:t>
                      </a:r>
                    </a:p>
                  </a:txBody>
                  <a:tcPr/>
                </a:tc>
                <a:tc>
                  <a:txBody>
                    <a:bodyPr/>
                    <a:lstStyle/>
                    <a:p>
                      <a:pPr algn="ctr"/>
                      <a:r>
                        <a:rPr lang="en-US" dirty="0"/>
                        <a:t>Relative Freq.</a:t>
                      </a:r>
                    </a:p>
                  </a:txBody>
                  <a:tcPr/>
                </a:tc>
                <a:extLst>
                  <a:ext uri="{0D108BD9-81ED-4DB2-BD59-A6C34878D82A}">
                    <a16:rowId xmlns:a16="http://schemas.microsoft.com/office/drawing/2014/main" val="10000"/>
                  </a:ext>
                </a:extLst>
              </a:tr>
              <a:tr h="370840">
                <a:tc>
                  <a:txBody>
                    <a:bodyPr/>
                    <a:lstStyle/>
                    <a:p>
                      <a:pPr algn="ctr"/>
                      <a:r>
                        <a:rPr lang="en-US" dirty="0"/>
                        <a:t>1.75-2.24</a:t>
                      </a:r>
                    </a:p>
                  </a:txBody>
                  <a:tcPr/>
                </a:tc>
                <a:tc>
                  <a:txBody>
                    <a:bodyPr/>
                    <a:lstStyle/>
                    <a:p>
                      <a:pPr algn="ctr"/>
                      <a:r>
                        <a:rPr lang="en-US" dirty="0"/>
                        <a:t>4</a:t>
                      </a:r>
                    </a:p>
                  </a:txBody>
                  <a:tcPr/>
                </a:tc>
                <a:tc>
                  <a:txBody>
                    <a:bodyPr/>
                    <a:lstStyle/>
                    <a:p>
                      <a:pPr algn="ctr"/>
                      <a:r>
                        <a:rPr lang="en-US" dirty="0"/>
                        <a:t>4/30=0.1333</a:t>
                      </a:r>
                    </a:p>
                  </a:txBody>
                  <a:tcPr/>
                </a:tc>
                <a:extLst>
                  <a:ext uri="{0D108BD9-81ED-4DB2-BD59-A6C34878D82A}">
                    <a16:rowId xmlns:a16="http://schemas.microsoft.com/office/drawing/2014/main" val="10001"/>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2"/>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3"/>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179269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Finally, we look at the scatterplot. The scatterplot is similar to the dot plot. The difference is that each axis has a variable. This is useful for looking at how two variables are related to each other.</a:t>
            </a:r>
          </a:p>
          <a:p>
            <a:endParaRPr lang="en-US" dirty="0"/>
          </a:p>
          <a:p>
            <a:r>
              <a:rPr lang="en-US" dirty="0"/>
              <a:t>The following slide contains a scatterplot where braking distance is plotted on the y-axis and speed is plotted on the x-axis.</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36655003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1.6 – Basic Visualizations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143000"/>
            <a:ext cx="4938713" cy="493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32318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From the scatterplot, it looks like the variables have a positive relationship. That is, as speed increases, so does braking distance. Furthermore, the relationship appears to be linear with a moderate amount of variability (based on how spread out the points are around a line going through the “middle” of the points).</a:t>
            </a:r>
          </a:p>
        </p:txBody>
      </p:sp>
      <p:sp>
        <p:nvSpPr>
          <p:cNvPr id="3" name="Title 2"/>
          <p:cNvSpPr>
            <a:spLocks noGrp="1"/>
          </p:cNvSpPr>
          <p:nvPr>
            <p:ph type="title"/>
          </p:nvPr>
        </p:nvSpPr>
        <p:spPr/>
        <p:txBody>
          <a:bodyPr/>
          <a:lstStyle/>
          <a:p>
            <a:r>
              <a:rPr lang="en-US" dirty="0"/>
              <a:t>1.6 – Basic Visualizations</a:t>
            </a:r>
          </a:p>
        </p:txBody>
      </p:sp>
    </p:spTree>
    <p:extLst>
      <p:ext uri="{BB962C8B-B14F-4D97-AF65-F5344CB8AC3E}">
        <p14:creationId xmlns:p14="http://schemas.microsoft.com/office/powerpoint/2010/main" val="28132310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530</TotalTime>
  <Words>2829</Words>
  <Application>Microsoft Office PowerPoint</Application>
  <PresentationFormat>On-screen Show (4:3)</PresentationFormat>
  <Paragraphs>230</Paragraphs>
  <Slides>55</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55</vt:i4>
      </vt:variant>
    </vt:vector>
  </HeadingPairs>
  <TitlesOfParts>
    <vt:vector size="64" baseType="lpstr">
      <vt:lpstr>Arial</vt:lpstr>
      <vt:lpstr>Calibri</vt:lpstr>
      <vt:lpstr>Cambria Math</vt:lpstr>
      <vt:lpstr>Lucida Sans Unicode</vt:lpstr>
      <vt:lpstr>Verdana</vt:lpstr>
      <vt:lpstr>Wingdings 2</vt:lpstr>
      <vt:lpstr>Wingdings 3</vt:lpstr>
      <vt:lpstr>Concourse</vt:lpstr>
      <vt:lpstr>Office Theme</vt:lpstr>
      <vt:lpstr>Chapter 1</vt:lpstr>
      <vt:lpstr>1.1 – Overview of Statistics</vt:lpstr>
      <vt:lpstr>1.1 – Overview of Statistics</vt:lpstr>
      <vt:lpstr>1.1 – Overview of Statistics</vt:lpstr>
      <vt:lpstr>1.1 – Overview of Statistics</vt:lpstr>
      <vt:lpstr>1.1 – Overview of Statistics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 – Overview of Statistics</vt:lpstr>
      <vt:lpstr>1.2 – Collection of Data</vt:lpstr>
      <vt:lpstr>1.2 – Collection of Data</vt:lpstr>
      <vt:lpstr>1.2 – Collection of Data</vt:lpstr>
      <vt:lpstr>1.2 – Collection of Data</vt:lpstr>
      <vt:lpstr>1.2 – Collection of Data</vt:lpstr>
      <vt:lpstr>1.2 – Collection of Data</vt:lpstr>
      <vt:lpstr>Describing Data</vt:lpstr>
      <vt:lpstr>1.3 – Measures of Location</vt:lpstr>
      <vt:lpstr>1.3 – Measures of Location</vt:lpstr>
      <vt:lpstr>1.3 – Measures of Location</vt:lpstr>
      <vt:lpstr>1.3 – Measures of Location</vt:lpstr>
      <vt:lpstr>1.3 – Measures of Location</vt:lpstr>
      <vt:lpstr>1.3 – Measures of Location</vt:lpstr>
      <vt:lpstr>1.3 – Measures of Location</vt:lpstr>
      <vt:lpstr>1.3 – Measures of Location</vt:lpstr>
      <vt:lpstr>1.3 – Measures of Location</vt:lpstr>
      <vt:lpstr>1.3 – Measures of Location</vt:lpstr>
      <vt:lpstr>1.3 – Measures of Location</vt:lpstr>
      <vt:lpstr>1.4 – Measures of Variability</vt:lpstr>
      <vt:lpstr>1.4 – Measures of Variability</vt:lpstr>
      <vt:lpstr>1.4 – Measures of Variability</vt:lpstr>
      <vt:lpstr>1.4 – Measures of Variability</vt:lpstr>
      <vt:lpstr>1.4 – Measures of Variability</vt:lpstr>
      <vt:lpstr>1.4 – Measures of Variability</vt:lpstr>
      <vt:lpstr>1.4 – Measures of Variability</vt:lpstr>
      <vt:lpstr>1.4 – Measures of Variability</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lpstr>1.6 – Basic Visualizations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Jason Adams</dc:creator>
  <cp:lastModifiedBy>Lizzie Reida</cp:lastModifiedBy>
  <cp:revision>37</cp:revision>
  <dcterms:created xsi:type="dcterms:W3CDTF">2017-07-05T18:28:28Z</dcterms:created>
  <dcterms:modified xsi:type="dcterms:W3CDTF">2021-01-14T17:04:23Z</dcterms:modified>
</cp:coreProperties>
</file>
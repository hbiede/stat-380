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notesMasterIdLst>
    <p:notesMasterId r:id="rId63"/>
  </p:notes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 id="269" r:id="rId14"/>
    <p:sldId id="271" r:id="rId15"/>
    <p:sldId id="272" r:id="rId16"/>
    <p:sldId id="273" r:id="rId17"/>
    <p:sldId id="274" r:id="rId18"/>
    <p:sldId id="275" r:id="rId19"/>
    <p:sldId id="276" r:id="rId20"/>
    <p:sldId id="277" r:id="rId21"/>
    <p:sldId id="278" r:id="rId22"/>
    <p:sldId id="303" r:id="rId23"/>
    <p:sldId id="279" r:id="rId24"/>
    <p:sldId id="280" r:id="rId25"/>
    <p:sldId id="304" r:id="rId26"/>
    <p:sldId id="305" r:id="rId27"/>
    <p:sldId id="281" r:id="rId28"/>
    <p:sldId id="282" r:id="rId29"/>
    <p:sldId id="283" r:id="rId30"/>
    <p:sldId id="284" r:id="rId31"/>
    <p:sldId id="285" r:id="rId32"/>
    <p:sldId id="286" r:id="rId33"/>
    <p:sldId id="287" r:id="rId34"/>
    <p:sldId id="288" r:id="rId35"/>
    <p:sldId id="289" r:id="rId36"/>
    <p:sldId id="291" r:id="rId37"/>
    <p:sldId id="292" r:id="rId38"/>
    <p:sldId id="293" r:id="rId39"/>
    <p:sldId id="312" r:id="rId40"/>
    <p:sldId id="295" r:id="rId41"/>
    <p:sldId id="294" r:id="rId42"/>
    <p:sldId id="296" r:id="rId43"/>
    <p:sldId id="297" r:id="rId44"/>
    <p:sldId id="298" r:id="rId45"/>
    <p:sldId id="314" r:id="rId46"/>
    <p:sldId id="315" r:id="rId47"/>
    <p:sldId id="299" r:id="rId48"/>
    <p:sldId id="301" r:id="rId49"/>
    <p:sldId id="302" r:id="rId50"/>
    <p:sldId id="290" r:id="rId51"/>
    <p:sldId id="306" r:id="rId52"/>
    <p:sldId id="307" r:id="rId53"/>
    <p:sldId id="308" r:id="rId54"/>
    <p:sldId id="309" r:id="rId55"/>
    <p:sldId id="310" r:id="rId56"/>
    <p:sldId id="320" r:id="rId57"/>
    <p:sldId id="316" r:id="rId58"/>
    <p:sldId id="317" r:id="rId59"/>
    <p:sldId id="318" r:id="rId60"/>
    <p:sldId id="319" r:id="rId61"/>
    <p:sldId id="322" r:id="rId6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108" y="66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8D5106C-B5D5-440D-A7D8-6AC443119DDC}" type="datetimeFigureOut">
              <a:rPr lang="en-US" smtClean="0"/>
              <a:t>4/9/2021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A10B6A1-5703-4251-9AE2-376F22065E3C}" type="slidenum">
              <a:rPr lang="en-US" smtClean="0"/>
              <a:t>‹#›</a:t>
            </a:fld>
            <a:endParaRPr lang="en-US"/>
          </a:p>
        </p:txBody>
      </p:sp>
    </p:spTree>
    <p:extLst>
      <p:ext uri="{BB962C8B-B14F-4D97-AF65-F5344CB8AC3E}">
        <p14:creationId xmlns:p14="http://schemas.microsoft.com/office/powerpoint/2010/main" val="35312439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A5871190-6EF0-4218-A1A2-E7B4D7D8523F}" type="datetimeFigureOut">
              <a:rPr lang="en-US" smtClean="0"/>
              <a:t>4/9/2021</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3620C1E7-C0F7-4F4B-8314-C98DCF8B01FC}" type="slidenum">
              <a:rPr lang="en-US" smtClean="0"/>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5871190-6EF0-4218-A1A2-E7B4D7D8523F}" type="datetimeFigureOut">
              <a:rPr lang="en-US" smtClean="0"/>
              <a:t>4/9/2021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620C1E7-C0F7-4F4B-8314-C98DCF8B01FC}"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A5871190-6EF0-4218-A1A2-E7B4D7D8523F}" type="datetimeFigureOut">
              <a:rPr lang="en-US" smtClean="0"/>
              <a:t>4/9/2021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620C1E7-C0F7-4F4B-8314-C98DCF8B01FC}" type="slidenum">
              <a:rPr lang="en-US" smtClean="0"/>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A5871190-6EF0-4218-A1A2-E7B4D7D8523F}" type="datetimeFigureOut">
              <a:rPr lang="en-US" smtClean="0"/>
              <a:t>4/9/2021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620C1E7-C0F7-4F4B-8314-C98DCF8B01FC}"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A5871190-6EF0-4218-A1A2-E7B4D7D8523F}" type="datetimeFigureOut">
              <a:rPr lang="en-US" smtClean="0"/>
              <a:t>4/9/2021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620C1E7-C0F7-4F4B-8314-C98DCF8B01FC}" type="slidenum">
              <a:rPr lang="en-US" smtClean="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A5871190-6EF0-4218-A1A2-E7B4D7D8523F}" type="datetimeFigureOut">
              <a:rPr lang="en-US" smtClean="0"/>
              <a:t>4/9/2021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620C1E7-C0F7-4F4B-8314-C98DCF8B01FC}"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871190-6EF0-4218-A1A2-E7B4D7D8523F}" type="datetimeFigureOut">
              <a:rPr lang="en-US" smtClean="0"/>
              <a:t>4/9/2021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620C1E7-C0F7-4F4B-8314-C98DCF8B01FC}"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A5871190-6EF0-4218-A1A2-E7B4D7D8523F}" type="datetimeFigureOut">
              <a:rPr lang="en-US" smtClean="0"/>
              <a:t>4/9/2021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620C1E7-C0F7-4F4B-8314-C98DCF8B01FC}"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A5871190-6EF0-4218-A1A2-E7B4D7D8523F}" type="datetimeFigureOut">
              <a:rPr lang="en-US" smtClean="0"/>
              <a:t>4/9/2021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077200" y="6356350"/>
            <a:ext cx="609600" cy="365125"/>
          </a:xfrm>
        </p:spPr>
        <p:txBody>
          <a:bodyPr/>
          <a:lstStyle/>
          <a:p>
            <a:fld id="{3620C1E7-C0F7-4F4B-8314-C98DCF8B01FC}" type="slidenum">
              <a:rPr lang="en-US" smtClean="0"/>
              <a:t>‹#›</a:t>
            </a:fld>
            <a:endParaRPr lang="en-US" dirty="0"/>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dirty="0"/>
              <a:t>Click icon to add picture</a:t>
            </a:r>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5871190-6EF0-4218-A1A2-E7B4D7D8523F}" type="datetimeFigureOut">
              <a:rPr lang="en-US" smtClean="0"/>
              <a:t>4/9/2021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620C1E7-C0F7-4F4B-8314-C98DCF8B01FC}"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5871190-6EF0-4218-A1A2-E7B4D7D8523F}" type="datetimeFigureOut">
              <a:rPr lang="en-US" smtClean="0"/>
              <a:t>4/9/2021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620C1E7-C0F7-4F4B-8314-C98DCF8B01FC}"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A5871190-6EF0-4218-A1A2-E7B4D7D8523F}" type="datetimeFigureOut">
              <a:rPr lang="en-US" smtClean="0"/>
              <a:t>4/9/2021</a:t>
            </a:fld>
            <a:endParaRPr lang="en-US" dirty="0"/>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dirty="0"/>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3620C1E7-C0F7-4F4B-8314-C98DCF8B01FC}" type="slidenum">
              <a:rPr lang="en-US" smtClean="0"/>
              <a:t>‹#›</a:t>
            </a:fld>
            <a:endParaRPr lang="en-US" dirty="0"/>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grpSp>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1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2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4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Hypothesis Testing</a:t>
            </a:r>
          </a:p>
        </p:txBody>
      </p:sp>
      <p:sp>
        <p:nvSpPr>
          <p:cNvPr id="3" name="Subtitle 2"/>
          <p:cNvSpPr>
            <a:spLocks noGrp="1"/>
          </p:cNvSpPr>
          <p:nvPr>
            <p:ph type="subTitle" idx="1"/>
          </p:nvPr>
        </p:nvSpPr>
        <p:spPr/>
        <p:txBody>
          <a:bodyPr/>
          <a:lstStyle/>
          <a:p>
            <a:r>
              <a:rPr lang="en-US" dirty="0"/>
              <a:t>Chapter 10</a:t>
            </a:r>
          </a:p>
        </p:txBody>
      </p:sp>
    </p:spTree>
    <p:extLst>
      <p:ext uri="{BB962C8B-B14F-4D97-AF65-F5344CB8AC3E}">
        <p14:creationId xmlns:p14="http://schemas.microsoft.com/office/powerpoint/2010/main" val="19717028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Statistical Inference</a:t>
            </a:r>
          </a:p>
        </p:txBody>
      </p:sp>
      <p:sp>
        <p:nvSpPr>
          <p:cNvPr id="3" name="Content Placeholder 2"/>
          <p:cNvSpPr>
            <a:spLocks noGrp="1"/>
          </p:cNvSpPr>
          <p:nvPr>
            <p:ph idx="1"/>
          </p:nvPr>
        </p:nvSpPr>
        <p:spPr/>
        <p:txBody>
          <a:bodyPr>
            <a:normAutofit/>
          </a:bodyPr>
          <a:lstStyle/>
          <a:p>
            <a:r>
              <a:rPr lang="en-US" dirty="0"/>
              <a:t>When talking about inference, we have two main tools: confidence intervals and hypothesis testing. Chapter 9 covers confidence intervals and chapter 10 covers hypothesis testing.</a:t>
            </a:r>
          </a:p>
          <a:p>
            <a:endParaRPr lang="en-US" dirty="0"/>
          </a:p>
          <a:p>
            <a:r>
              <a:rPr lang="en-US" dirty="0"/>
              <a:t>In my mind, it makes more sense to start with hypothesis testing. That is by no means objectively true, but I think confidence intervals make more sense if we understand a little about hypothesis testing first. </a:t>
            </a:r>
          </a:p>
        </p:txBody>
      </p:sp>
    </p:spTree>
    <p:extLst>
      <p:ext uri="{BB962C8B-B14F-4D97-AF65-F5344CB8AC3E}">
        <p14:creationId xmlns:p14="http://schemas.microsoft.com/office/powerpoint/2010/main" val="17833367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Chapter 10</a:t>
            </a:r>
          </a:p>
        </p:txBody>
      </p:sp>
      <p:sp>
        <p:nvSpPr>
          <p:cNvPr id="3" name="Content Placeholder 2"/>
          <p:cNvSpPr>
            <a:spLocks noGrp="1"/>
          </p:cNvSpPr>
          <p:nvPr>
            <p:ph idx="1"/>
          </p:nvPr>
        </p:nvSpPr>
        <p:spPr/>
        <p:txBody>
          <a:bodyPr/>
          <a:lstStyle/>
          <a:p>
            <a:r>
              <a:rPr lang="en-US" dirty="0"/>
              <a:t>We begin chapter 10 by talking about some general ideas related to hypothesis testing. 10.2 and 10.3 lay out the steps of a hypothesis test as well as some general issues we need to be concerned with. Then we get into specific tests. 10.4 covers tests for a single mean while 10.5 covers tests for comparing two means.</a:t>
            </a:r>
          </a:p>
        </p:txBody>
      </p:sp>
    </p:spTree>
    <p:extLst>
      <p:ext uri="{BB962C8B-B14F-4D97-AF65-F5344CB8AC3E}">
        <p14:creationId xmlns:p14="http://schemas.microsoft.com/office/powerpoint/2010/main" val="3008202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10.1 – General Hypothesis Testing Concepts</a:t>
            </a:r>
          </a:p>
        </p:txBody>
      </p:sp>
      <p:sp>
        <p:nvSpPr>
          <p:cNvPr id="3" name="Content Placeholder 2"/>
          <p:cNvSpPr>
            <a:spLocks noGrp="1"/>
          </p:cNvSpPr>
          <p:nvPr>
            <p:ph idx="1"/>
          </p:nvPr>
        </p:nvSpPr>
        <p:spPr/>
        <p:txBody>
          <a:bodyPr/>
          <a:lstStyle/>
          <a:p>
            <a:r>
              <a:rPr lang="en-US" dirty="0"/>
              <a:t>We have already encountered several examples of (somewhat informal) hypothesis testing. Recall the examples in chapter 8 where we used probabilities from sampling distributions to test claims regarding population parameters. Those were essentially hypothesis tests.</a:t>
            </a:r>
          </a:p>
          <a:p>
            <a:endParaRPr lang="en-US" dirty="0"/>
          </a:p>
          <a:p>
            <a:r>
              <a:rPr lang="en-US" dirty="0"/>
              <a:t>While we will formalize hypothesis testing a little bit more than what we saw there, the underlying idea is exactly the same.</a:t>
            </a:r>
          </a:p>
        </p:txBody>
      </p:sp>
    </p:spTree>
    <p:extLst>
      <p:ext uri="{BB962C8B-B14F-4D97-AF65-F5344CB8AC3E}">
        <p14:creationId xmlns:p14="http://schemas.microsoft.com/office/powerpoint/2010/main" val="10070413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10.1 – General Hypothesis Testing Concepts</a:t>
            </a:r>
          </a:p>
        </p:txBody>
      </p:sp>
      <p:sp>
        <p:nvSpPr>
          <p:cNvPr id="3" name="Content Placeholder 2"/>
          <p:cNvSpPr>
            <a:spLocks noGrp="1"/>
          </p:cNvSpPr>
          <p:nvPr>
            <p:ph idx="1"/>
          </p:nvPr>
        </p:nvSpPr>
        <p:spPr/>
        <p:txBody>
          <a:bodyPr>
            <a:normAutofit fontScale="92500" lnSpcReduction="20000"/>
          </a:bodyPr>
          <a:lstStyle/>
          <a:p>
            <a:r>
              <a:rPr lang="en-US" dirty="0"/>
              <a:t>When we say </a:t>
            </a:r>
            <a:r>
              <a:rPr lang="en-US" i="1" dirty="0"/>
              <a:t>hypothesis</a:t>
            </a:r>
            <a:r>
              <a:rPr lang="en-US" dirty="0"/>
              <a:t> in statistics, we are talking about an assertion or conjecture concerning one or more populations. In particular, our assertions or conjectures relate to the </a:t>
            </a:r>
            <a:r>
              <a:rPr lang="en-US" i="1" dirty="0"/>
              <a:t>parameters of the population(s)</a:t>
            </a:r>
            <a:r>
              <a:rPr lang="en-US" dirty="0"/>
              <a:t>.  </a:t>
            </a:r>
          </a:p>
          <a:p>
            <a:endParaRPr lang="en-US" dirty="0"/>
          </a:p>
          <a:p>
            <a:r>
              <a:rPr lang="en-US" dirty="0"/>
              <a:t>These hypotheses must have a yes or no answer – they must be either objectively true or false. Recall for one example we did that the conjecture was that the mean of a distribution was 500. Either this is true or false, there can be no grey area regarding this hypothesis.</a:t>
            </a:r>
          </a:p>
          <a:p>
            <a:pPr lvl="1"/>
            <a:r>
              <a:rPr lang="en-US" dirty="0"/>
              <a:t>Just because the assertion/conjecture must be objectively true or false, we may not always be able to know, even with good data, whether it is true or false. We will talk about some issues related to this idea in 10.2.</a:t>
            </a:r>
          </a:p>
        </p:txBody>
      </p:sp>
    </p:spTree>
    <p:extLst>
      <p:ext uri="{BB962C8B-B14F-4D97-AF65-F5344CB8AC3E}">
        <p14:creationId xmlns:p14="http://schemas.microsoft.com/office/powerpoint/2010/main" val="23857093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10.1 – General Hypothesis Testing Concepts</a:t>
            </a:r>
          </a:p>
        </p:txBody>
      </p:sp>
      <p:sp>
        <p:nvSpPr>
          <p:cNvPr id="3" name="Content Placeholder 2"/>
          <p:cNvSpPr>
            <a:spLocks noGrp="1"/>
          </p:cNvSpPr>
          <p:nvPr>
            <p:ph idx="1"/>
          </p:nvPr>
        </p:nvSpPr>
        <p:spPr/>
        <p:txBody>
          <a:bodyPr>
            <a:normAutofit/>
          </a:bodyPr>
          <a:lstStyle/>
          <a:p>
            <a:r>
              <a:rPr lang="en-US" dirty="0"/>
              <a:t>In hypothesis testing, we always have two competing (contradictory) hypotheses – the null hypothesis and the alternative hypothesis. </a:t>
            </a:r>
          </a:p>
          <a:p>
            <a:endParaRPr lang="en-US" dirty="0"/>
          </a:p>
          <a:p>
            <a:r>
              <a:rPr lang="en-US" dirty="0"/>
              <a:t>Usually, the alternative hypothesis represents the question to be answered or the theory to be tested. The null hypothesis nullifies or opposes the alternative hypothesis – it is the logical complement to the alternative hypothesis.</a:t>
            </a:r>
          </a:p>
        </p:txBody>
      </p:sp>
    </p:spTree>
    <p:extLst>
      <p:ext uri="{BB962C8B-B14F-4D97-AF65-F5344CB8AC3E}">
        <p14:creationId xmlns:p14="http://schemas.microsoft.com/office/powerpoint/2010/main" val="5449605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10.1 – General Hypothesis Testing Concepts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dirty="0"/>
                  <a:t>Symbolically, we use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0</m:t>
                        </m:r>
                      </m:sub>
                    </m:sSub>
                  </m:oMath>
                </a14:m>
                <a:r>
                  <a:rPr lang="en-US" dirty="0"/>
                  <a:t> to represent the null hypothesis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1</m:t>
                        </m:r>
                      </m:sub>
                    </m:sSub>
                  </m:oMath>
                </a14:m>
                <a:r>
                  <a:rPr lang="en-US" dirty="0"/>
                  <a:t> to represent the alternative hypothesis. </a:t>
                </a:r>
              </a:p>
              <a:p>
                <a:endParaRPr lang="en-US" dirty="0"/>
              </a:p>
              <a:p>
                <a:r>
                  <a:rPr lang="en-US" dirty="0"/>
                  <a:t>Example: Suppose </a:t>
                </a:r>
                <a14:m>
                  <m:oMath xmlns:m="http://schemas.openxmlformats.org/officeDocument/2006/math">
                    <m:r>
                      <a:rPr lang="en-US" b="0" i="1" smtClean="0">
                        <a:latin typeface="Cambria Math"/>
                      </a:rPr>
                      <m:t>𝑝</m:t>
                    </m:r>
                  </m:oMath>
                </a14:m>
                <a:r>
                  <a:rPr lang="en-US" dirty="0"/>
                  <a:t> is the probability that a certain drug helps to relieve headaches. From historical data, the drug company claims that </a:t>
                </a:r>
                <a14:m>
                  <m:oMath xmlns:m="http://schemas.openxmlformats.org/officeDocument/2006/math">
                    <m:r>
                      <a:rPr lang="en-US" b="0" i="1" smtClean="0">
                        <a:latin typeface="Cambria Math"/>
                      </a:rPr>
                      <m:t>𝑝</m:t>
                    </m:r>
                    <m:r>
                      <a:rPr lang="en-US" b="0" i="1" smtClean="0">
                        <a:latin typeface="Cambria Math"/>
                      </a:rPr>
                      <m:t>=0.90</m:t>
                    </m:r>
                  </m:oMath>
                </a14:m>
                <a:r>
                  <a:rPr lang="en-US" dirty="0"/>
                  <a:t>. They are concerned, however, that a change in the way the drugs are manufactured has caused that probability to decrease. Write out the hypotheses that the company should use to test this theory.</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3"/>
                <a:stretch>
                  <a:fillRect l="-889" t="-2083" r="-815"/>
                </a:stretch>
              </a:blipFill>
            </p:spPr>
            <p:txBody>
              <a:bodyPr/>
              <a:lstStyle/>
              <a:p>
                <a:r>
                  <a:rPr lang="en-US">
                    <a:noFill/>
                  </a:rPr>
                  <a:t> </a:t>
                </a:r>
              </a:p>
            </p:txBody>
          </p:sp>
        </mc:Fallback>
      </mc:AlternateContent>
    </p:spTree>
    <p:extLst>
      <p:ext uri="{BB962C8B-B14F-4D97-AF65-F5344CB8AC3E}">
        <p14:creationId xmlns:p14="http://schemas.microsoft.com/office/powerpoint/2010/main" val="2040272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10.1 – General Hypothesis Testing Concepts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dirty="0"/>
                  <a:t>The theory they want to test is if the probability has decreased. One way to express the null hypothesis would be that </a:t>
                </a:r>
                <a14:m>
                  <m:oMath xmlns:m="http://schemas.openxmlformats.org/officeDocument/2006/math">
                    <m:r>
                      <a:rPr lang="en-US" b="0" i="1" smtClean="0">
                        <a:latin typeface="Cambria Math"/>
                      </a:rPr>
                      <m:t>𝑝</m:t>
                    </m:r>
                  </m:oMath>
                </a14:m>
                <a:r>
                  <a:rPr lang="en-US" dirty="0"/>
                  <a:t> has not decreased, but stayed the same. Thus we can write the hypotheses:</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0</m:t>
                          </m:r>
                        </m:sub>
                      </m:sSub>
                      <m:r>
                        <a:rPr lang="en-US" b="0" i="1" smtClean="0">
                          <a:latin typeface="Cambria Math"/>
                        </a:rPr>
                        <m:t>:</m:t>
                      </m:r>
                      <m:r>
                        <a:rPr lang="en-US" b="0" i="1" smtClean="0">
                          <a:latin typeface="Cambria Math"/>
                        </a:rPr>
                        <m:t>𝑝</m:t>
                      </m:r>
                      <m:r>
                        <a:rPr lang="en-US" b="0" i="1" smtClean="0">
                          <a:latin typeface="Cambria Math"/>
                        </a:rPr>
                        <m:t>=0.90</m:t>
                      </m:r>
                    </m:oMath>
                  </m:oMathPara>
                </a14:m>
                <a:endParaRPr lang="en-US" b="0"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1</m:t>
                          </m:r>
                        </m:sub>
                      </m:sSub>
                      <m:r>
                        <a:rPr lang="en-US" b="0" i="1" smtClean="0">
                          <a:latin typeface="Cambria Math"/>
                        </a:rPr>
                        <m:t>:</m:t>
                      </m:r>
                      <m:r>
                        <a:rPr lang="en-US" b="0" i="1" smtClean="0">
                          <a:latin typeface="Cambria Math"/>
                        </a:rPr>
                        <m:t>𝑝</m:t>
                      </m:r>
                      <m:r>
                        <a:rPr lang="en-US" b="0" i="1" smtClean="0">
                          <a:latin typeface="Cambria Math"/>
                        </a:rPr>
                        <m:t>&lt;0.90</m:t>
                      </m:r>
                    </m:oMath>
                  </m:oMathPara>
                </a14:m>
                <a:endParaRPr lang="en-US" b="0" dirty="0"/>
              </a:p>
              <a:p>
                <a:pPr marL="0" indent="0">
                  <a:buNone/>
                </a:pPr>
                <a:endParaRPr lang="en-US" dirty="0"/>
              </a:p>
              <a:p>
                <a:r>
                  <a:rPr lang="en-US" dirty="0"/>
                  <a:t>Our hypotheses will always follow this format: First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0</m:t>
                        </m:r>
                      </m:sub>
                    </m:sSub>
                    <m:r>
                      <a:rPr lang="en-US" b="0" i="0" smtClean="0">
                        <a:latin typeface="Cambria Math"/>
                      </a:rPr>
                      <m:t>:</m:t>
                    </m:r>
                  </m:oMath>
                </a14:m>
                <a:r>
                  <a:rPr lang="en-US" dirty="0"/>
                  <a:t> , then the parameter of interest, then the statement. Then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1</m:t>
                        </m:r>
                      </m:sub>
                    </m:sSub>
                  </m:oMath>
                </a14:m>
                <a:r>
                  <a:rPr lang="en-US" dirty="0"/>
                  <a:t>: , always the same parameter we just used in the null hypothesis, and the statement.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889" t="-2083" b="-278"/>
                </a:stretch>
              </a:blipFill>
            </p:spPr>
            <p:txBody>
              <a:bodyPr/>
              <a:lstStyle/>
              <a:p>
                <a:r>
                  <a:rPr lang="en-US">
                    <a:noFill/>
                  </a:rPr>
                  <a:t> </a:t>
                </a:r>
              </a:p>
            </p:txBody>
          </p:sp>
        </mc:Fallback>
      </mc:AlternateContent>
    </p:spTree>
    <p:extLst>
      <p:ext uri="{BB962C8B-B14F-4D97-AF65-F5344CB8AC3E}">
        <p14:creationId xmlns:p14="http://schemas.microsoft.com/office/powerpoint/2010/main" val="13411753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10.1 – General Hypothesis Testing Concepts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A few important things from the previous slide: </a:t>
                </a:r>
              </a:p>
              <a:p>
                <a:pPr lvl="1"/>
                <a:r>
                  <a:rPr lang="en-US" dirty="0"/>
                  <a:t>Note that there is no overlap between the two hypotheses. They must always contradict each other.</a:t>
                </a:r>
              </a:p>
              <a:p>
                <a:pPr lvl="1"/>
                <a:r>
                  <a:rPr lang="en-US" dirty="0"/>
                  <a:t>As long as the hypotheses contradict, we have a little bit of freedom in how we express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0</m:t>
                        </m:r>
                      </m:sub>
                    </m:sSub>
                  </m:oMath>
                </a14:m>
                <a:r>
                  <a:rPr lang="en-US" dirty="0"/>
                  <a:t>. In the previous example, we could have also used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0</m:t>
                        </m:r>
                      </m:sub>
                    </m:sSub>
                    <m:r>
                      <a:rPr lang="en-US" b="0" i="1" smtClean="0">
                        <a:latin typeface="Cambria Math"/>
                      </a:rPr>
                      <m:t>:</m:t>
                    </m:r>
                    <m:r>
                      <a:rPr lang="en-US" b="0" i="1" smtClean="0">
                        <a:latin typeface="Cambria Math"/>
                      </a:rPr>
                      <m:t>𝑝</m:t>
                    </m:r>
                    <m:r>
                      <a:rPr lang="en-US" b="0" i="1" smtClean="0">
                        <a:latin typeface="Cambria Math"/>
                      </a:rPr>
                      <m:t>≥0.90</m:t>
                    </m:r>
                  </m:oMath>
                </a14:m>
                <a:r>
                  <a:rPr lang="en-US" dirty="0"/>
                  <a:t> instead of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0</m:t>
                        </m:r>
                      </m:sub>
                    </m:sSub>
                    <m:r>
                      <a:rPr lang="en-US" b="0" i="1" smtClean="0">
                        <a:latin typeface="Cambria Math"/>
                      </a:rPr>
                      <m:t>:</m:t>
                    </m:r>
                    <m:r>
                      <a:rPr lang="en-US" b="0" i="1" smtClean="0">
                        <a:latin typeface="Cambria Math"/>
                      </a:rPr>
                      <m:t>𝑝</m:t>
                    </m:r>
                    <m:r>
                      <a:rPr lang="en-US" b="0" i="1" smtClean="0">
                        <a:latin typeface="Cambria Math"/>
                      </a:rPr>
                      <m:t>=0.90</m:t>
                    </m:r>
                  </m:oMath>
                </a14:m>
                <a:r>
                  <a:rPr lang="en-US" dirty="0"/>
                  <a:t>. Even when the former is implied, however, we will typically use the latter for the sake of simplicity.</a:t>
                </a:r>
              </a:p>
              <a:p>
                <a:pPr lvl="1"/>
                <a:r>
                  <a:rPr lang="en-US" dirty="0"/>
                  <a:t>Hypotheses are always about parameters!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889" t="-1250" r="-2000"/>
                </a:stretch>
              </a:blipFill>
            </p:spPr>
            <p:txBody>
              <a:bodyPr/>
              <a:lstStyle/>
              <a:p>
                <a:r>
                  <a:rPr lang="en-US">
                    <a:noFill/>
                  </a:rPr>
                  <a:t> </a:t>
                </a:r>
              </a:p>
            </p:txBody>
          </p:sp>
        </mc:Fallback>
      </mc:AlternateContent>
    </p:spTree>
    <p:extLst>
      <p:ext uri="{BB962C8B-B14F-4D97-AF65-F5344CB8AC3E}">
        <p14:creationId xmlns:p14="http://schemas.microsoft.com/office/powerpoint/2010/main" val="41889641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10.1 – General Hypothesis Testing Concepts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Exercise: Write the hypotheses for the following scenarios.</a:t>
                </a:r>
              </a:p>
              <a:p>
                <a:pPr lvl="1"/>
                <a:r>
                  <a:rPr lang="en-US" dirty="0"/>
                  <a:t>A manufacturing process requires that the mean weight of the product is </a:t>
                </a:r>
                <a14:m>
                  <m:oMath xmlns:m="http://schemas.openxmlformats.org/officeDocument/2006/math">
                    <m:r>
                      <a:rPr lang="en-US" b="0" i="1" smtClean="0">
                        <a:latin typeface="Cambria Math"/>
                      </a:rPr>
                      <m:t>0.23</m:t>
                    </m:r>
                  </m:oMath>
                </a14:m>
                <a:r>
                  <a:rPr lang="en-US" dirty="0"/>
                  <a:t>g. Quality control wants to test if the mean weight for all products produced is actually </a:t>
                </a:r>
                <a14:m>
                  <m:oMath xmlns:m="http://schemas.openxmlformats.org/officeDocument/2006/math">
                    <m:r>
                      <a:rPr lang="en-US" b="0" i="1" smtClean="0">
                        <a:latin typeface="Cambria Math"/>
                      </a:rPr>
                      <m:t>0</m:t>
                    </m:r>
                    <m:r>
                      <a:rPr lang="en-US" b="0" i="1" smtClean="0">
                        <a:latin typeface="Cambria Math"/>
                      </a:rPr>
                      <m:t>.23</m:t>
                    </m:r>
                  </m:oMath>
                </a14:m>
                <a:r>
                  <a:rPr lang="en-US" dirty="0"/>
                  <a:t>g.</a:t>
                </a:r>
              </a:p>
              <a:p>
                <a:pPr lvl="1"/>
                <a:r>
                  <a:rPr lang="en-US" dirty="0"/>
                  <a:t>A company wants to test the theory that it has more daily customers, on average, than one of its competitors.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889" t="-1250" r="-296"/>
                </a:stretch>
              </a:blipFill>
            </p:spPr>
            <p:txBody>
              <a:bodyPr/>
              <a:lstStyle/>
              <a:p>
                <a:r>
                  <a:rPr lang="en-US">
                    <a:noFill/>
                  </a:rPr>
                  <a:t> </a:t>
                </a:r>
              </a:p>
            </p:txBody>
          </p:sp>
        </mc:Fallback>
      </mc:AlternateContent>
    </p:spTree>
    <p:extLst>
      <p:ext uri="{BB962C8B-B14F-4D97-AF65-F5344CB8AC3E}">
        <p14:creationId xmlns:p14="http://schemas.microsoft.com/office/powerpoint/2010/main" val="2920879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10.1 – General Hypothesis Testing Concepts</a:t>
            </a:r>
          </a:p>
        </p:txBody>
      </p:sp>
      <p:sp>
        <p:nvSpPr>
          <p:cNvPr id="3" name="Content Placeholder 2"/>
          <p:cNvSpPr>
            <a:spLocks noGrp="1"/>
          </p:cNvSpPr>
          <p:nvPr>
            <p:ph idx="1"/>
          </p:nvPr>
        </p:nvSpPr>
        <p:spPr/>
        <p:txBody>
          <a:bodyPr>
            <a:normAutofit/>
          </a:bodyPr>
          <a:lstStyle/>
          <a:p>
            <a:r>
              <a:rPr lang="en-US" dirty="0"/>
              <a:t>We will spend a good portion of this chapter on how to make decisions regarding hypotheses. For now, we just need some general ideas.</a:t>
            </a:r>
          </a:p>
          <a:p>
            <a:endParaRPr lang="en-US" dirty="0"/>
          </a:p>
          <a:p>
            <a:r>
              <a:rPr lang="en-US" dirty="0"/>
              <a:t>The way we decide which hypothesis our data support is all based on probability. The probability we use is the probability of observing a statistic at least as extreme as our actual statistic, </a:t>
            </a:r>
            <a:r>
              <a:rPr lang="en-US" i="1" dirty="0"/>
              <a:t>if the null hypothesis were actually true. (</a:t>
            </a:r>
            <a:r>
              <a:rPr lang="en-US" dirty="0"/>
              <a:t>this is the definition of a p-value</a:t>
            </a:r>
            <a:r>
              <a:rPr lang="en-US" i="1" dirty="0"/>
              <a:t>)</a:t>
            </a:r>
            <a:br>
              <a:rPr lang="en-US" i="1" dirty="0"/>
            </a:br>
            <a:endParaRPr lang="en-US" dirty="0"/>
          </a:p>
        </p:txBody>
      </p:sp>
    </p:spTree>
    <p:extLst>
      <p:ext uri="{BB962C8B-B14F-4D97-AF65-F5344CB8AC3E}">
        <p14:creationId xmlns:p14="http://schemas.microsoft.com/office/powerpoint/2010/main" val="28534887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10.1 – General Hypothesis Testing Concepts</a:t>
            </a:r>
          </a:p>
        </p:txBody>
      </p:sp>
      <p:sp>
        <p:nvSpPr>
          <p:cNvPr id="3" name="Content Placeholder 2"/>
          <p:cNvSpPr>
            <a:spLocks noGrp="1"/>
          </p:cNvSpPr>
          <p:nvPr>
            <p:ph idx="1"/>
          </p:nvPr>
        </p:nvSpPr>
        <p:spPr/>
        <p:txBody>
          <a:bodyPr>
            <a:normAutofit/>
          </a:bodyPr>
          <a:lstStyle/>
          <a:p>
            <a:r>
              <a:rPr lang="en-US" dirty="0"/>
              <a:t>That is, we assume the null hypothesis is true. Then we use the sampling (null) distribution of our statistic to see how likely our statistic is to occur under that assumption. If that probability is small, then we have evidence that the null hypothesis is not likely to be true. This is a lot like a proof by contradiction in math (for those that have seen that before) – we assume the opposite of what we want to show, then show that that assumption is not reasonable.</a:t>
            </a:r>
          </a:p>
        </p:txBody>
      </p:sp>
    </p:spTree>
    <p:extLst>
      <p:ext uri="{BB962C8B-B14F-4D97-AF65-F5344CB8AC3E}">
        <p14:creationId xmlns:p14="http://schemas.microsoft.com/office/powerpoint/2010/main" val="25720061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10.1 – General Hypothesis Testing Concepts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10000"/>
              </a:bodyPr>
              <a:lstStyle/>
              <a:p>
                <a:r>
                  <a:rPr lang="en-US" dirty="0"/>
                  <a:t>After we calculate the probability described on the previous slide, we have to make a decision regarding the hypotheses. There are only two possible decisions:</a:t>
                </a:r>
              </a:p>
              <a:p>
                <a:pPr lvl="1"/>
                <a:r>
                  <a:rPr lang="en-US" dirty="0"/>
                  <a:t>Reject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0</m:t>
                        </m:r>
                      </m:sub>
                    </m:sSub>
                  </m:oMath>
                </a14:m>
                <a:r>
                  <a:rPr lang="en-US" dirty="0"/>
                  <a:t> – there is sufficient evidence to say that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0</m:t>
                        </m:r>
                      </m:sub>
                    </m:sSub>
                  </m:oMath>
                </a14:m>
                <a:r>
                  <a:rPr lang="en-US" dirty="0"/>
                  <a:t> is not true. Equivalently, there is sufficient evidence to say that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1</m:t>
                        </m:r>
                      </m:sub>
                    </m:sSub>
                  </m:oMath>
                </a14:m>
                <a:r>
                  <a:rPr lang="en-US" dirty="0"/>
                  <a:t> is true.</a:t>
                </a:r>
              </a:p>
              <a:p>
                <a:pPr lvl="1"/>
                <a:r>
                  <a:rPr lang="en-US" dirty="0"/>
                  <a:t>Fail to reject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0</m:t>
                        </m:r>
                      </m:sub>
                    </m:sSub>
                  </m:oMath>
                </a14:m>
                <a:r>
                  <a:rPr lang="en-US" dirty="0"/>
                  <a:t> – there is not sufficient evidence to say that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0</m:t>
                        </m:r>
                      </m:sub>
                    </m:sSub>
                  </m:oMath>
                </a14:m>
                <a:r>
                  <a:rPr lang="en-US" dirty="0"/>
                  <a:t> is not true. Equivalently, there is not sufficient evidence to say that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1</m:t>
                        </m:r>
                      </m:sub>
                    </m:sSub>
                  </m:oMath>
                </a14:m>
                <a:r>
                  <a:rPr lang="en-US" dirty="0"/>
                  <a:t> is true.  </a:t>
                </a:r>
              </a:p>
              <a:p>
                <a:r>
                  <a:rPr lang="en-US" dirty="0"/>
                  <a:t>Why the confusing language for the second option? Why can’t we say “accept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0</m:t>
                        </m:r>
                      </m:sub>
                    </m:sSub>
                  </m:oMath>
                </a14:m>
                <a:r>
                  <a:rPr lang="en-US" dirty="0"/>
                  <a:t>” or that “there is sufficient evidence to say that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0</m:t>
                        </m:r>
                      </m:sub>
                    </m:sSub>
                  </m:oMath>
                </a14:m>
                <a:r>
                  <a:rPr lang="en-US" dirty="0"/>
                  <a:t> is true”?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741" t="-1944" r="-1704"/>
                </a:stretch>
              </a:blipFill>
            </p:spPr>
            <p:txBody>
              <a:bodyPr/>
              <a:lstStyle/>
              <a:p>
                <a:r>
                  <a:rPr lang="en-US">
                    <a:noFill/>
                  </a:rPr>
                  <a:t> </a:t>
                </a:r>
              </a:p>
            </p:txBody>
          </p:sp>
        </mc:Fallback>
      </mc:AlternateContent>
    </p:spTree>
    <p:extLst>
      <p:ext uri="{BB962C8B-B14F-4D97-AF65-F5344CB8AC3E}">
        <p14:creationId xmlns:p14="http://schemas.microsoft.com/office/powerpoint/2010/main" val="18540075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10.1 – General Hypothesis Testing Concepts</a:t>
            </a:r>
          </a:p>
        </p:txBody>
      </p:sp>
      <p:sp>
        <p:nvSpPr>
          <p:cNvPr id="3" name="Content Placeholder 2"/>
          <p:cNvSpPr>
            <a:spLocks noGrp="1"/>
          </p:cNvSpPr>
          <p:nvPr>
            <p:ph idx="1"/>
          </p:nvPr>
        </p:nvSpPr>
        <p:spPr/>
        <p:txBody>
          <a:bodyPr>
            <a:normAutofit/>
          </a:bodyPr>
          <a:lstStyle/>
          <a:p>
            <a:pPr marL="0" indent="0">
              <a:buNone/>
            </a:pPr>
            <a:r>
              <a:rPr lang="en-US" dirty="0"/>
              <a:t>One example that we will come back to in 10.2 is that of a jury trial. We’ve all heard the phrase “innocent until proven guilty.” A jury trial is really just a hypothesis test. What are the null and alternative hypotheses that are used?</a:t>
            </a:r>
          </a:p>
        </p:txBody>
      </p:sp>
    </p:spTree>
    <p:extLst>
      <p:ext uri="{BB962C8B-B14F-4D97-AF65-F5344CB8AC3E}">
        <p14:creationId xmlns:p14="http://schemas.microsoft.com/office/powerpoint/2010/main" val="5391138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10.1 – General Hypothesis Testing Concepts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For a trial, we use the hypotheses</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0</m:t>
                          </m:r>
                        </m:sub>
                      </m:sSub>
                      <m:r>
                        <a:rPr lang="en-US" b="0" i="1" smtClean="0">
                          <a:latin typeface="Cambria Math"/>
                        </a:rPr>
                        <m:t>:</m:t>
                      </m:r>
                      <m:r>
                        <m:rPr>
                          <m:sty m:val="p"/>
                        </m:rPr>
                        <a:rPr lang="en-US" b="0" i="0" smtClean="0">
                          <a:latin typeface="Cambria Math"/>
                        </a:rPr>
                        <m:t>defendant</m:t>
                      </m:r>
                      <m:r>
                        <a:rPr lang="en-US" b="0" i="0" smtClean="0">
                          <a:latin typeface="Cambria Math"/>
                        </a:rPr>
                        <m:t> </m:t>
                      </m:r>
                      <m:r>
                        <m:rPr>
                          <m:sty m:val="p"/>
                        </m:rPr>
                        <a:rPr lang="en-US" b="0" i="0" smtClean="0">
                          <a:latin typeface="Cambria Math"/>
                        </a:rPr>
                        <m:t>is</m:t>
                      </m:r>
                      <m:r>
                        <a:rPr lang="en-US" b="0" i="0" smtClean="0">
                          <a:latin typeface="Cambria Math"/>
                        </a:rPr>
                        <m:t> </m:t>
                      </m:r>
                      <m:r>
                        <m:rPr>
                          <m:sty m:val="p"/>
                        </m:rPr>
                        <a:rPr lang="en-US" b="0" i="0" smtClean="0">
                          <a:latin typeface="Cambria Math"/>
                        </a:rPr>
                        <m:t>innocent</m:t>
                      </m:r>
                    </m:oMath>
                  </m:oMathPara>
                </a14:m>
                <a:endParaRPr lang="en-US" b="0"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1</m:t>
                          </m:r>
                        </m:sub>
                      </m:sSub>
                      <m:r>
                        <a:rPr lang="en-US" b="0" i="1" smtClean="0">
                          <a:latin typeface="Cambria Math"/>
                        </a:rPr>
                        <m:t>:</m:t>
                      </m:r>
                      <m:r>
                        <m:rPr>
                          <m:sty m:val="p"/>
                        </m:rPr>
                        <a:rPr lang="en-US" b="0" i="0" smtClean="0">
                          <a:latin typeface="Cambria Math"/>
                        </a:rPr>
                        <m:t>defendant</m:t>
                      </m:r>
                      <m:r>
                        <a:rPr lang="en-US" b="0" i="0" smtClean="0">
                          <a:latin typeface="Cambria Math"/>
                        </a:rPr>
                        <m:t> </m:t>
                      </m:r>
                      <m:r>
                        <m:rPr>
                          <m:sty m:val="p"/>
                        </m:rPr>
                        <a:rPr lang="en-US" b="0" i="0" smtClean="0">
                          <a:latin typeface="Cambria Math"/>
                        </a:rPr>
                        <m:t>is</m:t>
                      </m:r>
                      <m:r>
                        <a:rPr lang="en-US" b="0" i="0" smtClean="0">
                          <a:latin typeface="Cambria Math"/>
                        </a:rPr>
                        <m:t> </m:t>
                      </m:r>
                      <m:r>
                        <m:rPr>
                          <m:sty m:val="p"/>
                        </m:rPr>
                        <a:rPr lang="en-US" b="0" i="0" smtClean="0">
                          <a:latin typeface="Cambria Math"/>
                        </a:rPr>
                        <m:t>guilty</m:t>
                      </m:r>
                    </m:oMath>
                  </m:oMathPara>
                </a14:m>
                <a:endParaRPr lang="en-US" dirty="0"/>
              </a:p>
              <a:p>
                <a:r>
                  <a:rPr lang="en-US" dirty="0"/>
                  <a:t>If the jury is presented with evidence “beyond a reasonable doubt,” then the null hypothesis is rejected in favor of the alternative hypothesis. If there is insufficient evidence to convict, there is no claim that the defendant is innocent. The conclusion is simply that there is not sufficient evidence to “prove” he is guilty.</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889" t="-1111" r="-1111"/>
                </a:stretch>
              </a:blipFill>
            </p:spPr>
            <p:txBody>
              <a:bodyPr/>
              <a:lstStyle/>
              <a:p>
                <a:r>
                  <a:rPr lang="en-US">
                    <a:noFill/>
                  </a:rPr>
                  <a:t> </a:t>
                </a:r>
              </a:p>
            </p:txBody>
          </p:sp>
        </mc:Fallback>
      </mc:AlternateContent>
    </p:spTree>
    <p:extLst>
      <p:ext uri="{BB962C8B-B14F-4D97-AF65-F5344CB8AC3E}">
        <p14:creationId xmlns:p14="http://schemas.microsoft.com/office/powerpoint/2010/main" val="24664427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10.2 – Testing a Hypothesis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en-US" dirty="0"/>
                  <a:t>In this section, we continue working with some general ideas relating to hypothesis testing. </a:t>
                </a:r>
              </a:p>
              <a:p>
                <a:endParaRPr lang="en-US" dirty="0"/>
              </a:p>
              <a:p>
                <a:r>
                  <a:rPr lang="en-US" dirty="0"/>
                  <a:t>In 10.1, we briefly explained how we use probability (p-value) to make decisions regarding hypotheses. We begin this section by introducing another </a:t>
                </a:r>
                <a:r>
                  <a:rPr lang="en-US" i="1" dirty="0"/>
                  <a:t>equivalent</a:t>
                </a:r>
                <a:r>
                  <a:rPr lang="en-US" dirty="0"/>
                  <a:t> way to make the decision of whether or not to reject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0</m:t>
                        </m:r>
                      </m:sub>
                    </m:sSub>
                  </m:oMath>
                </a14:m>
                <a:r>
                  <a:rPr lang="en-US" dirty="0"/>
                  <a:t>.</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889" t="-1250" r="-296"/>
                </a:stretch>
              </a:blipFill>
            </p:spPr>
            <p:txBody>
              <a:bodyPr/>
              <a:lstStyle/>
              <a:p>
                <a:r>
                  <a:rPr lang="en-US">
                    <a:noFill/>
                  </a:rPr>
                  <a:t> </a:t>
                </a:r>
              </a:p>
            </p:txBody>
          </p:sp>
        </mc:Fallback>
      </mc:AlternateContent>
    </p:spTree>
    <p:extLst>
      <p:ext uri="{BB962C8B-B14F-4D97-AF65-F5344CB8AC3E}">
        <p14:creationId xmlns:p14="http://schemas.microsoft.com/office/powerpoint/2010/main" val="13506937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10.2 – Testing a Hypothesis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10000"/>
              </a:bodyPr>
              <a:lstStyle/>
              <a:p>
                <a:r>
                  <a:rPr lang="en-US" dirty="0"/>
                  <a:t>One way to make our decision is by using a </a:t>
                </a:r>
                <a:r>
                  <a:rPr lang="en-US" i="1" dirty="0"/>
                  <a:t>test statistic</a:t>
                </a:r>
                <a:r>
                  <a:rPr lang="en-US" dirty="0"/>
                  <a:t>. A test statistic is simply a statistic that we use for deciding whether or not to reject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0</m:t>
                        </m:r>
                      </m:sub>
                    </m:sSub>
                  </m:oMath>
                </a14:m>
                <a:r>
                  <a:rPr lang="en-US" dirty="0"/>
                  <a:t>. The main thing about a test statistic is that we need to know its distribution (or approximate distribution) </a:t>
                </a:r>
                <a:r>
                  <a:rPr lang="en-US" i="1" dirty="0"/>
                  <a:t>under the null hypothesis</a:t>
                </a:r>
                <a:r>
                  <a:rPr lang="en-US" dirty="0"/>
                  <a:t>. This is sometimes referred to as the </a:t>
                </a:r>
                <a:r>
                  <a:rPr lang="en-US" i="1" dirty="0"/>
                  <a:t>null distribution</a:t>
                </a:r>
                <a:r>
                  <a:rPr lang="en-US" dirty="0"/>
                  <a:t>.</a:t>
                </a:r>
              </a:p>
              <a:p>
                <a:endParaRPr lang="en-US" dirty="0"/>
              </a:p>
              <a:p>
                <a:r>
                  <a:rPr lang="en-US" dirty="0"/>
                  <a:t>If we know the sampling distribution under the null hypothesis, then we can set up a decision rule. If the test statistic takes on certain values (the values are found using the sampling distribution), then we reject. Otherwise, we fail we to reject.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4"/>
                <a:stretch>
                  <a:fillRect l="-741" t="-1944" r="-1333"/>
                </a:stretch>
              </a:blipFill>
            </p:spPr>
            <p:txBody>
              <a:bodyPr/>
              <a:lstStyle/>
              <a:p>
                <a:r>
                  <a:rPr lang="en-US">
                    <a:noFill/>
                  </a:rPr>
                  <a:t> </a:t>
                </a:r>
              </a:p>
            </p:txBody>
          </p:sp>
        </mc:Fallback>
      </mc:AlternateContent>
    </p:spTree>
    <p:extLst>
      <p:ext uri="{BB962C8B-B14F-4D97-AF65-F5344CB8AC3E}">
        <p14:creationId xmlns:p14="http://schemas.microsoft.com/office/powerpoint/2010/main" val="3201036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10.2 – Testing a Hypothesis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The values of the test statistic for which we reject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0</m:t>
                        </m:r>
                      </m:sub>
                    </m:sSub>
                  </m:oMath>
                </a14:m>
                <a:r>
                  <a:rPr lang="en-US" dirty="0"/>
                  <a:t> are collectively called the </a:t>
                </a:r>
                <a:r>
                  <a:rPr lang="en-US" i="1" dirty="0"/>
                  <a:t>critical region</a:t>
                </a:r>
                <a:r>
                  <a:rPr lang="en-US" dirty="0"/>
                  <a:t>. The boundary between the critical region and the region where we would fail to reject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0</m:t>
                        </m:r>
                      </m:sub>
                    </m:sSub>
                  </m:oMath>
                </a14:m>
                <a:r>
                  <a:rPr lang="en-US" dirty="0"/>
                  <a:t> is called the </a:t>
                </a:r>
                <a:r>
                  <a:rPr lang="en-US" i="1" dirty="0"/>
                  <a:t>critical value</a:t>
                </a:r>
                <a:r>
                  <a:rPr lang="en-US" dirty="0"/>
                  <a:t>.</a:t>
                </a:r>
              </a:p>
              <a:p>
                <a:endParaRPr lang="en-US" dirty="0"/>
              </a:p>
              <a:p>
                <a:r>
                  <a:rPr lang="en-US" dirty="0"/>
                  <a:t>In everything we will deal with, there will be either one or two critical values. We demonstrate both of these cases on the board.</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889" t="-1111" r="-2000"/>
                </a:stretch>
              </a:blipFill>
            </p:spPr>
            <p:txBody>
              <a:bodyPr/>
              <a:lstStyle/>
              <a:p>
                <a:r>
                  <a:rPr lang="en-US">
                    <a:noFill/>
                  </a:rPr>
                  <a:t> </a:t>
                </a:r>
              </a:p>
            </p:txBody>
          </p:sp>
        </mc:Fallback>
      </mc:AlternateContent>
    </p:spTree>
    <p:extLst>
      <p:ext uri="{BB962C8B-B14F-4D97-AF65-F5344CB8AC3E}">
        <p14:creationId xmlns:p14="http://schemas.microsoft.com/office/powerpoint/2010/main" val="12339571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10.2 – Testing a Hypothesis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Example: Suppose we are testing a new vaccine that is meant to prevent a certain disease. Suppose an old vaccine for the same disease was known to be effective two years later for only 25% of those who received it. We want to see if the new vaccine is superior. Using </a:t>
                </a:r>
                <a14:m>
                  <m:oMath xmlns:m="http://schemas.openxmlformats.org/officeDocument/2006/math">
                    <m:r>
                      <a:rPr lang="en-US" b="0" i="1" smtClean="0">
                        <a:latin typeface="Cambria Math"/>
                      </a:rPr>
                      <m:t>𝑝</m:t>
                    </m:r>
                  </m:oMath>
                </a14:m>
                <a:r>
                  <a:rPr lang="en-US" dirty="0"/>
                  <a:t> as the probability that the vaccine will be effective two years after receiving it, what are our hypotheses?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3"/>
                <a:stretch>
                  <a:fillRect l="-889" t="-1111" r="-593"/>
                </a:stretch>
              </a:blipFill>
            </p:spPr>
            <p:txBody>
              <a:bodyPr/>
              <a:lstStyle/>
              <a:p>
                <a:r>
                  <a:rPr lang="en-US">
                    <a:noFill/>
                  </a:rPr>
                  <a:t> </a:t>
                </a:r>
              </a:p>
            </p:txBody>
          </p:sp>
        </mc:Fallback>
      </mc:AlternateContent>
    </p:spTree>
    <p:extLst>
      <p:ext uri="{BB962C8B-B14F-4D97-AF65-F5344CB8AC3E}">
        <p14:creationId xmlns:p14="http://schemas.microsoft.com/office/powerpoint/2010/main" val="36605030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10.2 – Testing a Hypothesis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20000"/>
              </a:bodyPr>
              <a:lstStyle/>
              <a:p>
                <a:r>
                  <a:rPr lang="en-US" dirty="0"/>
                  <a:t>We should use</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0</m:t>
                          </m:r>
                        </m:sub>
                      </m:sSub>
                      <m:r>
                        <a:rPr lang="en-US" b="0" i="1" smtClean="0">
                          <a:latin typeface="Cambria Math"/>
                        </a:rPr>
                        <m:t>:</m:t>
                      </m:r>
                      <m:r>
                        <a:rPr lang="en-US" b="0" i="1" smtClean="0">
                          <a:latin typeface="Cambria Math"/>
                        </a:rPr>
                        <m:t>𝑝</m:t>
                      </m:r>
                      <m:r>
                        <a:rPr lang="en-US" b="0" i="1" smtClean="0">
                          <a:latin typeface="Cambria Math"/>
                        </a:rPr>
                        <m:t>=0.25</m:t>
                      </m:r>
                    </m:oMath>
                  </m:oMathPara>
                </a14:m>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1</m:t>
                          </m:r>
                        </m:sub>
                      </m:sSub>
                      <m:r>
                        <a:rPr lang="en-US" b="0" i="1" smtClean="0">
                          <a:latin typeface="Cambria Math"/>
                        </a:rPr>
                        <m:t>:</m:t>
                      </m:r>
                      <m:r>
                        <a:rPr lang="en-US" b="0" i="1" smtClean="0">
                          <a:latin typeface="Cambria Math"/>
                        </a:rPr>
                        <m:t>𝑝</m:t>
                      </m:r>
                      <m:r>
                        <a:rPr lang="en-US" b="0" i="1" smtClean="0">
                          <a:latin typeface="Cambria Math"/>
                        </a:rPr>
                        <m:t>&gt;0.25</m:t>
                      </m:r>
                    </m:oMath>
                  </m:oMathPara>
                </a14:m>
                <a:endParaRPr lang="en-US" dirty="0"/>
              </a:p>
              <a:p>
                <a:endParaRPr lang="en-US" dirty="0"/>
              </a:p>
              <a:p>
                <a:r>
                  <a:rPr lang="en-US" dirty="0"/>
                  <a:t>If we take a sample of 20 people, we can define our test statistic </a:t>
                </a:r>
                <a14:m>
                  <m:oMath xmlns:m="http://schemas.openxmlformats.org/officeDocument/2006/math">
                    <m:r>
                      <a:rPr lang="en-US" b="0" i="1" smtClean="0">
                        <a:latin typeface="Cambria Math"/>
                      </a:rPr>
                      <m:t>𝑋</m:t>
                    </m:r>
                  </m:oMath>
                </a14:m>
                <a:r>
                  <a:rPr lang="en-US" dirty="0"/>
                  <a:t> to be the number of people who are protected from the disease for at least two years after receiving the vaccine. Suppose we decide that if more than 8 individuals are still protected after two years, we have enough evidence to claim that the probability is actually more than 0.25 for this new vaccine.</a:t>
                </a:r>
              </a:p>
              <a:p>
                <a:endParaRPr lang="en-US" dirty="0"/>
              </a:p>
              <a:p>
                <a:r>
                  <a:rPr lang="en-US" dirty="0"/>
                  <a:t>Give the critical region and critical value for this test.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741" t="-2639" r="-1037" b="-1944"/>
                </a:stretch>
              </a:blipFill>
            </p:spPr>
            <p:txBody>
              <a:bodyPr/>
              <a:lstStyle/>
              <a:p>
                <a:r>
                  <a:rPr lang="en-US">
                    <a:noFill/>
                  </a:rPr>
                  <a:t> </a:t>
                </a:r>
              </a:p>
            </p:txBody>
          </p:sp>
        </mc:Fallback>
      </mc:AlternateContent>
    </p:spTree>
    <p:extLst>
      <p:ext uri="{BB962C8B-B14F-4D97-AF65-F5344CB8AC3E}">
        <p14:creationId xmlns:p14="http://schemas.microsoft.com/office/powerpoint/2010/main" val="17359194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10.2 – Testing a Hypothesis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Note that for this test statistic, we know the null distribution – it’s binomial with </a:t>
                </a:r>
                <a14:m>
                  <m:oMath xmlns:m="http://schemas.openxmlformats.org/officeDocument/2006/math">
                    <m:r>
                      <a:rPr lang="en-US" b="0" i="1" smtClean="0">
                        <a:latin typeface="Cambria Math"/>
                      </a:rPr>
                      <m:t>𝑛</m:t>
                    </m:r>
                    <m:r>
                      <a:rPr lang="en-US" b="0" i="1" smtClean="0">
                        <a:latin typeface="Cambria Math"/>
                      </a:rPr>
                      <m:t>=20</m:t>
                    </m:r>
                  </m:oMath>
                </a14:m>
                <a:r>
                  <a:rPr lang="en-US" dirty="0"/>
                  <a:t> and </a:t>
                </a:r>
                <a14:m>
                  <m:oMath xmlns:m="http://schemas.openxmlformats.org/officeDocument/2006/math">
                    <m:r>
                      <a:rPr lang="en-US" b="0" i="1" smtClean="0">
                        <a:latin typeface="Cambria Math"/>
                      </a:rPr>
                      <m:t>𝑝</m:t>
                    </m:r>
                    <m:r>
                      <a:rPr lang="en-US" b="0" i="1" smtClean="0">
                        <a:latin typeface="Cambria Math"/>
                      </a:rPr>
                      <m:t>=0.25</m:t>
                    </m:r>
                  </m:oMath>
                </a14:m>
                <a:r>
                  <a:rPr lang="en-US" dirty="0"/>
                  <a:t>.</a:t>
                </a:r>
              </a:p>
              <a:p>
                <a:endParaRPr lang="en-US" dirty="0"/>
              </a:p>
              <a:p>
                <a:r>
                  <a:rPr lang="en-US" dirty="0"/>
                  <a:t>What if we get 9 people for whom the vaccine is effective? Is this really very strong evidence that the new vaccine is any better? Given that </a:t>
                </a:r>
                <a14:m>
                  <m:oMath xmlns:m="http://schemas.openxmlformats.org/officeDocument/2006/math">
                    <m:r>
                      <a:rPr lang="en-US" b="0" i="1" smtClean="0">
                        <a:latin typeface="Cambria Math"/>
                      </a:rPr>
                      <m:t>𝑝</m:t>
                    </m:r>
                    <m:r>
                      <a:rPr lang="en-US" b="0" i="1" smtClean="0">
                        <a:latin typeface="Cambria Math"/>
                      </a:rPr>
                      <m:t>=0.25</m:t>
                    </m:r>
                  </m:oMath>
                </a14:m>
                <a:r>
                  <a:rPr lang="en-US" dirty="0"/>
                  <a:t>,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𝑋</m:t>
                        </m:r>
                        <m:r>
                          <a:rPr lang="en-US" b="0" i="1" smtClean="0">
                            <a:latin typeface="Cambria Math"/>
                          </a:rPr>
                          <m:t>≥9</m:t>
                        </m:r>
                      </m:e>
                    </m:d>
                    <m:r>
                      <a:rPr lang="en-US" b="0" i="1" smtClean="0">
                        <a:latin typeface="Cambria Math"/>
                      </a:rPr>
                      <m:t>=0.0409</m:t>
                    </m:r>
                  </m:oMath>
                </a14:m>
                <a:r>
                  <a:rPr lang="en-US" dirty="0"/>
                  <a:t>. What does this probability represent?</a:t>
                </a: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889" t="-1111"/>
                </a:stretch>
              </a:blipFill>
            </p:spPr>
            <p:txBody>
              <a:bodyPr/>
              <a:lstStyle/>
              <a:p>
                <a:r>
                  <a:rPr lang="en-US">
                    <a:noFill/>
                  </a:rPr>
                  <a:t> </a:t>
                </a:r>
              </a:p>
            </p:txBody>
          </p:sp>
        </mc:Fallback>
      </mc:AlternateContent>
    </p:spTree>
    <p:extLst>
      <p:ext uri="{BB962C8B-B14F-4D97-AF65-F5344CB8AC3E}">
        <p14:creationId xmlns:p14="http://schemas.microsoft.com/office/powerpoint/2010/main" val="18057149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10.2 – Testing a Hypothesis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85000" lnSpcReduction="10000"/>
              </a:bodyPr>
              <a:lstStyle/>
              <a:p>
                <a:r>
                  <a:rPr lang="en-US" dirty="0"/>
                  <a:t>This is the probability of rejecting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0</m:t>
                        </m:r>
                      </m:sub>
                    </m:sSub>
                  </m:oMath>
                </a14:m>
                <a:r>
                  <a:rPr lang="en-US" dirty="0"/>
                  <a:t> when it’s actually true.</a:t>
                </a:r>
              </a:p>
              <a:p>
                <a:endParaRPr lang="en-US" dirty="0"/>
              </a:p>
              <a:p>
                <a:r>
                  <a:rPr lang="en-US" dirty="0"/>
                  <a:t>While 0.0409 is pretty small, maybe we want the probability of making such a mistake to be even smaller so that we are even more sure that the new vaccine is better. Say we will only reject the null hypothesis when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𝑋</m:t>
                        </m:r>
                        <m:r>
                          <a:rPr lang="en-US" b="0" i="1" smtClean="0">
                            <a:latin typeface="Cambria Math"/>
                          </a:rPr>
                          <m:t>≥</m:t>
                        </m:r>
                        <m:r>
                          <a:rPr lang="en-US" b="0" i="1" smtClean="0">
                            <a:latin typeface="Cambria Math"/>
                          </a:rPr>
                          <m:t>𝑥</m:t>
                        </m:r>
                        <m:r>
                          <a:rPr lang="en-US" b="0" i="1" smtClean="0">
                            <a:latin typeface="Cambria Math"/>
                          </a:rPr>
                          <m:t>|</m:t>
                        </m:r>
                        <m:r>
                          <a:rPr lang="en-US" b="0" i="1" smtClean="0">
                            <a:latin typeface="Cambria Math"/>
                          </a:rPr>
                          <m:t>𝑝</m:t>
                        </m:r>
                        <m:r>
                          <a:rPr lang="en-US" b="0" i="1" smtClean="0">
                            <a:latin typeface="Cambria Math"/>
                          </a:rPr>
                          <m:t>=0.25</m:t>
                        </m:r>
                      </m:e>
                    </m:d>
                    <m:r>
                      <a:rPr lang="en-US" b="0" i="1" smtClean="0">
                        <a:latin typeface="Cambria Math"/>
                      </a:rPr>
                      <m:t>&lt;0.01. </m:t>
                    </m:r>
                  </m:oMath>
                </a14:m>
                <a:r>
                  <a:rPr lang="en-US" dirty="0"/>
                  <a:t>Then we would have to have at least 11 people (0.00394) be protected for at least two years before we’d be willing to reject the null hypothesis.</a:t>
                </a:r>
              </a:p>
              <a:p>
                <a:endParaRPr lang="en-US" dirty="0"/>
              </a:p>
              <a:p>
                <a:r>
                  <a:rPr lang="en-US" dirty="0"/>
                  <a:t>So, as we mentioned, this method of decision making is equivalent to what we described in 10.1 – it’s all based on probability.</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593" t="-1667" b="-278"/>
                </a:stretch>
              </a:blipFill>
            </p:spPr>
            <p:txBody>
              <a:bodyPr/>
              <a:lstStyle/>
              <a:p>
                <a:r>
                  <a:rPr lang="en-US">
                    <a:noFill/>
                  </a:rPr>
                  <a:t> </a:t>
                </a:r>
              </a:p>
            </p:txBody>
          </p:sp>
        </mc:Fallback>
      </mc:AlternateContent>
    </p:spTree>
    <p:extLst>
      <p:ext uri="{BB962C8B-B14F-4D97-AF65-F5344CB8AC3E}">
        <p14:creationId xmlns:p14="http://schemas.microsoft.com/office/powerpoint/2010/main" val="15592151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10.2 – Testing a Hypothesis</a:t>
            </a:r>
          </a:p>
        </p:txBody>
      </p:sp>
      <p:sp>
        <p:nvSpPr>
          <p:cNvPr id="3" name="Content Placeholder 2"/>
          <p:cNvSpPr>
            <a:spLocks noGrp="1"/>
          </p:cNvSpPr>
          <p:nvPr>
            <p:ph idx="1"/>
          </p:nvPr>
        </p:nvSpPr>
        <p:spPr/>
        <p:txBody>
          <a:bodyPr>
            <a:normAutofit/>
          </a:bodyPr>
          <a:lstStyle/>
          <a:p>
            <a:r>
              <a:rPr lang="en-US" dirty="0"/>
              <a:t>This idea leads us into the next topic: types of errors. The reason we made the acceptable probability smaller in the previous example was because </a:t>
            </a:r>
            <a:r>
              <a:rPr lang="en-US" i="1" dirty="0"/>
              <a:t>we didn’t want to conclude that the new vaccine was better when it actually wasn’t</a:t>
            </a:r>
            <a:r>
              <a:rPr lang="en-US" dirty="0"/>
              <a:t>. </a:t>
            </a:r>
          </a:p>
          <a:p>
            <a:endParaRPr lang="en-US" dirty="0"/>
          </a:p>
          <a:p>
            <a:r>
              <a:rPr lang="en-US" dirty="0"/>
              <a:t>We were trying to protect against making what is called a </a:t>
            </a:r>
            <a:r>
              <a:rPr lang="en-US" i="1" dirty="0"/>
              <a:t>type I error</a:t>
            </a:r>
            <a:r>
              <a:rPr lang="en-US" dirty="0"/>
              <a:t>, or </a:t>
            </a:r>
            <a:r>
              <a:rPr lang="en-US" i="1" dirty="0"/>
              <a:t>false positive</a:t>
            </a:r>
            <a:r>
              <a:rPr lang="en-US" dirty="0"/>
              <a:t>.</a:t>
            </a:r>
          </a:p>
        </p:txBody>
      </p:sp>
    </p:spTree>
    <p:extLst>
      <p:ext uri="{BB962C8B-B14F-4D97-AF65-F5344CB8AC3E}">
        <p14:creationId xmlns:p14="http://schemas.microsoft.com/office/powerpoint/2010/main" val="42534167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10.2 – Testing a Hypothesis</a:t>
            </a:r>
          </a:p>
        </p:txBody>
      </p:sp>
      <p:sp>
        <p:nvSpPr>
          <p:cNvPr id="3" name="Content Placeholder 2"/>
          <p:cNvSpPr>
            <a:spLocks noGrp="1"/>
          </p:cNvSpPr>
          <p:nvPr>
            <p:ph idx="1"/>
          </p:nvPr>
        </p:nvSpPr>
        <p:spPr/>
        <p:txBody>
          <a:bodyPr>
            <a:normAutofit/>
          </a:bodyPr>
          <a:lstStyle/>
          <a:p>
            <a:r>
              <a:rPr lang="en-US" dirty="0"/>
              <a:t>A </a:t>
            </a:r>
            <a:r>
              <a:rPr lang="en-US" i="1" dirty="0"/>
              <a:t>type I error</a:t>
            </a:r>
            <a:r>
              <a:rPr lang="en-US" dirty="0"/>
              <a:t> occurs when we reject a true null hypothesis. This is called a </a:t>
            </a:r>
            <a:r>
              <a:rPr lang="en-US" i="1" dirty="0"/>
              <a:t>false positive</a:t>
            </a:r>
            <a:r>
              <a:rPr lang="en-US" dirty="0"/>
              <a:t> or you can think of it as a “false alarm.”</a:t>
            </a:r>
          </a:p>
          <a:p>
            <a:endParaRPr lang="en-US" dirty="0"/>
          </a:p>
          <a:p>
            <a:r>
              <a:rPr lang="en-US" dirty="0"/>
              <a:t>A </a:t>
            </a:r>
            <a:r>
              <a:rPr lang="en-US" i="1" dirty="0"/>
              <a:t>type II error </a:t>
            </a:r>
            <a:r>
              <a:rPr lang="en-US" dirty="0"/>
              <a:t>occurs when we fail to reject a false null hypothesis. This is called a </a:t>
            </a:r>
            <a:r>
              <a:rPr lang="en-US" i="1" dirty="0"/>
              <a:t>false negative</a:t>
            </a:r>
            <a:r>
              <a:rPr lang="en-US" dirty="0"/>
              <a:t>, or you can think of it as a “missed opportunity.”</a:t>
            </a:r>
          </a:p>
          <a:p>
            <a:endParaRPr lang="en-US" dirty="0"/>
          </a:p>
          <a:p>
            <a:r>
              <a:rPr lang="en-US" dirty="0"/>
              <a:t>These are summarized well with a table.</a:t>
            </a:r>
          </a:p>
        </p:txBody>
      </p:sp>
    </p:spTree>
    <p:extLst>
      <p:ext uri="{BB962C8B-B14F-4D97-AF65-F5344CB8AC3E}">
        <p14:creationId xmlns:p14="http://schemas.microsoft.com/office/powerpoint/2010/main" val="39151912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10.2 – Testing a Hypothesis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dirty="0"/>
                  <a:t>Example: For each of the following hypothesis tests, describe both kinds of errors in words. It may be helpful to first write out (or remind yourself of) the hypotheses for each.</a:t>
                </a:r>
              </a:p>
              <a:p>
                <a:pPr lvl="1"/>
                <a:r>
                  <a:rPr lang="en-US" dirty="0"/>
                  <a:t>The vaccine example we have been working with</a:t>
                </a:r>
              </a:p>
              <a:p>
                <a:pPr lvl="1"/>
                <a:r>
                  <a:rPr lang="en-US" dirty="0"/>
                  <a:t>A manufacturing process requires that the mean weight of the product is </a:t>
                </a:r>
                <a14:m>
                  <m:oMath xmlns:m="http://schemas.openxmlformats.org/officeDocument/2006/math">
                    <m:r>
                      <a:rPr lang="en-US" i="1">
                        <a:latin typeface="Cambria Math"/>
                      </a:rPr>
                      <m:t>0.23</m:t>
                    </m:r>
                  </m:oMath>
                </a14:m>
                <a:r>
                  <a:rPr lang="en-US" dirty="0"/>
                  <a:t>g. Quality control wants to test if the mean weight for all products produced is actually </a:t>
                </a:r>
                <a14:m>
                  <m:oMath xmlns:m="http://schemas.openxmlformats.org/officeDocument/2006/math">
                    <m:r>
                      <a:rPr lang="en-US" i="1">
                        <a:latin typeface="Cambria Math"/>
                      </a:rPr>
                      <m:t>0</m:t>
                    </m:r>
                    <m:r>
                      <a:rPr lang="en-US" i="1">
                        <a:latin typeface="Cambria Math"/>
                      </a:rPr>
                      <m:t>.23</m:t>
                    </m:r>
                  </m:oMath>
                </a14:m>
                <a:r>
                  <a:rPr lang="en-US" dirty="0"/>
                  <a:t>g.</a:t>
                </a:r>
              </a:p>
              <a:p>
                <a:pPr lvl="1"/>
                <a:r>
                  <a:rPr lang="en-US" dirty="0"/>
                  <a:t>A company wants to test the theory that it has more daily customers, on average, than one of its competitors.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889" t="-2083" r="-222"/>
                </a:stretch>
              </a:blipFill>
            </p:spPr>
            <p:txBody>
              <a:bodyPr/>
              <a:lstStyle/>
              <a:p>
                <a:r>
                  <a:rPr lang="en-US">
                    <a:noFill/>
                  </a:rPr>
                  <a:t> </a:t>
                </a:r>
              </a:p>
            </p:txBody>
          </p:sp>
        </mc:Fallback>
      </mc:AlternateContent>
    </p:spTree>
    <p:extLst>
      <p:ext uri="{BB962C8B-B14F-4D97-AF65-F5344CB8AC3E}">
        <p14:creationId xmlns:p14="http://schemas.microsoft.com/office/powerpoint/2010/main" val="13020861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10.2 – Testing a Hypothesis</a:t>
            </a:r>
          </a:p>
        </p:txBody>
      </p:sp>
      <p:sp>
        <p:nvSpPr>
          <p:cNvPr id="3" name="Content Placeholder 2"/>
          <p:cNvSpPr>
            <a:spLocks noGrp="1"/>
          </p:cNvSpPr>
          <p:nvPr>
            <p:ph idx="1"/>
          </p:nvPr>
        </p:nvSpPr>
        <p:spPr/>
        <p:txBody>
          <a:bodyPr>
            <a:normAutofit fontScale="85000" lnSpcReduction="20000"/>
          </a:bodyPr>
          <a:lstStyle/>
          <a:p>
            <a:r>
              <a:rPr lang="en-US" dirty="0"/>
              <a:t>Vaccine example:</a:t>
            </a:r>
          </a:p>
          <a:p>
            <a:pPr lvl="1"/>
            <a:r>
              <a:rPr lang="en-US" dirty="0"/>
              <a:t>A type I error would be claiming the new vaccine is superior when in fact it is not.</a:t>
            </a:r>
          </a:p>
          <a:p>
            <a:pPr lvl="1"/>
            <a:r>
              <a:rPr lang="en-US" dirty="0"/>
              <a:t>A type II error would be failing to find that the new vaccine is superior when it actually is.</a:t>
            </a:r>
          </a:p>
          <a:p>
            <a:r>
              <a:rPr lang="en-US" dirty="0"/>
              <a:t>Manufacturing:</a:t>
            </a:r>
          </a:p>
          <a:p>
            <a:pPr lvl="1"/>
            <a:r>
              <a:rPr lang="en-US" dirty="0"/>
              <a:t>Type I: Claiming that the mean weight is not 0.23 when it really is.</a:t>
            </a:r>
          </a:p>
          <a:p>
            <a:pPr lvl="1"/>
            <a:r>
              <a:rPr lang="en-US" dirty="0"/>
              <a:t>Type II: Failing to claim that the mean is not 0.23 when it is not actually 0.23.</a:t>
            </a:r>
          </a:p>
          <a:p>
            <a:r>
              <a:rPr lang="en-US" dirty="0"/>
              <a:t>Daily customers:</a:t>
            </a:r>
          </a:p>
          <a:p>
            <a:pPr lvl="1"/>
            <a:r>
              <a:rPr lang="en-US" dirty="0"/>
              <a:t>Type I: Claiming that the company has more daily customers, on average, when, in reality, the competitor has more.</a:t>
            </a:r>
          </a:p>
          <a:p>
            <a:pPr lvl="1"/>
            <a:r>
              <a:rPr lang="en-US" dirty="0"/>
              <a:t>Type II: Failing to find that the company has more daily customers, on average,  when they really do.</a:t>
            </a:r>
          </a:p>
        </p:txBody>
      </p:sp>
    </p:spTree>
    <p:extLst>
      <p:ext uri="{BB962C8B-B14F-4D97-AF65-F5344CB8AC3E}">
        <p14:creationId xmlns:p14="http://schemas.microsoft.com/office/powerpoint/2010/main" val="21712439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10.2 – Testing a Hypothesis</a:t>
            </a:r>
          </a:p>
        </p:txBody>
      </p:sp>
      <p:sp>
        <p:nvSpPr>
          <p:cNvPr id="3" name="Content Placeholder 2"/>
          <p:cNvSpPr>
            <a:spLocks noGrp="1"/>
          </p:cNvSpPr>
          <p:nvPr>
            <p:ph idx="1"/>
          </p:nvPr>
        </p:nvSpPr>
        <p:spPr/>
        <p:txBody>
          <a:bodyPr>
            <a:normAutofit fontScale="92500"/>
          </a:bodyPr>
          <a:lstStyle/>
          <a:p>
            <a:r>
              <a:rPr lang="en-US" dirty="0"/>
              <a:t>Which type of error is worse depends largely on the context. Think about the examples we just looked at. Which error is worse in each example? It may be hard to tell.</a:t>
            </a:r>
          </a:p>
          <a:p>
            <a:pPr marL="0" indent="0">
              <a:buNone/>
            </a:pPr>
            <a:endParaRPr lang="en-US" dirty="0"/>
          </a:p>
          <a:p>
            <a:r>
              <a:rPr lang="en-US" dirty="0"/>
              <a:t>Typically in statistics, we are more concerned with making type I than type II errors. For this reason, critical regions for hypothesis tests are based on the probability of a type I error. That is, we set the probability of making a type I error to some acceptable level (like we did in the vaccine example using 0.01) and use that to define the critical region.</a:t>
            </a:r>
          </a:p>
        </p:txBody>
      </p:sp>
    </p:spTree>
    <p:extLst>
      <p:ext uri="{BB962C8B-B14F-4D97-AF65-F5344CB8AC3E}">
        <p14:creationId xmlns:p14="http://schemas.microsoft.com/office/powerpoint/2010/main" val="32247768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10.2 – Testing a Hypothesis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The probability of a type I error is also called the </a:t>
                </a:r>
                <a:r>
                  <a:rPr lang="en-US" i="1" dirty="0"/>
                  <a:t>level of significance</a:t>
                </a:r>
                <a:r>
                  <a:rPr lang="en-US" dirty="0"/>
                  <a:t> and is denoted by </a:t>
                </a:r>
                <a14:m>
                  <m:oMath xmlns:m="http://schemas.openxmlformats.org/officeDocument/2006/math">
                    <m:r>
                      <a:rPr lang="en-US" b="0" i="1" smtClean="0">
                        <a:latin typeface="Cambria Math"/>
                      </a:rPr>
                      <m:t>𝛼</m:t>
                    </m:r>
                  </m:oMath>
                </a14:m>
                <a:r>
                  <a:rPr lang="en-US" dirty="0"/>
                  <a:t>. For the first critical region from the vaccine example, we had</a:t>
                </a:r>
              </a:p>
              <a:p>
                <a:pPr marL="0" indent="0">
                  <a:buNone/>
                </a:pPr>
                <a14:m>
                  <m:oMath xmlns:m="http://schemas.openxmlformats.org/officeDocument/2006/math">
                    <m:r>
                      <a:rPr lang="en-US" b="0" i="1" smtClean="0">
                        <a:latin typeface="Cambria Math"/>
                      </a:rPr>
                      <m:t>𝛼</m:t>
                    </m:r>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m:rPr>
                            <m:sty m:val="p"/>
                          </m:rPr>
                          <a:rPr lang="en-US" b="0" i="0" smtClean="0">
                            <a:latin typeface="Cambria Math"/>
                          </a:rPr>
                          <m:t>type</m:t>
                        </m:r>
                        <m:r>
                          <a:rPr lang="en-US" b="0" i="0" smtClean="0">
                            <a:latin typeface="Cambria Math"/>
                          </a:rPr>
                          <m:t> </m:t>
                        </m:r>
                        <m:r>
                          <m:rPr>
                            <m:sty m:val="p"/>
                          </m:rPr>
                          <a:rPr lang="en-US" b="0" i="0" smtClean="0">
                            <a:latin typeface="Cambria Math"/>
                          </a:rPr>
                          <m:t>I</m:t>
                        </m:r>
                        <m:r>
                          <a:rPr lang="en-US" b="0" i="0" smtClean="0">
                            <a:latin typeface="Cambria Math"/>
                          </a:rPr>
                          <m:t> </m:t>
                        </m:r>
                        <m:r>
                          <m:rPr>
                            <m:sty m:val="p"/>
                          </m:rPr>
                          <a:rPr lang="en-US" b="0" i="0" smtClean="0">
                            <a:latin typeface="Cambria Math"/>
                          </a:rPr>
                          <m:t>error</m:t>
                        </m:r>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m:rPr>
                            <m:sty m:val="p"/>
                          </m:rPr>
                          <a:rPr lang="en-US" b="0" i="0" smtClean="0">
                            <a:latin typeface="Cambria Math"/>
                          </a:rPr>
                          <m:t>reject</m:t>
                        </m:r>
                        <m:r>
                          <a:rPr lang="en-US" b="0" i="1" smtClean="0">
                            <a:latin typeface="Cambria Math"/>
                          </a:rPr>
                          <m:t> </m:t>
                        </m:r>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0</m:t>
                            </m:r>
                          </m:sub>
                        </m:sSub>
                      </m:e>
                      <m:e>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0</m:t>
                            </m:r>
                          </m:sub>
                        </m:sSub>
                        <m:r>
                          <a:rPr lang="en-US" b="0" i="1" smtClean="0">
                            <a:latin typeface="Cambria Math"/>
                          </a:rPr>
                          <m:t> </m:t>
                        </m:r>
                        <m:r>
                          <m:rPr>
                            <m:sty m:val="p"/>
                          </m:rPr>
                          <a:rPr lang="en-US" b="0" i="0" smtClean="0">
                            <a:latin typeface="Cambria Math"/>
                          </a:rPr>
                          <m:t>is</m:t>
                        </m:r>
                        <m:r>
                          <a:rPr lang="en-US" b="0" i="0" smtClean="0">
                            <a:latin typeface="Cambria Math"/>
                          </a:rPr>
                          <m:t> </m:t>
                        </m:r>
                        <m:r>
                          <m:rPr>
                            <m:sty m:val="p"/>
                          </m:rPr>
                          <a:rPr lang="en-US" b="0" i="0" smtClean="0">
                            <a:latin typeface="Cambria Math"/>
                          </a:rPr>
                          <m:t>true</m:t>
                        </m:r>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𝑋</m:t>
                        </m:r>
                        <m:r>
                          <a:rPr lang="en-US" b="0" i="1" smtClean="0">
                            <a:latin typeface="Cambria Math"/>
                          </a:rPr>
                          <m:t>&gt;8 </m:t>
                        </m:r>
                        <m:r>
                          <m:rPr>
                            <m:sty m:val="p"/>
                          </m:rPr>
                          <a:rPr lang="en-US" b="0" i="0" smtClean="0">
                            <a:latin typeface="Cambria Math"/>
                          </a:rPr>
                          <m:t>when</m:t>
                        </m:r>
                        <m:r>
                          <a:rPr lang="en-US" b="0" i="0" smtClean="0">
                            <a:latin typeface="Cambria Math"/>
                          </a:rPr>
                          <m:t> </m:t>
                        </m:r>
                        <m:r>
                          <a:rPr lang="en-US" b="0" i="1" smtClean="0">
                            <a:latin typeface="Cambria Math"/>
                          </a:rPr>
                          <m:t>𝑝</m:t>
                        </m:r>
                        <m:r>
                          <a:rPr lang="en-US" b="0" i="1" smtClean="0">
                            <a:latin typeface="Cambria Math"/>
                          </a:rPr>
                          <m:t>=0.25</m:t>
                        </m:r>
                      </m:e>
                    </m:d>
                    <m:r>
                      <a:rPr lang="en-US" b="0" i="1" smtClean="0">
                        <a:latin typeface="Cambria Math"/>
                      </a:rPr>
                      <m:t>=0.0409</m:t>
                    </m:r>
                  </m:oMath>
                </a14:m>
                <a:r>
                  <a:rPr lang="en-US" dirty="0"/>
                  <a:t> as we saw earlier.</a:t>
                </a:r>
              </a:p>
              <a:p>
                <a:pPr marL="0" indent="0">
                  <a:buNone/>
                </a:pPr>
                <a:endParaRPr lang="en-US" dirty="0"/>
              </a:p>
              <a:p>
                <a:r>
                  <a:rPr lang="en-US" dirty="0"/>
                  <a:t>What is the level of significance for the second test (where the critical value was 10 rather than 8)?</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889" t="-1111"/>
                </a:stretch>
              </a:blipFill>
            </p:spPr>
            <p:txBody>
              <a:bodyPr/>
              <a:lstStyle/>
              <a:p>
                <a:r>
                  <a:rPr lang="en-US">
                    <a:noFill/>
                  </a:rPr>
                  <a:t> </a:t>
                </a:r>
              </a:p>
            </p:txBody>
          </p:sp>
        </mc:Fallback>
      </mc:AlternateContent>
    </p:spTree>
    <p:extLst>
      <p:ext uri="{BB962C8B-B14F-4D97-AF65-F5344CB8AC3E}">
        <p14:creationId xmlns:p14="http://schemas.microsoft.com/office/powerpoint/2010/main" val="15102558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10.2 – Testing a Hypothesis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10000"/>
              </a:bodyPr>
              <a:lstStyle/>
              <a:p>
                <a:r>
                  <a:rPr lang="en-US" dirty="0"/>
                  <a:t>This time, </a:t>
                </a:r>
                <a14:m>
                  <m:oMath xmlns:m="http://schemas.openxmlformats.org/officeDocument/2006/math">
                    <m:r>
                      <a:rPr lang="en-US" b="0" i="1" smtClean="0">
                        <a:latin typeface="Cambria Math"/>
                      </a:rPr>
                      <m:t>𝛼</m:t>
                    </m:r>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𝑋</m:t>
                        </m:r>
                        <m:r>
                          <a:rPr lang="en-US" b="0" i="1" smtClean="0">
                            <a:latin typeface="Cambria Math"/>
                          </a:rPr>
                          <m:t>&gt;10</m:t>
                        </m:r>
                      </m:e>
                      <m:e>
                        <m:r>
                          <a:rPr lang="en-US" b="0" i="1" smtClean="0">
                            <a:latin typeface="Cambria Math"/>
                          </a:rPr>
                          <m:t>𝑝</m:t>
                        </m:r>
                        <m:r>
                          <a:rPr lang="en-US" b="0" i="1" smtClean="0">
                            <a:latin typeface="Cambria Math"/>
                          </a:rPr>
                          <m:t>=0.25</m:t>
                        </m:r>
                      </m:e>
                    </m:d>
                    <m:r>
                      <a:rPr lang="en-US" b="0" i="1" smtClean="0">
                        <a:latin typeface="Cambria Math"/>
                      </a:rPr>
                      <m:t>=0.0039</m:t>
                    </m:r>
                  </m:oMath>
                </a14:m>
                <a:r>
                  <a:rPr lang="en-US" dirty="0"/>
                  <a:t>. That is, the probability of making a type I error with this test (critical region) is 0.0039. One more term for this is the </a:t>
                </a:r>
                <a:r>
                  <a:rPr lang="en-US" i="1" dirty="0"/>
                  <a:t>size of the test</a:t>
                </a:r>
                <a:r>
                  <a:rPr lang="en-US" dirty="0"/>
                  <a:t>.</a:t>
                </a:r>
              </a:p>
              <a:p>
                <a:endParaRPr lang="en-US" dirty="0"/>
              </a:p>
              <a:p>
                <a:r>
                  <a:rPr lang="en-US" dirty="0"/>
                  <a:t>To clarify, all of the following are used to denote the same thing:</a:t>
                </a:r>
              </a:p>
              <a:p>
                <a:pPr lvl="1"/>
                <a:r>
                  <a:rPr lang="en-US" dirty="0"/>
                  <a:t>Probability of a type I error</a:t>
                </a:r>
              </a:p>
              <a:p>
                <a:pPr lvl="1"/>
                <a14:m>
                  <m:oMath xmlns:m="http://schemas.openxmlformats.org/officeDocument/2006/math">
                    <m:r>
                      <a:rPr lang="en-US" b="0" i="1" smtClean="0">
                        <a:latin typeface="Cambria Math"/>
                      </a:rPr>
                      <m:t>𝛼</m:t>
                    </m:r>
                  </m:oMath>
                </a14:m>
                <a:endParaRPr lang="en-US" dirty="0"/>
              </a:p>
              <a:p>
                <a:pPr lvl="1"/>
                <a:r>
                  <a:rPr lang="en-US" dirty="0"/>
                  <a:t>Level of significance (or significance level)</a:t>
                </a:r>
              </a:p>
              <a:p>
                <a:pPr lvl="1"/>
                <a:r>
                  <a:rPr lang="en-US" dirty="0"/>
                  <a:t>Size of the test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41" t="-1944"/>
                </a:stretch>
              </a:blipFill>
            </p:spPr>
            <p:txBody>
              <a:bodyPr/>
              <a:lstStyle/>
              <a:p>
                <a:r>
                  <a:rPr lang="en-US">
                    <a:noFill/>
                  </a:rPr>
                  <a:t> </a:t>
                </a:r>
              </a:p>
            </p:txBody>
          </p:sp>
        </mc:Fallback>
      </mc:AlternateContent>
    </p:spTree>
    <p:extLst>
      <p:ext uri="{BB962C8B-B14F-4D97-AF65-F5344CB8AC3E}">
        <p14:creationId xmlns:p14="http://schemas.microsoft.com/office/powerpoint/2010/main" val="40235045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10.2 – Testing a Hypothesis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dirty="0"/>
                  <a:t>Since we usually define our null hypothesis to be that some parameter is </a:t>
                </a:r>
                <a:r>
                  <a:rPr lang="en-US" i="1" dirty="0"/>
                  <a:t>equal to </a:t>
                </a:r>
                <a:r>
                  <a:rPr lang="en-US" dirty="0"/>
                  <a:t>some value, we can calculate </a:t>
                </a:r>
                <a14:m>
                  <m:oMath xmlns:m="http://schemas.openxmlformats.org/officeDocument/2006/math">
                    <m:r>
                      <a:rPr lang="en-US" b="0" i="1" smtClean="0">
                        <a:latin typeface="Cambria Math"/>
                      </a:rPr>
                      <m:t>𝛼</m:t>
                    </m:r>
                  </m:oMath>
                </a14:m>
                <a:r>
                  <a:rPr lang="en-US" dirty="0"/>
                  <a:t> for any given test, and there will be exactly one value for </a:t>
                </a:r>
                <a14:m>
                  <m:oMath xmlns:m="http://schemas.openxmlformats.org/officeDocument/2006/math">
                    <m:r>
                      <a:rPr lang="en-US" b="0" i="1" smtClean="0">
                        <a:latin typeface="Cambria Math"/>
                      </a:rPr>
                      <m:t>𝛼</m:t>
                    </m:r>
                  </m:oMath>
                </a14:m>
                <a:r>
                  <a:rPr lang="en-US" dirty="0"/>
                  <a:t>.</a:t>
                </a:r>
              </a:p>
              <a:p>
                <a:endParaRPr lang="en-US" dirty="0"/>
              </a:p>
              <a:p>
                <a:r>
                  <a:rPr lang="en-US" dirty="0"/>
                  <a:t>The same is not true for the probability of a type II error, which is denoted by </a:t>
                </a:r>
                <a14:m>
                  <m:oMath xmlns:m="http://schemas.openxmlformats.org/officeDocument/2006/math">
                    <m:r>
                      <a:rPr lang="en-US" i="1">
                        <a:latin typeface="Cambria Math"/>
                      </a:rPr>
                      <m:t>𝛽</m:t>
                    </m:r>
                  </m:oMath>
                </a14:m>
                <a:r>
                  <a:rPr lang="en-US" dirty="0"/>
                  <a:t>. In the vaccine example, we used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1</m:t>
                        </m:r>
                      </m:sub>
                    </m:sSub>
                    <m:r>
                      <a:rPr lang="en-US" b="0" i="1" smtClean="0">
                        <a:latin typeface="Cambria Math"/>
                      </a:rPr>
                      <m:t>:</m:t>
                    </m:r>
                    <m:r>
                      <a:rPr lang="en-US" b="0" i="1" smtClean="0">
                        <a:latin typeface="Cambria Math"/>
                      </a:rPr>
                      <m:t>𝑝</m:t>
                    </m:r>
                    <m:r>
                      <a:rPr lang="en-US" b="0" i="1" smtClean="0">
                        <a:latin typeface="Cambria Math"/>
                      </a:rPr>
                      <m:t>&gt;0.25</m:t>
                    </m:r>
                  </m:oMath>
                </a14:m>
                <a:r>
                  <a:rPr lang="en-US" dirty="0"/>
                  <a:t>. This gives us </a:t>
                </a:r>
                <a14:m>
                  <m:oMath xmlns:m="http://schemas.openxmlformats.org/officeDocument/2006/math">
                    <m:r>
                      <a:rPr lang="en-US" b="0" i="1" smtClean="0">
                        <a:latin typeface="Cambria Math"/>
                      </a:rPr>
                      <m:t>𝛽</m:t>
                    </m:r>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m:rPr>
                            <m:sty m:val="p"/>
                          </m:rPr>
                          <a:rPr lang="en-US" b="0" i="0" smtClean="0">
                            <a:latin typeface="Cambria Math"/>
                          </a:rPr>
                          <m:t>type</m:t>
                        </m:r>
                        <m:r>
                          <a:rPr lang="en-US" b="0" i="0" smtClean="0">
                            <a:latin typeface="Cambria Math"/>
                          </a:rPr>
                          <m:t> </m:t>
                        </m:r>
                        <m:r>
                          <m:rPr>
                            <m:sty m:val="p"/>
                          </m:rPr>
                          <a:rPr lang="en-US" b="0" i="0" smtClean="0">
                            <a:latin typeface="Cambria Math"/>
                          </a:rPr>
                          <m:t>II</m:t>
                        </m:r>
                        <m:r>
                          <a:rPr lang="en-US" b="0" i="0" smtClean="0">
                            <a:latin typeface="Cambria Math"/>
                          </a:rPr>
                          <m:t> </m:t>
                        </m:r>
                        <m:r>
                          <m:rPr>
                            <m:sty m:val="p"/>
                          </m:rPr>
                          <a:rPr lang="en-US" b="0" i="0" smtClean="0">
                            <a:latin typeface="Cambria Math"/>
                          </a:rPr>
                          <m:t>error</m:t>
                        </m:r>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m:rPr>
                            <m:sty m:val="p"/>
                          </m:rPr>
                          <a:rPr lang="en-US" b="0" i="0" smtClean="0">
                            <a:latin typeface="Cambria Math"/>
                          </a:rPr>
                          <m:t>fail</m:t>
                        </m:r>
                        <m:r>
                          <a:rPr lang="en-US" b="0" i="0" smtClean="0">
                            <a:latin typeface="Cambria Math"/>
                          </a:rPr>
                          <m:t> </m:t>
                        </m:r>
                        <m:r>
                          <m:rPr>
                            <m:sty m:val="p"/>
                          </m:rPr>
                          <a:rPr lang="en-US" b="0" i="0" smtClean="0">
                            <a:latin typeface="Cambria Math"/>
                          </a:rPr>
                          <m:t>to</m:t>
                        </m:r>
                        <m:r>
                          <a:rPr lang="en-US" b="0" i="0" smtClean="0">
                            <a:latin typeface="Cambria Math"/>
                          </a:rPr>
                          <m:t> </m:t>
                        </m:r>
                        <m:r>
                          <m:rPr>
                            <m:sty m:val="p"/>
                          </m:rPr>
                          <a:rPr lang="en-US" b="0" i="0" smtClean="0">
                            <a:latin typeface="Cambria Math"/>
                          </a:rPr>
                          <m:t>reject</m:t>
                        </m:r>
                        <m:r>
                          <a:rPr lang="en-US" b="0" i="0" smtClean="0">
                            <a:latin typeface="Cambria Math"/>
                          </a:rPr>
                          <m:t> </m:t>
                        </m:r>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0</m:t>
                            </m:r>
                          </m:sub>
                        </m:sSub>
                      </m:e>
                      <m:e>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1</m:t>
                            </m:r>
                          </m:sub>
                        </m:sSub>
                        <m:r>
                          <a:rPr lang="en-US" b="0" i="1" smtClean="0">
                            <a:latin typeface="Cambria Math"/>
                          </a:rPr>
                          <m:t> </m:t>
                        </m:r>
                        <m:r>
                          <m:rPr>
                            <m:sty m:val="p"/>
                          </m:rPr>
                          <a:rPr lang="en-US" b="0" i="0" smtClean="0">
                            <a:latin typeface="Cambria Math"/>
                          </a:rPr>
                          <m:t>is</m:t>
                        </m:r>
                        <m:r>
                          <a:rPr lang="en-US" b="0" i="0" smtClean="0">
                            <a:latin typeface="Cambria Math"/>
                          </a:rPr>
                          <m:t> </m:t>
                        </m:r>
                        <m:r>
                          <m:rPr>
                            <m:sty m:val="p"/>
                          </m:rPr>
                          <a:rPr lang="en-US" b="0" i="0" smtClean="0">
                            <a:latin typeface="Cambria Math"/>
                          </a:rPr>
                          <m:t>true</m:t>
                        </m:r>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𝑋</m:t>
                        </m:r>
                        <m:r>
                          <a:rPr lang="en-US" b="0" i="1" smtClean="0">
                            <a:latin typeface="Cambria Math"/>
                          </a:rPr>
                          <m:t>≤10</m:t>
                        </m:r>
                      </m:e>
                      <m:e>
                        <m:r>
                          <a:rPr lang="en-US" b="0" i="1" smtClean="0">
                            <a:latin typeface="Cambria Math"/>
                          </a:rPr>
                          <m:t>𝑝</m:t>
                        </m:r>
                        <m:r>
                          <a:rPr lang="en-US" b="0" i="1" smtClean="0">
                            <a:latin typeface="Cambria Math"/>
                          </a:rPr>
                          <m:t>&gt;0.25</m:t>
                        </m:r>
                      </m:e>
                    </m:d>
                  </m:oMath>
                </a14:m>
                <a:r>
                  <a:rPr lang="en-US" dirty="0"/>
                  <a:t>. So there are infinitely many values for </a:t>
                </a:r>
                <a14:m>
                  <m:oMath xmlns:m="http://schemas.openxmlformats.org/officeDocument/2006/math">
                    <m:r>
                      <a:rPr lang="en-US" b="0" i="1" smtClean="0">
                        <a:latin typeface="Cambria Math"/>
                      </a:rPr>
                      <m:t>𝛽</m:t>
                    </m:r>
                  </m:oMath>
                </a14:m>
                <a:r>
                  <a:rPr lang="en-US" dirty="0"/>
                  <a:t> – it’s actually a function of </a:t>
                </a:r>
                <a14:m>
                  <m:oMath xmlns:m="http://schemas.openxmlformats.org/officeDocument/2006/math">
                    <m:r>
                      <a:rPr lang="en-US" b="0" i="1" smtClean="0">
                        <a:latin typeface="Cambria Math"/>
                      </a:rPr>
                      <m:t>𝑝</m:t>
                    </m:r>
                  </m:oMath>
                </a14:m>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889" t="-2083" r="-148"/>
                </a:stretch>
              </a:blipFill>
            </p:spPr>
            <p:txBody>
              <a:bodyPr/>
              <a:lstStyle/>
              <a:p>
                <a:r>
                  <a:rPr lang="en-US">
                    <a:noFill/>
                  </a:rPr>
                  <a:t> </a:t>
                </a:r>
              </a:p>
            </p:txBody>
          </p:sp>
        </mc:Fallback>
      </mc:AlternateContent>
    </p:spTree>
    <p:extLst>
      <p:ext uri="{BB962C8B-B14F-4D97-AF65-F5344CB8AC3E}">
        <p14:creationId xmlns:p14="http://schemas.microsoft.com/office/powerpoint/2010/main" val="18602106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10.2 – Testing a Hypothesis</a:t>
            </a: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77281" y="1935163"/>
            <a:ext cx="4389437" cy="43894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057514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10.2 – Testing a Hypothesis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We see that the closer </a:t>
                </a:r>
                <a14:m>
                  <m:oMath xmlns:m="http://schemas.openxmlformats.org/officeDocument/2006/math">
                    <m:r>
                      <a:rPr lang="en-US" b="0" i="1" smtClean="0">
                        <a:latin typeface="Cambria Math"/>
                      </a:rPr>
                      <m:t>𝑝</m:t>
                    </m:r>
                  </m:oMath>
                </a14:m>
                <a:r>
                  <a:rPr lang="en-US" dirty="0"/>
                  <a:t> is to </a:t>
                </a:r>
                <a14:m>
                  <m:oMath xmlns:m="http://schemas.openxmlformats.org/officeDocument/2006/math">
                    <m:r>
                      <a:rPr lang="en-US" b="0" i="1" smtClean="0">
                        <a:latin typeface="Cambria Math"/>
                      </a:rPr>
                      <m:t>0.25</m:t>
                    </m:r>
                  </m:oMath>
                </a14:m>
                <a:r>
                  <a:rPr lang="en-US" dirty="0"/>
                  <a:t>, the more likely we are to make a type II error. </a:t>
                </a:r>
              </a:p>
              <a:p>
                <a:endParaRPr lang="en-US" dirty="0"/>
              </a:p>
              <a:p>
                <a:r>
                  <a:rPr lang="en-US" dirty="0"/>
                  <a:t>You may be asked to find the probability of making a type II error for specific values of the parameter of interest. For example, using the second critical region (where 10 is the critical value), find </a:t>
                </a:r>
                <a14:m>
                  <m:oMath xmlns:m="http://schemas.openxmlformats.org/officeDocument/2006/math">
                    <m:r>
                      <a:rPr lang="en-US" b="0" i="1" smtClean="0">
                        <a:latin typeface="Cambria Math"/>
                      </a:rPr>
                      <m:t>𝛽</m:t>
                    </m:r>
                  </m:oMath>
                </a14:m>
                <a:r>
                  <a:rPr lang="en-US" dirty="0"/>
                  <a:t> when </a:t>
                </a:r>
                <a14:m>
                  <m:oMath xmlns:m="http://schemas.openxmlformats.org/officeDocument/2006/math">
                    <m:r>
                      <a:rPr lang="en-US" b="0" i="1" smtClean="0">
                        <a:latin typeface="Cambria Math"/>
                      </a:rPr>
                      <m:t>𝑝</m:t>
                    </m:r>
                    <m:r>
                      <a:rPr lang="en-US" b="0" i="1" smtClean="0">
                        <a:latin typeface="Cambria Math"/>
                      </a:rPr>
                      <m:t>=0.5</m:t>
                    </m:r>
                  </m:oMath>
                </a14:m>
                <a:r>
                  <a:rPr lang="en-US" dirty="0"/>
                  <a:t> and when </a:t>
                </a:r>
                <a14:m>
                  <m:oMath xmlns:m="http://schemas.openxmlformats.org/officeDocument/2006/math">
                    <m:r>
                      <a:rPr lang="en-US" b="0" i="1" smtClean="0">
                        <a:latin typeface="Cambria Math"/>
                      </a:rPr>
                      <m:t>𝑝</m:t>
                    </m:r>
                    <m:r>
                      <a:rPr lang="en-US" b="0" i="1" smtClean="0">
                        <a:latin typeface="Cambria Math"/>
                      </a:rPr>
                      <m:t>=0.80</m:t>
                    </m:r>
                  </m:oMath>
                </a14:m>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889" t="-1250"/>
                </a:stretch>
              </a:blipFill>
            </p:spPr>
            <p:txBody>
              <a:bodyPr/>
              <a:lstStyle/>
              <a:p>
                <a:r>
                  <a:rPr lang="en-US">
                    <a:noFill/>
                  </a:rPr>
                  <a:t> </a:t>
                </a:r>
              </a:p>
            </p:txBody>
          </p:sp>
        </mc:Fallback>
      </mc:AlternateContent>
    </p:spTree>
    <p:extLst>
      <p:ext uri="{BB962C8B-B14F-4D97-AF65-F5344CB8AC3E}">
        <p14:creationId xmlns:p14="http://schemas.microsoft.com/office/powerpoint/2010/main" val="33900776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10.2 – Testing a Hypothesis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We have </a:t>
                </a:r>
                <a14:m>
                  <m:oMath xmlns:m="http://schemas.openxmlformats.org/officeDocument/2006/math">
                    <m:r>
                      <a:rPr lang="en-US" b="0" i="1" smtClean="0">
                        <a:latin typeface="Cambria Math"/>
                      </a:rPr>
                      <m:t>𝑃</m:t>
                    </m:r>
                    <m:d>
                      <m:dPr>
                        <m:endChr m:val="|"/>
                        <m:ctrlPr>
                          <a:rPr lang="en-US" b="0" i="1" smtClean="0">
                            <a:latin typeface="Cambria Math" panose="02040503050406030204" pitchFamily="18" charset="0"/>
                          </a:rPr>
                        </m:ctrlPr>
                      </m:dPr>
                      <m:e>
                        <m:r>
                          <a:rPr lang="en-US" b="0" i="1" smtClean="0">
                            <a:latin typeface="Cambria Math"/>
                          </a:rPr>
                          <m:t>𝑋</m:t>
                        </m:r>
                        <m:r>
                          <a:rPr lang="en-US" b="0" i="1" smtClean="0">
                            <a:latin typeface="Cambria Math"/>
                          </a:rPr>
                          <m:t>≤10</m:t>
                        </m:r>
                      </m:e>
                    </m:d>
                    <m:r>
                      <a:rPr lang="en-US" b="0" i="1" smtClean="0">
                        <a:latin typeface="Cambria Math"/>
                      </a:rPr>
                      <m:t>𝑝</m:t>
                    </m:r>
                    <m:r>
                      <a:rPr lang="en-US" b="0" i="1" smtClean="0">
                        <a:latin typeface="Cambria Math"/>
                      </a:rPr>
                      <m:t>=0.5)=0.5881</m:t>
                    </m:r>
                  </m:oMath>
                </a14:m>
                <a:r>
                  <a:rPr lang="en-US" dirty="0"/>
                  <a:t> and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𝑋</m:t>
                        </m:r>
                        <m:r>
                          <a:rPr lang="en-US" b="0" i="1" smtClean="0">
                            <a:latin typeface="Cambria Math"/>
                          </a:rPr>
                          <m:t>≤10</m:t>
                        </m:r>
                      </m:e>
                      <m:e>
                        <m:r>
                          <a:rPr lang="en-US" b="0" i="1" smtClean="0">
                            <a:latin typeface="Cambria Math"/>
                          </a:rPr>
                          <m:t>𝑝</m:t>
                        </m:r>
                        <m:r>
                          <a:rPr lang="en-US" b="0" i="1" smtClean="0">
                            <a:latin typeface="Cambria Math"/>
                          </a:rPr>
                          <m:t>=0.80</m:t>
                        </m:r>
                      </m:e>
                    </m:d>
                    <m:r>
                      <a:rPr lang="en-US" b="0" i="1" smtClean="0">
                        <a:latin typeface="Cambria Math"/>
                      </a:rPr>
                      <m:t>=0.0026</m:t>
                    </m:r>
                  </m:oMath>
                </a14:m>
                <a:r>
                  <a:rPr lang="en-US" dirty="0"/>
                  <a:t>. These can be found on table A.1 or the app.</a:t>
                </a:r>
              </a:p>
              <a:p>
                <a:endParaRPr lang="en-US" dirty="0"/>
              </a:p>
              <a:p>
                <a:pPr marL="0" indent="0">
                  <a:buNone/>
                </a:pPr>
                <a:endParaRPr lang="en-US" dirty="0"/>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889" t="-1250" r="-370"/>
                </a:stretch>
              </a:blipFill>
            </p:spPr>
            <p:txBody>
              <a:bodyPr/>
              <a:lstStyle/>
              <a:p>
                <a:r>
                  <a:rPr lang="en-US">
                    <a:noFill/>
                  </a:rPr>
                  <a:t> </a:t>
                </a:r>
              </a:p>
            </p:txBody>
          </p:sp>
        </mc:Fallback>
      </mc:AlternateContent>
    </p:spTree>
    <p:extLst>
      <p:ext uri="{BB962C8B-B14F-4D97-AF65-F5344CB8AC3E}">
        <p14:creationId xmlns:p14="http://schemas.microsoft.com/office/powerpoint/2010/main" val="12962776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10.2 – Testing a Hypothesis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Let’s look back at an illustration of the critical region. Without calculating anything (or with calculations if you really want), what happens to </a:t>
                </a:r>
                <a14:m>
                  <m:oMath xmlns:m="http://schemas.openxmlformats.org/officeDocument/2006/math">
                    <m:r>
                      <a:rPr lang="en-US" b="0" i="1" smtClean="0">
                        <a:latin typeface="Cambria Math"/>
                      </a:rPr>
                      <m:t>𝛼</m:t>
                    </m:r>
                  </m:oMath>
                </a14:m>
                <a:r>
                  <a:rPr lang="en-US" dirty="0"/>
                  <a:t> and </a:t>
                </a:r>
                <a14:m>
                  <m:oMath xmlns:m="http://schemas.openxmlformats.org/officeDocument/2006/math">
                    <m:r>
                      <a:rPr lang="en-US" b="0" i="1" smtClean="0">
                        <a:latin typeface="Cambria Math"/>
                      </a:rPr>
                      <m:t>𝛽</m:t>
                    </m:r>
                  </m:oMath>
                </a14:m>
                <a:r>
                  <a:rPr lang="en-US" dirty="0"/>
                  <a:t> if I change the size of the critical region?</a:t>
                </a:r>
              </a:p>
              <a:p>
                <a:endParaRPr lang="en-US" dirty="0"/>
              </a:p>
              <a:p>
                <a:pPr marL="0" indent="0">
                  <a:buNone/>
                </a:pPr>
                <a:endParaRPr lang="en-US" dirty="0"/>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889" t="-1111"/>
                </a:stretch>
              </a:blipFill>
            </p:spPr>
            <p:txBody>
              <a:bodyPr/>
              <a:lstStyle/>
              <a:p>
                <a:r>
                  <a:rPr lang="en-US">
                    <a:noFill/>
                  </a:rPr>
                  <a:t> </a:t>
                </a:r>
              </a:p>
            </p:txBody>
          </p:sp>
        </mc:Fallback>
      </mc:AlternateContent>
    </p:spTree>
    <p:extLst>
      <p:ext uri="{BB962C8B-B14F-4D97-AF65-F5344CB8AC3E}">
        <p14:creationId xmlns:p14="http://schemas.microsoft.com/office/powerpoint/2010/main" val="3708795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10.2 – Testing a Hypothesis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10000"/>
              </a:bodyPr>
              <a:lstStyle/>
              <a:p>
                <a:r>
                  <a:rPr lang="en-US" dirty="0"/>
                  <a:t>For a given sample size, increasing </a:t>
                </a:r>
                <a14:m>
                  <m:oMath xmlns:m="http://schemas.openxmlformats.org/officeDocument/2006/math">
                    <m:r>
                      <a:rPr lang="en-US" b="0" i="1" smtClean="0">
                        <a:latin typeface="Cambria Math"/>
                      </a:rPr>
                      <m:t>𝛼</m:t>
                    </m:r>
                  </m:oMath>
                </a14:m>
                <a:r>
                  <a:rPr lang="en-US" dirty="0"/>
                  <a:t> will cause </a:t>
                </a:r>
                <a14:m>
                  <m:oMath xmlns:m="http://schemas.openxmlformats.org/officeDocument/2006/math">
                    <m:r>
                      <a:rPr lang="en-US" b="0" i="1" smtClean="0">
                        <a:latin typeface="Cambria Math"/>
                      </a:rPr>
                      <m:t>𝛽</m:t>
                    </m:r>
                  </m:oMath>
                </a14:m>
                <a:r>
                  <a:rPr lang="en-US" dirty="0"/>
                  <a:t> to decrease and vice-versa. </a:t>
                </a:r>
              </a:p>
              <a:p>
                <a:endParaRPr lang="en-US" dirty="0"/>
              </a:p>
              <a:p>
                <a:r>
                  <a:rPr lang="en-US" dirty="0"/>
                  <a:t>Thus minimizing both types of errors is difficult, if not impossible. For this reason, the classical approach is to fix </a:t>
                </a:r>
                <a14:m>
                  <m:oMath xmlns:m="http://schemas.openxmlformats.org/officeDocument/2006/math">
                    <m:r>
                      <a:rPr lang="en-US" b="0" i="1" smtClean="0">
                        <a:latin typeface="Cambria Math"/>
                      </a:rPr>
                      <m:t>𝛼</m:t>
                    </m:r>
                  </m:oMath>
                </a14:m>
                <a:r>
                  <a:rPr lang="en-US" dirty="0"/>
                  <a:t> ahead of time. A typical value for </a:t>
                </a:r>
                <a14:m>
                  <m:oMath xmlns:m="http://schemas.openxmlformats.org/officeDocument/2006/math">
                    <m:r>
                      <a:rPr lang="en-US" b="0" i="1" smtClean="0">
                        <a:latin typeface="Cambria Math"/>
                      </a:rPr>
                      <m:t>𝛼</m:t>
                    </m:r>
                  </m:oMath>
                </a14:m>
                <a:r>
                  <a:rPr lang="en-US" dirty="0"/>
                  <a:t> is 0.05 (this is for historical reasons, not statistical). We can, however, use any value between 0 and 1 for </a:t>
                </a:r>
                <a14:m>
                  <m:oMath xmlns:m="http://schemas.openxmlformats.org/officeDocument/2006/math">
                    <m:r>
                      <a:rPr lang="en-US" b="0" i="1" smtClean="0">
                        <a:latin typeface="Cambria Math"/>
                      </a:rPr>
                      <m:t>𝛼</m:t>
                    </m:r>
                  </m:oMath>
                </a14:m>
                <a:r>
                  <a:rPr lang="en-US" dirty="0"/>
                  <a:t>. The more concerned we are about type I errors, the smaller we would want it to be (0.01 is considered pretty cautious). If we are more concerned about type II errors, we may have to live with a little larger </a:t>
                </a:r>
                <a14:m>
                  <m:oMath xmlns:m="http://schemas.openxmlformats.org/officeDocument/2006/math">
                    <m:r>
                      <a:rPr lang="en-US" b="0" i="1" smtClean="0">
                        <a:latin typeface="Cambria Math"/>
                      </a:rPr>
                      <m:t>𝛼</m:t>
                    </m:r>
                  </m:oMath>
                </a14:m>
                <a:r>
                  <a:rPr lang="en-US" dirty="0"/>
                  <a:t> (0.10 perhaps)</a:t>
                </a:r>
              </a:p>
              <a:p>
                <a:endParaRPr lang="en-US" dirty="0"/>
              </a:p>
              <a:p>
                <a:pPr marL="0" indent="0">
                  <a:buNone/>
                </a:pPr>
                <a:endParaRPr lang="en-US" dirty="0"/>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741" t="-1944"/>
                </a:stretch>
              </a:blipFill>
            </p:spPr>
            <p:txBody>
              <a:bodyPr/>
              <a:lstStyle/>
              <a:p>
                <a:r>
                  <a:rPr lang="en-US">
                    <a:noFill/>
                  </a:rPr>
                  <a:t> </a:t>
                </a:r>
              </a:p>
            </p:txBody>
          </p:sp>
        </mc:Fallback>
      </mc:AlternateContent>
    </p:spTree>
    <p:extLst>
      <p:ext uri="{BB962C8B-B14F-4D97-AF65-F5344CB8AC3E}">
        <p14:creationId xmlns:p14="http://schemas.microsoft.com/office/powerpoint/2010/main" val="34047349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10.2 – Testing a Hypothesis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Let’s look at an example involving a continuous random variable. Suppose we want to test the theory that the average GPA at UNL is 3.0. Let’s assume that </a:t>
                </a:r>
                <a14:m>
                  <m:oMath xmlns:m="http://schemas.openxmlformats.org/officeDocument/2006/math">
                    <m:r>
                      <a:rPr lang="en-US" b="0" i="1" smtClean="0">
                        <a:latin typeface="Cambria Math"/>
                      </a:rPr>
                      <m:t>𝜎</m:t>
                    </m:r>
                    <m:r>
                      <a:rPr lang="en-US" b="0" i="1" smtClean="0">
                        <a:latin typeface="Cambria Math"/>
                      </a:rPr>
                      <m:t>/</m:t>
                    </m:r>
                    <m:rad>
                      <m:radPr>
                        <m:degHide m:val="on"/>
                        <m:ctrlPr>
                          <a:rPr lang="en-US" b="0" i="1" smtClean="0">
                            <a:latin typeface="Cambria Math" panose="02040503050406030204" pitchFamily="18" charset="0"/>
                          </a:rPr>
                        </m:ctrlPr>
                      </m:radPr>
                      <m:deg/>
                      <m:e>
                        <m:r>
                          <a:rPr lang="en-US" b="0" i="1" smtClean="0">
                            <a:latin typeface="Cambria Math"/>
                          </a:rPr>
                          <m:t>𝑛</m:t>
                        </m:r>
                      </m:e>
                    </m:rad>
                    <m:r>
                      <a:rPr lang="en-US" b="0" i="1" smtClean="0">
                        <a:latin typeface="Cambria Math"/>
                      </a:rPr>
                      <m:t>=0.27</m:t>
                    </m:r>
                  </m:oMath>
                </a14:m>
                <a:r>
                  <a:rPr lang="en-US" dirty="0"/>
                  <a:t>. First, what should we use as the null and alternative hypotheses?</a:t>
                </a:r>
              </a:p>
              <a:p>
                <a:endParaRPr lang="en-US" dirty="0"/>
              </a:p>
              <a:p>
                <a:pPr marL="0" indent="0">
                  <a:buNone/>
                </a:pPr>
                <a:endParaRPr lang="en-US" dirty="0"/>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889" t="-1111" r="-1333"/>
                </a:stretch>
              </a:blipFill>
            </p:spPr>
            <p:txBody>
              <a:bodyPr/>
              <a:lstStyle/>
              <a:p>
                <a:r>
                  <a:rPr lang="en-US">
                    <a:noFill/>
                  </a:rPr>
                  <a:t> </a:t>
                </a:r>
              </a:p>
            </p:txBody>
          </p:sp>
        </mc:Fallback>
      </mc:AlternateContent>
    </p:spTree>
    <p:extLst>
      <p:ext uri="{BB962C8B-B14F-4D97-AF65-F5344CB8AC3E}">
        <p14:creationId xmlns:p14="http://schemas.microsoft.com/office/powerpoint/2010/main" val="18063869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10.2 – Testing a Hypothesis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a:bodyPr>
              <a:lstStyle/>
              <a:p>
                <a:r>
                  <a:rPr lang="en-US" dirty="0"/>
                  <a:t>The hypotheses for our test are:</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0</m:t>
                          </m:r>
                        </m:sub>
                      </m:sSub>
                      <m:r>
                        <a:rPr lang="en-US" b="0" i="1" smtClean="0">
                          <a:latin typeface="Cambria Math"/>
                        </a:rPr>
                        <m:t>:</m:t>
                      </m:r>
                      <m:r>
                        <a:rPr lang="en-US" b="0" i="1" smtClean="0">
                          <a:latin typeface="Cambria Math"/>
                        </a:rPr>
                        <m:t>𝜇</m:t>
                      </m:r>
                      <m:r>
                        <a:rPr lang="en-US" b="0" i="1" smtClean="0">
                          <a:latin typeface="Cambria Math"/>
                        </a:rPr>
                        <m:t>=3.0</m:t>
                      </m:r>
                    </m:oMath>
                  </m:oMathPara>
                </a14:m>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1</m:t>
                          </m:r>
                        </m:sub>
                      </m:sSub>
                      <m:r>
                        <a:rPr lang="en-US" b="0" i="1" smtClean="0">
                          <a:latin typeface="Cambria Math"/>
                        </a:rPr>
                        <m:t>:</m:t>
                      </m:r>
                      <m:r>
                        <a:rPr lang="en-US" b="0" i="1" smtClean="0">
                          <a:latin typeface="Cambria Math"/>
                        </a:rPr>
                        <m:t>𝜇</m:t>
                      </m:r>
                      <m:r>
                        <a:rPr lang="en-US" b="0" i="1" smtClean="0">
                          <a:latin typeface="Cambria Math"/>
                        </a:rPr>
                        <m:t>≠3.0</m:t>
                      </m:r>
                    </m:oMath>
                  </m:oMathPara>
                </a14:m>
                <a:endParaRPr lang="en-US" dirty="0"/>
              </a:p>
              <a:p>
                <a:endParaRPr lang="en-US" dirty="0"/>
              </a:p>
              <a:p>
                <a:r>
                  <a:rPr lang="en-US" dirty="0"/>
                  <a:t>Using the sample mean as the test statistic, we reject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0</m:t>
                        </m:r>
                      </m:sub>
                    </m:sSub>
                  </m:oMath>
                </a14:m>
                <a:r>
                  <a:rPr lang="en-US" dirty="0"/>
                  <a:t> when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a:rPr>
                          <m:t>𝑥</m:t>
                        </m:r>
                      </m:e>
                    </m:acc>
                    <m:r>
                      <a:rPr lang="en-US" b="0" i="1" dirty="0" smtClean="0">
                        <a:latin typeface="Cambria Math"/>
                      </a:rPr>
                      <m:t>&gt;3.5</m:t>
                    </m:r>
                  </m:oMath>
                </a14:m>
                <a:r>
                  <a:rPr lang="en-US" dirty="0"/>
                  <a:t> or when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a:rPr>
                          <m:t>𝑥</m:t>
                        </m:r>
                      </m:e>
                    </m:acc>
                    <m:r>
                      <a:rPr lang="en-US" b="0" i="1" dirty="0" smtClean="0">
                        <a:latin typeface="Cambria Math"/>
                      </a:rPr>
                      <m:t>&lt;2.5</m:t>
                    </m:r>
                  </m:oMath>
                </a14:m>
                <a:r>
                  <a:rPr lang="en-US" dirty="0"/>
                  <a:t>. For this test:</a:t>
                </a:r>
              </a:p>
              <a:p>
                <a:pPr lvl="1"/>
                <a:r>
                  <a:rPr lang="en-US" dirty="0"/>
                  <a:t>Sketch the critical region</a:t>
                </a:r>
              </a:p>
              <a:p>
                <a:pPr lvl="1"/>
                <a:r>
                  <a:rPr lang="en-US" b="0" dirty="0"/>
                  <a:t>Find </a:t>
                </a:r>
                <a14:m>
                  <m:oMath xmlns:m="http://schemas.openxmlformats.org/officeDocument/2006/math">
                    <m:r>
                      <a:rPr lang="en-US" b="0" i="1" smtClean="0">
                        <a:latin typeface="Cambria Math"/>
                      </a:rPr>
                      <m:t>𝛼</m:t>
                    </m:r>
                  </m:oMath>
                </a14:m>
                <a:endParaRPr lang="en-US" dirty="0"/>
              </a:p>
              <a:p>
                <a:pPr lvl="1"/>
                <a:r>
                  <a:rPr lang="en-US" b="0" dirty="0"/>
                  <a:t>Find </a:t>
                </a:r>
                <a14:m>
                  <m:oMath xmlns:m="http://schemas.openxmlformats.org/officeDocument/2006/math">
                    <m:r>
                      <a:rPr lang="en-US" b="0" i="1" smtClean="0">
                        <a:latin typeface="Cambria Math"/>
                      </a:rPr>
                      <m:t>𝛽</m:t>
                    </m:r>
                  </m:oMath>
                </a14:m>
                <a:r>
                  <a:rPr lang="en-US" dirty="0"/>
                  <a:t> when </a:t>
                </a:r>
                <a14:m>
                  <m:oMath xmlns:m="http://schemas.openxmlformats.org/officeDocument/2006/math">
                    <m:r>
                      <a:rPr lang="en-US" b="0" i="1" smtClean="0">
                        <a:latin typeface="Cambria Math"/>
                      </a:rPr>
                      <m:t>𝜇</m:t>
                    </m:r>
                    <m:r>
                      <a:rPr lang="en-US" b="0" i="1" smtClean="0">
                        <a:latin typeface="Cambria Math"/>
                      </a:rPr>
                      <m:t>=3.25</m:t>
                    </m:r>
                  </m:oMath>
                </a14:m>
                <a:r>
                  <a:rPr lang="en-US" dirty="0"/>
                  <a:t> and when </a:t>
                </a:r>
                <a14:m>
                  <m:oMath xmlns:m="http://schemas.openxmlformats.org/officeDocument/2006/math">
                    <m:r>
                      <a:rPr lang="en-US" b="0" i="1" smtClean="0">
                        <a:latin typeface="Cambria Math"/>
                      </a:rPr>
                      <m:t>𝜇</m:t>
                    </m:r>
                    <m:r>
                      <a:rPr lang="en-US" b="0" i="1" smtClean="0">
                        <a:latin typeface="Cambria Math"/>
                      </a:rPr>
                      <m:t>=2.32</m:t>
                    </m:r>
                  </m:oMath>
                </a14:m>
                <a:r>
                  <a:rPr lang="en-US" dirty="0"/>
                  <a:t>.</a:t>
                </a:r>
              </a:p>
              <a:p>
                <a:pPr lvl="1"/>
                <a:r>
                  <a:rPr lang="en-US" dirty="0"/>
                  <a:t>Comment on whether or not you think this is a good test. Why or why not?</a:t>
                </a:r>
              </a:p>
              <a:p>
                <a:endParaRPr lang="en-US" dirty="0"/>
              </a:p>
              <a:p>
                <a:pPr marL="0" indent="0">
                  <a:buNone/>
                </a:pPr>
                <a:endParaRPr lang="en-US" dirty="0"/>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41" t="-1111" b="-2500"/>
                </a:stretch>
              </a:blipFill>
            </p:spPr>
            <p:txBody>
              <a:bodyPr/>
              <a:lstStyle/>
              <a:p>
                <a:r>
                  <a:rPr lang="en-US">
                    <a:noFill/>
                  </a:rPr>
                  <a:t> </a:t>
                </a:r>
              </a:p>
            </p:txBody>
          </p:sp>
        </mc:Fallback>
      </mc:AlternateContent>
    </p:spTree>
    <p:extLst>
      <p:ext uri="{BB962C8B-B14F-4D97-AF65-F5344CB8AC3E}">
        <p14:creationId xmlns:p14="http://schemas.microsoft.com/office/powerpoint/2010/main" val="9477401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10.2 – Testing a Hypothesis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First, </a:t>
                </a:r>
                <a14:m>
                  <m:oMath xmlns:m="http://schemas.openxmlformats.org/officeDocument/2006/math">
                    <m:r>
                      <a:rPr lang="en-US" b="0" i="1" smtClean="0">
                        <a:latin typeface="Cambria Math"/>
                      </a:rPr>
                      <m:t>𝛼</m:t>
                    </m:r>
                    <m:r>
                      <a:rPr lang="en-US" b="0" i="1" smtClean="0">
                        <a:latin typeface="Cambria Math"/>
                      </a:rPr>
                      <m:t>=</m:t>
                    </m:r>
                    <m:r>
                      <a:rPr lang="en-US" b="0" i="1" smtClean="0">
                        <a:latin typeface="Cambria Math"/>
                      </a:rPr>
                      <m:t>𝑃</m:t>
                    </m:r>
                    <m:d>
                      <m:dPr>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a:rPr>
                              <m:t>𝑋</m:t>
                            </m:r>
                          </m:e>
                        </m:acc>
                        <m:r>
                          <a:rPr lang="en-US" b="0" i="1" smtClean="0">
                            <a:latin typeface="Cambria Math"/>
                          </a:rPr>
                          <m:t>&gt;3.5</m:t>
                        </m:r>
                      </m:e>
                    </m:d>
                    <m:r>
                      <a:rPr lang="en-US" i="1">
                        <a:latin typeface="Cambria Math"/>
                      </a:rPr>
                      <m:t>𝜇</m:t>
                    </m:r>
                    <m:r>
                      <a:rPr lang="en-US" i="1">
                        <a:latin typeface="Cambria Math"/>
                      </a:rPr>
                      <m:t>=3.0)+</m:t>
                    </m:r>
                    <m:r>
                      <a:rPr lang="en-US" i="1">
                        <a:latin typeface="Cambria Math"/>
                      </a:rPr>
                      <m:t>𝑃</m:t>
                    </m:r>
                    <m:d>
                      <m:dPr>
                        <m:endChr m:val="|"/>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a:rPr>
                              <m:t>𝑋</m:t>
                            </m:r>
                          </m:e>
                        </m:acc>
                        <m:r>
                          <a:rPr lang="en-US" b="0" i="1" smtClean="0">
                            <a:latin typeface="Cambria Math"/>
                          </a:rPr>
                          <m:t>&lt;2</m:t>
                        </m:r>
                        <m:r>
                          <a:rPr lang="en-US" i="1">
                            <a:latin typeface="Cambria Math"/>
                          </a:rPr>
                          <m:t>.5</m:t>
                        </m:r>
                      </m:e>
                    </m:d>
                    <m:r>
                      <a:rPr lang="en-US" i="1">
                        <a:latin typeface="Cambria Math"/>
                      </a:rPr>
                      <m:t>𝜇</m:t>
                    </m:r>
                    <m:r>
                      <a:rPr lang="en-US" i="1">
                        <a:latin typeface="Cambria Math"/>
                      </a:rPr>
                      <m:t>=3.0)=</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𝑍</m:t>
                        </m:r>
                        <m:r>
                          <a:rPr lang="en-US" b="0" i="1" smtClean="0">
                            <a:latin typeface="Cambria Math"/>
                          </a:rPr>
                          <m:t>&gt;1.8519</m:t>
                        </m:r>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𝑍</m:t>
                        </m:r>
                        <m:r>
                          <a:rPr lang="en-US" b="0" i="1" smtClean="0">
                            <a:latin typeface="Cambria Math"/>
                          </a:rPr>
                          <m:t>&lt;−1.8519</m:t>
                        </m:r>
                      </m:e>
                    </m:d>
                    <m:r>
                      <a:rPr lang="en-US" b="0" i="1" smtClean="0">
                        <a:latin typeface="Cambria Math"/>
                      </a:rPr>
                      <m:t>=0.064</m:t>
                    </m:r>
                  </m:oMath>
                </a14:m>
                <a:r>
                  <a:rPr lang="en-US" dirty="0"/>
                  <a:t>. Thus the probability of making a type I error is about </a:t>
                </a:r>
                <a14:m>
                  <m:oMath xmlns:m="http://schemas.openxmlformats.org/officeDocument/2006/math">
                    <m:r>
                      <a:rPr lang="en-US" b="0" i="1" smtClean="0">
                        <a:latin typeface="Cambria Math"/>
                      </a:rPr>
                      <m:t>0.064</m:t>
                    </m:r>
                  </m:oMath>
                </a14:m>
                <a:r>
                  <a:rPr lang="en-US" dirty="0"/>
                  <a:t> for this test.</a:t>
                </a:r>
              </a:p>
              <a:p>
                <a:endParaRPr lang="en-US" dirty="0"/>
              </a:p>
              <a:p>
                <a:r>
                  <a:rPr lang="en-US" dirty="0"/>
                  <a:t>Next, </a:t>
                </a:r>
                <a14:m>
                  <m:oMath xmlns:m="http://schemas.openxmlformats.org/officeDocument/2006/math">
                    <m:r>
                      <a:rPr lang="en-US" b="0" i="1" smtClean="0">
                        <a:latin typeface="Cambria Math"/>
                      </a:rPr>
                      <m:t>𝛽</m:t>
                    </m:r>
                    <m:r>
                      <a:rPr lang="en-US" b="0" i="1" smtClean="0">
                        <a:latin typeface="Cambria Math"/>
                      </a:rPr>
                      <m:t>=</m:t>
                    </m:r>
                    <m:r>
                      <a:rPr lang="en-US" b="0" i="1" smtClean="0">
                        <a:latin typeface="Cambria Math"/>
                      </a:rPr>
                      <m:t>𝑃</m:t>
                    </m:r>
                    <m:d>
                      <m:dPr>
                        <m:endChr m:val="|"/>
                        <m:ctrlPr>
                          <a:rPr lang="en-US" b="0" i="1" smtClean="0">
                            <a:latin typeface="Cambria Math" panose="02040503050406030204" pitchFamily="18" charset="0"/>
                          </a:rPr>
                        </m:ctrlPr>
                      </m:dPr>
                      <m:e>
                        <m:r>
                          <a:rPr lang="en-US" b="0" i="1" smtClean="0">
                            <a:latin typeface="Cambria Math"/>
                          </a:rPr>
                          <m:t>2.5≤</m:t>
                        </m:r>
                        <m:acc>
                          <m:accPr>
                            <m:chr m:val="̅"/>
                            <m:ctrlPr>
                              <a:rPr lang="en-US" b="0" i="1" smtClean="0">
                                <a:latin typeface="Cambria Math" panose="02040503050406030204" pitchFamily="18" charset="0"/>
                              </a:rPr>
                            </m:ctrlPr>
                          </m:accPr>
                          <m:e>
                            <m:r>
                              <a:rPr lang="en-US" b="0" i="1" smtClean="0">
                                <a:latin typeface="Cambria Math"/>
                              </a:rPr>
                              <m:t>𝑋</m:t>
                            </m:r>
                          </m:e>
                        </m:acc>
                        <m:r>
                          <a:rPr lang="en-US" b="0" i="1" smtClean="0">
                            <a:latin typeface="Cambria Math"/>
                          </a:rPr>
                          <m:t>≤3.5</m:t>
                        </m:r>
                      </m:e>
                    </m:d>
                    <m:r>
                      <a:rPr lang="en-US" b="0" i="1" smtClean="0">
                        <a:latin typeface="Cambria Math"/>
                      </a:rPr>
                      <m:t>𝜇</m:t>
                    </m:r>
                    <m:r>
                      <a:rPr lang="en-US" b="0" i="1" smtClean="0">
                        <a:latin typeface="Cambria Math"/>
                      </a:rPr>
                      <m:t>=3.25)=</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−2.7778≤</m:t>
                        </m:r>
                        <m:r>
                          <a:rPr lang="en-US" b="0" i="1" smtClean="0">
                            <a:latin typeface="Cambria Math"/>
                          </a:rPr>
                          <m:t>𝑍</m:t>
                        </m:r>
                        <m:r>
                          <a:rPr lang="en-US" b="0" i="1" smtClean="0">
                            <a:latin typeface="Cambria Math"/>
                          </a:rPr>
                          <m:t>≤0.9259</m:t>
                        </m:r>
                      </m:e>
                    </m:d>
                    <m:r>
                      <a:rPr lang="en-US" b="0" i="1" smtClean="0">
                        <a:latin typeface="Cambria Math"/>
                      </a:rPr>
                      <m:t>=0.82</m:t>
                    </m:r>
                  </m:oMath>
                </a14:m>
                <a:endParaRPr lang="en-US" dirty="0"/>
              </a:p>
              <a:p>
                <a:r>
                  <a:rPr lang="en-US" dirty="0"/>
                  <a:t>Finally, </a:t>
                </a:r>
                <a14:m>
                  <m:oMath xmlns:m="http://schemas.openxmlformats.org/officeDocument/2006/math">
                    <m:r>
                      <a:rPr lang="en-US" i="1">
                        <a:latin typeface="Cambria Math"/>
                      </a:rPr>
                      <m:t>𝛽</m:t>
                    </m:r>
                    <m:r>
                      <a:rPr lang="en-US" i="1">
                        <a:latin typeface="Cambria Math"/>
                      </a:rPr>
                      <m:t>=</m:t>
                    </m:r>
                    <m:r>
                      <a:rPr lang="en-US" i="1">
                        <a:latin typeface="Cambria Math"/>
                      </a:rPr>
                      <m:t>𝑃</m:t>
                    </m:r>
                    <m:d>
                      <m:dPr>
                        <m:endChr m:val="|"/>
                        <m:ctrlPr>
                          <a:rPr lang="en-US" i="1">
                            <a:latin typeface="Cambria Math" panose="02040503050406030204" pitchFamily="18" charset="0"/>
                          </a:rPr>
                        </m:ctrlPr>
                      </m:dPr>
                      <m:e>
                        <m:r>
                          <a:rPr lang="en-US" i="1">
                            <a:latin typeface="Cambria Math"/>
                          </a:rPr>
                          <m:t>2.5≤</m:t>
                        </m:r>
                        <m:acc>
                          <m:accPr>
                            <m:chr m:val="̅"/>
                            <m:ctrlPr>
                              <a:rPr lang="en-US" i="1">
                                <a:latin typeface="Cambria Math" panose="02040503050406030204" pitchFamily="18" charset="0"/>
                              </a:rPr>
                            </m:ctrlPr>
                          </m:accPr>
                          <m:e>
                            <m:r>
                              <a:rPr lang="en-US" i="1">
                                <a:latin typeface="Cambria Math"/>
                              </a:rPr>
                              <m:t>𝑋</m:t>
                            </m:r>
                          </m:e>
                        </m:acc>
                        <m:r>
                          <a:rPr lang="en-US" i="1">
                            <a:latin typeface="Cambria Math"/>
                          </a:rPr>
                          <m:t>≤3.5</m:t>
                        </m:r>
                      </m:e>
                    </m:d>
                    <m:r>
                      <a:rPr lang="en-US" i="1">
                        <a:latin typeface="Cambria Math"/>
                      </a:rPr>
                      <m:t>𝜇</m:t>
                    </m:r>
                    <m:r>
                      <a:rPr lang="en-US" i="1">
                        <a:latin typeface="Cambria Math"/>
                      </a:rPr>
                      <m:t>=2.32)=</m:t>
                    </m:r>
                    <m:r>
                      <a:rPr lang="en-US" i="1">
                        <a:latin typeface="Cambria Math"/>
                      </a:rPr>
                      <m:t>𝑃</m:t>
                    </m:r>
                    <m:d>
                      <m:dPr>
                        <m:ctrlPr>
                          <a:rPr lang="en-US" i="1">
                            <a:latin typeface="Cambria Math" panose="02040503050406030204" pitchFamily="18" charset="0"/>
                          </a:rPr>
                        </m:ctrlPr>
                      </m:dPr>
                      <m:e>
                        <m:r>
                          <a:rPr lang="en-US" b="0" i="1" smtClean="0">
                            <a:latin typeface="Cambria Math"/>
                          </a:rPr>
                          <m:t>0.6667</m:t>
                        </m:r>
                        <m:r>
                          <a:rPr lang="en-US" i="1">
                            <a:latin typeface="Cambria Math"/>
                          </a:rPr>
                          <m:t>≤</m:t>
                        </m:r>
                        <m:r>
                          <a:rPr lang="en-US" i="1">
                            <a:latin typeface="Cambria Math"/>
                          </a:rPr>
                          <m:t>𝑍</m:t>
                        </m:r>
                        <m:r>
                          <a:rPr lang="en-US" i="1">
                            <a:latin typeface="Cambria Math"/>
                          </a:rPr>
                          <m:t>≤4.3703</m:t>
                        </m:r>
                      </m:e>
                    </m:d>
                    <m:r>
                      <a:rPr lang="en-US" i="1">
                        <a:latin typeface="Cambria Math"/>
                      </a:rPr>
                      <m:t>=0.</m:t>
                    </m:r>
                    <m:r>
                      <a:rPr lang="en-US" b="0" i="1" smtClean="0">
                        <a:latin typeface="Cambria Math"/>
                      </a:rPr>
                      <m:t>2525</m:t>
                    </m:r>
                  </m:oMath>
                </a14:m>
                <a:endParaRPr lang="en-US" dirty="0"/>
              </a:p>
              <a:p>
                <a:endParaRPr lang="en-US" dirty="0"/>
              </a:p>
              <a:p>
                <a:endParaRPr lang="en-US" dirty="0"/>
              </a:p>
              <a:p>
                <a:pPr marL="0" indent="0">
                  <a:buNone/>
                </a:pPr>
                <a:endParaRPr lang="en-US" dirty="0"/>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t="-1250"/>
                </a:stretch>
              </a:blipFill>
            </p:spPr>
            <p:txBody>
              <a:bodyPr/>
              <a:lstStyle/>
              <a:p>
                <a:r>
                  <a:rPr lang="en-US">
                    <a:noFill/>
                  </a:rPr>
                  <a:t> </a:t>
                </a:r>
              </a:p>
            </p:txBody>
          </p:sp>
        </mc:Fallback>
      </mc:AlternateContent>
    </p:spTree>
    <p:extLst>
      <p:ext uri="{BB962C8B-B14F-4D97-AF65-F5344CB8AC3E}">
        <p14:creationId xmlns:p14="http://schemas.microsoft.com/office/powerpoint/2010/main" val="21732399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10.2 – Testing a Hypothesis</a:t>
            </a: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77281" y="1935163"/>
            <a:ext cx="4389437" cy="43894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637861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10.2 – Testing a Hypothesis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Before answering whether or not you think this is a good test, think about this: If we didn’t know </a:t>
                </a:r>
                <a14:m>
                  <m:oMath xmlns:m="http://schemas.openxmlformats.org/officeDocument/2006/math">
                    <m:r>
                      <a:rPr lang="en-US" b="0" i="1" smtClean="0">
                        <a:latin typeface="Cambria Math"/>
                      </a:rPr>
                      <m:t>𝜎</m:t>
                    </m:r>
                  </m:oMath>
                </a14:m>
                <a:r>
                  <a:rPr lang="en-US" dirty="0"/>
                  <a:t> but instead had estimated it from our sample, what would we do differently in that problem? Hint: Think back to 8.6.</a:t>
                </a:r>
              </a:p>
              <a:p>
                <a:endParaRPr lang="en-US" dirty="0"/>
              </a:p>
              <a:p>
                <a:endParaRPr lang="en-US" dirty="0"/>
              </a:p>
              <a:p>
                <a:pPr marL="0" indent="0">
                  <a:buNone/>
                </a:pPr>
                <a:endParaRPr lang="en-US" dirty="0"/>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889" t="-1111" r="-1111"/>
                </a:stretch>
              </a:blipFill>
            </p:spPr>
            <p:txBody>
              <a:bodyPr/>
              <a:lstStyle/>
              <a:p>
                <a:r>
                  <a:rPr lang="en-US">
                    <a:noFill/>
                  </a:rPr>
                  <a:t> </a:t>
                </a:r>
              </a:p>
            </p:txBody>
          </p:sp>
        </mc:Fallback>
      </mc:AlternateContent>
    </p:spTree>
    <p:extLst>
      <p:ext uri="{BB962C8B-B14F-4D97-AF65-F5344CB8AC3E}">
        <p14:creationId xmlns:p14="http://schemas.microsoft.com/office/powerpoint/2010/main" val="42358221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10.2 – Testing a Hypothesis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20000"/>
              </a:bodyPr>
              <a:lstStyle/>
              <a:p>
                <a:r>
                  <a:rPr lang="en-US" dirty="0"/>
                  <a:t>If we didn’t know </a:t>
                </a:r>
                <a14:m>
                  <m:oMath xmlns:m="http://schemas.openxmlformats.org/officeDocument/2006/math">
                    <m:r>
                      <a:rPr lang="en-US" b="0" i="1" smtClean="0">
                        <a:latin typeface="Cambria Math"/>
                      </a:rPr>
                      <m:t>𝜎</m:t>
                    </m:r>
                  </m:oMath>
                </a14:m>
                <a:r>
                  <a:rPr lang="en-US" dirty="0"/>
                  <a:t>, we’d need to use a t-distribution rather than the standard normal as the sampling distribution.</a:t>
                </a:r>
              </a:p>
              <a:p>
                <a:endParaRPr lang="en-US" dirty="0"/>
              </a:p>
              <a:p>
                <a:r>
                  <a:rPr lang="en-US" dirty="0"/>
                  <a:t>Test quality: While the size of the test is reasonable (we’d only expect to make a type I error about 6 times in 100 tests), the probabilities for making type II errors don’t look good. If </a:t>
                </a:r>
                <a14:m>
                  <m:oMath xmlns:m="http://schemas.openxmlformats.org/officeDocument/2006/math">
                    <m:r>
                      <a:rPr lang="en-US" b="0" i="1" smtClean="0">
                        <a:latin typeface="Cambria Math"/>
                      </a:rPr>
                      <m:t>𝜇</m:t>
                    </m:r>
                  </m:oMath>
                </a14:m>
                <a:r>
                  <a:rPr lang="en-US" dirty="0"/>
                  <a:t> is actually equal to 3.25 (which is quite a bit different from 3.0), our test is almost certainly going to fail to pick up on that difference – we would fail to reject 82% of the time! While it’s a little better if </a:t>
                </a:r>
                <a14:m>
                  <m:oMath xmlns:m="http://schemas.openxmlformats.org/officeDocument/2006/math">
                    <m:r>
                      <a:rPr lang="en-US" b="0" i="1" smtClean="0">
                        <a:latin typeface="Cambria Math"/>
                      </a:rPr>
                      <m:t>𝜇</m:t>
                    </m:r>
                    <m:r>
                      <a:rPr lang="en-US" b="0" i="1" smtClean="0">
                        <a:latin typeface="Cambria Math"/>
                      </a:rPr>
                      <m:t>=2.3</m:t>
                    </m:r>
                    <m:r>
                      <a:rPr lang="en-US" b="0" i="0" smtClean="0">
                        <a:latin typeface="Cambria Math"/>
                      </a:rPr>
                      <m:t>2</m:t>
                    </m:r>
                  </m:oMath>
                </a14:m>
                <a:r>
                  <a:rPr lang="en-US" dirty="0"/>
                  <a:t>, we’d still fail to reject almost a quarter of the time. The idea of “being able to pick up on a difference” is a very important one in hypothesis testing. We will come back to it after briefly summarizing what we’ve seen so far.</a:t>
                </a:r>
              </a:p>
              <a:p>
                <a:endParaRPr lang="en-US" dirty="0"/>
              </a:p>
              <a:p>
                <a:endParaRPr lang="en-US" dirty="0"/>
              </a:p>
              <a:p>
                <a:pPr marL="0" indent="0">
                  <a:buNone/>
                </a:pPr>
                <a:endParaRPr lang="en-US" dirty="0"/>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741" t="-2639" r="-1926" b="-1944"/>
                </a:stretch>
              </a:blipFill>
            </p:spPr>
            <p:txBody>
              <a:bodyPr/>
              <a:lstStyle/>
              <a:p>
                <a:r>
                  <a:rPr lang="en-US">
                    <a:noFill/>
                  </a:rPr>
                  <a:t> </a:t>
                </a:r>
              </a:p>
            </p:txBody>
          </p:sp>
        </mc:Fallback>
      </mc:AlternateContent>
    </p:spTree>
    <p:extLst>
      <p:ext uri="{BB962C8B-B14F-4D97-AF65-F5344CB8AC3E}">
        <p14:creationId xmlns:p14="http://schemas.microsoft.com/office/powerpoint/2010/main" val="17906764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10.2 – Testing a Hypothesis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dirty="0"/>
                  <a:t>Important properties of hypothesis tests that we’ve encountered so far:</a:t>
                </a:r>
              </a:p>
              <a:p>
                <a:pPr lvl="1"/>
                <a14:m>
                  <m:oMath xmlns:m="http://schemas.openxmlformats.org/officeDocument/2006/math">
                    <m:r>
                      <a:rPr lang="en-US" b="0" i="1" smtClean="0">
                        <a:latin typeface="Cambria Math"/>
                      </a:rPr>
                      <m:t>𝛼</m:t>
                    </m:r>
                  </m:oMath>
                </a14:m>
                <a:r>
                  <a:rPr lang="en-US" dirty="0"/>
                  <a:t> and </a:t>
                </a:r>
                <a14:m>
                  <m:oMath xmlns:m="http://schemas.openxmlformats.org/officeDocument/2006/math">
                    <m:r>
                      <a:rPr lang="en-US" b="0" i="1" smtClean="0">
                        <a:latin typeface="Cambria Math"/>
                      </a:rPr>
                      <m:t>𝛽</m:t>
                    </m:r>
                  </m:oMath>
                </a14:m>
                <a:r>
                  <a:rPr lang="en-US" dirty="0"/>
                  <a:t> are inversely related. Decreasing one generally leads to an increase in the other.</a:t>
                </a:r>
              </a:p>
              <a:p>
                <a:pPr lvl="1"/>
                <a:r>
                  <a:rPr lang="en-US" dirty="0"/>
                  <a:t>The size of the test can always be reduced by adjusting the critical value(s).</a:t>
                </a:r>
              </a:p>
              <a:p>
                <a:pPr lvl="1"/>
                <a:r>
                  <a:rPr lang="en-US" dirty="0"/>
                  <a:t>Increasing the sample size will reduce </a:t>
                </a:r>
                <a14:m>
                  <m:oMath xmlns:m="http://schemas.openxmlformats.org/officeDocument/2006/math">
                    <m:r>
                      <a:rPr lang="en-US" b="0" i="1" smtClean="0">
                        <a:latin typeface="Cambria Math"/>
                      </a:rPr>
                      <m:t>𝛼</m:t>
                    </m:r>
                  </m:oMath>
                </a14:m>
                <a:r>
                  <a:rPr lang="en-US" dirty="0"/>
                  <a:t> and </a:t>
                </a:r>
                <a14:m>
                  <m:oMath xmlns:m="http://schemas.openxmlformats.org/officeDocument/2006/math">
                    <m:r>
                      <a:rPr lang="en-US" b="0" i="1" smtClean="0">
                        <a:latin typeface="Cambria Math"/>
                      </a:rPr>
                      <m:t>𝛽</m:t>
                    </m:r>
                  </m:oMath>
                </a14:m>
                <a:r>
                  <a:rPr lang="en-US" dirty="0"/>
                  <a:t> simultaneously.</a:t>
                </a:r>
              </a:p>
              <a:p>
                <a:pPr lvl="1"/>
                <a:r>
                  <a:rPr lang="en-US" dirty="0"/>
                  <a:t>If the null hypothesis is false, </a:t>
                </a:r>
                <a14:m>
                  <m:oMath xmlns:m="http://schemas.openxmlformats.org/officeDocument/2006/math">
                    <m:r>
                      <a:rPr lang="en-US" b="0" i="1" smtClean="0">
                        <a:latin typeface="Cambria Math"/>
                      </a:rPr>
                      <m:t>𝛽</m:t>
                    </m:r>
                  </m:oMath>
                </a14:m>
                <a:r>
                  <a:rPr lang="en-US" dirty="0"/>
                  <a:t> is largest as the true parameter value approaches the hypothesized parameter value. The further the true parameter value is from the hypothesized value, the smaller </a:t>
                </a:r>
                <a14:m>
                  <m:oMath xmlns:m="http://schemas.openxmlformats.org/officeDocument/2006/math">
                    <m:r>
                      <a:rPr lang="en-US" b="0" i="1" smtClean="0">
                        <a:latin typeface="Cambria Math"/>
                      </a:rPr>
                      <m:t>𝛽</m:t>
                    </m:r>
                  </m:oMath>
                </a14:m>
                <a:r>
                  <a:rPr lang="en-US" dirty="0"/>
                  <a:t> will be.</a:t>
                </a:r>
              </a:p>
              <a:p>
                <a:endParaRPr lang="en-US" dirty="0"/>
              </a:p>
              <a:p>
                <a:endParaRPr lang="en-US" dirty="0"/>
              </a:p>
              <a:p>
                <a:pPr marL="0" indent="0">
                  <a:buNone/>
                </a:pPr>
                <a:endParaRPr lang="en-US" dirty="0"/>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889" t="-2083" r="-1778" b="-3056"/>
                </a:stretch>
              </a:blipFill>
            </p:spPr>
            <p:txBody>
              <a:bodyPr/>
              <a:lstStyle/>
              <a:p>
                <a:r>
                  <a:rPr lang="en-US">
                    <a:noFill/>
                  </a:rPr>
                  <a:t> </a:t>
                </a:r>
              </a:p>
            </p:txBody>
          </p:sp>
        </mc:Fallback>
      </mc:AlternateContent>
    </p:spTree>
    <p:extLst>
      <p:ext uri="{BB962C8B-B14F-4D97-AF65-F5344CB8AC3E}">
        <p14:creationId xmlns:p14="http://schemas.microsoft.com/office/powerpoint/2010/main" val="3205360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10.2 – Testing a Hypothesis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dirty="0"/>
                  <a:t>While we have been talking a lot about </a:t>
                </a:r>
                <a14:m>
                  <m:oMath xmlns:m="http://schemas.openxmlformats.org/officeDocument/2006/math">
                    <m:r>
                      <a:rPr lang="en-US" b="0" i="1" smtClean="0">
                        <a:latin typeface="Cambria Math"/>
                      </a:rPr>
                      <m:t>𝛽</m:t>
                    </m:r>
                  </m:oMath>
                </a14:m>
                <a:r>
                  <a:rPr lang="en-US" dirty="0"/>
                  <a:t>, we typically don’t talk about </a:t>
                </a:r>
                <a14:m>
                  <m:oMath xmlns:m="http://schemas.openxmlformats.org/officeDocument/2006/math">
                    <m:r>
                      <a:rPr lang="en-US" b="0" i="1" smtClean="0">
                        <a:latin typeface="Cambria Math"/>
                      </a:rPr>
                      <m:t>𝛽</m:t>
                    </m:r>
                  </m:oMath>
                </a14:m>
                <a:r>
                  <a:rPr lang="en-US" dirty="0"/>
                  <a:t> by itself much in practice. Instead, we are much more concerned about its complement, </a:t>
                </a:r>
                <a14:m>
                  <m:oMath xmlns:m="http://schemas.openxmlformats.org/officeDocument/2006/math">
                    <m:r>
                      <a:rPr lang="en-US" b="0" i="1" smtClean="0">
                        <a:latin typeface="Cambria Math"/>
                      </a:rPr>
                      <m:t>1−</m:t>
                    </m:r>
                    <m:r>
                      <a:rPr lang="en-US" b="0" i="1" smtClean="0">
                        <a:latin typeface="Cambria Math"/>
                      </a:rPr>
                      <m:t>𝛽</m:t>
                    </m:r>
                  </m:oMath>
                </a14:m>
                <a:r>
                  <a:rPr lang="en-US" dirty="0"/>
                  <a:t>. This quantity is known as the </a:t>
                </a:r>
                <a:r>
                  <a:rPr lang="en-US" i="1" dirty="0"/>
                  <a:t>power of the test.</a:t>
                </a:r>
                <a:r>
                  <a:rPr lang="en-US" dirty="0"/>
                  <a:t> Since </a:t>
                </a:r>
                <a14:m>
                  <m:oMath xmlns:m="http://schemas.openxmlformats.org/officeDocument/2006/math">
                    <m:r>
                      <a:rPr lang="en-US" b="0" i="1" smtClean="0">
                        <a:latin typeface="Cambria Math"/>
                      </a:rPr>
                      <m:t>𝛽</m:t>
                    </m:r>
                  </m:oMath>
                </a14:m>
                <a:r>
                  <a:rPr lang="en-US" dirty="0"/>
                  <a:t> depends on the true parameter value, so does the power of the test.</a:t>
                </a:r>
              </a:p>
              <a:p>
                <a:endParaRPr lang="en-US" dirty="0"/>
              </a:p>
              <a:p>
                <a:r>
                  <a:rPr lang="en-US" dirty="0"/>
                  <a:t>We think of the power as the probability of rejecting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0</m:t>
                        </m:r>
                      </m:sub>
                    </m:sSub>
                  </m:oMath>
                </a14:m>
                <a:r>
                  <a:rPr lang="en-US" dirty="0"/>
                  <a:t> given that a </a:t>
                </a:r>
                <a:r>
                  <a:rPr lang="en-US" i="1" dirty="0"/>
                  <a:t>specific alternative is true</a:t>
                </a:r>
                <a:r>
                  <a:rPr lang="en-US" dirty="0"/>
                  <a:t>. In other words, it is the probability of correctly rejecting the null hypothesis for a specific parameter value.</a:t>
                </a:r>
              </a:p>
              <a:p>
                <a:endParaRPr lang="en-US" dirty="0"/>
              </a:p>
              <a:p>
                <a:pPr marL="0" indent="0">
                  <a:buNone/>
                </a:pPr>
                <a:endParaRPr lang="en-US" dirty="0"/>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889" t="-2083"/>
                </a:stretch>
              </a:blipFill>
            </p:spPr>
            <p:txBody>
              <a:bodyPr/>
              <a:lstStyle/>
              <a:p>
                <a:r>
                  <a:rPr lang="en-US">
                    <a:noFill/>
                  </a:rPr>
                  <a:t> </a:t>
                </a:r>
              </a:p>
            </p:txBody>
          </p:sp>
        </mc:Fallback>
      </mc:AlternateContent>
    </p:spTree>
    <p:extLst>
      <p:ext uri="{BB962C8B-B14F-4D97-AF65-F5344CB8AC3E}">
        <p14:creationId xmlns:p14="http://schemas.microsoft.com/office/powerpoint/2010/main" val="119427472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10.2 – Testing a Hypothesis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85000" lnSpcReduction="20000"/>
              </a:bodyPr>
              <a:lstStyle/>
              <a:p>
                <a:r>
                  <a:rPr lang="en-US" dirty="0"/>
                  <a:t>We often use power to compare tests. The higher the power, the better the test. However, since power depends on </a:t>
                </a:r>
                <a14:m>
                  <m:oMath xmlns:m="http://schemas.openxmlformats.org/officeDocument/2006/math">
                    <m:r>
                      <a:rPr lang="en-US" b="0" i="1" smtClean="0">
                        <a:latin typeface="Cambria Math"/>
                      </a:rPr>
                      <m:t>𝛽</m:t>
                    </m:r>
                  </m:oMath>
                </a14:m>
                <a:r>
                  <a:rPr lang="en-US" dirty="0"/>
                  <a:t>, there is a tradeoff between the power and the size of a test.</a:t>
                </a:r>
              </a:p>
              <a:p>
                <a:endParaRPr lang="en-US" dirty="0"/>
              </a:p>
              <a:p>
                <a:r>
                  <a:rPr lang="en-US" dirty="0"/>
                  <a:t>In the previous example, when </a:t>
                </a:r>
                <a14:m>
                  <m:oMath xmlns:m="http://schemas.openxmlformats.org/officeDocument/2006/math">
                    <m:r>
                      <a:rPr lang="en-US" b="0" i="1" smtClean="0">
                        <a:latin typeface="Cambria Math"/>
                      </a:rPr>
                      <m:t>𝜇</m:t>
                    </m:r>
                    <m:r>
                      <a:rPr lang="en-US" b="0" i="1" smtClean="0">
                        <a:latin typeface="Cambria Math"/>
                      </a:rPr>
                      <m:t>=3.25</m:t>
                    </m:r>
                  </m:oMath>
                </a14:m>
                <a:r>
                  <a:rPr lang="en-US" dirty="0"/>
                  <a:t>, the power of the test was </a:t>
                </a:r>
                <a14:m>
                  <m:oMath xmlns:m="http://schemas.openxmlformats.org/officeDocument/2006/math">
                    <m:r>
                      <a:rPr lang="en-US" b="0" i="1" smtClean="0">
                        <a:latin typeface="Cambria Math"/>
                      </a:rPr>
                      <m:t>0.18</m:t>
                    </m:r>
                  </m:oMath>
                </a14:m>
                <a:r>
                  <a:rPr lang="en-US" dirty="0"/>
                  <a:t>. This means that when </a:t>
                </a:r>
                <a14:m>
                  <m:oMath xmlns:m="http://schemas.openxmlformats.org/officeDocument/2006/math">
                    <m:r>
                      <a:rPr lang="en-US" b="0" i="1" smtClean="0">
                        <a:latin typeface="Cambria Math"/>
                      </a:rPr>
                      <m:t>𝜇</m:t>
                    </m:r>
                    <m:r>
                      <a:rPr lang="en-US" b="0" i="1" smtClean="0">
                        <a:latin typeface="Cambria Math"/>
                      </a:rPr>
                      <m:t>=3.25</m:t>
                    </m:r>
                  </m:oMath>
                </a14:m>
                <a:r>
                  <a:rPr lang="en-US" dirty="0"/>
                  <a:t>, our test will only (correctly) reject the null hypothesis </a:t>
                </a:r>
                <a14:m>
                  <m:oMath xmlns:m="http://schemas.openxmlformats.org/officeDocument/2006/math">
                    <m:r>
                      <a:rPr lang="en-US" b="0" i="1" smtClean="0">
                        <a:latin typeface="Cambria Math"/>
                      </a:rPr>
                      <m:t>18%</m:t>
                    </m:r>
                  </m:oMath>
                </a14:m>
                <a:r>
                  <a:rPr lang="en-US" dirty="0"/>
                  <a:t> of the time. This is not a good value for the power. While there are no hard and fast rules, researchers seem to consider </a:t>
                </a:r>
                <a14:m>
                  <m:oMath xmlns:m="http://schemas.openxmlformats.org/officeDocument/2006/math">
                    <m:r>
                      <a:rPr lang="en-US" b="0" i="1" smtClean="0">
                        <a:latin typeface="Cambria Math"/>
                      </a:rPr>
                      <m:t>80%</m:t>
                    </m:r>
                  </m:oMath>
                </a14:m>
                <a:r>
                  <a:rPr lang="en-US" dirty="0"/>
                  <a:t> as the value they want when it comes to power. </a:t>
                </a:r>
              </a:p>
              <a:p>
                <a:endParaRPr lang="en-US" dirty="0"/>
              </a:p>
              <a:p>
                <a:r>
                  <a:rPr lang="en-US" dirty="0"/>
                  <a:t>You may be asked to calculate power. You can do this by simply finding </a:t>
                </a:r>
                <a14:m>
                  <m:oMath xmlns:m="http://schemas.openxmlformats.org/officeDocument/2006/math">
                    <m:r>
                      <a:rPr lang="en-US" b="0" i="1" smtClean="0">
                        <a:latin typeface="Cambria Math"/>
                      </a:rPr>
                      <m:t>1−</m:t>
                    </m:r>
                    <m:r>
                      <a:rPr lang="en-US" b="0" i="1" smtClean="0">
                        <a:latin typeface="Cambria Math"/>
                      </a:rPr>
                      <m:t>𝛽</m:t>
                    </m:r>
                  </m:oMath>
                </a14:m>
                <a:r>
                  <a:rPr lang="en-US" dirty="0"/>
                  <a:t> or by finding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m:rPr>
                            <m:sty m:val="p"/>
                          </m:rPr>
                          <a:rPr lang="en-US" b="0" i="0" smtClean="0">
                            <a:latin typeface="Cambria Math"/>
                          </a:rPr>
                          <m:t>rejecting</m:t>
                        </m:r>
                        <m:r>
                          <a:rPr lang="en-US" b="0" i="1" smtClean="0">
                            <a:latin typeface="Cambria Math"/>
                          </a:rPr>
                          <m:t> </m:t>
                        </m:r>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0</m:t>
                            </m:r>
                          </m:sub>
                        </m:sSub>
                      </m:e>
                      <m:e>
                        <m:r>
                          <a:rPr lang="en-US" b="0" i="1" smtClean="0">
                            <a:latin typeface="Cambria Math"/>
                          </a:rPr>
                          <m:t>𝜃</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𝜃</m:t>
                            </m:r>
                          </m:e>
                          <m:sub>
                            <m:r>
                              <a:rPr lang="en-US" b="0" i="1" smtClean="0">
                                <a:latin typeface="Cambria Math"/>
                              </a:rPr>
                              <m:t>1</m:t>
                            </m:r>
                          </m:sub>
                        </m:sSub>
                      </m:e>
                    </m:d>
                  </m:oMath>
                </a14:m>
                <a:r>
                  <a:rPr lang="en-US" dirty="0"/>
                  <a:t> where </a:t>
                </a:r>
                <a14:m>
                  <m:oMath xmlns:m="http://schemas.openxmlformats.org/officeDocument/2006/math">
                    <m:r>
                      <a:rPr lang="en-US" b="0" i="1" smtClean="0">
                        <a:latin typeface="Cambria Math"/>
                      </a:rPr>
                      <m:t>𝜃</m:t>
                    </m:r>
                  </m:oMath>
                </a14:m>
                <a:r>
                  <a:rPr lang="en-US" dirty="0"/>
                  <a:t> is the parameter of interest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𝜃</m:t>
                        </m:r>
                      </m:e>
                      <m:sub>
                        <m:r>
                          <a:rPr lang="en-US" b="0" i="1" smtClean="0">
                            <a:latin typeface="Cambria Math"/>
                          </a:rPr>
                          <m:t>1</m:t>
                        </m:r>
                      </m:sub>
                    </m:sSub>
                  </m:oMath>
                </a14:m>
                <a:r>
                  <a:rPr lang="en-US" dirty="0"/>
                  <a:t> is the particular value of the parameter you are interested in finding the power for. </a:t>
                </a:r>
              </a:p>
              <a:p>
                <a:endParaRPr lang="en-US" dirty="0"/>
              </a:p>
              <a:p>
                <a:pPr marL="0" indent="0">
                  <a:buNone/>
                </a:pPr>
                <a:endParaRPr lang="en-US" dirty="0"/>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593" t="-2361" r="-1556" b="-2778"/>
                </a:stretch>
              </a:blipFill>
            </p:spPr>
            <p:txBody>
              <a:bodyPr/>
              <a:lstStyle/>
              <a:p>
                <a:r>
                  <a:rPr lang="en-US">
                    <a:noFill/>
                  </a:rPr>
                  <a:t> </a:t>
                </a:r>
              </a:p>
            </p:txBody>
          </p:sp>
        </mc:Fallback>
      </mc:AlternateContent>
    </p:spTree>
    <p:extLst>
      <p:ext uri="{BB962C8B-B14F-4D97-AF65-F5344CB8AC3E}">
        <p14:creationId xmlns:p14="http://schemas.microsoft.com/office/powerpoint/2010/main" val="28781756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10.2 – Testing a Hypothesis</a:t>
            </a:r>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77281" y="1935163"/>
            <a:ext cx="4389437" cy="43894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499918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10.2 – Testing a Hypothesis</a:t>
            </a:r>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77281" y="1935163"/>
            <a:ext cx="4389437" cy="43894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693970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10.2 – Testing a Hypothesis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20000"/>
              </a:bodyPr>
              <a:lstStyle/>
              <a:p>
                <a:r>
                  <a:rPr lang="en-US" dirty="0"/>
                  <a:t>There is just one more important topic for us in this section. We need to distinguish between </a:t>
                </a:r>
                <a:r>
                  <a:rPr lang="en-US" i="1" dirty="0"/>
                  <a:t>one-tailed</a:t>
                </a:r>
                <a:r>
                  <a:rPr lang="en-US" dirty="0"/>
                  <a:t> and </a:t>
                </a:r>
                <a:r>
                  <a:rPr lang="en-US" i="1" dirty="0"/>
                  <a:t>two-tailed </a:t>
                </a:r>
                <a:r>
                  <a:rPr lang="en-US" dirty="0"/>
                  <a:t>tests.</a:t>
                </a:r>
              </a:p>
              <a:p>
                <a:endParaRPr lang="en-US" dirty="0"/>
              </a:p>
              <a:p>
                <a:r>
                  <a:rPr lang="en-US" dirty="0"/>
                  <a:t>If the alternative hypothesis for a test is one sided, it is called a one-tailed test. For instance:</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0</m:t>
                          </m:r>
                        </m:sub>
                      </m:sSub>
                      <m:r>
                        <a:rPr lang="en-US" b="0" i="1" smtClean="0">
                          <a:latin typeface="Cambria Math"/>
                        </a:rPr>
                        <m:t>:</m:t>
                      </m:r>
                      <m:r>
                        <a:rPr lang="en-US" b="0" i="1" smtClean="0">
                          <a:latin typeface="Cambria Math"/>
                        </a:rPr>
                        <m:t>𝜃</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𝜃</m:t>
                          </m:r>
                        </m:e>
                        <m:sub>
                          <m:r>
                            <a:rPr lang="en-US" b="0" i="1" smtClean="0">
                              <a:latin typeface="Cambria Math"/>
                            </a:rPr>
                            <m:t>0</m:t>
                          </m:r>
                        </m:sub>
                      </m:sSub>
                    </m:oMath>
                  </m:oMathPara>
                </a14:m>
                <a:endParaRPr lang="en-US" b="0"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1</m:t>
                          </m:r>
                        </m:sub>
                      </m:sSub>
                      <m:r>
                        <a:rPr lang="en-US" b="0" i="1" smtClean="0">
                          <a:latin typeface="Cambria Math"/>
                        </a:rPr>
                        <m:t>:</m:t>
                      </m:r>
                      <m:r>
                        <a:rPr lang="en-US" b="0" i="1" smtClean="0">
                          <a:latin typeface="Cambria Math"/>
                        </a:rPr>
                        <m:t>𝜃</m:t>
                      </m:r>
                      <m:r>
                        <a:rPr lang="en-US" b="0" i="1" smtClean="0">
                          <a:latin typeface="Cambria Math"/>
                        </a:rPr>
                        <m:t>&gt;</m:t>
                      </m:r>
                      <m:sSub>
                        <m:sSubPr>
                          <m:ctrlPr>
                            <a:rPr lang="en-US" b="0" i="1" smtClean="0">
                              <a:latin typeface="Cambria Math" panose="02040503050406030204" pitchFamily="18" charset="0"/>
                            </a:rPr>
                          </m:ctrlPr>
                        </m:sSubPr>
                        <m:e>
                          <m:r>
                            <a:rPr lang="en-US" b="0" i="1" smtClean="0">
                              <a:latin typeface="Cambria Math"/>
                            </a:rPr>
                            <m:t>𝜃</m:t>
                          </m:r>
                        </m:e>
                        <m:sub>
                          <m:r>
                            <a:rPr lang="en-US" b="0" i="1" smtClean="0">
                              <a:latin typeface="Cambria Math"/>
                            </a:rPr>
                            <m:t>0</m:t>
                          </m:r>
                        </m:sub>
                      </m:sSub>
                    </m:oMath>
                  </m:oMathPara>
                </a14:m>
                <a:endParaRPr lang="en-US" dirty="0"/>
              </a:p>
              <a:p>
                <a:pPr marL="0" indent="0">
                  <a:buNone/>
                </a:pPr>
                <a14:m>
                  <m:oMathPara xmlns:m="http://schemas.openxmlformats.org/officeDocument/2006/math">
                    <m:oMathParaPr>
                      <m:jc m:val="centerGroup"/>
                    </m:oMathParaPr>
                    <m:oMath xmlns:m="http://schemas.openxmlformats.org/officeDocument/2006/math">
                      <m:r>
                        <m:rPr>
                          <m:sty m:val="p"/>
                        </m:rPr>
                        <a:rPr lang="en-US" i="1">
                          <a:latin typeface="Cambria Math"/>
                        </a:rPr>
                        <m:t>a</m:t>
                      </m:r>
                      <m:r>
                        <m:rPr>
                          <m:sty m:val="p"/>
                        </m:rPr>
                        <a:rPr lang="en-US" b="0" i="0" smtClean="0">
                          <a:latin typeface="Cambria Math"/>
                        </a:rPr>
                        <m:t>nd</m:t>
                      </m:r>
                    </m:oMath>
                  </m:oMathPara>
                </a14:m>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𝐻</m:t>
                          </m:r>
                        </m:e>
                        <m:sub>
                          <m:r>
                            <a:rPr lang="en-US" i="1">
                              <a:latin typeface="Cambria Math"/>
                            </a:rPr>
                            <m:t>0</m:t>
                          </m:r>
                        </m:sub>
                      </m:sSub>
                      <m:r>
                        <a:rPr lang="en-US" i="1">
                          <a:latin typeface="Cambria Math"/>
                        </a:rPr>
                        <m:t>:</m:t>
                      </m:r>
                      <m:r>
                        <a:rPr lang="en-US" i="1">
                          <a:latin typeface="Cambria Math"/>
                        </a:rPr>
                        <m:t>𝜃</m:t>
                      </m:r>
                      <m:r>
                        <a:rPr lang="en-US" i="1">
                          <a:latin typeface="Cambria Math"/>
                        </a:rPr>
                        <m:t>=</m:t>
                      </m:r>
                      <m:sSub>
                        <m:sSubPr>
                          <m:ctrlPr>
                            <a:rPr lang="en-US" i="1">
                              <a:latin typeface="Cambria Math" panose="02040503050406030204" pitchFamily="18" charset="0"/>
                            </a:rPr>
                          </m:ctrlPr>
                        </m:sSubPr>
                        <m:e>
                          <m:r>
                            <a:rPr lang="en-US" i="1">
                              <a:latin typeface="Cambria Math"/>
                            </a:rPr>
                            <m:t>𝜃</m:t>
                          </m:r>
                        </m:e>
                        <m:sub>
                          <m:r>
                            <a:rPr lang="en-US" i="1">
                              <a:latin typeface="Cambria Math"/>
                            </a:rPr>
                            <m:t>0</m:t>
                          </m:r>
                        </m:sub>
                      </m:sSub>
                    </m:oMath>
                  </m:oMathPara>
                </a14:m>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𝐻</m:t>
                          </m:r>
                        </m:e>
                        <m:sub>
                          <m:r>
                            <a:rPr lang="en-US" i="1">
                              <a:latin typeface="Cambria Math"/>
                            </a:rPr>
                            <m:t>1</m:t>
                          </m:r>
                        </m:sub>
                      </m:sSub>
                      <m:r>
                        <a:rPr lang="en-US" i="1">
                          <a:latin typeface="Cambria Math"/>
                        </a:rPr>
                        <m:t>:</m:t>
                      </m:r>
                      <m:r>
                        <a:rPr lang="en-US" i="1">
                          <a:latin typeface="Cambria Math"/>
                        </a:rPr>
                        <m:t>𝜃</m:t>
                      </m:r>
                      <m:r>
                        <a:rPr lang="en-US" b="0" i="1" smtClean="0">
                          <a:latin typeface="Cambria Math"/>
                        </a:rPr>
                        <m:t>&lt;</m:t>
                      </m:r>
                      <m:sSub>
                        <m:sSubPr>
                          <m:ctrlPr>
                            <a:rPr lang="en-US" i="1">
                              <a:latin typeface="Cambria Math" panose="02040503050406030204" pitchFamily="18" charset="0"/>
                            </a:rPr>
                          </m:ctrlPr>
                        </m:sSubPr>
                        <m:e>
                          <m:r>
                            <a:rPr lang="en-US" i="1">
                              <a:latin typeface="Cambria Math"/>
                            </a:rPr>
                            <m:t>𝜃</m:t>
                          </m:r>
                        </m:e>
                        <m:sub>
                          <m:r>
                            <a:rPr lang="en-US" i="1">
                              <a:latin typeface="Cambria Math"/>
                            </a:rPr>
                            <m:t>0</m:t>
                          </m:r>
                        </m:sub>
                      </m:sSub>
                    </m:oMath>
                  </m:oMathPara>
                </a14:m>
                <a:endParaRPr lang="en-US" dirty="0"/>
              </a:p>
              <a:p>
                <a:pPr marL="0" indent="0">
                  <a:buNone/>
                </a:pPr>
                <a:r>
                  <a:rPr lang="en-US" dirty="0"/>
                  <a:t>are both one-tailed tests.</a:t>
                </a:r>
              </a:p>
              <a:p>
                <a:pPr marL="0" indent="0">
                  <a:buNone/>
                </a:pPr>
                <a:endParaRPr lang="en-US" dirty="0"/>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111" t="-2639"/>
                </a:stretch>
              </a:blipFill>
            </p:spPr>
            <p:txBody>
              <a:bodyPr/>
              <a:lstStyle/>
              <a:p>
                <a:r>
                  <a:rPr lang="en-US">
                    <a:noFill/>
                  </a:rPr>
                  <a:t> </a:t>
                </a:r>
              </a:p>
            </p:txBody>
          </p:sp>
        </mc:Fallback>
      </mc:AlternateContent>
    </p:spTree>
    <p:extLst>
      <p:ext uri="{BB962C8B-B14F-4D97-AF65-F5344CB8AC3E}">
        <p14:creationId xmlns:p14="http://schemas.microsoft.com/office/powerpoint/2010/main" val="20137376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10.2 – Testing a Hypothesis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dirty="0"/>
                  <a:t>Two-tailed tests, on the other hand, have two sided alternatives:</a:t>
                </a: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𝐻</m:t>
                          </m:r>
                        </m:e>
                        <m:sub>
                          <m:r>
                            <a:rPr lang="en-US" i="1">
                              <a:latin typeface="Cambria Math"/>
                            </a:rPr>
                            <m:t>0</m:t>
                          </m:r>
                        </m:sub>
                      </m:sSub>
                      <m:r>
                        <a:rPr lang="en-US" i="1">
                          <a:latin typeface="Cambria Math"/>
                        </a:rPr>
                        <m:t>:</m:t>
                      </m:r>
                      <m:r>
                        <a:rPr lang="en-US" i="1">
                          <a:latin typeface="Cambria Math"/>
                        </a:rPr>
                        <m:t>𝜃</m:t>
                      </m:r>
                      <m:r>
                        <a:rPr lang="en-US" i="1">
                          <a:latin typeface="Cambria Math"/>
                        </a:rPr>
                        <m:t>=</m:t>
                      </m:r>
                      <m:sSub>
                        <m:sSubPr>
                          <m:ctrlPr>
                            <a:rPr lang="en-US" i="1">
                              <a:latin typeface="Cambria Math" panose="02040503050406030204" pitchFamily="18" charset="0"/>
                            </a:rPr>
                          </m:ctrlPr>
                        </m:sSubPr>
                        <m:e>
                          <m:r>
                            <a:rPr lang="en-US" i="1">
                              <a:latin typeface="Cambria Math"/>
                            </a:rPr>
                            <m:t>𝜃</m:t>
                          </m:r>
                        </m:e>
                        <m:sub>
                          <m:r>
                            <a:rPr lang="en-US" i="1">
                              <a:latin typeface="Cambria Math"/>
                            </a:rPr>
                            <m:t>0</m:t>
                          </m:r>
                        </m:sub>
                      </m:sSub>
                    </m:oMath>
                  </m:oMathPara>
                </a14:m>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𝐻</m:t>
                          </m:r>
                        </m:e>
                        <m:sub>
                          <m:r>
                            <a:rPr lang="en-US" i="1">
                              <a:latin typeface="Cambria Math"/>
                            </a:rPr>
                            <m:t>1</m:t>
                          </m:r>
                        </m:sub>
                      </m:sSub>
                      <m:r>
                        <a:rPr lang="en-US" i="1">
                          <a:latin typeface="Cambria Math"/>
                        </a:rPr>
                        <m:t>:</m:t>
                      </m:r>
                      <m:r>
                        <a:rPr lang="en-US" i="1">
                          <a:latin typeface="Cambria Math"/>
                        </a:rPr>
                        <m:t>𝜃</m:t>
                      </m:r>
                      <m:r>
                        <a:rPr lang="en-US" b="0" i="1" smtClean="0">
                          <a:latin typeface="Cambria Math"/>
                        </a:rPr>
                        <m:t>≠</m:t>
                      </m:r>
                      <m:sSub>
                        <m:sSubPr>
                          <m:ctrlPr>
                            <a:rPr lang="en-US" i="1">
                              <a:latin typeface="Cambria Math" panose="02040503050406030204" pitchFamily="18" charset="0"/>
                            </a:rPr>
                          </m:ctrlPr>
                        </m:sSubPr>
                        <m:e>
                          <m:r>
                            <a:rPr lang="en-US" i="1">
                              <a:latin typeface="Cambria Math"/>
                            </a:rPr>
                            <m:t>𝜃</m:t>
                          </m:r>
                        </m:e>
                        <m:sub>
                          <m:r>
                            <a:rPr lang="en-US" i="1">
                              <a:latin typeface="Cambria Math"/>
                            </a:rPr>
                            <m:t>0</m:t>
                          </m:r>
                        </m:sub>
                      </m:sSub>
                    </m:oMath>
                  </m:oMathPara>
                </a14:m>
                <a:endParaRPr lang="en-US" dirty="0"/>
              </a:p>
              <a:p>
                <a:endParaRPr lang="en-US" dirty="0"/>
              </a:p>
              <a:p>
                <a:r>
                  <a:rPr lang="en-US" dirty="0"/>
                  <a:t>For good tests, the direction of the alternative hypothesis determines the critical region. For instance, if we have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1</m:t>
                        </m:r>
                      </m:sub>
                    </m:sSub>
                    <m:r>
                      <a:rPr lang="en-US" b="0" i="1" smtClean="0">
                        <a:latin typeface="Cambria Math"/>
                      </a:rPr>
                      <m:t>:</m:t>
                    </m:r>
                    <m:r>
                      <a:rPr lang="en-US" b="0" i="1" smtClean="0">
                        <a:latin typeface="Cambria Math"/>
                      </a:rPr>
                      <m:t>𝜃</m:t>
                    </m:r>
                    <m:r>
                      <a:rPr lang="en-US" b="0" i="1" smtClean="0">
                        <a:latin typeface="Cambria Math"/>
                      </a:rPr>
                      <m:t>&gt;</m:t>
                    </m:r>
                    <m:sSub>
                      <m:sSubPr>
                        <m:ctrlPr>
                          <a:rPr lang="en-US" b="0" i="1" smtClean="0">
                            <a:latin typeface="Cambria Math" panose="02040503050406030204" pitchFamily="18" charset="0"/>
                          </a:rPr>
                        </m:ctrlPr>
                      </m:sSubPr>
                      <m:e>
                        <m:r>
                          <a:rPr lang="en-US" b="0" i="1" smtClean="0">
                            <a:latin typeface="Cambria Math"/>
                          </a:rPr>
                          <m:t>𝜃</m:t>
                        </m:r>
                      </m:e>
                      <m:sub>
                        <m:r>
                          <a:rPr lang="en-US" b="0" i="1" smtClean="0">
                            <a:latin typeface="Cambria Math"/>
                          </a:rPr>
                          <m:t>1</m:t>
                        </m:r>
                      </m:sub>
                    </m:sSub>
                  </m:oMath>
                </a14:m>
                <a:r>
                  <a:rPr lang="en-US" dirty="0"/>
                  <a:t>, then we will reject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0</m:t>
                        </m:r>
                      </m:sub>
                    </m:sSub>
                  </m:oMath>
                </a14:m>
                <a:r>
                  <a:rPr lang="en-US" dirty="0"/>
                  <a:t> when our test statistic is </a:t>
                </a:r>
                <a:r>
                  <a:rPr lang="en-US" i="1" dirty="0"/>
                  <a:t>greater than </a:t>
                </a:r>
                <a:r>
                  <a:rPr lang="en-US" dirty="0"/>
                  <a:t>the critical value. We would go the other way for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1</m:t>
                        </m:r>
                      </m:sub>
                    </m:sSub>
                    <m:r>
                      <a:rPr lang="en-US" b="0" i="1" smtClean="0">
                        <a:latin typeface="Cambria Math"/>
                      </a:rPr>
                      <m:t>:</m:t>
                    </m:r>
                    <m:r>
                      <a:rPr lang="en-US" b="0" i="1" smtClean="0">
                        <a:latin typeface="Cambria Math"/>
                      </a:rPr>
                      <m:t>𝜃</m:t>
                    </m:r>
                    <m:r>
                      <a:rPr lang="en-US" b="0" i="1" smtClean="0">
                        <a:latin typeface="Cambria Math"/>
                      </a:rPr>
                      <m:t>&lt;</m:t>
                    </m:r>
                    <m:sSub>
                      <m:sSubPr>
                        <m:ctrlPr>
                          <a:rPr lang="en-US" b="0" i="1" smtClean="0">
                            <a:latin typeface="Cambria Math" panose="02040503050406030204" pitchFamily="18" charset="0"/>
                          </a:rPr>
                        </m:ctrlPr>
                      </m:sSubPr>
                      <m:e>
                        <m:r>
                          <a:rPr lang="en-US" b="0" i="1" smtClean="0">
                            <a:latin typeface="Cambria Math"/>
                          </a:rPr>
                          <m:t>𝜃</m:t>
                        </m:r>
                      </m:e>
                      <m:sub>
                        <m:r>
                          <a:rPr lang="en-US" b="0" i="1" smtClean="0">
                            <a:latin typeface="Cambria Math"/>
                          </a:rPr>
                          <m:t>1</m:t>
                        </m:r>
                      </m:sub>
                    </m:sSub>
                  </m:oMath>
                </a14:m>
                <a:r>
                  <a:rPr lang="en-US" dirty="0"/>
                  <a:t>. And for a two-tailed test, we have two critical values. </a:t>
                </a:r>
              </a:p>
              <a:p>
                <a:pPr marL="0" indent="0">
                  <a:buNone/>
                </a:pPr>
                <a:endParaRPr lang="en-US" dirty="0"/>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889" t="-2083" r="-1630" b="-278"/>
                </a:stretch>
              </a:blipFill>
            </p:spPr>
            <p:txBody>
              <a:bodyPr/>
              <a:lstStyle/>
              <a:p>
                <a:r>
                  <a:rPr lang="en-US">
                    <a:noFill/>
                  </a:rPr>
                  <a:t> </a:t>
                </a:r>
              </a:p>
            </p:txBody>
          </p:sp>
        </mc:Fallback>
      </mc:AlternateContent>
    </p:spTree>
    <p:extLst>
      <p:ext uri="{BB962C8B-B14F-4D97-AF65-F5344CB8AC3E}">
        <p14:creationId xmlns:p14="http://schemas.microsoft.com/office/powerpoint/2010/main" val="10273852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10.2 – Testing a Hypothesis</a:t>
            </a:r>
          </a:p>
        </p:txBody>
      </p:sp>
      <p:sp>
        <p:nvSpPr>
          <p:cNvPr id="3" name="Content Placeholder 2"/>
          <p:cNvSpPr>
            <a:spLocks noGrp="1"/>
          </p:cNvSpPr>
          <p:nvPr>
            <p:ph idx="1"/>
          </p:nvPr>
        </p:nvSpPr>
        <p:spPr/>
        <p:txBody>
          <a:bodyPr>
            <a:normAutofit/>
          </a:bodyPr>
          <a:lstStyle/>
          <a:p>
            <a:r>
              <a:rPr lang="en-US" dirty="0"/>
              <a:t>So how do we decide whether to use a one-tailed or two-tailed test? We use the statement of the hypothesis. If a clear direction (greater than or less than) is given, then use that direction as your alternative hypothesis. If there is no direction given, then use a two sided test. </a:t>
            </a:r>
          </a:p>
          <a:p>
            <a:endParaRPr lang="en-US" dirty="0"/>
          </a:p>
          <a:p>
            <a:r>
              <a:rPr lang="en-US" dirty="0"/>
              <a:t>This is how we’ve set up hypotheses so far. You can go back and look at the examples we’ve done and see that we followed this rule.</a:t>
            </a:r>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287462652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10.3 – How to Conduct a Hypothesis Test</a:t>
            </a:r>
          </a:p>
        </p:txBody>
      </p:sp>
      <p:sp>
        <p:nvSpPr>
          <p:cNvPr id="3" name="Content Placeholder 2"/>
          <p:cNvSpPr>
            <a:spLocks noGrp="1"/>
          </p:cNvSpPr>
          <p:nvPr>
            <p:ph idx="1"/>
          </p:nvPr>
        </p:nvSpPr>
        <p:spPr/>
        <p:txBody>
          <a:bodyPr>
            <a:normAutofit/>
          </a:bodyPr>
          <a:lstStyle/>
          <a:p>
            <a:r>
              <a:rPr lang="en-US" dirty="0"/>
              <a:t>Before we go into tests for specific cases in 10.4 and 10.5, we need to formally introduce a p-value and then put everything together so that we know how to actually conduct a hypothesis test. </a:t>
            </a:r>
          </a:p>
          <a:p>
            <a:endParaRPr lang="en-US" dirty="0"/>
          </a:p>
          <a:p>
            <a:r>
              <a:rPr lang="en-US" dirty="0"/>
              <a:t>The book talks about how using a p-value is different than using a critical value. While they do make an interesting point, I think it’s also somewhat arbitrary. For this reason, we’re going to stray a little from what the book goes over in this section, but not too much.</a:t>
            </a:r>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29438799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10.3 – How to Conduct a Hypothesis Test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sz="2400" dirty="0"/>
                  <a:t>First, let’s formally define a p-value. A </a:t>
                </a:r>
                <a:r>
                  <a:rPr lang="en-US" sz="2400" i="1" dirty="0"/>
                  <a:t>p-value</a:t>
                </a:r>
                <a:r>
                  <a:rPr lang="en-US" sz="2400" dirty="0"/>
                  <a:t> is the probability of obtaining a test statistic at least as extreme as the observed test statistic if the null hypothesis is true.</a:t>
                </a:r>
              </a:p>
              <a:p>
                <a:endParaRPr lang="en-US" sz="2400" dirty="0"/>
              </a:p>
              <a:p>
                <a:r>
                  <a:rPr lang="en-US" sz="2400" dirty="0"/>
                  <a:t>In the following table, </a:t>
                </a:r>
                <a14:m>
                  <m:oMath xmlns:m="http://schemas.openxmlformats.org/officeDocument/2006/math">
                    <m:r>
                      <a:rPr lang="en-US" sz="2400" b="0" i="1" smtClean="0">
                        <a:latin typeface="Cambria Math"/>
                      </a:rPr>
                      <m:t>𝜃</m:t>
                    </m:r>
                  </m:oMath>
                </a14:m>
                <a:r>
                  <a:rPr lang="en-US" sz="2400" dirty="0"/>
                  <a:t> is the parameter, </a:t>
                </a:r>
                <a14:m>
                  <m:oMath xmlns:m="http://schemas.openxmlformats.org/officeDocument/2006/math">
                    <m:acc>
                      <m:accPr>
                        <m:chr m:val="̂"/>
                        <m:ctrlPr>
                          <a:rPr lang="en-US" sz="2400" b="0" i="1" smtClean="0">
                            <a:latin typeface="Cambria Math" panose="02040503050406030204" pitchFamily="18" charset="0"/>
                          </a:rPr>
                        </m:ctrlPr>
                      </m:accPr>
                      <m:e>
                        <m:r>
                          <a:rPr lang="en-US" sz="2400" b="0" i="1" smtClean="0">
                            <a:latin typeface="Cambria Math"/>
                          </a:rPr>
                          <m:t>𝜃</m:t>
                        </m:r>
                      </m:e>
                    </m:acc>
                  </m:oMath>
                </a14:m>
                <a:r>
                  <a:rPr lang="en-US" sz="2400" dirty="0"/>
                  <a:t> is the test statistic (random variable), </a:t>
                </a:r>
                <a14:m>
                  <m:oMath xmlns:m="http://schemas.openxmlformats.org/officeDocument/2006/math">
                    <m:sSub>
                      <m:sSubPr>
                        <m:ctrlPr>
                          <a:rPr lang="en-US" sz="2400" b="0" i="1" dirty="0" smtClean="0">
                            <a:latin typeface="Cambria Math" panose="02040503050406030204" pitchFamily="18" charset="0"/>
                          </a:rPr>
                        </m:ctrlPr>
                      </m:sSubPr>
                      <m:e>
                        <m:acc>
                          <m:accPr>
                            <m:chr m:val="̂"/>
                            <m:ctrlPr>
                              <a:rPr lang="en-US" sz="2400" b="0" i="1" smtClean="0">
                                <a:latin typeface="Cambria Math" panose="02040503050406030204" pitchFamily="18" charset="0"/>
                              </a:rPr>
                            </m:ctrlPr>
                          </m:accPr>
                          <m:e>
                            <m:r>
                              <a:rPr lang="en-US" sz="2400" b="0" i="1" smtClean="0">
                                <a:latin typeface="Cambria Math"/>
                              </a:rPr>
                              <m:t>𝜃</m:t>
                            </m:r>
                          </m:e>
                        </m:acc>
                      </m:e>
                      <m:sub>
                        <m:r>
                          <a:rPr lang="en-US" sz="2400" b="0" i="1" dirty="0" smtClean="0">
                            <a:latin typeface="Cambria Math"/>
                          </a:rPr>
                          <m:t>0</m:t>
                        </m:r>
                      </m:sub>
                    </m:sSub>
                  </m:oMath>
                </a14:m>
                <a:r>
                  <a:rPr lang="en-US" sz="2400" dirty="0"/>
                  <a:t> is the actual value of the test statistic, and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a:rPr>
                          <m:t>𝜃</m:t>
                        </m:r>
                      </m:e>
                      <m:sub>
                        <m:r>
                          <a:rPr lang="en-US" sz="2400" b="0" i="1" smtClean="0">
                            <a:latin typeface="Cambria Math"/>
                          </a:rPr>
                          <m:t>0</m:t>
                        </m:r>
                      </m:sub>
                    </m:sSub>
                  </m:oMath>
                </a14:m>
                <a:r>
                  <a:rPr lang="en-US" sz="2400" dirty="0"/>
                  <a:t> is the hypothesized value of the parameter:</a:t>
                </a:r>
              </a:p>
              <a:p>
                <a:pPr marL="0" indent="0">
                  <a:buNone/>
                </a:pPr>
                <a:endParaRPr lang="en-US" dirty="0"/>
              </a:p>
              <a:p>
                <a:pPr marL="0" indent="0">
                  <a:buNone/>
                </a:pPr>
                <a:endParaRPr lang="en-US" dirty="0"/>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741" t="-1111" r="-17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4260801179"/>
                  </p:ext>
                </p:extLst>
              </p:nvPr>
            </p:nvGraphicFramePr>
            <p:xfrm>
              <a:off x="533400" y="4953000"/>
              <a:ext cx="8122539" cy="1235774"/>
            </p:xfrm>
            <a:graphic>
              <a:graphicData uri="http://schemas.openxmlformats.org/drawingml/2006/table">
                <a:tbl>
                  <a:tblPr firstRow="1" bandRow="1">
                    <a:tableStyleId>{5C22544A-7EE6-4342-B048-85BDC9FD1C3A}</a:tableStyleId>
                  </a:tblPr>
                  <a:tblGrid>
                    <a:gridCol w="2641346">
                      <a:extLst>
                        <a:ext uri="{9D8B030D-6E8A-4147-A177-3AD203B41FA5}">
                          <a16:colId xmlns:a16="http://schemas.microsoft.com/office/drawing/2014/main" val="20000"/>
                        </a:ext>
                      </a:extLst>
                    </a:gridCol>
                    <a:gridCol w="2641346">
                      <a:extLst>
                        <a:ext uri="{9D8B030D-6E8A-4147-A177-3AD203B41FA5}">
                          <a16:colId xmlns:a16="http://schemas.microsoft.com/office/drawing/2014/main" val="20001"/>
                        </a:ext>
                      </a:extLst>
                    </a:gridCol>
                    <a:gridCol w="2839847">
                      <a:extLst>
                        <a:ext uri="{9D8B030D-6E8A-4147-A177-3AD203B41FA5}">
                          <a16:colId xmlns:a16="http://schemas.microsoft.com/office/drawing/2014/main" val="20002"/>
                        </a:ext>
                      </a:extLst>
                    </a:gridCol>
                  </a:tblGrid>
                  <a:tr h="352782">
                    <a:tc>
                      <a:txBody>
                        <a:bodyPr/>
                        <a:lstStyle/>
                        <a:p>
                          <a:pPr algn="ctr"/>
                          <a:r>
                            <a:rPr lang="en-US" dirty="0"/>
                            <a:t>Right-tailed</a:t>
                          </a:r>
                        </a:p>
                      </a:txBody>
                      <a:tcPr/>
                    </a:tc>
                    <a:tc>
                      <a:txBody>
                        <a:bodyPr/>
                        <a:lstStyle/>
                        <a:p>
                          <a:pPr algn="ctr"/>
                          <a:r>
                            <a:rPr lang="en-US" dirty="0"/>
                            <a:t>Left-tailed</a:t>
                          </a:r>
                        </a:p>
                      </a:txBody>
                      <a:tcPr/>
                    </a:tc>
                    <a:tc>
                      <a:txBody>
                        <a:bodyPr/>
                        <a:lstStyle/>
                        <a:p>
                          <a:pPr algn="ctr"/>
                          <a:r>
                            <a:rPr lang="en-US" dirty="0"/>
                            <a:t>Two-tailed</a:t>
                          </a:r>
                        </a:p>
                      </a:txBody>
                      <a:tcPr/>
                    </a:tc>
                    <a:extLst>
                      <a:ext uri="{0D108BD9-81ED-4DB2-BD59-A6C34878D82A}">
                        <a16:rowId xmlns:a16="http://schemas.microsoft.com/office/drawing/2014/main" val="10000"/>
                      </a:ext>
                    </a:extLst>
                  </a:tr>
                  <a:tr h="714017">
                    <a:tc>
                      <a:txBody>
                        <a:bodyPr/>
                        <a:lstStyle/>
                        <a:p>
                          <a:pPr algn="ctr"/>
                          <a14:m>
                            <m:oMathPara xmlns:m="http://schemas.openxmlformats.org/officeDocument/2006/math">
                              <m:oMathParaPr>
                                <m:jc m:val="centerGroup"/>
                              </m:oMathParaPr>
                              <m:oMath xmlns:m="http://schemas.openxmlformats.org/officeDocument/2006/math">
                                <m:r>
                                  <a:rPr lang="en-US" sz="2400" b="0" i="1" smtClean="0">
                                    <a:latin typeface="Cambria Math"/>
                                  </a:rPr>
                                  <m:t>𝑃</m:t>
                                </m:r>
                                <m:d>
                                  <m:dPr>
                                    <m:endChr m:val="|"/>
                                    <m:ctrlPr>
                                      <a:rPr lang="en-US" sz="2400" b="0" i="1" smtClean="0">
                                        <a:latin typeface="Cambria Math" panose="02040503050406030204" pitchFamily="18" charset="0"/>
                                      </a:rPr>
                                    </m:ctrlPr>
                                  </m:dPr>
                                  <m:e>
                                    <m:acc>
                                      <m:accPr>
                                        <m:chr m:val="̂"/>
                                        <m:ctrlPr>
                                          <a:rPr lang="en-US" sz="2400" b="0" i="1" smtClean="0">
                                            <a:latin typeface="Cambria Math" panose="02040503050406030204" pitchFamily="18" charset="0"/>
                                          </a:rPr>
                                        </m:ctrlPr>
                                      </m:accPr>
                                      <m:e>
                                        <m:r>
                                          <a:rPr lang="en-US" sz="2400" b="0" i="1" smtClean="0">
                                            <a:latin typeface="Cambria Math"/>
                                          </a:rPr>
                                          <m:t>𝜃</m:t>
                                        </m:r>
                                      </m:e>
                                    </m:acc>
                                    <m:r>
                                      <a:rPr lang="en-US" sz="2400" b="0" i="1" smtClean="0">
                                        <a:latin typeface="Cambria Math"/>
                                      </a:rPr>
                                      <m:t>≥</m:t>
                                    </m:r>
                                    <m:sSub>
                                      <m:sSubPr>
                                        <m:ctrlPr>
                                          <a:rPr lang="en-US" sz="2400" b="0" i="1" smtClean="0">
                                            <a:latin typeface="Cambria Math" panose="02040503050406030204" pitchFamily="18" charset="0"/>
                                          </a:rPr>
                                        </m:ctrlPr>
                                      </m:sSubPr>
                                      <m:e>
                                        <m:acc>
                                          <m:accPr>
                                            <m:chr m:val="̂"/>
                                            <m:ctrlPr>
                                              <a:rPr lang="en-US" sz="2400" b="0" i="1" smtClean="0">
                                                <a:latin typeface="Cambria Math" panose="02040503050406030204" pitchFamily="18" charset="0"/>
                                              </a:rPr>
                                            </m:ctrlPr>
                                          </m:accPr>
                                          <m:e>
                                            <m:r>
                                              <a:rPr lang="en-US" sz="2400" b="0" i="1" smtClean="0">
                                                <a:latin typeface="Cambria Math"/>
                                              </a:rPr>
                                              <m:t>𝜃</m:t>
                                            </m:r>
                                          </m:e>
                                        </m:acc>
                                      </m:e>
                                      <m:sub>
                                        <m:r>
                                          <a:rPr lang="en-US" sz="2400" b="0" i="1" smtClean="0">
                                            <a:latin typeface="Cambria Math"/>
                                          </a:rPr>
                                          <m:t>0</m:t>
                                        </m:r>
                                      </m:sub>
                                    </m:sSub>
                                  </m:e>
                                </m:d>
                                <m:r>
                                  <a:rPr lang="en-US" sz="2400" b="0" i="1" smtClean="0">
                                    <a:latin typeface="Cambria Math"/>
                                  </a:rPr>
                                  <m:t>𝜃</m:t>
                                </m:r>
                                <m:r>
                                  <a:rPr lang="en-US" sz="2400" b="0" i="1" smtClean="0">
                                    <a:latin typeface="Cambria Math"/>
                                  </a:rPr>
                                  <m:t>=</m:t>
                                </m:r>
                                <m:sSub>
                                  <m:sSubPr>
                                    <m:ctrlPr>
                                      <a:rPr lang="en-US" sz="2400" b="0" i="1" smtClean="0">
                                        <a:latin typeface="Cambria Math" panose="02040503050406030204" pitchFamily="18" charset="0"/>
                                      </a:rPr>
                                    </m:ctrlPr>
                                  </m:sSubPr>
                                  <m:e>
                                    <m:r>
                                      <a:rPr lang="en-US" sz="2400" b="0" i="1" smtClean="0">
                                        <a:latin typeface="Cambria Math"/>
                                      </a:rPr>
                                      <m:t>𝜃</m:t>
                                    </m:r>
                                  </m:e>
                                  <m:sub>
                                    <m:r>
                                      <a:rPr lang="en-US" sz="2400" b="0" i="1" smtClean="0">
                                        <a:latin typeface="Cambria Math"/>
                                      </a:rPr>
                                      <m:t>0</m:t>
                                    </m:r>
                                  </m:sub>
                                </m:sSub>
                                <m:r>
                                  <a:rPr lang="en-US" sz="2400" b="0" i="1" smtClean="0">
                                    <a:latin typeface="Cambria Math"/>
                                  </a:rPr>
                                  <m:t>) </m:t>
                                </m:r>
                              </m:oMath>
                            </m:oMathPara>
                          </a14:m>
                          <a:endParaRPr lang="en-US" sz="2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400" b="0" i="1" smtClean="0">
                                    <a:latin typeface="Cambria Math"/>
                                  </a:rPr>
                                  <m:t>𝑃</m:t>
                                </m:r>
                                <m:d>
                                  <m:dPr>
                                    <m:endChr m:val="|"/>
                                    <m:ctrlPr>
                                      <a:rPr lang="en-US" sz="2400" b="0" i="1" smtClean="0">
                                        <a:latin typeface="Cambria Math" panose="02040503050406030204" pitchFamily="18" charset="0"/>
                                      </a:rPr>
                                    </m:ctrlPr>
                                  </m:dPr>
                                  <m:e>
                                    <m:acc>
                                      <m:accPr>
                                        <m:chr m:val="̂"/>
                                        <m:ctrlPr>
                                          <a:rPr lang="en-US" sz="2400" b="0" i="1" smtClean="0">
                                            <a:latin typeface="Cambria Math" panose="02040503050406030204" pitchFamily="18" charset="0"/>
                                          </a:rPr>
                                        </m:ctrlPr>
                                      </m:accPr>
                                      <m:e>
                                        <m:r>
                                          <a:rPr lang="en-US" sz="2400" b="0" i="1" smtClean="0">
                                            <a:latin typeface="Cambria Math"/>
                                          </a:rPr>
                                          <m:t>𝜃</m:t>
                                        </m:r>
                                      </m:e>
                                    </m:acc>
                                    <m:r>
                                      <a:rPr lang="en-US" sz="2400" b="0" i="1" smtClean="0">
                                        <a:latin typeface="Cambria Math"/>
                                      </a:rPr>
                                      <m:t>≤</m:t>
                                    </m:r>
                                    <m:sSub>
                                      <m:sSubPr>
                                        <m:ctrlPr>
                                          <a:rPr lang="en-US" sz="2400" b="0" i="1" smtClean="0">
                                            <a:latin typeface="Cambria Math" panose="02040503050406030204" pitchFamily="18" charset="0"/>
                                          </a:rPr>
                                        </m:ctrlPr>
                                      </m:sSubPr>
                                      <m:e>
                                        <m:acc>
                                          <m:accPr>
                                            <m:chr m:val="̂"/>
                                            <m:ctrlPr>
                                              <a:rPr lang="en-US" sz="2400" b="0" i="1" smtClean="0">
                                                <a:latin typeface="Cambria Math" panose="02040503050406030204" pitchFamily="18" charset="0"/>
                                              </a:rPr>
                                            </m:ctrlPr>
                                          </m:accPr>
                                          <m:e>
                                            <m:r>
                                              <a:rPr lang="en-US" sz="2400" b="0" i="1" smtClean="0">
                                                <a:latin typeface="Cambria Math"/>
                                              </a:rPr>
                                              <m:t>𝜃</m:t>
                                            </m:r>
                                          </m:e>
                                        </m:acc>
                                      </m:e>
                                      <m:sub>
                                        <m:r>
                                          <a:rPr lang="en-US" sz="2400" b="0" i="1" smtClean="0">
                                            <a:latin typeface="Cambria Math"/>
                                          </a:rPr>
                                          <m:t>0</m:t>
                                        </m:r>
                                      </m:sub>
                                    </m:sSub>
                                  </m:e>
                                </m:d>
                                <m:r>
                                  <a:rPr lang="en-US" sz="2400" b="0" i="1" smtClean="0">
                                    <a:latin typeface="Cambria Math"/>
                                  </a:rPr>
                                  <m:t>𝜃</m:t>
                                </m:r>
                                <m:r>
                                  <a:rPr lang="en-US" sz="2400" b="0" i="1" smtClean="0">
                                    <a:latin typeface="Cambria Math"/>
                                  </a:rPr>
                                  <m:t>=</m:t>
                                </m:r>
                                <m:sSub>
                                  <m:sSubPr>
                                    <m:ctrlPr>
                                      <a:rPr lang="en-US" sz="2400" b="0" i="1" smtClean="0">
                                        <a:latin typeface="Cambria Math" panose="02040503050406030204" pitchFamily="18" charset="0"/>
                                      </a:rPr>
                                    </m:ctrlPr>
                                  </m:sSubPr>
                                  <m:e>
                                    <m:r>
                                      <a:rPr lang="en-US" sz="2400" b="0" i="1" smtClean="0">
                                        <a:latin typeface="Cambria Math"/>
                                      </a:rPr>
                                      <m:t>𝜃</m:t>
                                    </m:r>
                                  </m:e>
                                  <m:sub>
                                    <m:r>
                                      <a:rPr lang="en-US" sz="2400" b="0" i="1" smtClean="0">
                                        <a:latin typeface="Cambria Math"/>
                                      </a:rPr>
                                      <m:t>0</m:t>
                                    </m:r>
                                  </m:sub>
                                </m:sSub>
                                <m:r>
                                  <a:rPr lang="en-US" sz="2400" b="0" i="1" smtClean="0">
                                    <a:latin typeface="Cambria Math"/>
                                  </a:rPr>
                                  <m:t>) </m:t>
                                </m:r>
                              </m:oMath>
                            </m:oMathPara>
                          </a14:m>
                          <a:endParaRPr lang="en-US" sz="2400" dirty="0"/>
                        </a:p>
                        <a:p>
                          <a:pPr algn="ctr"/>
                          <a:endParaRPr lang="en-US" sz="24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400" b="0" i="1" smtClean="0">
                                    <a:latin typeface="Cambria Math"/>
                                  </a:rPr>
                                  <m:t>𝑃</m:t>
                                </m:r>
                                <m:d>
                                  <m:dPr>
                                    <m:endChr m:val="|"/>
                                    <m:ctrlPr>
                                      <a:rPr lang="en-US" sz="2400" b="0" i="1" smtClean="0">
                                        <a:latin typeface="Cambria Math" panose="02040503050406030204" pitchFamily="18" charset="0"/>
                                      </a:rPr>
                                    </m:ctrlPr>
                                  </m:dPr>
                                  <m:e>
                                    <m:d>
                                      <m:dPr>
                                        <m:begChr m:val="|"/>
                                        <m:endChr m:val="|"/>
                                        <m:ctrlPr>
                                          <a:rPr lang="en-US" sz="2400" b="0" i="1" smtClean="0">
                                            <a:latin typeface="Cambria Math" panose="02040503050406030204" pitchFamily="18" charset="0"/>
                                          </a:rPr>
                                        </m:ctrlPr>
                                      </m:dPr>
                                      <m:e>
                                        <m:acc>
                                          <m:accPr>
                                            <m:chr m:val="̂"/>
                                            <m:ctrlPr>
                                              <a:rPr lang="en-US" sz="2400" b="0" i="1" smtClean="0">
                                                <a:latin typeface="Cambria Math" panose="02040503050406030204" pitchFamily="18" charset="0"/>
                                              </a:rPr>
                                            </m:ctrlPr>
                                          </m:accPr>
                                          <m:e>
                                            <m:r>
                                              <a:rPr lang="en-US" sz="2400" b="0" i="1" smtClean="0">
                                                <a:latin typeface="Cambria Math"/>
                                              </a:rPr>
                                              <m:t>𝜃</m:t>
                                            </m:r>
                                          </m:e>
                                        </m:acc>
                                      </m:e>
                                    </m:d>
                                    <m:r>
                                      <a:rPr lang="en-US" sz="2400" b="0" i="1" smtClean="0">
                                        <a:latin typeface="Cambria Math"/>
                                      </a:rPr>
                                      <m:t>≥</m:t>
                                    </m:r>
                                    <m:sSub>
                                      <m:sSubPr>
                                        <m:ctrlPr>
                                          <a:rPr lang="en-US" sz="2400" b="0" i="1" smtClean="0">
                                            <a:latin typeface="Cambria Math" panose="02040503050406030204" pitchFamily="18" charset="0"/>
                                          </a:rPr>
                                        </m:ctrlPr>
                                      </m:sSubPr>
                                      <m:e>
                                        <m:acc>
                                          <m:accPr>
                                            <m:chr m:val="̂"/>
                                            <m:ctrlPr>
                                              <a:rPr lang="en-US" sz="2400" b="0" i="1" smtClean="0">
                                                <a:latin typeface="Cambria Math" panose="02040503050406030204" pitchFamily="18" charset="0"/>
                                              </a:rPr>
                                            </m:ctrlPr>
                                          </m:accPr>
                                          <m:e>
                                            <m:r>
                                              <a:rPr lang="en-US" sz="2400" b="0" i="1" smtClean="0">
                                                <a:latin typeface="Cambria Math"/>
                                              </a:rPr>
                                              <m:t>𝜃</m:t>
                                            </m:r>
                                          </m:e>
                                        </m:acc>
                                      </m:e>
                                      <m:sub>
                                        <m:r>
                                          <a:rPr lang="en-US" sz="2400" b="0" i="1" smtClean="0">
                                            <a:latin typeface="Cambria Math"/>
                                          </a:rPr>
                                          <m:t>0</m:t>
                                        </m:r>
                                      </m:sub>
                                    </m:sSub>
                                  </m:e>
                                </m:d>
                                <m:r>
                                  <a:rPr lang="en-US" sz="2400" b="0" i="1" smtClean="0">
                                    <a:latin typeface="Cambria Math"/>
                                  </a:rPr>
                                  <m:t>𝜃</m:t>
                                </m:r>
                                <m:r>
                                  <a:rPr lang="en-US" sz="2400" b="0" i="1" smtClean="0">
                                    <a:latin typeface="Cambria Math"/>
                                  </a:rPr>
                                  <m:t>=</m:t>
                                </m:r>
                                <m:sSub>
                                  <m:sSubPr>
                                    <m:ctrlPr>
                                      <a:rPr lang="en-US" sz="2400" b="0" i="1" smtClean="0">
                                        <a:latin typeface="Cambria Math" panose="02040503050406030204" pitchFamily="18" charset="0"/>
                                      </a:rPr>
                                    </m:ctrlPr>
                                  </m:sSubPr>
                                  <m:e>
                                    <m:r>
                                      <a:rPr lang="en-US" sz="2400" b="0" i="1" smtClean="0">
                                        <a:latin typeface="Cambria Math"/>
                                      </a:rPr>
                                      <m:t>𝜃</m:t>
                                    </m:r>
                                  </m:e>
                                  <m:sub>
                                    <m:r>
                                      <a:rPr lang="en-US" sz="2400" b="0" i="1" smtClean="0">
                                        <a:latin typeface="Cambria Math"/>
                                      </a:rPr>
                                      <m:t>0</m:t>
                                    </m:r>
                                  </m:sub>
                                </m:sSub>
                                <m:r>
                                  <a:rPr lang="en-US" sz="2400" b="0" i="1" smtClean="0">
                                    <a:latin typeface="Cambria Math"/>
                                  </a:rPr>
                                  <m:t>) </m:t>
                                </m:r>
                              </m:oMath>
                            </m:oMathPara>
                          </a14:m>
                          <a:endParaRPr lang="en-US" sz="2000" dirty="0"/>
                        </a:p>
                        <a:p>
                          <a:pPr algn="ctr"/>
                          <a:endParaRPr lang="en-US" sz="2000" dirty="0"/>
                        </a:p>
                      </a:txBody>
                      <a:tcPr/>
                    </a:tc>
                    <a:extLst>
                      <a:ext uri="{0D108BD9-81ED-4DB2-BD59-A6C34878D82A}">
                        <a16:rowId xmlns:a16="http://schemas.microsoft.com/office/drawing/2014/main" val="10001"/>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4260801179"/>
                  </p:ext>
                </p:extLst>
              </p:nvPr>
            </p:nvGraphicFramePr>
            <p:xfrm>
              <a:off x="533400" y="4953000"/>
              <a:ext cx="8122539" cy="1235774"/>
            </p:xfrm>
            <a:graphic>
              <a:graphicData uri="http://schemas.openxmlformats.org/drawingml/2006/table">
                <a:tbl>
                  <a:tblPr firstRow="1" bandRow="1">
                    <a:tableStyleId>{5C22544A-7EE6-4342-B048-85BDC9FD1C3A}</a:tableStyleId>
                  </a:tblPr>
                  <a:tblGrid>
                    <a:gridCol w="2641346"/>
                    <a:gridCol w="2641346"/>
                    <a:gridCol w="2839847"/>
                  </a:tblGrid>
                  <a:tr h="365760">
                    <a:tc>
                      <a:txBody>
                        <a:bodyPr/>
                        <a:lstStyle/>
                        <a:p>
                          <a:pPr algn="ctr"/>
                          <a:r>
                            <a:rPr lang="en-US" dirty="0" smtClean="0"/>
                            <a:t>Right-tailed</a:t>
                          </a:r>
                          <a:endParaRPr lang="en-US" dirty="0"/>
                        </a:p>
                      </a:txBody>
                      <a:tcPr/>
                    </a:tc>
                    <a:tc>
                      <a:txBody>
                        <a:bodyPr/>
                        <a:lstStyle/>
                        <a:p>
                          <a:pPr algn="ctr"/>
                          <a:r>
                            <a:rPr lang="en-US" dirty="0" smtClean="0"/>
                            <a:t>Left-tailed</a:t>
                          </a:r>
                          <a:endParaRPr lang="en-US" dirty="0"/>
                        </a:p>
                      </a:txBody>
                      <a:tcPr/>
                    </a:tc>
                    <a:tc>
                      <a:txBody>
                        <a:bodyPr/>
                        <a:lstStyle/>
                        <a:p>
                          <a:pPr algn="ctr"/>
                          <a:r>
                            <a:rPr lang="en-US" dirty="0" smtClean="0"/>
                            <a:t>Two-tailed</a:t>
                          </a:r>
                          <a:endParaRPr lang="en-US" dirty="0"/>
                        </a:p>
                      </a:txBody>
                      <a:tcPr/>
                    </a:tc>
                  </a:tr>
                  <a:tr h="870014">
                    <a:tc>
                      <a:txBody>
                        <a:bodyPr/>
                        <a:lstStyle/>
                        <a:p>
                          <a:endParaRPr lang="en-US"/>
                        </a:p>
                      </a:txBody>
                      <a:tcPr>
                        <a:blipFill rotWithShape="1">
                          <a:blip r:embed="rId3"/>
                          <a:stretch>
                            <a:fillRect l="-231" t="-45775" r="-207621" b="-704"/>
                          </a:stretch>
                        </a:blipFill>
                      </a:tcPr>
                    </a:tc>
                    <a:tc>
                      <a:txBody>
                        <a:bodyPr/>
                        <a:lstStyle/>
                        <a:p>
                          <a:endParaRPr lang="en-US"/>
                        </a:p>
                      </a:txBody>
                      <a:tcPr>
                        <a:blipFill rotWithShape="1">
                          <a:blip r:embed="rId3"/>
                          <a:stretch>
                            <a:fillRect l="-100231" t="-45775" r="-107621" b="-704"/>
                          </a:stretch>
                        </a:blipFill>
                      </a:tcPr>
                    </a:tc>
                    <a:tc>
                      <a:txBody>
                        <a:bodyPr/>
                        <a:lstStyle/>
                        <a:p>
                          <a:endParaRPr lang="en-US"/>
                        </a:p>
                      </a:txBody>
                      <a:tcPr>
                        <a:blipFill rotWithShape="1">
                          <a:blip r:embed="rId3"/>
                          <a:stretch>
                            <a:fillRect l="-186052" t="-45775" b="-704"/>
                          </a:stretch>
                        </a:blipFill>
                      </a:tcPr>
                    </a:tc>
                  </a:tr>
                </a:tbl>
              </a:graphicData>
            </a:graphic>
          </p:graphicFrame>
        </mc:Fallback>
      </mc:AlternateContent>
    </p:spTree>
    <p:extLst>
      <p:ext uri="{BB962C8B-B14F-4D97-AF65-F5344CB8AC3E}">
        <p14:creationId xmlns:p14="http://schemas.microsoft.com/office/powerpoint/2010/main" val="42603147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10.3 – How to Conduct a Hypothesis Test</a:t>
            </a:r>
          </a:p>
        </p:txBody>
      </p:sp>
      <p:sp>
        <p:nvSpPr>
          <p:cNvPr id="3" name="Content Placeholder 2"/>
          <p:cNvSpPr>
            <a:spLocks noGrp="1"/>
          </p:cNvSpPr>
          <p:nvPr>
            <p:ph idx="1"/>
          </p:nvPr>
        </p:nvSpPr>
        <p:spPr/>
        <p:txBody>
          <a:bodyPr>
            <a:normAutofit/>
          </a:bodyPr>
          <a:lstStyle/>
          <a:p>
            <a:r>
              <a:rPr lang="en-US" dirty="0"/>
              <a:t>Thinking graphically, a p-value is simply the area under the null distribution beyond the test statistic.</a:t>
            </a:r>
          </a:p>
          <a:p>
            <a:endParaRPr lang="en-US" dirty="0"/>
          </a:p>
          <a:p>
            <a:r>
              <a:rPr lang="en-US" dirty="0"/>
              <a:t>Note that we use the term “more extreme” because we need one definition for any kind of test – one-tailed (in either direction) or two-tailed. </a:t>
            </a:r>
          </a:p>
          <a:p>
            <a:endParaRPr lang="en-US" dirty="0"/>
          </a:p>
          <a:p>
            <a:r>
              <a:rPr lang="en-US" dirty="0"/>
              <a:t>The equivalence of this approach and the critical value approach are perhaps best understood using a picture.</a:t>
            </a:r>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227335803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10.3 – How to Conduct a Hypothesis Test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So the further the test statistic is from the mean of the null distribution, the smaller the p-value will be. Another way to say this is that the smaller the p-value, the stronger the evidence against the null hypothesis.</a:t>
                </a:r>
              </a:p>
              <a:p>
                <a:endParaRPr lang="en-US" dirty="0"/>
              </a:p>
              <a:p>
                <a:r>
                  <a:rPr lang="en-US" dirty="0"/>
                  <a:t>So to make a decision, we simply compare the p-value to </a:t>
                </a:r>
                <a14:m>
                  <m:oMath xmlns:m="http://schemas.openxmlformats.org/officeDocument/2006/math">
                    <m:r>
                      <a:rPr lang="en-US" b="0" i="1" smtClean="0">
                        <a:latin typeface="Cambria Math"/>
                      </a:rPr>
                      <m:t>𝛼</m:t>
                    </m:r>
                  </m:oMath>
                </a14:m>
                <a:r>
                  <a:rPr lang="en-US" dirty="0"/>
                  <a:t>. If the p-value is smaller than </a:t>
                </a:r>
                <a14:m>
                  <m:oMath xmlns:m="http://schemas.openxmlformats.org/officeDocument/2006/math">
                    <m:r>
                      <a:rPr lang="en-US" b="0" i="1" smtClean="0">
                        <a:latin typeface="Cambria Math"/>
                      </a:rPr>
                      <m:t>𝛼</m:t>
                    </m:r>
                  </m:oMath>
                </a14:m>
                <a:r>
                  <a:rPr lang="en-US" dirty="0"/>
                  <a:t>, we reject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0</m:t>
                        </m:r>
                      </m:sub>
                    </m:sSub>
                  </m:oMath>
                </a14:m>
                <a:r>
                  <a:rPr lang="en-US" dirty="0"/>
                  <a:t>. If it is larger than </a:t>
                </a:r>
                <a14:m>
                  <m:oMath xmlns:m="http://schemas.openxmlformats.org/officeDocument/2006/math">
                    <m:r>
                      <a:rPr lang="en-US" b="0" i="1" smtClean="0">
                        <a:latin typeface="Cambria Math"/>
                      </a:rPr>
                      <m:t>𝛼</m:t>
                    </m:r>
                  </m:oMath>
                </a14:m>
                <a:r>
                  <a:rPr lang="en-US" dirty="0"/>
                  <a:t>, we fail to reject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0</m:t>
                        </m:r>
                      </m:sub>
                    </m:sSub>
                  </m:oMath>
                </a14:m>
                <a:r>
                  <a:rPr lang="en-US" dirty="0"/>
                  <a:t>.</a:t>
                </a:r>
              </a:p>
              <a:p>
                <a:pPr marL="0" indent="0">
                  <a:buNone/>
                </a:pPr>
                <a:endParaRPr lang="en-US" dirty="0"/>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889" t="-1111" r="-741"/>
                </a:stretch>
              </a:blipFill>
            </p:spPr>
            <p:txBody>
              <a:bodyPr/>
              <a:lstStyle/>
              <a:p>
                <a:r>
                  <a:rPr lang="en-US">
                    <a:noFill/>
                  </a:rPr>
                  <a:t> </a:t>
                </a:r>
              </a:p>
            </p:txBody>
          </p:sp>
        </mc:Fallback>
      </mc:AlternateContent>
    </p:spTree>
    <p:extLst>
      <p:ext uri="{BB962C8B-B14F-4D97-AF65-F5344CB8AC3E}">
        <p14:creationId xmlns:p14="http://schemas.microsoft.com/office/powerpoint/2010/main" val="52870732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10.3 – How to Conduct a Hypothesis Test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Here are the steps for conducting a hypothesis test using a p-value:</a:t>
                </a:r>
              </a:p>
              <a:p>
                <a:pPr lvl="1"/>
                <a:r>
                  <a:rPr lang="en-US" dirty="0"/>
                  <a:t>State the hypotheses symbolically</a:t>
                </a:r>
              </a:p>
              <a:p>
                <a:pPr lvl="1"/>
                <a:r>
                  <a:rPr lang="en-US" dirty="0"/>
                  <a:t>State the level of significance, </a:t>
                </a:r>
                <a14:m>
                  <m:oMath xmlns:m="http://schemas.openxmlformats.org/officeDocument/2006/math">
                    <m:r>
                      <a:rPr lang="en-US" b="0" i="1" smtClean="0">
                        <a:latin typeface="Cambria Math"/>
                      </a:rPr>
                      <m:t>𝛼</m:t>
                    </m:r>
                  </m:oMath>
                </a14:m>
                <a:endParaRPr lang="en-US" dirty="0"/>
              </a:p>
              <a:p>
                <a:pPr lvl="1"/>
                <a:r>
                  <a:rPr lang="en-US" dirty="0"/>
                  <a:t>Calculate and give the p-value</a:t>
                </a:r>
              </a:p>
              <a:p>
                <a:pPr lvl="1"/>
                <a:r>
                  <a:rPr lang="en-US" dirty="0"/>
                  <a:t>Make a decision</a:t>
                </a:r>
              </a:p>
              <a:p>
                <a:pPr lvl="2"/>
                <a:r>
                  <a:rPr lang="en-US" dirty="0"/>
                  <a:t>If p-value is larger than </a:t>
                </a:r>
                <a14:m>
                  <m:oMath xmlns:m="http://schemas.openxmlformats.org/officeDocument/2006/math">
                    <m:r>
                      <a:rPr lang="en-US" i="1">
                        <a:latin typeface="Cambria Math"/>
                      </a:rPr>
                      <m:t>𝛼</m:t>
                    </m:r>
                  </m:oMath>
                </a14:m>
                <a:r>
                  <a:rPr lang="en-US" dirty="0"/>
                  <a:t>, fail to reject </a:t>
                </a:r>
                <a14:m>
                  <m:oMath xmlns:m="http://schemas.openxmlformats.org/officeDocument/2006/math">
                    <m:sSub>
                      <m:sSubPr>
                        <m:ctrlPr>
                          <a:rPr lang="en-US" i="1">
                            <a:latin typeface="Cambria Math" panose="02040503050406030204" pitchFamily="18" charset="0"/>
                          </a:rPr>
                        </m:ctrlPr>
                      </m:sSubPr>
                      <m:e>
                        <m:r>
                          <a:rPr lang="en-US" i="1">
                            <a:latin typeface="Cambria Math"/>
                          </a:rPr>
                          <m:t>𝐻</m:t>
                        </m:r>
                      </m:e>
                      <m:sub>
                        <m:r>
                          <a:rPr lang="en-US" i="1">
                            <a:latin typeface="Cambria Math"/>
                          </a:rPr>
                          <m:t>0</m:t>
                        </m:r>
                      </m:sub>
                    </m:sSub>
                  </m:oMath>
                </a14:m>
                <a:endParaRPr lang="en-US" dirty="0"/>
              </a:p>
              <a:p>
                <a:pPr lvl="2"/>
                <a:r>
                  <a:rPr lang="en-US" dirty="0"/>
                  <a:t>If p-value is smaller than </a:t>
                </a:r>
                <a14:m>
                  <m:oMath xmlns:m="http://schemas.openxmlformats.org/officeDocument/2006/math">
                    <m:r>
                      <a:rPr lang="en-US" i="1">
                        <a:latin typeface="Cambria Math"/>
                      </a:rPr>
                      <m:t>𝛼</m:t>
                    </m:r>
                  </m:oMath>
                </a14:m>
                <a:r>
                  <a:rPr lang="en-US" dirty="0"/>
                  <a:t>, reject </a:t>
                </a:r>
                <a14:m>
                  <m:oMath xmlns:m="http://schemas.openxmlformats.org/officeDocument/2006/math">
                    <m:sSub>
                      <m:sSubPr>
                        <m:ctrlPr>
                          <a:rPr lang="en-US" i="1">
                            <a:latin typeface="Cambria Math" panose="02040503050406030204" pitchFamily="18" charset="0"/>
                          </a:rPr>
                        </m:ctrlPr>
                      </m:sSubPr>
                      <m:e>
                        <m:r>
                          <a:rPr lang="en-US" i="1">
                            <a:latin typeface="Cambria Math"/>
                          </a:rPr>
                          <m:t>𝐻</m:t>
                        </m:r>
                      </m:e>
                      <m:sub>
                        <m:r>
                          <a:rPr lang="en-US" i="1">
                            <a:latin typeface="Cambria Math"/>
                          </a:rPr>
                          <m:t>0</m:t>
                        </m:r>
                      </m:sub>
                    </m:sSub>
                  </m:oMath>
                </a14:m>
                <a:endParaRPr lang="en-US" dirty="0"/>
              </a:p>
              <a:p>
                <a:pPr lvl="1"/>
                <a:r>
                  <a:rPr lang="en-US" dirty="0"/>
                  <a:t>Give a brief, </a:t>
                </a:r>
                <a:r>
                  <a:rPr lang="en-US" i="1" dirty="0"/>
                  <a:t>contextual</a:t>
                </a:r>
                <a:r>
                  <a:rPr lang="en-US" dirty="0"/>
                  <a:t> conclusion</a:t>
                </a:r>
              </a:p>
              <a:p>
                <a:pPr lvl="2"/>
                <a:endParaRPr lang="en-US" dirty="0"/>
              </a:p>
              <a:p>
                <a:pPr marL="0" indent="0">
                  <a:buNone/>
                </a:pPr>
                <a:endParaRPr lang="en-US" dirty="0"/>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889" t="-1111"/>
                </a:stretch>
              </a:blipFill>
            </p:spPr>
            <p:txBody>
              <a:bodyPr/>
              <a:lstStyle/>
              <a:p>
                <a:r>
                  <a:rPr lang="en-US">
                    <a:noFill/>
                  </a:rPr>
                  <a:t> </a:t>
                </a:r>
              </a:p>
            </p:txBody>
          </p:sp>
        </mc:Fallback>
      </mc:AlternateContent>
    </p:spTree>
    <p:extLst>
      <p:ext uri="{BB962C8B-B14F-4D97-AF65-F5344CB8AC3E}">
        <p14:creationId xmlns:p14="http://schemas.microsoft.com/office/powerpoint/2010/main" val="101634480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10.3 – How to Conduct a Hypothesis Test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Here are the steps using the critical value (critical region) approach:</a:t>
                </a:r>
              </a:p>
              <a:p>
                <a:pPr lvl="1"/>
                <a:r>
                  <a:rPr lang="en-US" dirty="0"/>
                  <a:t>State the hypotheses symbolically</a:t>
                </a:r>
              </a:p>
              <a:p>
                <a:pPr lvl="1"/>
                <a:r>
                  <a:rPr lang="en-US" dirty="0"/>
                  <a:t>State </a:t>
                </a:r>
                <a14:m>
                  <m:oMath xmlns:m="http://schemas.openxmlformats.org/officeDocument/2006/math">
                    <m:r>
                      <a:rPr lang="en-US" b="0" i="1" smtClean="0">
                        <a:latin typeface="Cambria Math"/>
                      </a:rPr>
                      <m:t>𝛼</m:t>
                    </m:r>
                  </m:oMath>
                </a14:m>
                <a:r>
                  <a:rPr lang="en-US" dirty="0"/>
                  <a:t> and find the critical value(s)</a:t>
                </a:r>
              </a:p>
              <a:p>
                <a:pPr lvl="1"/>
                <a:r>
                  <a:rPr lang="en-US" dirty="0"/>
                  <a:t>Calculate/state your test statistic</a:t>
                </a:r>
              </a:p>
              <a:p>
                <a:pPr lvl="1"/>
                <a:r>
                  <a:rPr lang="en-US" dirty="0"/>
                  <a:t>Make a decision by comparing the test statistic to the critical value(s)</a:t>
                </a:r>
              </a:p>
              <a:p>
                <a:pPr lvl="2"/>
                <a:r>
                  <a:rPr lang="en-US" dirty="0"/>
                  <a:t>If the test statistic is in the critical region, reject </a:t>
                </a:r>
                <a14:m>
                  <m:oMath xmlns:m="http://schemas.openxmlformats.org/officeDocument/2006/math">
                    <m:sSub>
                      <m:sSubPr>
                        <m:ctrlPr>
                          <a:rPr lang="en-US" i="1">
                            <a:latin typeface="Cambria Math" panose="02040503050406030204" pitchFamily="18" charset="0"/>
                          </a:rPr>
                        </m:ctrlPr>
                      </m:sSubPr>
                      <m:e>
                        <m:r>
                          <a:rPr lang="en-US" i="1">
                            <a:latin typeface="Cambria Math"/>
                          </a:rPr>
                          <m:t>𝐻</m:t>
                        </m:r>
                      </m:e>
                      <m:sub>
                        <m:r>
                          <a:rPr lang="en-US" i="1">
                            <a:latin typeface="Cambria Math"/>
                          </a:rPr>
                          <m:t>0</m:t>
                        </m:r>
                      </m:sub>
                    </m:sSub>
                  </m:oMath>
                </a14:m>
                <a:endParaRPr lang="en-US" dirty="0"/>
              </a:p>
              <a:p>
                <a:pPr lvl="2"/>
                <a:r>
                  <a:rPr lang="en-US" dirty="0"/>
                  <a:t>If the test statistic is not in the critical region, do not reject </a:t>
                </a:r>
                <a14:m>
                  <m:oMath xmlns:m="http://schemas.openxmlformats.org/officeDocument/2006/math">
                    <m:sSub>
                      <m:sSubPr>
                        <m:ctrlPr>
                          <a:rPr lang="en-US" i="1">
                            <a:latin typeface="Cambria Math" panose="02040503050406030204" pitchFamily="18" charset="0"/>
                          </a:rPr>
                        </m:ctrlPr>
                      </m:sSubPr>
                      <m:e>
                        <m:r>
                          <a:rPr lang="en-US" i="1">
                            <a:latin typeface="Cambria Math"/>
                          </a:rPr>
                          <m:t>𝐻</m:t>
                        </m:r>
                      </m:e>
                      <m:sub>
                        <m:r>
                          <a:rPr lang="en-US" i="1">
                            <a:latin typeface="Cambria Math"/>
                          </a:rPr>
                          <m:t>0</m:t>
                        </m:r>
                      </m:sub>
                    </m:sSub>
                  </m:oMath>
                </a14:m>
                <a:endParaRPr lang="en-US" dirty="0"/>
              </a:p>
              <a:p>
                <a:pPr lvl="1"/>
                <a:r>
                  <a:rPr lang="en-US" dirty="0"/>
                  <a:t>Give a brief, </a:t>
                </a:r>
                <a:r>
                  <a:rPr lang="en-US" i="1" dirty="0"/>
                  <a:t>contextual</a:t>
                </a:r>
                <a:r>
                  <a:rPr lang="en-US" dirty="0"/>
                  <a:t> conclusion</a:t>
                </a:r>
              </a:p>
              <a:p>
                <a:pPr lvl="2"/>
                <a:endParaRPr lang="en-US" dirty="0"/>
              </a:p>
              <a:p>
                <a:pPr marL="0" indent="0">
                  <a:buNone/>
                </a:pPr>
                <a:endParaRPr lang="en-US" dirty="0"/>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889" t="-1111"/>
                </a:stretch>
              </a:blipFill>
            </p:spPr>
            <p:txBody>
              <a:bodyPr/>
              <a:lstStyle/>
              <a:p>
                <a:r>
                  <a:rPr lang="en-US">
                    <a:noFill/>
                  </a:rPr>
                  <a:t> </a:t>
                </a:r>
              </a:p>
            </p:txBody>
          </p:sp>
        </mc:Fallback>
      </mc:AlternateContent>
    </p:spTree>
    <p:extLst>
      <p:ext uri="{BB962C8B-B14F-4D97-AF65-F5344CB8AC3E}">
        <p14:creationId xmlns:p14="http://schemas.microsoft.com/office/powerpoint/2010/main" val="295114514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10.3 – How to Conduct a Hypothesis Test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It is important to be able to find critical values using </a:t>
                </a:r>
                <a14:m>
                  <m:oMath xmlns:m="http://schemas.openxmlformats.org/officeDocument/2006/math">
                    <m:r>
                      <a:rPr lang="en-US" b="0" i="1" smtClean="0">
                        <a:latin typeface="Cambria Math"/>
                      </a:rPr>
                      <m:t>𝛼</m:t>
                    </m:r>
                  </m:oMath>
                </a14:m>
                <a:r>
                  <a:rPr lang="en-US" dirty="0"/>
                  <a:t>. Using the same notation we saw in chapter 8, let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𝑧</m:t>
                        </m:r>
                      </m:e>
                      <m:sub>
                        <m:r>
                          <a:rPr lang="en-US" b="0" i="1" smtClean="0">
                            <a:latin typeface="Cambria Math"/>
                          </a:rPr>
                          <m:t>𝛼</m:t>
                        </m:r>
                      </m:sub>
                    </m:sSub>
                  </m:oMath>
                </a14:m>
                <a:r>
                  <a:rPr lang="en-US" dirty="0"/>
                  <a:t> (or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𝑡</m:t>
                        </m:r>
                      </m:e>
                      <m:sub>
                        <m:r>
                          <a:rPr lang="en-US" b="0" i="1" smtClean="0">
                            <a:latin typeface="Cambria Math"/>
                          </a:rPr>
                          <m:t>𝛼</m:t>
                        </m:r>
                      </m:sub>
                    </m:sSub>
                  </m:oMath>
                </a14:m>
                <a:r>
                  <a:rPr lang="en-US" dirty="0"/>
                  <a:t> or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a:rPr>
                          <m:t>𝜒</m:t>
                        </m:r>
                      </m:e>
                      <m:sub>
                        <m:r>
                          <a:rPr lang="en-US" b="0" i="1" smtClean="0">
                            <a:latin typeface="Cambria Math"/>
                          </a:rPr>
                          <m:t>𝛼</m:t>
                        </m:r>
                      </m:sub>
                      <m:sup>
                        <m:r>
                          <a:rPr lang="en-US" b="0" i="1" smtClean="0">
                            <a:latin typeface="Cambria Math"/>
                          </a:rPr>
                          <m:t>2</m:t>
                        </m:r>
                      </m:sup>
                    </m:sSubSup>
                  </m:oMath>
                </a14:m>
                <a:r>
                  <a:rPr lang="en-US" dirty="0"/>
                  <a:t> etc.) be the value above which there is an area of </a:t>
                </a:r>
                <a14:m>
                  <m:oMath xmlns:m="http://schemas.openxmlformats.org/officeDocument/2006/math">
                    <m:r>
                      <a:rPr lang="en-US" b="0" i="1" smtClean="0">
                        <a:latin typeface="Cambria Math"/>
                      </a:rPr>
                      <m:t>𝛼</m:t>
                    </m:r>
                  </m:oMath>
                </a14:m>
                <a:r>
                  <a:rPr lang="en-US" dirty="0"/>
                  <a:t> under the standard normal distribution (or </a:t>
                </a:r>
                <a14:m>
                  <m:oMath xmlns:m="http://schemas.openxmlformats.org/officeDocument/2006/math">
                    <m:r>
                      <a:rPr lang="en-US" b="0" i="1" smtClean="0">
                        <a:latin typeface="Cambria Math"/>
                      </a:rPr>
                      <m:t>𝑡</m:t>
                    </m:r>
                  </m:oMath>
                </a14:m>
                <a:r>
                  <a:rPr lang="en-US" dirty="0"/>
                  <a:t> or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𝜒</m:t>
                        </m:r>
                      </m:e>
                      <m:sup>
                        <m:r>
                          <a:rPr lang="en-US" b="0" i="1" smtClean="0">
                            <a:latin typeface="Cambria Math"/>
                          </a:rPr>
                          <m:t>2</m:t>
                        </m:r>
                      </m:sup>
                    </m:sSup>
                  </m:oMath>
                </a14:m>
                <a:r>
                  <a:rPr lang="en-US" dirty="0"/>
                  <a:t>, etc.). Then we can use the following to find appropriate critical values:</a:t>
                </a:r>
              </a:p>
              <a:p>
                <a:pPr marL="0" indent="0">
                  <a:buNone/>
                </a:pPr>
                <a:endParaRPr lang="en-US" dirty="0"/>
              </a:p>
              <a:p>
                <a:pPr marL="0" indent="0">
                  <a:buNone/>
                </a:pPr>
                <a:endParaRPr lang="en-US" dirty="0"/>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889" t="-1111" r="-19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2905105555"/>
                  </p:ext>
                </p:extLst>
              </p:nvPr>
            </p:nvGraphicFramePr>
            <p:xfrm>
              <a:off x="1524000" y="4800600"/>
              <a:ext cx="6096000" cy="1653794"/>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p>
                          <a:pPr algn="ctr"/>
                          <a:r>
                            <a:rPr lang="en-US" sz="2800" dirty="0"/>
                            <a:t>Right-tailed</a:t>
                          </a:r>
                        </a:p>
                      </a:txBody>
                      <a:tcPr/>
                    </a:tc>
                    <a:tc>
                      <a:txBody>
                        <a:bodyPr/>
                        <a:lstStyle/>
                        <a:p>
                          <a:pPr algn="ctr"/>
                          <a:r>
                            <a:rPr lang="en-US" sz="2800" dirty="0"/>
                            <a:t>Left-tailed</a:t>
                          </a:r>
                        </a:p>
                      </a:txBody>
                      <a:tcPr/>
                    </a:tc>
                    <a:tc>
                      <a:txBody>
                        <a:bodyPr/>
                        <a:lstStyle/>
                        <a:p>
                          <a:pPr algn="ctr"/>
                          <a:r>
                            <a:rPr lang="en-US" sz="2800" dirty="0"/>
                            <a:t>Two-tailed</a:t>
                          </a:r>
                        </a:p>
                      </a:txBody>
                      <a:tcPr/>
                    </a:tc>
                    <a:extLst>
                      <a:ext uri="{0D108BD9-81ED-4DB2-BD59-A6C34878D82A}">
                        <a16:rowId xmlns:a16="http://schemas.microsoft.com/office/drawing/2014/main" val="10000"/>
                      </a:ext>
                    </a:extLst>
                  </a:tr>
                  <a:tr h="370840">
                    <a:tc>
                      <a:txBody>
                        <a:bodyPr/>
                        <a:lstStyle/>
                        <a:p>
                          <a:pPr algn="ct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a:rPr>
                                      <m:t>𝑧</m:t>
                                    </m:r>
                                  </m:e>
                                  <m:sub>
                                    <m:r>
                                      <a:rPr lang="en-US" sz="2800" b="0" i="1" smtClean="0">
                                        <a:latin typeface="Cambria Math"/>
                                      </a:rPr>
                                      <m:t>𝛼</m:t>
                                    </m:r>
                                  </m:sub>
                                </m:sSub>
                              </m:oMath>
                            </m:oMathPara>
                          </a14:m>
                          <a:endParaRPr lang="en-US" sz="28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a:rPr>
                                      <m:t>𝑧</m:t>
                                    </m:r>
                                  </m:e>
                                  <m:sub>
                                    <m:r>
                                      <a:rPr lang="en-US" sz="2800" b="0" i="1" smtClean="0">
                                        <a:latin typeface="Cambria Math"/>
                                      </a:rPr>
                                      <m:t>1−</m:t>
                                    </m:r>
                                    <m:r>
                                      <a:rPr lang="en-US" sz="2800" b="0" i="1" smtClean="0">
                                        <a:latin typeface="Cambria Math"/>
                                      </a:rPr>
                                      <m:t>𝛼</m:t>
                                    </m:r>
                                  </m:sub>
                                </m:sSub>
                              </m:oMath>
                            </m:oMathPara>
                          </a14:m>
                          <a:endParaRPr lang="en-US" sz="28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a:rPr>
                                      <m:t>𝑧</m:t>
                                    </m:r>
                                  </m:e>
                                  <m:sub>
                                    <m:r>
                                      <a:rPr lang="en-US" sz="2800" b="0" i="1" smtClean="0">
                                        <a:latin typeface="Cambria Math"/>
                                      </a:rPr>
                                      <m:t>1−</m:t>
                                    </m:r>
                                    <m:f>
                                      <m:fPr>
                                        <m:ctrlPr>
                                          <a:rPr lang="en-US" sz="2800" b="0" i="1" smtClean="0">
                                            <a:latin typeface="Cambria Math" panose="02040503050406030204" pitchFamily="18" charset="0"/>
                                          </a:rPr>
                                        </m:ctrlPr>
                                      </m:fPr>
                                      <m:num>
                                        <m:r>
                                          <a:rPr lang="en-US" sz="2800" b="0" i="1" smtClean="0">
                                            <a:latin typeface="Cambria Math"/>
                                          </a:rPr>
                                          <m:t>𝛼</m:t>
                                        </m:r>
                                      </m:num>
                                      <m:den>
                                        <m:r>
                                          <a:rPr lang="en-US" sz="2800" b="0" i="1" smtClean="0">
                                            <a:latin typeface="Cambria Math"/>
                                          </a:rPr>
                                          <m:t>2</m:t>
                                        </m:r>
                                      </m:den>
                                    </m:f>
                                  </m:sub>
                                </m:sSub>
                                <m:r>
                                  <a:rPr lang="en-US" sz="2800" b="0" i="1" smtClean="0">
                                    <a:latin typeface="Cambria Math"/>
                                  </a:rPr>
                                  <m:t> </m:t>
                                </m:r>
                                <m:r>
                                  <m:rPr>
                                    <m:sty m:val="p"/>
                                  </m:rPr>
                                  <a:rPr lang="en-US" sz="2800" b="0" i="0" smtClean="0">
                                    <a:latin typeface="Cambria Math"/>
                                  </a:rPr>
                                  <m:t>and</m:t>
                                </m:r>
                                <m:r>
                                  <a:rPr lang="en-US" sz="2800" b="0" i="1" smtClean="0">
                                    <a:latin typeface="Cambria Math"/>
                                  </a:rPr>
                                  <m:t> </m:t>
                                </m:r>
                                <m:sSub>
                                  <m:sSubPr>
                                    <m:ctrlPr>
                                      <a:rPr lang="en-US" sz="2800" b="0" i="1" smtClean="0">
                                        <a:latin typeface="Cambria Math" panose="02040503050406030204" pitchFamily="18" charset="0"/>
                                      </a:rPr>
                                    </m:ctrlPr>
                                  </m:sSubPr>
                                  <m:e>
                                    <m:r>
                                      <a:rPr lang="en-US" sz="2800" b="0" i="1" smtClean="0">
                                        <a:latin typeface="Cambria Math"/>
                                      </a:rPr>
                                      <m:t>𝑧</m:t>
                                    </m:r>
                                  </m:e>
                                  <m:sub>
                                    <m:f>
                                      <m:fPr>
                                        <m:ctrlPr>
                                          <a:rPr lang="en-US" sz="2800" b="0" i="1" smtClean="0">
                                            <a:latin typeface="Cambria Math" panose="02040503050406030204" pitchFamily="18" charset="0"/>
                                          </a:rPr>
                                        </m:ctrlPr>
                                      </m:fPr>
                                      <m:num>
                                        <m:r>
                                          <a:rPr lang="en-US" sz="2800" b="0" i="1" smtClean="0">
                                            <a:latin typeface="Cambria Math"/>
                                          </a:rPr>
                                          <m:t>𝛼</m:t>
                                        </m:r>
                                      </m:num>
                                      <m:den>
                                        <m:r>
                                          <a:rPr lang="en-US" sz="2800" b="0" i="1" smtClean="0">
                                            <a:latin typeface="Cambria Math"/>
                                          </a:rPr>
                                          <m:t>2</m:t>
                                        </m:r>
                                      </m:den>
                                    </m:f>
                                  </m:sub>
                                </m:sSub>
                              </m:oMath>
                            </m:oMathPara>
                          </a14:m>
                          <a:endParaRPr lang="en-US" sz="2800" dirty="0"/>
                        </a:p>
                      </a:txBody>
                      <a:tcPr/>
                    </a:tc>
                    <a:extLst>
                      <a:ext uri="{0D108BD9-81ED-4DB2-BD59-A6C34878D82A}">
                        <a16:rowId xmlns:a16="http://schemas.microsoft.com/office/drawing/2014/main" val="10001"/>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2905105555"/>
                  </p:ext>
                </p:extLst>
              </p:nvPr>
            </p:nvGraphicFramePr>
            <p:xfrm>
              <a:off x="1524000" y="4800600"/>
              <a:ext cx="6096000" cy="1653794"/>
            </p:xfrm>
            <a:graphic>
              <a:graphicData uri="http://schemas.openxmlformats.org/drawingml/2006/table">
                <a:tbl>
                  <a:tblPr firstRow="1" bandRow="1">
                    <a:tableStyleId>{5C22544A-7EE6-4342-B048-85BDC9FD1C3A}</a:tableStyleId>
                  </a:tblPr>
                  <a:tblGrid>
                    <a:gridCol w="2032000"/>
                    <a:gridCol w="2032000"/>
                    <a:gridCol w="2032000"/>
                  </a:tblGrid>
                  <a:tr h="944880">
                    <a:tc>
                      <a:txBody>
                        <a:bodyPr/>
                        <a:lstStyle/>
                        <a:p>
                          <a:pPr algn="ctr"/>
                          <a:r>
                            <a:rPr lang="en-US" sz="2800" dirty="0" smtClean="0"/>
                            <a:t>Right-tailed</a:t>
                          </a:r>
                          <a:endParaRPr lang="en-US" sz="2800" dirty="0"/>
                        </a:p>
                      </a:txBody>
                      <a:tcPr/>
                    </a:tc>
                    <a:tc>
                      <a:txBody>
                        <a:bodyPr/>
                        <a:lstStyle/>
                        <a:p>
                          <a:pPr algn="ctr"/>
                          <a:r>
                            <a:rPr lang="en-US" sz="2800" dirty="0" smtClean="0"/>
                            <a:t>Left-tailed</a:t>
                          </a:r>
                          <a:endParaRPr lang="en-US" sz="2800" dirty="0"/>
                        </a:p>
                      </a:txBody>
                      <a:tcPr/>
                    </a:tc>
                    <a:tc>
                      <a:txBody>
                        <a:bodyPr/>
                        <a:lstStyle/>
                        <a:p>
                          <a:pPr algn="ctr"/>
                          <a:r>
                            <a:rPr lang="en-US" sz="2800" dirty="0" smtClean="0"/>
                            <a:t>Two-tailed</a:t>
                          </a:r>
                          <a:endParaRPr lang="en-US" sz="2800" dirty="0"/>
                        </a:p>
                      </a:txBody>
                      <a:tcPr/>
                    </a:tc>
                  </a:tr>
                  <a:tr h="708914">
                    <a:tc>
                      <a:txBody>
                        <a:bodyPr/>
                        <a:lstStyle/>
                        <a:p>
                          <a:endParaRPr lang="en-US"/>
                        </a:p>
                      </a:txBody>
                      <a:tcPr>
                        <a:blipFill rotWithShape="1">
                          <a:blip r:embed="rId3"/>
                          <a:stretch>
                            <a:fillRect t="-141379" r="-200300"/>
                          </a:stretch>
                        </a:blipFill>
                      </a:tcPr>
                    </a:tc>
                    <a:tc>
                      <a:txBody>
                        <a:bodyPr/>
                        <a:lstStyle/>
                        <a:p>
                          <a:endParaRPr lang="en-US"/>
                        </a:p>
                      </a:txBody>
                      <a:tcPr>
                        <a:blipFill rotWithShape="1">
                          <a:blip r:embed="rId3"/>
                          <a:stretch>
                            <a:fillRect l="-99701" t="-141379" r="-99701"/>
                          </a:stretch>
                        </a:blipFill>
                      </a:tcPr>
                    </a:tc>
                    <a:tc>
                      <a:txBody>
                        <a:bodyPr/>
                        <a:lstStyle/>
                        <a:p>
                          <a:endParaRPr lang="en-US"/>
                        </a:p>
                      </a:txBody>
                      <a:tcPr>
                        <a:blipFill rotWithShape="1">
                          <a:blip r:embed="rId3"/>
                          <a:stretch>
                            <a:fillRect l="-200300" t="-141379"/>
                          </a:stretch>
                        </a:blipFill>
                      </a:tcPr>
                    </a:tc>
                  </a:tr>
                </a:tbl>
              </a:graphicData>
            </a:graphic>
          </p:graphicFrame>
        </mc:Fallback>
      </mc:AlternateContent>
    </p:spTree>
    <p:extLst>
      <p:ext uri="{BB962C8B-B14F-4D97-AF65-F5344CB8AC3E}">
        <p14:creationId xmlns:p14="http://schemas.microsoft.com/office/powerpoint/2010/main" val="109208255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10.3 – How to Conduct a Hypothesis Test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Example: We want to know how much sleep UNL students get on a typical night. We are concerned that students are getting less sleep than they should. From a sample of 20 students, we find that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a:rPr>
                          <m:t>𝑥</m:t>
                        </m:r>
                      </m:e>
                    </m:acc>
                    <m:r>
                      <a:rPr lang="en-US" b="0" i="1" dirty="0" smtClean="0">
                        <a:latin typeface="Cambria Math"/>
                      </a:rPr>
                      <m:t>=7.85</m:t>
                    </m:r>
                  </m:oMath>
                </a14:m>
                <a:r>
                  <a:rPr lang="en-US" dirty="0"/>
                  <a:t> hours. Assuming </a:t>
                </a:r>
                <a14:m>
                  <m:oMath xmlns:m="http://schemas.openxmlformats.org/officeDocument/2006/math">
                    <m:r>
                      <a:rPr lang="en-US" b="0" i="1" smtClean="0">
                        <a:latin typeface="Cambria Math"/>
                      </a:rPr>
                      <m:t>𝜎</m:t>
                    </m:r>
                    <m:r>
                      <a:rPr lang="en-US" b="0" i="1" smtClean="0">
                        <a:latin typeface="Cambria Math"/>
                      </a:rPr>
                      <m:t>=1.70</m:t>
                    </m:r>
                  </m:oMath>
                </a14:m>
                <a:r>
                  <a:rPr lang="en-US" dirty="0"/>
                  <a:t> and using </a:t>
                </a:r>
                <a14:m>
                  <m:oMath xmlns:m="http://schemas.openxmlformats.org/officeDocument/2006/math">
                    <m:r>
                      <a:rPr lang="en-US" b="0" i="1" smtClean="0">
                        <a:latin typeface="Cambria Math"/>
                      </a:rPr>
                      <m:t>𝛼</m:t>
                    </m:r>
                    <m:r>
                      <a:rPr lang="en-US" b="0" i="1" smtClean="0">
                        <a:latin typeface="Cambria Math"/>
                      </a:rPr>
                      <m:t>=0.05</m:t>
                    </m:r>
                  </m:oMath>
                </a14:m>
                <a:r>
                  <a:rPr lang="en-US" dirty="0"/>
                  <a:t>, conduct a hypothesis test that will address our conjecture. Use a p-value to make the decision.</a:t>
                </a:r>
              </a:p>
              <a:p>
                <a:pPr marL="0" indent="0">
                  <a:buNone/>
                </a:pPr>
                <a:endParaRPr lang="en-US" dirty="0"/>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889" t="-1111" r="-222"/>
                </a:stretch>
              </a:blipFill>
            </p:spPr>
            <p:txBody>
              <a:bodyPr/>
              <a:lstStyle/>
              <a:p>
                <a:r>
                  <a:rPr lang="en-US">
                    <a:noFill/>
                  </a:rPr>
                  <a:t> </a:t>
                </a:r>
              </a:p>
            </p:txBody>
          </p:sp>
        </mc:Fallback>
      </mc:AlternateContent>
    </p:spTree>
    <p:extLst>
      <p:ext uri="{BB962C8B-B14F-4D97-AF65-F5344CB8AC3E}">
        <p14:creationId xmlns:p14="http://schemas.microsoft.com/office/powerpoint/2010/main" val="68906677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10.3 – How to Conduct a Hypothesis Test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85000" lnSpcReduction="10000"/>
              </a:bodyPr>
              <a:lstStyle/>
              <a:p>
                <a:r>
                  <a:rPr lang="en-US" dirty="0"/>
                  <a:t>First, we need to set up the hypotheses:</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0</m:t>
                          </m:r>
                        </m:sub>
                      </m:sSub>
                      <m:r>
                        <a:rPr lang="en-US" b="0" i="1" smtClean="0">
                          <a:latin typeface="Cambria Math"/>
                        </a:rPr>
                        <m:t>:</m:t>
                      </m:r>
                      <m:r>
                        <a:rPr lang="en-US" b="0" i="1" smtClean="0">
                          <a:latin typeface="Cambria Math"/>
                        </a:rPr>
                        <m:t>𝜇</m:t>
                      </m:r>
                      <m:r>
                        <a:rPr lang="en-US" b="0" i="1" smtClean="0">
                          <a:latin typeface="Cambria Math"/>
                        </a:rPr>
                        <m:t>=8</m:t>
                      </m:r>
                    </m:oMath>
                  </m:oMathPara>
                </a14:m>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1</m:t>
                          </m:r>
                        </m:sub>
                      </m:sSub>
                      <m:r>
                        <a:rPr lang="en-US" b="0" i="1" smtClean="0">
                          <a:latin typeface="Cambria Math"/>
                        </a:rPr>
                        <m:t>:</m:t>
                      </m:r>
                      <m:r>
                        <a:rPr lang="en-US" b="0" i="1" smtClean="0">
                          <a:latin typeface="Cambria Math"/>
                        </a:rPr>
                        <m:t>𝜇</m:t>
                      </m:r>
                      <m:r>
                        <a:rPr lang="en-US" b="0" i="1" smtClean="0">
                          <a:latin typeface="Cambria Math"/>
                        </a:rPr>
                        <m:t>&lt;8</m:t>
                      </m:r>
                    </m:oMath>
                  </m:oMathPara>
                </a14:m>
                <a:endParaRPr lang="en-US" dirty="0"/>
              </a:p>
              <a:p>
                <a:pPr marL="0" indent="0">
                  <a:buNone/>
                </a:pPr>
                <a:endParaRPr lang="en-US" dirty="0"/>
              </a:p>
              <a:p>
                <a:r>
                  <a:rPr lang="en-US" dirty="0"/>
                  <a:t>We are given </a:t>
                </a:r>
                <a14:m>
                  <m:oMath xmlns:m="http://schemas.openxmlformats.org/officeDocument/2006/math">
                    <m:r>
                      <a:rPr lang="en-US" b="0" i="1" smtClean="0">
                        <a:latin typeface="Cambria Math"/>
                      </a:rPr>
                      <m:t>𝛼</m:t>
                    </m:r>
                    <m:r>
                      <a:rPr lang="en-US" b="0" i="1" smtClean="0">
                        <a:latin typeface="Cambria Math"/>
                      </a:rPr>
                      <m:t>=0.05</m:t>
                    </m:r>
                  </m:oMath>
                </a14:m>
                <a:endParaRPr lang="en-US" dirty="0"/>
              </a:p>
              <a:p>
                <a:r>
                  <a:rPr lang="en-US" dirty="0"/>
                  <a:t>The p-value is found by calculating:</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a:rPr>
                                <m:t>𝑋</m:t>
                              </m:r>
                            </m:e>
                          </m:acc>
                          <m:r>
                            <a:rPr lang="en-US" b="0" i="1" smtClean="0">
                              <a:latin typeface="Cambria Math"/>
                            </a:rPr>
                            <m:t>≤7.85</m:t>
                          </m:r>
                        </m:e>
                        <m:e>
                          <m:r>
                            <a:rPr lang="en-US" b="0" i="1" smtClean="0">
                              <a:latin typeface="Cambria Math"/>
                            </a:rPr>
                            <m:t>𝜇</m:t>
                          </m:r>
                          <m:r>
                            <a:rPr lang="en-US" b="0" i="1" smtClean="0">
                              <a:latin typeface="Cambria Math"/>
                            </a:rPr>
                            <m:t>=8</m:t>
                          </m:r>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𝑍</m:t>
                          </m:r>
                          <m:r>
                            <a:rPr lang="en-US" b="0" i="1" smtClean="0">
                              <a:latin typeface="Cambria Math"/>
                            </a:rPr>
                            <m:t>&lt;</m:t>
                          </m:r>
                          <m:f>
                            <m:fPr>
                              <m:ctrlPr>
                                <a:rPr lang="en-US" b="0" i="1" smtClean="0">
                                  <a:latin typeface="Cambria Math" panose="02040503050406030204" pitchFamily="18" charset="0"/>
                                </a:rPr>
                              </m:ctrlPr>
                            </m:fPr>
                            <m:num>
                              <m:r>
                                <a:rPr lang="en-US" b="0" i="1" smtClean="0">
                                  <a:latin typeface="Cambria Math"/>
                                </a:rPr>
                                <m:t>7.85−8</m:t>
                              </m:r>
                            </m:num>
                            <m:den>
                              <m:r>
                                <a:rPr lang="en-US" b="0" i="1" smtClean="0">
                                  <a:latin typeface="Cambria Math"/>
                                </a:rPr>
                                <m:t>1.7/</m:t>
                              </m:r>
                              <m:rad>
                                <m:radPr>
                                  <m:degHide m:val="on"/>
                                  <m:ctrlPr>
                                    <a:rPr lang="en-US" b="0" i="1" smtClean="0">
                                      <a:latin typeface="Cambria Math" panose="02040503050406030204" pitchFamily="18" charset="0"/>
                                    </a:rPr>
                                  </m:ctrlPr>
                                </m:radPr>
                                <m:deg/>
                                <m:e>
                                  <m:r>
                                    <a:rPr lang="en-US" b="0" i="1" smtClean="0">
                                      <a:latin typeface="Cambria Math"/>
                                    </a:rPr>
                                    <m:t>20</m:t>
                                  </m:r>
                                </m:e>
                              </m:rad>
                            </m:den>
                          </m:f>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𝑍</m:t>
                          </m:r>
                          <m:r>
                            <a:rPr lang="en-US" b="0" i="1" smtClean="0">
                              <a:latin typeface="Cambria Math"/>
                            </a:rPr>
                            <m:t>&lt;−0.3946</m:t>
                          </m:r>
                        </m:e>
                      </m:d>
                      <m:r>
                        <a:rPr lang="en-US" b="0" i="1" smtClean="0">
                          <a:latin typeface="Cambria Math"/>
                        </a:rPr>
                        <m:t>=0.3466</m:t>
                      </m:r>
                    </m:oMath>
                  </m:oMathPara>
                </a14:m>
                <a:endParaRPr lang="en-US" dirty="0"/>
              </a:p>
              <a:p>
                <a:r>
                  <a:rPr lang="en-US" dirty="0"/>
                  <a:t>Since the p-value is larger than </a:t>
                </a:r>
                <a14:m>
                  <m:oMath xmlns:m="http://schemas.openxmlformats.org/officeDocument/2006/math">
                    <m:r>
                      <a:rPr lang="en-US" b="0" i="1" smtClean="0">
                        <a:latin typeface="Cambria Math"/>
                      </a:rPr>
                      <m:t>0.05</m:t>
                    </m:r>
                  </m:oMath>
                </a14:m>
                <a:r>
                  <a:rPr lang="en-US" dirty="0"/>
                  <a:t>, we fail to reject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0</m:t>
                        </m:r>
                      </m:sub>
                    </m:sSub>
                  </m:oMath>
                </a14:m>
                <a:r>
                  <a:rPr lang="en-US" dirty="0"/>
                  <a:t>.</a:t>
                </a:r>
              </a:p>
              <a:p>
                <a:r>
                  <a:rPr lang="en-US" dirty="0"/>
                  <a:t>We do not have evidence to say that UNL students get less than 8 hours of sleep on a typical night, on average. </a:t>
                </a:r>
              </a:p>
              <a:p>
                <a:pPr marL="0" indent="0">
                  <a:buNone/>
                </a:pPr>
                <a:endParaRPr lang="en-US" dirty="0"/>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1667" r="-1481" b="-833"/>
                </a:stretch>
              </a:blipFill>
            </p:spPr>
            <p:txBody>
              <a:bodyPr/>
              <a:lstStyle/>
              <a:p>
                <a:r>
                  <a:rPr lang="en-US">
                    <a:noFill/>
                  </a:rPr>
                  <a:t> </a:t>
                </a:r>
              </a:p>
            </p:txBody>
          </p:sp>
        </mc:Fallback>
      </mc:AlternateContent>
    </p:spTree>
    <p:extLst>
      <p:ext uri="{BB962C8B-B14F-4D97-AF65-F5344CB8AC3E}">
        <p14:creationId xmlns:p14="http://schemas.microsoft.com/office/powerpoint/2010/main" val="14285720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10.3 – How to Conduct a Hypothesis Test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Example: Suppose we want to know the average number of calories consumed daily by members of a certain gym. We are particularly interested if the average daily caloric intake is different than the recommended 2250 calories. A random sample of 45 members reveals that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a:rPr>
                          <m:t>𝑥</m:t>
                        </m:r>
                      </m:e>
                    </m:acc>
                    <m:r>
                      <a:rPr lang="en-US" b="0" i="1" dirty="0" smtClean="0">
                        <a:latin typeface="Cambria Math"/>
                      </a:rPr>
                      <m:t>=2491.43</m:t>
                    </m:r>
                  </m:oMath>
                </a14:m>
                <a:r>
                  <a:rPr lang="en-US" dirty="0"/>
                  <a:t>. Assume we know that </a:t>
                </a:r>
                <a14:m>
                  <m:oMath xmlns:m="http://schemas.openxmlformats.org/officeDocument/2006/math">
                    <m:r>
                      <a:rPr lang="en-US" b="0" i="1" smtClean="0">
                        <a:latin typeface="Cambria Math"/>
                      </a:rPr>
                      <m:t>𝜎</m:t>
                    </m:r>
                    <m:r>
                      <a:rPr lang="en-US" b="0" i="1" smtClean="0">
                        <a:latin typeface="Cambria Math"/>
                      </a:rPr>
                      <m:t>=842.62</m:t>
                    </m:r>
                  </m:oMath>
                </a14:m>
                <a:r>
                  <a:rPr lang="en-US" dirty="0"/>
                  <a:t>. Use </a:t>
                </a:r>
                <a14:m>
                  <m:oMath xmlns:m="http://schemas.openxmlformats.org/officeDocument/2006/math">
                    <m:r>
                      <a:rPr lang="en-US" b="0" i="1" smtClean="0">
                        <a:latin typeface="Cambria Math"/>
                      </a:rPr>
                      <m:t>𝛼</m:t>
                    </m:r>
                    <m:r>
                      <a:rPr lang="en-US" b="0" i="1" smtClean="0">
                        <a:latin typeface="Cambria Math"/>
                      </a:rPr>
                      <m:t>=0.07</m:t>
                    </m:r>
                  </m:oMath>
                </a14:m>
                <a:r>
                  <a:rPr lang="en-US" dirty="0"/>
                  <a:t> as the significance level and make the decision by comparing the test statistic to a critical value(s).</a:t>
                </a:r>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889" t="-1111" r="-1185"/>
                </a:stretch>
              </a:blipFill>
            </p:spPr>
            <p:txBody>
              <a:bodyPr/>
              <a:lstStyle/>
              <a:p>
                <a:r>
                  <a:rPr lang="en-US">
                    <a:noFill/>
                  </a:rPr>
                  <a:t> </a:t>
                </a:r>
              </a:p>
            </p:txBody>
          </p:sp>
        </mc:Fallback>
      </mc:AlternateContent>
    </p:spTree>
    <p:extLst>
      <p:ext uri="{BB962C8B-B14F-4D97-AF65-F5344CB8AC3E}">
        <p14:creationId xmlns:p14="http://schemas.microsoft.com/office/powerpoint/2010/main" val="109123341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10.3 – How to Conduct a Hypothesis Test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20000"/>
              </a:bodyPr>
              <a:lstStyle/>
              <a:p>
                <a:r>
                  <a:rPr lang="en-US" dirty="0"/>
                  <a:t>Again, we start with hypotheses:</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0</m:t>
                          </m:r>
                        </m:sub>
                      </m:sSub>
                      <m:r>
                        <a:rPr lang="en-US" b="0" i="1" smtClean="0">
                          <a:latin typeface="Cambria Math"/>
                        </a:rPr>
                        <m:t>:</m:t>
                      </m:r>
                      <m:r>
                        <a:rPr lang="en-US" b="0" i="1" smtClean="0">
                          <a:latin typeface="Cambria Math"/>
                        </a:rPr>
                        <m:t>𝜇</m:t>
                      </m:r>
                      <m:r>
                        <a:rPr lang="en-US" b="0" i="1" smtClean="0">
                          <a:latin typeface="Cambria Math"/>
                        </a:rPr>
                        <m:t>=2250</m:t>
                      </m:r>
                    </m:oMath>
                  </m:oMathPara>
                </a14:m>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𝐻</m:t>
                          </m:r>
                        </m:e>
                        <m:sub>
                          <m:r>
                            <a:rPr lang="en-US" b="0" i="1" smtClean="0">
                              <a:latin typeface="Cambria Math"/>
                            </a:rPr>
                            <m:t>1</m:t>
                          </m:r>
                        </m:sub>
                      </m:sSub>
                      <m:r>
                        <a:rPr lang="en-US" b="0" i="1" smtClean="0">
                          <a:latin typeface="Cambria Math"/>
                        </a:rPr>
                        <m:t>:</m:t>
                      </m:r>
                      <m:r>
                        <a:rPr lang="en-US" b="0" i="1" smtClean="0">
                          <a:latin typeface="Cambria Math"/>
                        </a:rPr>
                        <m:t>𝜇</m:t>
                      </m:r>
                      <m:r>
                        <a:rPr lang="en-US" b="0" i="1" smtClean="0">
                          <a:latin typeface="Cambria Math"/>
                        </a:rPr>
                        <m:t>≠2250</m:t>
                      </m:r>
                    </m:oMath>
                  </m:oMathPara>
                </a14:m>
                <a:endParaRPr lang="en-US" dirty="0"/>
              </a:p>
              <a:p>
                <a:r>
                  <a:rPr lang="en-US" dirty="0"/>
                  <a:t>Since </a:t>
                </a:r>
                <a14:m>
                  <m:oMath xmlns:m="http://schemas.openxmlformats.org/officeDocument/2006/math">
                    <m:r>
                      <a:rPr lang="en-US" b="0" i="1" smtClean="0">
                        <a:latin typeface="Cambria Math"/>
                      </a:rPr>
                      <m:t>𝛼</m:t>
                    </m:r>
                    <m:r>
                      <a:rPr lang="en-US" b="0" i="1" smtClean="0">
                        <a:latin typeface="Cambria Math"/>
                      </a:rPr>
                      <m:t>=0.07</m:t>
                    </m:r>
                  </m:oMath>
                </a14:m>
                <a:r>
                  <a:rPr lang="en-US" dirty="0"/>
                  <a:t> and we are using a two-sided test, we have critical values of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𝑧</m:t>
                        </m:r>
                      </m:e>
                      <m:sub>
                        <m:r>
                          <a:rPr lang="en-US" b="0" i="1" smtClean="0">
                            <a:latin typeface="Cambria Math"/>
                          </a:rPr>
                          <m:t>1−</m:t>
                        </m:r>
                        <m:f>
                          <m:fPr>
                            <m:ctrlPr>
                              <a:rPr lang="en-US" b="0" i="1" smtClean="0">
                                <a:latin typeface="Cambria Math" panose="02040503050406030204" pitchFamily="18" charset="0"/>
                              </a:rPr>
                            </m:ctrlPr>
                          </m:fPr>
                          <m:num>
                            <m:r>
                              <a:rPr lang="en-US" b="0" i="1" smtClean="0">
                                <a:latin typeface="Cambria Math"/>
                              </a:rPr>
                              <m:t>0.07</m:t>
                            </m:r>
                          </m:num>
                          <m:den>
                            <m:r>
                              <a:rPr lang="en-US" b="0" i="1" smtClean="0">
                                <a:latin typeface="Cambria Math"/>
                              </a:rPr>
                              <m:t>2</m:t>
                            </m:r>
                          </m:den>
                        </m:f>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𝑧</m:t>
                        </m:r>
                      </m:e>
                      <m:sub>
                        <m:r>
                          <a:rPr lang="en-US" b="0" i="1" smtClean="0">
                            <a:latin typeface="Cambria Math"/>
                          </a:rPr>
                          <m:t>0.965</m:t>
                        </m:r>
                      </m:sub>
                    </m:sSub>
                    <m:r>
                      <a:rPr lang="en-US" b="0" i="1" smtClean="0">
                        <a:latin typeface="Cambria Math"/>
                      </a:rPr>
                      <m:t>=−1.8119</m:t>
                    </m:r>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𝑧</m:t>
                        </m:r>
                      </m:e>
                      <m:sub>
                        <m:f>
                          <m:fPr>
                            <m:ctrlPr>
                              <a:rPr lang="en-US" b="0" i="1" smtClean="0">
                                <a:latin typeface="Cambria Math" panose="02040503050406030204" pitchFamily="18" charset="0"/>
                              </a:rPr>
                            </m:ctrlPr>
                          </m:fPr>
                          <m:num>
                            <m:r>
                              <a:rPr lang="en-US" b="0" i="1" smtClean="0">
                                <a:latin typeface="Cambria Math"/>
                              </a:rPr>
                              <m:t>0.07</m:t>
                            </m:r>
                          </m:num>
                          <m:den>
                            <m:r>
                              <a:rPr lang="en-US" b="0" i="1" smtClean="0">
                                <a:latin typeface="Cambria Math"/>
                              </a:rPr>
                              <m:t>2</m:t>
                            </m:r>
                          </m:den>
                        </m:f>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𝑧</m:t>
                        </m:r>
                      </m:e>
                      <m:sub>
                        <m:r>
                          <a:rPr lang="en-US" b="0" i="1" smtClean="0">
                            <a:latin typeface="Cambria Math"/>
                          </a:rPr>
                          <m:t>0.035</m:t>
                        </m:r>
                      </m:sub>
                    </m:sSub>
                    <m:r>
                      <a:rPr lang="en-US" b="0" i="1" smtClean="0">
                        <a:latin typeface="Cambria Math"/>
                      </a:rPr>
                      <m:t>=1.8119</m:t>
                    </m:r>
                  </m:oMath>
                </a14:m>
                <a:r>
                  <a:rPr lang="en-US" dirty="0"/>
                  <a:t>. So we will reject for values outside more extreme than these critical points.</a:t>
                </a:r>
              </a:p>
              <a:p>
                <a:r>
                  <a:rPr lang="en-US" dirty="0"/>
                  <a:t>We have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a:rPr>
                          <m:t>2491.43−2250</m:t>
                        </m:r>
                      </m:num>
                      <m:den>
                        <m:r>
                          <a:rPr lang="en-US" b="0" i="1" smtClean="0">
                            <a:latin typeface="Cambria Math"/>
                          </a:rPr>
                          <m:t>842.62/</m:t>
                        </m:r>
                        <m:rad>
                          <m:radPr>
                            <m:degHide m:val="on"/>
                            <m:ctrlPr>
                              <a:rPr lang="en-US" b="0" i="1" smtClean="0">
                                <a:latin typeface="Cambria Math" panose="02040503050406030204" pitchFamily="18" charset="0"/>
                              </a:rPr>
                            </m:ctrlPr>
                          </m:radPr>
                          <m:deg/>
                          <m:e>
                            <m:r>
                              <a:rPr lang="en-US" b="0" i="1" smtClean="0">
                                <a:latin typeface="Cambria Math"/>
                              </a:rPr>
                              <m:t>45</m:t>
                            </m:r>
                          </m:e>
                        </m:rad>
                      </m:den>
                    </m:f>
                    <m:r>
                      <a:rPr lang="en-US" b="0" i="1" smtClean="0">
                        <a:latin typeface="Cambria Math"/>
                      </a:rPr>
                      <m:t>=1.9221</m:t>
                    </m:r>
                  </m:oMath>
                </a14:m>
                <a:r>
                  <a:rPr lang="en-US" dirty="0"/>
                  <a:t>.</a:t>
                </a:r>
              </a:p>
              <a:p>
                <a:r>
                  <a:rPr lang="en-US" dirty="0"/>
                  <a:t>Since </a:t>
                </a:r>
                <a14:m>
                  <m:oMath xmlns:m="http://schemas.openxmlformats.org/officeDocument/2006/math">
                    <m:r>
                      <a:rPr lang="en-US" b="0" i="1" smtClean="0">
                        <a:latin typeface="Cambria Math"/>
                      </a:rPr>
                      <m:t>1.9221&gt;1.8119</m:t>
                    </m:r>
                  </m:oMath>
                </a14:m>
                <a:r>
                  <a:rPr lang="en-US" dirty="0"/>
                  <a:t>, it is in the critical region. Thus we reject the null hypothesis. </a:t>
                </a:r>
              </a:p>
              <a:p>
                <a:r>
                  <a:rPr lang="en-US" dirty="0"/>
                  <a:t>We can conclude that the average daily caloric intake for members of this gym is not 2250.</a:t>
                </a:r>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41" t="-2639" b="-2917"/>
                </a:stretch>
              </a:blipFill>
            </p:spPr>
            <p:txBody>
              <a:bodyPr/>
              <a:lstStyle/>
              <a:p>
                <a:r>
                  <a:rPr lang="en-US">
                    <a:noFill/>
                  </a:rPr>
                  <a:t> </a:t>
                </a:r>
              </a:p>
            </p:txBody>
          </p:sp>
        </mc:Fallback>
      </mc:AlternateContent>
    </p:spTree>
    <p:extLst>
      <p:ext uri="{BB962C8B-B14F-4D97-AF65-F5344CB8AC3E}">
        <p14:creationId xmlns:p14="http://schemas.microsoft.com/office/powerpoint/2010/main" val="166748126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10.3 – How to Conduct a Hypothesis Test</a:t>
            </a:r>
          </a:p>
        </p:txBody>
      </p:sp>
      <p:sp>
        <p:nvSpPr>
          <p:cNvPr id="3" name="Content Placeholder 2"/>
          <p:cNvSpPr>
            <a:spLocks noGrp="1"/>
          </p:cNvSpPr>
          <p:nvPr>
            <p:ph idx="1"/>
          </p:nvPr>
        </p:nvSpPr>
        <p:spPr/>
        <p:txBody>
          <a:bodyPr>
            <a:normAutofit/>
          </a:bodyPr>
          <a:lstStyle/>
          <a:p>
            <a:r>
              <a:rPr lang="en-US" dirty="0"/>
              <a:t>Exercise: Do each of the previous two examples again, but use the other method. So use a critical value for the sleep example and a p-value for the calorie example.</a:t>
            </a:r>
          </a:p>
          <a:p>
            <a:endParaRPr lang="en-US" dirty="0"/>
          </a:p>
          <a:p>
            <a:r>
              <a:rPr lang="en-US" dirty="0"/>
              <a:t>Note that your conclusions should be the same.</a:t>
            </a:r>
          </a:p>
          <a:p>
            <a:pPr lvl="1"/>
            <a:endParaRPr lang="en-US" dirty="0"/>
          </a:p>
          <a:p>
            <a:endParaRPr lang="en-US" dirty="0"/>
          </a:p>
          <a:p>
            <a:endParaRPr lang="en-US" dirty="0"/>
          </a:p>
        </p:txBody>
      </p:sp>
    </p:spTree>
    <p:extLst>
      <p:ext uri="{BB962C8B-B14F-4D97-AF65-F5344CB8AC3E}">
        <p14:creationId xmlns:p14="http://schemas.microsoft.com/office/powerpoint/2010/main" val="286596115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2802</TotalTime>
  <Words>5043</Words>
  <Application>Microsoft Office PowerPoint</Application>
  <PresentationFormat>On-screen Show (4:3)</PresentationFormat>
  <Paragraphs>330</Paragraphs>
  <Slides>61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61</vt:i4>
      </vt:variant>
    </vt:vector>
  </HeadingPairs>
  <TitlesOfParts>
    <vt:vector size="66" baseType="lpstr">
      <vt:lpstr>Calibri</vt:lpstr>
      <vt:lpstr>Cambria Math</vt:lpstr>
      <vt:lpstr>Constantia</vt:lpstr>
      <vt:lpstr>Wingdings 2</vt:lpstr>
      <vt:lpstr>Flow</vt:lpstr>
      <vt:lpstr>Hypothesis Testing</vt:lpstr>
      <vt:lpstr>Statistical Inference</vt:lpstr>
      <vt:lpstr>Chapter 10</vt:lpstr>
      <vt:lpstr>10.1 – General Hypothesis Testing Concepts</vt:lpstr>
      <vt:lpstr>10.1 – General Hypothesis Testing Concepts</vt:lpstr>
      <vt:lpstr>10.1 – General Hypothesis Testing Concepts</vt:lpstr>
      <vt:lpstr>10.1 – General Hypothesis Testing Concepts</vt:lpstr>
      <vt:lpstr>10.1 – General Hypothesis Testing Concepts</vt:lpstr>
      <vt:lpstr>10.1 – General Hypothesis Testing Concepts</vt:lpstr>
      <vt:lpstr>10.1 – General Hypothesis Testing Concepts</vt:lpstr>
      <vt:lpstr>10.1 – General Hypothesis Testing Concepts</vt:lpstr>
      <vt:lpstr>10.1 – General Hypothesis Testing Concepts</vt:lpstr>
      <vt:lpstr>10.1 – General Hypothesis Testing Concepts</vt:lpstr>
      <vt:lpstr>10.1 – General Hypothesis Testing Concepts</vt:lpstr>
      <vt:lpstr>10.1 – General Hypothesis Testing Concepts</vt:lpstr>
      <vt:lpstr>10.2 – Testing a Hypothesis</vt:lpstr>
      <vt:lpstr>10.2 – Testing a Hypothesis</vt:lpstr>
      <vt:lpstr>10.2 – Testing a Hypothesis</vt:lpstr>
      <vt:lpstr>10.2 – Testing a Hypothesis</vt:lpstr>
      <vt:lpstr>10.2 – Testing a Hypothesis</vt:lpstr>
      <vt:lpstr>10.2 – Testing a Hypothesis</vt:lpstr>
      <vt:lpstr>10.2 – Testing a Hypothesis</vt:lpstr>
      <vt:lpstr>10.2 – Testing a Hypothesis</vt:lpstr>
      <vt:lpstr>10.2 – Testing a Hypothesis</vt:lpstr>
      <vt:lpstr>10.2 – Testing a Hypothesis</vt:lpstr>
      <vt:lpstr>10.2 – Testing a Hypothesis</vt:lpstr>
      <vt:lpstr>10.2 – Testing a Hypothesis</vt:lpstr>
      <vt:lpstr>10.2 – Testing a Hypothesis</vt:lpstr>
      <vt:lpstr>10.2 – Testing a Hypothesis</vt:lpstr>
      <vt:lpstr>10.2 – Testing a Hypothesis</vt:lpstr>
      <vt:lpstr>10.2 – Testing a Hypothesis</vt:lpstr>
      <vt:lpstr>10.2 – Testing a Hypothesis</vt:lpstr>
      <vt:lpstr>10.2 – Testing a Hypothesis</vt:lpstr>
      <vt:lpstr>10.2 – Testing a Hypothesis</vt:lpstr>
      <vt:lpstr>10.2 – Testing a Hypothesis</vt:lpstr>
      <vt:lpstr>10.2 – Testing a Hypothesis</vt:lpstr>
      <vt:lpstr>10.2 – Testing a Hypothesis</vt:lpstr>
      <vt:lpstr>10.2 – Testing a Hypothesis</vt:lpstr>
      <vt:lpstr>10.2 – Testing a Hypothesis</vt:lpstr>
      <vt:lpstr>10.2 – Testing a Hypothesis</vt:lpstr>
      <vt:lpstr>10.2 – Testing a Hypothesis</vt:lpstr>
      <vt:lpstr>10.2 – Testing a Hypothesis</vt:lpstr>
      <vt:lpstr>10.2 – Testing a Hypothesis</vt:lpstr>
      <vt:lpstr>10.2 – Testing a Hypothesis</vt:lpstr>
      <vt:lpstr>10.2 – Testing a Hypothesis</vt:lpstr>
      <vt:lpstr>10.2 – Testing a Hypothesis</vt:lpstr>
      <vt:lpstr>10.2 – Testing a Hypothesis</vt:lpstr>
      <vt:lpstr>10.2 – Testing a Hypothesis</vt:lpstr>
      <vt:lpstr>10.2 – Testing a Hypothesis</vt:lpstr>
      <vt:lpstr>10.3 – How to Conduct a Hypothesis Test</vt:lpstr>
      <vt:lpstr>10.3 – How to Conduct a Hypothesis Test</vt:lpstr>
      <vt:lpstr>10.3 – How to Conduct a Hypothesis Test</vt:lpstr>
      <vt:lpstr>10.3 – How to Conduct a Hypothesis Test</vt:lpstr>
      <vt:lpstr>10.3 – How to Conduct a Hypothesis Test</vt:lpstr>
      <vt:lpstr>10.3 – How to Conduct a Hypothesis Test</vt:lpstr>
      <vt:lpstr>10.3 – How to Conduct a Hypothesis Test</vt:lpstr>
      <vt:lpstr>10.3 – How to Conduct a Hypothesis Test</vt:lpstr>
      <vt:lpstr>10.3 – How to Conduct a Hypothesis Test</vt:lpstr>
      <vt:lpstr>10.3 – How to Conduct a Hypothesis Test</vt:lpstr>
      <vt:lpstr>10.3 – How to Conduct a Hypothesis Test</vt:lpstr>
      <vt:lpstr>10.3 – How to Conduct a Hypothesis Test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Hypothesis Testing</dc:title>
  <dc:creator>Jason Adams</dc:creator>
  <cp:lastModifiedBy>Lizzie Sharkey</cp:lastModifiedBy>
  <cp:revision>61</cp:revision>
  <dcterms:created xsi:type="dcterms:W3CDTF">2017-07-26T16:06:29Z</dcterms:created>
  <dcterms:modified xsi:type="dcterms:W3CDTF">2021-04-09T22:12:22Z</dcterms:modified>
</cp:coreProperties>
</file>
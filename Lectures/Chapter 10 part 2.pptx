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08" y="60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704A632B-0CAB-41B0-884E-4328BB7A91E8}" type="datetimeFigureOut">
              <a:rPr lang="en-US" smtClean="0"/>
              <a:t>4/10/2021</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E99B173B-1BE7-444A-82B9-BA2FC849FC46}"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04A632B-0CAB-41B0-884E-4328BB7A91E8}" type="datetimeFigureOut">
              <a:rPr lang="en-US" smtClean="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9B173B-1BE7-444A-82B9-BA2FC849FC46}"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04A632B-0CAB-41B0-884E-4328BB7A91E8}" type="datetimeFigureOut">
              <a:rPr lang="en-US" smtClean="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9B173B-1BE7-444A-82B9-BA2FC849FC46}"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04A632B-0CAB-41B0-884E-4328BB7A91E8}" type="datetimeFigureOut">
              <a:rPr lang="en-US" smtClean="0"/>
              <a:t>4/10/2021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99B173B-1BE7-444A-82B9-BA2FC849FC46}"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704A632B-0CAB-41B0-884E-4328BB7A91E8}" type="datetimeFigureOut">
              <a:rPr lang="en-US" smtClean="0"/>
              <a:t>4/10/2021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99B173B-1BE7-444A-82B9-BA2FC849FC46}"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704A632B-0CAB-41B0-884E-4328BB7A91E8}" type="datetimeFigureOut">
              <a:rPr lang="en-US" smtClean="0"/>
              <a:t>4/10/2021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99B173B-1BE7-444A-82B9-BA2FC849FC46}"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4A632B-0CAB-41B0-884E-4328BB7A91E8}" type="datetimeFigureOut">
              <a:rPr lang="en-US" smtClean="0"/>
              <a:t>4/10/2021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99B173B-1BE7-444A-82B9-BA2FC849FC46}"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04A632B-0CAB-41B0-884E-4328BB7A91E8}" type="datetimeFigureOut">
              <a:rPr lang="en-US" smtClean="0"/>
              <a:t>4/10/2021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99B173B-1BE7-444A-82B9-BA2FC849FC46}"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704A632B-0CAB-41B0-884E-4328BB7A91E8}" type="datetimeFigureOut">
              <a:rPr lang="en-US" smtClean="0"/>
              <a:t>4/10/2021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E99B173B-1BE7-444A-82B9-BA2FC849FC46}" type="slidenum">
              <a:rPr lang="en-US" smtClean="0"/>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04A632B-0CAB-41B0-884E-4328BB7A91E8}" type="datetimeFigureOut">
              <a:rPr lang="en-US" smtClean="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9B173B-1BE7-444A-82B9-BA2FC849FC46}"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04A632B-0CAB-41B0-884E-4328BB7A91E8}" type="datetimeFigureOut">
              <a:rPr lang="en-US" smtClean="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9B173B-1BE7-444A-82B9-BA2FC849FC46}"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04A632B-0CAB-41B0-884E-4328BB7A91E8}" type="datetimeFigureOut">
              <a:rPr lang="en-US" smtClean="0"/>
              <a:t>4/10/2021</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E99B173B-1BE7-444A-82B9-BA2FC849FC46}" type="slidenum">
              <a:rPr lang="en-US" smtClean="0"/>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Hypothesis Testing</a:t>
            </a:r>
          </a:p>
        </p:txBody>
      </p:sp>
      <p:sp>
        <p:nvSpPr>
          <p:cNvPr id="3" name="Subtitle 2"/>
          <p:cNvSpPr>
            <a:spLocks noGrp="1"/>
          </p:cNvSpPr>
          <p:nvPr>
            <p:ph type="subTitle" idx="1"/>
          </p:nvPr>
        </p:nvSpPr>
        <p:spPr/>
        <p:txBody>
          <a:bodyPr/>
          <a:lstStyle/>
          <a:p>
            <a:r>
              <a:rPr lang="en-US" dirty="0"/>
              <a:t>Chapter 10</a:t>
            </a:r>
          </a:p>
        </p:txBody>
      </p:sp>
    </p:spTree>
    <p:extLst>
      <p:ext uri="{BB962C8B-B14F-4D97-AF65-F5344CB8AC3E}">
        <p14:creationId xmlns:p14="http://schemas.microsoft.com/office/powerpoint/2010/main" val="165507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10.4 – Tests for a Single Mean</a:t>
            </a:r>
          </a:p>
        </p:txBody>
      </p:sp>
      <p:sp>
        <p:nvSpPr>
          <p:cNvPr id="3" name="Content Placeholder 2"/>
          <p:cNvSpPr>
            <a:spLocks noGrp="1"/>
          </p:cNvSpPr>
          <p:nvPr>
            <p:ph idx="1"/>
          </p:nvPr>
        </p:nvSpPr>
        <p:spPr/>
        <p:txBody>
          <a:bodyPr/>
          <a:lstStyle/>
          <a:p>
            <a:r>
              <a:rPr lang="en-US" dirty="0"/>
              <a:t>We have now covered the main ideas of hypothesis testing. In 10.4 and 10.5, we apply those ideas to tests regarding means. The examples we saw at the end of 10.3 cover the first case we are interested in for 10.4. </a:t>
            </a:r>
          </a:p>
          <a:p>
            <a:endParaRPr lang="en-US" dirty="0"/>
          </a:p>
          <a:p>
            <a:r>
              <a:rPr lang="en-US" dirty="0"/>
              <a:t>There are two main cases we consider in 10.4:</a:t>
            </a:r>
          </a:p>
          <a:p>
            <a:pPr lvl="1"/>
            <a:r>
              <a:rPr lang="en-US" dirty="0"/>
              <a:t>Hypothesis test for a single mean when the population variance is known (z-test)</a:t>
            </a:r>
          </a:p>
          <a:p>
            <a:pPr lvl="1"/>
            <a:r>
              <a:rPr lang="en-US" dirty="0"/>
              <a:t>Hypothesis test for a single mean when the population variance is unknown (t-test)</a:t>
            </a:r>
          </a:p>
        </p:txBody>
      </p:sp>
    </p:spTree>
    <p:extLst>
      <p:ext uri="{BB962C8B-B14F-4D97-AF65-F5344CB8AC3E}">
        <p14:creationId xmlns:p14="http://schemas.microsoft.com/office/powerpoint/2010/main" val="1726325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10.4 – Tests for a Single Mean</a:t>
            </a:r>
          </a:p>
        </p:txBody>
      </p:sp>
      <p:sp>
        <p:nvSpPr>
          <p:cNvPr id="3" name="Content Placeholder 2"/>
          <p:cNvSpPr>
            <a:spLocks noGrp="1"/>
          </p:cNvSpPr>
          <p:nvPr>
            <p:ph idx="1"/>
          </p:nvPr>
        </p:nvSpPr>
        <p:spPr/>
        <p:txBody>
          <a:bodyPr/>
          <a:lstStyle/>
          <a:p>
            <a:r>
              <a:rPr lang="en-US" dirty="0"/>
              <a:t>We have essentially covered everything we need for the first case. One thing to remember is that, by the central limit theorem, we can do a z-test for any population that has a mean and finite variance. When we look at t-tests later, we need the population to be normal or approximately normal. </a:t>
            </a:r>
          </a:p>
          <a:p>
            <a:endParaRPr lang="en-US" dirty="0"/>
          </a:p>
          <a:p>
            <a:r>
              <a:rPr lang="en-US" dirty="0"/>
              <a:t>We will not say anything else about using a p-value in this case, but we will look just a little bit more into using a critical value to make the decision.</a:t>
            </a:r>
          </a:p>
        </p:txBody>
      </p:sp>
    </p:spTree>
    <p:extLst>
      <p:ext uri="{BB962C8B-B14F-4D97-AF65-F5344CB8AC3E}">
        <p14:creationId xmlns:p14="http://schemas.microsoft.com/office/powerpoint/2010/main" val="1354121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10.4 – Tests for a Single Mean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dirty="0"/>
                  <a:t>When we think of the critical region, we usually think of it in terms of the standard normal distribution. This is what we did in the last example of 10.3, where we transformed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oMath>
                </a14:m>
                <a:r>
                  <a:rPr lang="en-US" dirty="0"/>
                  <a:t> into a z-value in order to compare it to the critical values we found.</a:t>
                </a:r>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t="-1250" r="-1778"/>
                </a:stretch>
              </a:blipFill>
            </p:spPr>
            <p:txBody>
              <a:bodyPr/>
              <a:lstStyle/>
              <a:p>
                <a:r>
                  <a:rPr lang="en-US">
                    <a:noFill/>
                  </a:rPr>
                  <a:t> </a:t>
                </a:r>
              </a:p>
            </p:txBody>
          </p:sp>
        </mc:Fallback>
      </mc:AlternateContent>
    </p:spTree>
    <p:extLst>
      <p:ext uri="{BB962C8B-B14F-4D97-AF65-F5344CB8AC3E}">
        <p14:creationId xmlns:p14="http://schemas.microsoft.com/office/powerpoint/2010/main" val="3003727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10.4 – Tests for a Single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One other thing to be aware of regarding critical values: We will only be using one of two possible distributions – either the standard normal or the t-distribution. Because of this, we can use symmetry to make our lives a little easier.</a:t>
                </a:r>
              </a:p>
              <a:p>
                <a:endParaRPr lang="en-US" dirty="0"/>
              </a:p>
              <a:p>
                <a:r>
                  <a:rPr lang="en-US" dirty="0"/>
                  <a:t>If you have a two-tailed test,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𝑧</m:t>
                        </m:r>
                      </m:e>
                      <m:sub>
                        <m:r>
                          <a:rPr lang="en-US" b="0" i="1" smtClean="0">
                            <a:latin typeface="Cambria Math"/>
                          </a:rPr>
                          <m:t>1−</m:t>
                        </m:r>
                        <m:f>
                          <m:fPr>
                            <m:ctrlPr>
                              <a:rPr lang="en-US" b="0" i="1" smtClean="0">
                                <a:latin typeface="Cambria Math" panose="02040503050406030204" pitchFamily="18" charset="0"/>
                              </a:rPr>
                            </m:ctrlPr>
                          </m:fPr>
                          <m:num>
                            <m:r>
                              <a:rPr lang="en-US" b="0" i="1" smtClean="0">
                                <a:latin typeface="Cambria Math"/>
                              </a:rPr>
                              <m:t>𝛼</m:t>
                            </m:r>
                          </m:num>
                          <m:den>
                            <m:r>
                              <a:rPr lang="en-US" b="0" i="1" smtClean="0">
                                <a:latin typeface="Cambria Math"/>
                              </a:rPr>
                              <m:t>2</m:t>
                            </m:r>
                          </m:den>
                        </m:f>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𝑧</m:t>
                        </m:r>
                      </m:e>
                      <m:sub>
                        <m:f>
                          <m:fPr>
                            <m:ctrlPr>
                              <a:rPr lang="en-US" b="0" i="1" smtClean="0">
                                <a:latin typeface="Cambria Math" panose="02040503050406030204" pitchFamily="18" charset="0"/>
                              </a:rPr>
                            </m:ctrlPr>
                          </m:fPr>
                          <m:num>
                            <m:r>
                              <a:rPr lang="en-US" b="0" i="1" smtClean="0">
                                <a:latin typeface="Cambria Math"/>
                              </a:rPr>
                              <m:t>𝛼</m:t>
                            </m:r>
                          </m:num>
                          <m:den>
                            <m:r>
                              <a:rPr lang="en-US" b="0" i="1" smtClean="0">
                                <a:latin typeface="Cambria Math"/>
                              </a:rPr>
                              <m:t>2</m:t>
                            </m:r>
                          </m:den>
                        </m:f>
                      </m:sub>
                    </m:sSub>
                  </m:oMath>
                </a14:m>
                <a:r>
                  <a:rPr lang="en-US" dirty="0"/>
                  <a:t>. We have already seen this property with the t-distribution. The point is, you only ever need to find one critical value. The other one will just be the negative of the one you have found.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2083" r="-2074" b="-2500"/>
                </a:stretch>
              </a:blipFill>
            </p:spPr>
            <p:txBody>
              <a:bodyPr/>
              <a:lstStyle/>
              <a:p>
                <a:r>
                  <a:rPr lang="en-US">
                    <a:noFill/>
                  </a:rPr>
                  <a:t> </a:t>
                </a:r>
              </a:p>
            </p:txBody>
          </p:sp>
        </mc:Fallback>
      </mc:AlternateContent>
    </p:spTree>
    <p:extLst>
      <p:ext uri="{BB962C8B-B14F-4D97-AF65-F5344CB8AC3E}">
        <p14:creationId xmlns:p14="http://schemas.microsoft.com/office/powerpoint/2010/main" val="1126034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10.4 – Tests for a Single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Exercise: A random sample of 100 recorded deaths in the United States showed an average life span of 71.8 years. Assuming that </a:t>
                </a:r>
                <a14:m>
                  <m:oMath xmlns:m="http://schemas.openxmlformats.org/officeDocument/2006/math">
                    <m:r>
                      <a:rPr lang="en-US" b="0" i="1" smtClean="0">
                        <a:latin typeface="Cambria Math"/>
                      </a:rPr>
                      <m:t>𝜎</m:t>
                    </m:r>
                    <m:r>
                      <a:rPr lang="en-US" b="0" i="1" smtClean="0">
                        <a:latin typeface="Cambria Math"/>
                      </a:rPr>
                      <m:t>=8.9</m:t>
                    </m:r>
                  </m:oMath>
                </a14:m>
                <a:r>
                  <a:rPr lang="en-US" dirty="0"/>
                  <a:t>, use a significance level of </a:t>
                </a:r>
                <a14:m>
                  <m:oMath xmlns:m="http://schemas.openxmlformats.org/officeDocument/2006/math">
                    <m:r>
                      <a:rPr lang="en-US" b="0" i="1" smtClean="0">
                        <a:latin typeface="Cambria Math"/>
                      </a:rPr>
                      <m:t>0.05</m:t>
                    </m:r>
                  </m:oMath>
                </a14:m>
                <a:r>
                  <a:rPr lang="en-US" dirty="0"/>
                  <a:t> to test whether the average life span of the population is more than 70 years. You may use either a p-value or a critical value. We will look at both.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1037"/>
                </a:stretch>
              </a:blipFill>
            </p:spPr>
            <p:txBody>
              <a:bodyPr/>
              <a:lstStyle/>
              <a:p>
                <a:r>
                  <a:rPr lang="en-US">
                    <a:noFill/>
                  </a:rPr>
                  <a:t> </a:t>
                </a:r>
              </a:p>
            </p:txBody>
          </p:sp>
        </mc:Fallback>
      </mc:AlternateContent>
    </p:spTree>
    <p:extLst>
      <p:ext uri="{BB962C8B-B14F-4D97-AF65-F5344CB8AC3E}">
        <p14:creationId xmlns:p14="http://schemas.microsoft.com/office/powerpoint/2010/main" val="3804544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10.4 – Tests for a Single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m:t>
                      </m:r>
                      <m:r>
                        <a:rPr lang="en-US" b="0" i="1" smtClean="0">
                          <a:latin typeface="Cambria Math"/>
                        </a:rPr>
                        <m:t>𝜇</m:t>
                      </m:r>
                      <m:r>
                        <a:rPr lang="en-US" b="0" i="1" smtClean="0">
                          <a:latin typeface="Cambria Math"/>
                        </a:rPr>
                        <m:t>=70</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r>
                        <a:rPr lang="en-US" b="0" i="1" smtClean="0">
                          <a:latin typeface="Cambria Math"/>
                        </a:rPr>
                        <m:t>:</m:t>
                      </m:r>
                      <m:r>
                        <a:rPr lang="en-US" b="0" i="1" smtClean="0">
                          <a:latin typeface="Cambria Math"/>
                        </a:rPr>
                        <m:t>𝜇</m:t>
                      </m:r>
                      <m:r>
                        <a:rPr lang="en-US" b="0" i="1" smtClean="0">
                          <a:latin typeface="Cambria Math"/>
                        </a:rPr>
                        <m:t>&gt;70</m:t>
                      </m:r>
                    </m:oMath>
                  </m:oMathPara>
                </a14:m>
                <a:endParaRPr lang="en-US" dirty="0"/>
              </a:p>
              <a:p>
                <a:r>
                  <a:rPr lang="en-US" dirty="0"/>
                  <a:t>We use </a:t>
                </a:r>
                <a14:m>
                  <m:oMath xmlns:m="http://schemas.openxmlformats.org/officeDocument/2006/math">
                    <m:r>
                      <a:rPr lang="en-US" b="0" i="1" smtClean="0">
                        <a:latin typeface="Cambria Math"/>
                      </a:rPr>
                      <m:t>𝛼</m:t>
                    </m:r>
                    <m:r>
                      <a:rPr lang="en-US" b="0" i="1" smtClean="0">
                        <a:latin typeface="Cambria Math"/>
                      </a:rPr>
                      <m:t>=0.05</m:t>
                    </m:r>
                  </m:oMath>
                </a14:m>
                <a:endParaRPr lang="en-US" dirty="0"/>
              </a:p>
              <a:p>
                <a:r>
                  <a:rPr lang="en-US" dirty="0"/>
                  <a:t>The p-value is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a:rPr>
                              <m:t>𝑋</m:t>
                            </m:r>
                          </m:e>
                        </m:acc>
                        <m:r>
                          <a:rPr lang="en-US" b="0" i="1" smtClean="0">
                            <a:latin typeface="Cambria Math"/>
                          </a:rPr>
                          <m:t>≥71.8</m:t>
                        </m:r>
                      </m:e>
                      <m:e>
                        <m:r>
                          <a:rPr lang="en-US" b="0" i="1" smtClean="0">
                            <a:latin typeface="Cambria Math"/>
                          </a:rPr>
                          <m:t>𝜇</m:t>
                        </m:r>
                        <m:r>
                          <a:rPr lang="en-US" b="0" i="1" smtClean="0">
                            <a:latin typeface="Cambria Math"/>
                          </a:rPr>
                          <m:t>=70</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71.8−70</m:t>
                            </m:r>
                          </m:num>
                          <m:den>
                            <m:r>
                              <a:rPr lang="en-US" b="0" i="1" smtClean="0">
                                <a:latin typeface="Cambria Math"/>
                              </a:rPr>
                              <m:t>8.9/</m:t>
                            </m:r>
                            <m:rad>
                              <m:radPr>
                                <m:degHide m:val="on"/>
                                <m:ctrlPr>
                                  <a:rPr lang="en-US" b="0" i="1" smtClean="0">
                                    <a:latin typeface="Cambria Math" panose="02040503050406030204" pitchFamily="18" charset="0"/>
                                  </a:rPr>
                                </m:ctrlPr>
                              </m:radPr>
                              <m:deg/>
                              <m:e>
                                <m:r>
                                  <a:rPr lang="en-US" b="0" i="1" smtClean="0">
                                    <a:latin typeface="Cambria Math"/>
                                  </a:rPr>
                                  <m:t>100</m:t>
                                </m:r>
                              </m:e>
                            </m:rad>
                          </m:den>
                        </m:f>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≥2.0225</m:t>
                        </m:r>
                      </m:e>
                    </m:d>
                    <m:r>
                      <a:rPr lang="en-US" b="0" i="1" smtClean="0">
                        <a:latin typeface="Cambria Math"/>
                      </a:rPr>
                      <m:t>=0.0216</m:t>
                    </m:r>
                  </m:oMath>
                </a14:m>
                <a:r>
                  <a:rPr lang="en-US" dirty="0"/>
                  <a:t>.</a:t>
                </a:r>
              </a:p>
              <a:p>
                <a:r>
                  <a:rPr lang="en-US" dirty="0"/>
                  <a:t>Since </a:t>
                </a:r>
                <a14:m>
                  <m:oMath xmlns:m="http://schemas.openxmlformats.org/officeDocument/2006/math">
                    <m:r>
                      <a:rPr lang="en-US" b="0" i="1" smtClean="0">
                        <a:latin typeface="Cambria Math"/>
                      </a:rPr>
                      <m:t>0.0216&lt;0.05</m:t>
                    </m:r>
                  </m:oMath>
                </a14:m>
                <a:r>
                  <a:rPr lang="en-US" dirty="0"/>
                  <a:t>, we reject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a:t>
                </a:r>
              </a:p>
              <a:p>
                <a:r>
                  <a:rPr lang="en-US" dirty="0"/>
                  <a:t>There is enough evidence to claim that the average lifespan is longer than 70 years in the United States.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a:stretch>
              </a:blipFill>
            </p:spPr>
            <p:txBody>
              <a:bodyPr/>
              <a:lstStyle/>
              <a:p>
                <a:r>
                  <a:rPr lang="en-US">
                    <a:noFill/>
                  </a:rPr>
                  <a:t> </a:t>
                </a:r>
              </a:p>
            </p:txBody>
          </p:sp>
        </mc:Fallback>
      </mc:AlternateContent>
    </p:spTree>
    <p:extLst>
      <p:ext uri="{BB962C8B-B14F-4D97-AF65-F5344CB8AC3E}">
        <p14:creationId xmlns:p14="http://schemas.microsoft.com/office/powerpoint/2010/main" val="755932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10.4 – Tests for a Single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m:t>
                      </m:r>
                      <m:r>
                        <a:rPr lang="en-US" b="0" i="1" smtClean="0">
                          <a:latin typeface="Cambria Math"/>
                        </a:rPr>
                        <m:t>𝜇</m:t>
                      </m:r>
                      <m:r>
                        <a:rPr lang="en-US" b="0" i="1" smtClean="0">
                          <a:latin typeface="Cambria Math"/>
                        </a:rPr>
                        <m:t>=70</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r>
                        <a:rPr lang="en-US" b="0" i="1" smtClean="0">
                          <a:latin typeface="Cambria Math"/>
                        </a:rPr>
                        <m:t>:</m:t>
                      </m:r>
                      <m:r>
                        <a:rPr lang="en-US" b="0" i="1" smtClean="0">
                          <a:latin typeface="Cambria Math"/>
                        </a:rPr>
                        <m:t>𝜇</m:t>
                      </m:r>
                      <m:r>
                        <a:rPr lang="en-US" b="0" i="1" smtClean="0">
                          <a:latin typeface="Cambria Math"/>
                        </a:rPr>
                        <m:t>&gt;70</m:t>
                      </m:r>
                    </m:oMath>
                  </m:oMathPara>
                </a14:m>
                <a:endParaRPr lang="en-US" dirty="0"/>
              </a:p>
              <a:p>
                <a:r>
                  <a:rPr lang="en-US" dirty="0"/>
                  <a:t>We use </a:t>
                </a:r>
                <a14:m>
                  <m:oMath xmlns:m="http://schemas.openxmlformats.org/officeDocument/2006/math">
                    <m:r>
                      <a:rPr lang="en-US" b="0" i="1" smtClean="0">
                        <a:latin typeface="Cambria Math"/>
                      </a:rPr>
                      <m:t>𝛼</m:t>
                    </m:r>
                    <m:r>
                      <a:rPr lang="en-US" b="0" i="1" smtClean="0">
                        <a:latin typeface="Cambria Math"/>
                      </a:rPr>
                      <m:t>=0.05</m:t>
                    </m:r>
                  </m:oMath>
                </a14:m>
                <a:r>
                  <a:rPr lang="en-US" dirty="0"/>
                  <a:t>. Then the critical values are </a:t>
                </a:r>
                <a14:m>
                  <m:oMath xmlns:m="http://schemas.openxmlformats.org/officeDocument/2006/math">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𝑧</m:t>
                        </m:r>
                      </m:e>
                      <m:sub>
                        <m:r>
                          <a:rPr lang="en-US" i="1">
                            <a:latin typeface="Cambria Math"/>
                          </a:rPr>
                          <m:t>𝛼</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𝑧</m:t>
                        </m:r>
                      </m:e>
                      <m:sub>
                        <m:r>
                          <a:rPr lang="en-US" b="0" i="1" smtClean="0">
                            <a:latin typeface="Cambria Math"/>
                          </a:rPr>
                          <m:t>0.05</m:t>
                        </m:r>
                      </m:sub>
                    </m:sSub>
                    <m:r>
                      <a:rPr lang="en-US" b="0" i="1" smtClean="0">
                        <a:latin typeface="Cambria Math"/>
                      </a:rPr>
                      <m:t>=±1.</m:t>
                    </m:r>
                    <m:r>
                      <a:rPr lang="en-US" b="0" i="1" smtClean="0">
                        <a:latin typeface="Cambria Math" panose="02040503050406030204" pitchFamily="18" charset="0"/>
                      </a:rPr>
                      <m:t>65</m:t>
                    </m:r>
                  </m:oMath>
                </a14:m>
                <a:r>
                  <a:rPr lang="en-US" dirty="0"/>
                  <a:t>.</a:t>
                </a:r>
              </a:p>
              <a:p>
                <a:r>
                  <a:rPr lang="en-US" dirty="0"/>
                  <a:t>The test statistic is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71.8−70</m:t>
                        </m:r>
                      </m:num>
                      <m:den>
                        <m:r>
                          <a:rPr lang="en-US" b="0" i="1" smtClean="0">
                            <a:latin typeface="Cambria Math"/>
                          </a:rPr>
                          <m:t>8.9/</m:t>
                        </m:r>
                        <m:rad>
                          <m:radPr>
                            <m:degHide m:val="on"/>
                            <m:ctrlPr>
                              <a:rPr lang="en-US" b="0" i="1" smtClean="0">
                                <a:latin typeface="Cambria Math" panose="02040503050406030204" pitchFamily="18" charset="0"/>
                              </a:rPr>
                            </m:ctrlPr>
                          </m:radPr>
                          <m:deg/>
                          <m:e>
                            <m:r>
                              <a:rPr lang="en-US" b="0" i="1" smtClean="0">
                                <a:latin typeface="Cambria Math"/>
                              </a:rPr>
                              <m:t>100</m:t>
                            </m:r>
                          </m:e>
                        </m:rad>
                      </m:den>
                    </m:f>
                    <m:r>
                      <a:rPr lang="en-US" b="0" i="1" smtClean="0">
                        <a:latin typeface="Cambria Math"/>
                      </a:rPr>
                      <m:t>=2.0225</m:t>
                    </m:r>
                  </m:oMath>
                </a14:m>
                <a:r>
                  <a:rPr lang="en-US" dirty="0"/>
                  <a:t>.</a:t>
                </a:r>
              </a:p>
              <a:p>
                <a:r>
                  <a:rPr lang="en-US" dirty="0"/>
                  <a:t>Since </a:t>
                </a:r>
                <a14:m>
                  <m:oMath xmlns:m="http://schemas.openxmlformats.org/officeDocument/2006/math">
                    <m:r>
                      <a:rPr lang="en-US" b="0" i="0" smtClean="0">
                        <a:latin typeface="Cambria Math"/>
                      </a:rPr>
                      <m:t>2.0225</m:t>
                    </m:r>
                    <m:r>
                      <a:rPr lang="en-US" b="0" i="1" smtClean="0">
                        <a:latin typeface="Cambria Math"/>
                      </a:rPr>
                      <m:t>&gt;1.</m:t>
                    </m:r>
                    <m:r>
                      <a:rPr lang="en-US" b="0" i="1" smtClean="0">
                        <a:latin typeface="Cambria Math" panose="02040503050406030204" pitchFamily="18" charset="0"/>
                      </a:rPr>
                      <m:t>65</m:t>
                    </m:r>
                  </m:oMath>
                </a14:m>
                <a:r>
                  <a:rPr lang="en-US" dirty="0"/>
                  <a:t>, we reject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a:t>
                </a:r>
              </a:p>
              <a:p>
                <a:r>
                  <a:rPr lang="en-US" dirty="0"/>
                  <a:t>There is enough evidence to claim that the average lifespan is longer than 70 years in the United States.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a:stretch>
              </a:blipFill>
            </p:spPr>
            <p:txBody>
              <a:bodyPr/>
              <a:lstStyle/>
              <a:p>
                <a:r>
                  <a:rPr lang="en-US">
                    <a:noFill/>
                  </a:rPr>
                  <a:t> </a:t>
                </a:r>
              </a:p>
            </p:txBody>
          </p:sp>
        </mc:Fallback>
      </mc:AlternateContent>
    </p:spTree>
    <p:extLst>
      <p:ext uri="{BB962C8B-B14F-4D97-AF65-F5344CB8AC3E}">
        <p14:creationId xmlns:p14="http://schemas.microsoft.com/office/powerpoint/2010/main" val="2007548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10.4 – Tests for a Single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other case we want to look at in this section is when we do not know the population variance.</a:t>
                </a:r>
              </a:p>
              <a:p>
                <a:endParaRPr lang="en-US" dirty="0"/>
              </a:p>
              <a:p>
                <a:r>
                  <a:rPr lang="en-US" dirty="0"/>
                  <a:t>In this case, as we’ve seen before, we need to estimate the population variance using the sample variance. We have also discussed that, for a normal or approximately normal population, the t-statistic, </a:t>
                </a:r>
                <a14:m>
                  <m:oMath xmlns:m="http://schemas.openxmlformats.org/officeDocument/2006/math">
                    <m:r>
                      <a:rPr lang="en-US" b="0" i="1" smtClean="0">
                        <a:latin typeface="Cambria Math"/>
                      </a:rPr>
                      <m:t>𝑇</m:t>
                    </m:r>
                    <m:r>
                      <a:rPr lang="en-US" b="0" i="1" smtClean="0">
                        <a:latin typeface="Cambria Math"/>
                      </a:rPr>
                      <m:t>=</m:t>
                    </m:r>
                    <m:f>
                      <m:fPr>
                        <m:ctrlPr>
                          <a:rPr lang="en-US" b="0" i="1" smtClean="0">
                            <a:latin typeface="Cambria Math" panose="02040503050406030204" pitchFamily="18" charset="0"/>
                          </a:rPr>
                        </m:ctrlPr>
                      </m:fPr>
                      <m:num>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m:t>
                        </m:r>
                        <m:r>
                          <a:rPr lang="en-US" b="0" i="1" dirty="0" smtClean="0">
                            <a:latin typeface="Cambria Math"/>
                          </a:rPr>
                          <m:t>𝜇</m:t>
                        </m:r>
                      </m:num>
                      <m:den>
                        <m:r>
                          <a:rPr lang="en-US" b="0" i="1" smtClean="0">
                            <a:latin typeface="Cambria Math"/>
                          </a:rPr>
                          <m:t>𝑠</m:t>
                        </m:r>
                        <m:r>
                          <a:rPr lang="en-US" b="0" i="1" smtClean="0">
                            <a:latin typeface="Cambria Math"/>
                          </a:rPr>
                          <m:t>/</m:t>
                        </m:r>
                        <m:rad>
                          <m:radPr>
                            <m:degHide m:val="on"/>
                            <m:ctrlPr>
                              <a:rPr lang="en-US" b="0" i="1" smtClean="0">
                                <a:latin typeface="Cambria Math" panose="02040503050406030204" pitchFamily="18" charset="0"/>
                              </a:rPr>
                            </m:ctrlPr>
                          </m:radPr>
                          <m:deg/>
                          <m:e>
                            <m:r>
                              <a:rPr lang="en-US" b="0" i="1" smtClean="0">
                                <a:latin typeface="Cambria Math"/>
                              </a:rPr>
                              <m:t>𝑛</m:t>
                            </m:r>
                          </m:e>
                        </m:rad>
                      </m:den>
                    </m:f>
                  </m:oMath>
                </a14:m>
                <a:r>
                  <a:rPr lang="en-US" dirty="0"/>
                  <a:t> has a t-distribution with </a:t>
                </a:r>
                <a14:m>
                  <m:oMath xmlns:m="http://schemas.openxmlformats.org/officeDocument/2006/math">
                    <m:r>
                      <a:rPr lang="en-US" b="0" i="1" smtClean="0">
                        <a:latin typeface="Cambria Math"/>
                      </a:rPr>
                      <m:t>𝑛</m:t>
                    </m:r>
                    <m:r>
                      <a:rPr lang="en-US" b="0" i="1" smtClean="0">
                        <a:latin typeface="Cambria Math"/>
                      </a:rPr>
                      <m:t>−1</m:t>
                    </m:r>
                  </m:oMath>
                </a14:m>
                <a:r>
                  <a:rPr lang="en-US" dirty="0"/>
                  <a:t> degrees of freedom.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1926"/>
                </a:stretch>
              </a:blipFill>
            </p:spPr>
            <p:txBody>
              <a:bodyPr/>
              <a:lstStyle/>
              <a:p>
                <a:r>
                  <a:rPr lang="en-US">
                    <a:noFill/>
                  </a:rPr>
                  <a:t> </a:t>
                </a:r>
              </a:p>
            </p:txBody>
          </p:sp>
        </mc:Fallback>
      </mc:AlternateContent>
    </p:spTree>
    <p:extLst>
      <p:ext uri="{BB962C8B-B14F-4D97-AF65-F5344CB8AC3E}">
        <p14:creationId xmlns:p14="http://schemas.microsoft.com/office/powerpoint/2010/main" val="3208097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10.4 – Tests for a Single Mean</a:t>
            </a:r>
          </a:p>
        </p:txBody>
      </p:sp>
      <p:sp>
        <p:nvSpPr>
          <p:cNvPr id="3" name="Content Placeholder 2"/>
          <p:cNvSpPr>
            <a:spLocks noGrp="1"/>
          </p:cNvSpPr>
          <p:nvPr>
            <p:ph idx="1"/>
          </p:nvPr>
        </p:nvSpPr>
        <p:spPr/>
        <p:txBody>
          <a:bodyPr>
            <a:normAutofit/>
          </a:bodyPr>
          <a:lstStyle/>
          <a:p>
            <a:r>
              <a:rPr lang="en-US" dirty="0"/>
              <a:t>Other than the fact that we are using a different sampling distribution, t-tests look a lot like z-tests. We can proceed almost exactly as we did for z-tests.</a:t>
            </a:r>
          </a:p>
        </p:txBody>
      </p:sp>
    </p:spTree>
    <p:extLst>
      <p:ext uri="{BB962C8B-B14F-4D97-AF65-F5344CB8AC3E}">
        <p14:creationId xmlns:p14="http://schemas.microsoft.com/office/powerpoint/2010/main" val="767212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10.4 – Tests for a Single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It is claimed that a vacuum cleaner uses an average of 46 kilowatt hours per year. From a random sample of 12 homes, it is found that vacuum cleaners use an average of 42 kilowatt hours per year with a sample standard deviation of 11.9. Assuming the population of kilowatt hours to be normally distributed, is there evidence at the </a:t>
                </a:r>
                <a14:m>
                  <m:oMath xmlns:m="http://schemas.openxmlformats.org/officeDocument/2006/math">
                    <m:r>
                      <a:rPr lang="en-US" b="0" i="1" smtClean="0">
                        <a:latin typeface="Cambria Math"/>
                      </a:rPr>
                      <m:t>0.05</m:t>
                    </m:r>
                  </m:oMath>
                </a14:m>
                <a:r>
                  <a:rPr lang="en-US" dirty="0"/>
                  <a:t> level of significance that vacuum cleaners use, on average, less than 46 kilowatt hours per year?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1037"/>
                </a:stretch>
              </a:blipFill>
            </p:spPr>
            <p:txBody>
              <a:bodyPr/>
              <a:lstStyle/>
              <a:p>
                <a:r>
                  <a:rPr lang="en-US">
                    <a:noFill/>
                  </a:rPr>
                  <a:t> </a:t>
                </a:r>
              </a:p>
            </p:txBody>
          </p:sp>
        </mc:Fallback>
      </mc:AlternateContent>
    </p:spTree>
    <p:extLst>
      <p:ext uri="{BB962C8B-B14F-4D97-AF65-F5344CB8AC3E}">
        <p14:creationId xmlns:p14="http://schemas.microsoft.com/office/powerpoint/2010/main" val="3482312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10.4 – Tests for a Single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m:t>
                      </m:r>
                      <m:r>
                        <a:rPr lang="en-US" b="0" i="1" smtClean="0">
                          <a:latin typeface="Cambria Math"/>
                        </a:rPr>
                        <m:t>𝜇</m:t>
                      </m:r>
                      <m:r>
                        <a:rPr lang="en-US" b="0" i="1" smtClean="0">
                          <a:latin typeface="Cambria Math"/>
                        </a:rPr>
                        <m:t>=46</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r>
                        <a:rPr lang="en-US" b="0" i="1" smtClean="0">
                          <a:latin typeface="Cambria Math"/>
                        </a:rPr>
                        <m:t>:</m:t>
                      </m:r>
                      <m:r>
                        <a:rPr lang="en-US" b="0" i="1" smtClean="0">
                          <a:latin typeface="Cambria Math"/>
                        </a:rPr>
                        <m:t>𝜇</m:t>
                      </m:r>
                      <m:r>
                        <a:rPr lang="en-US" b="0" i="1" smtClean="0">
                          <a:latin typeface="Cambria Math"/>
                        </a:rPr>
                        <m:t>&lt;46</m:t>
                      </m:r>
                    </m:oMath>
                  </m:oMathPara>
                </a14:m>
                <a:endParaRPr lang="en-US" dirty="0"/>
              </a:p>
              <a:p>
                <a:r>
                  <a:rPr lang="en-US" dirty="0"/>
                  <a:t>We use</a:t>
                </a:r>
                <a14:m>
                  <m:oMath xmlns:m="http://schemas.openxmlformats.org/officeDocument/2006/math">
                    <m:r>
                      <a:rPr lang="en-US" dirty="0" smtClean="0">
                        <a:latin typeface="Cambria Math"/>
                      </a:rPr>
                      <m:t> </m:t>
                    </m:r>
                    <m:r>
                      <a:rPr lang="en-US" b="0" i="1" smtClean="0">
                        <a:latin typeface="Cambria Math"/>
                      </a:rPr>
                      <m:t>𝛼</m:t>
                    </m:r>
                    <m:r>
                      <a:rPr lang="en-US" b="0" i="1" smtClean="0">
                        <a:latin typeface="Cambria Math"/>
                      </a:rPr>
                      <m:t>=0.05</m:t>
                    </m:r>
                  </m:oMath>
                </a14:m>
                <a:endParaRPr lang="en-US" dirty="0"/>
              </a:p>
              <a:p>
                <a:r>
                  <a:rPr lang="en-US" dirty="0"/>
                  <a:t>The p-value is </a:t>
                </a:r>
                <a14:m>
                  <m:oMath xmlns:m="http://schemas.openxmlformats.org/officeDocument/2006/math">
                    <m:r>
                      <a:rPr lang="en-US" b="0" i="1" smtClean="0">
                        <a:latin typeface="Cambria Math"/>
                      </a:rPr>
                      <m:t>𝑃</m:t>
                    </m:r>
                    <m:d>
                      <m:dPr>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a:rPr>
                              <m:t>𝑋</m:t>
                            </m:r>
                          </m:e>
                        </m:acc>
                        <m:r>
                          <a:rPr lang="en-US" b="0" i="1" smtClean="0">
                            <a:latin typeface="Cambria Math"/>
                          </a:rPr>
                          <m:t>≤42</m:t>
                        </m:r>
                      </m:e>
                    </m:d>
                    <m:r>
                      <a:rPr lang="en-US" b="0" i="1" smtClean="0">
                        <a:latin typeface="Cambria Math"/>
                      </a:rPr>
                      <m:t>𝜇</m:t>
                    </m:r>
                    <m:r>
                      <a:rPr lang="en-US" b="0" i="1" smtClean="0">
                        <a:latin typeface="Cambria Math"/>
                      </a:rPr>
                      <m:t>=46)=</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𝑇</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42−46</m:t>
                            </m:r>
                          </m:num>
                          <m:den>
                            <m:r>
                              <a:rPr lang="en-US" b="0" i="1" smtClean="0">
                                <a:latin typeface="Cambria Math"/>
                              </a:rPr>
                              <m:t>11.9/</m:t>
                            </m:r>
                            <m:rad>
                              <m:radPr>
                                <m:degHide m:val="on"/>
                                <m:ctrlPr>
                                  <a:rPr lang="en-US" b="0" i="1" smtClean="0">
                                    <a:latin typeface="Cambria Math" panose="02040503050406030204" pitchFamily="18" charset="0"/>
                                  </a:rPr>
                                </m:ctrlPr>
                              </m:radPr>
                              <m:deg/>
                              <m:e>
                                <m:r>
                                  <a:rPr lang="en-US" b="0" i="1" smtClean="0">
                                    <a:latin typeface="Cambria Math"/>
                                  </a:rPr>
                                  <m:t>12</m:t>
                                </m:r>
                              </m:e>
                            </m:rad>
                          </m:den>
                        </m:f>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𝑇</m:t>
                        </m:r>
                        <m:r>
                          <a:rPr lang="en-US" b="0" i="1" smtClean="0">
                            <a:latin typeface="Cambria Math"/>
                          </a:rPr>
                          <m:t>≤−1.1644</m:t>
                        </m:r>
                      </m:e>
                    </m:d>
                    <m:r>
                      <a:rPr lang="en-US" b="0" i="1" smtClean="0">
                        <a:latin typeface="Cambria Math"/>
                      </a:rPr>
                      <m:t>=0.1344</m:t>
                    </m:r>
                  </m:oMath>
                </a14:m>
                <a:r>
                  <a:rPr lang="en-US" dirty="0"/>
                  <a:t>.</a:t>
                </a:r>
              </a:p>
              <a:p>
                <a:r>
                  <a:rPr lang="en-US" dirty="0"/>
                  <a:t>Since </a:t>
                </a:r>
                <a14:m>
                  <m:oMath xmlns:m="http://schemas.openxmlformats.org/officeDocument/2006/math">
                    <m:r>
                      <a:rPr lang="en-US" b="0" i="1" smtClean="0">
                        <a:latin typeface="Cambria Math"/>
                      </a:rPr>
                      <m:t>0.1344&gt;0.05</m:t>
                    </m:r>
                  </m:oMath>
                </a14:m>
                <a:r>
                  <a:rPr lang="en-US" dirty="0"/>
                  <a:t>, we do not reject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a:t>
                </a:r>
              </a:p>
              <a:p>
                <a:r>
                  <a:rPr lang="en-US" dirty="0"/>
                  <a:t>There is not enough evidence to claim that the average yearly kilowatt hours used by vacuum cleaners is less than 46.</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r="-1111" b="-417"/>
                </a:stretch>
              </a:blipFill>
            </p:spPr>
            <p:txBody>
              <a:bodyPr/>
              <a:lstStyle/>
              <a:p>
                <a:r>
                  <a:rPr lang="en-US">
                    <a:noFill/>
                  </a:rPr>
                  <a:t> </a:t>
                </a:r>
              </a:p>
            </p:txBody>
          </p:sp>
        </mc:Fallback>
      </mc:AlternateContent>
    </p:spTree>
    <p:extLst>
      <p:ext uri="{BB962C8B-B14F-4D97-AF65-F5344CB8AC3E}">
        <p14:creationId xmlns:p14="http://schemas.microsoft.com/office/powerpoint/2010/main" val="49923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10.4 – Tests for a Single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m:t>
                      </m:r>
                      <m:r>
                        <a:rPr lang="en-US" b="0" i="1" smtClean="0">
                          <a:latin typeface="Cambria Math"/>
                        </a:rPr>
                        <m:t>𝜇</m:t>
                      </m:r>
                      <m:r>
                        <a:rPr lang="en-US" b="0" i="1" smtClean="0">
                          <a:latin typeface="Cambria Math"/>
                        </a:rPr>
                        <m:t>=46</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r>
                        <a:rPr lang="en-US" b="0" i="1" smtClean="0">
                          <a:latin typeface="Cambria Math"/>
                        </a:rPr>
                        <m:t>:</m:t>
                      </m:r>
                      <m:r>
                        <a:rPr lang="en-US" b="0" i="1" smtClean="0">
                          <a:latin typeface="Cambria Math"/>
                        </a:rPr>
                        <m:t>𝜇</m:t>
                      </m:r>
                      <m:r>
                        <a:rPr lang="en-US" b="0" i="1" smtClean="0">
                          <a:latin typeface="Cambria Math"/>
                        </a:rPr>
                        <m:t>&lt;46</m:t>
                      </m:r>
                    </m:oMath>
                  </m:oMathPara>
                </a14:m>
                <a:endParaRPr lang="en-US" dirty="0"/>
              </a:p>
              <a:p>
                <a:r>
                  <a:rPr lang="en-US" dirty="0"/>
                  <a:t>We have </a:t>
                </a:r>
                <a14:m>
                  <m:oMath xmlns:m="http://schemas.openxmlformats.org/officeDocument/2006/math">
                    <m:r>
                      <a:rPr lang="en-US" b="0" i="1" smtClean="0">
                        <a:latin typeface="Cambria Math"/>
                      </a:rPr>
                      <m:t>𝛼</m:t>
                    </m:r>
                    <m:r>
                      <a:rPr lang="en-US" b="0" i="1" smtClean="0">
                        <a:latin typeface="Cambria Math"/>
                      </a:rPr>
                      <m:t>=0.05</m:t>
                    </m:r>
                  </m:oMath>
                </a14:m>
                <a:r>
                  <a:rPr lang="en-US" dirty="0"/>
                  <a:t>. Then the critical value is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a:rPr>
                          <m:t>t</m:t>
                        </m:r>
                      </m:e>
                      <m:sub>
                        <m:r>
                          <a:rPr lang="en-US" b="0" i="1" smtClean="0">
                            <a:latin typeface="Cambria Math"/>
                          </a:rPr>
                          <m:t>1−</m:t>
                        </m:r>
                        <m:r>
                          <a:rPr lang="en-US" b="0" i="1" smtClean="0">
                            <a:latin typeface="Cambria Math"/>
                          </a:rPr>
                          <m:t>𝛼</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0.95</m:t>
                        </m:r>
                      </m:sub>
                    </m:sSub>
                    <m:r>
                      <a:rPr lang="en-US" b="0" i="1" smtClean="0">
                        <a:latin typeface="Cambria Math"/>
                      </a:rPr>
                      <m:t>=−1.7956</m:t>
                    </m:r>
                  </m:oMath>
                </a14:m>
                <a:r>
                  <a:rPr lang="en-US" dirty="0"/>
                  <a:t> (using t-distribution with 11 degrees of freedom)</a:t>
                </a:r>
              </a:p>
              <a:p>
                <a:r>
                  <a:rPr lang="en-US" dirty="0"/>
                  <a:t>The test statistic is </a:t>
                </a:r>
                <a14:m>
                  <m:oMath xmlns:m="http://schemas.openxmlformats.org/officeDocument/2006/math">
                    <m:r>
                      <a:rPr lang="en-US" b="0" i="1" smtClean="0">
                        <a:latin typeface="Cambria Math"/>
                      </a:rPr>
                      <m:t>𝑡</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42−46</m:t>
                        </m:r>
                      </m:num>
                      <m:den>
                        <m:r>
                          <a:rPr lang="en-US" b="0" i="1" smtClean="0">
                            <a:latin typeface="Cambria Math"/>
                          </a:rPr>
                          <m:t>11.9/</m:t>
                        </m:r>
                        <m:rad>
                          <m:radPr>
                            <m:degHide m:val="on"/>
                            <m:ctrlPr>
                              <a:rPr lang="en-US" b="0" i="1" smtClean="0">
                                <a:latin typeface="Cambria Math" panose="02040503050406030204" pitchFamily="18" charset="0"/>
                              </a:rPr>
                            </m:ctrlPr>
                          </m:radPr>
                          <m:deg/>
                          <m:e>
                            <m:r>
                              <a:rPr lang="en-US" b="0" i="1" smtClean="0">
                                <a:latin typeface="Cambria Math"/>
                              </a:rPr>
                              <m:t>12</m:t>
                            </m:r>
                          </m:e>
                        </m:rad>
                      </m:den>
                    </m:f>
                    <m:r>
                      <a:rPr lang="en-US" b="0" i="1" smtClean="0">
                        <a:latin typeface="Cambria Math"/>
                      </a:rPr>
                      <m:t>=−1.1644</m:t>
                    </m:r>
                  </m:oMath>
                </a14:m>
                <a:r>
                  <a:rPr lang="en-US" dirty="0"/>
                  <a:t>.</a:t>
                </a:r>
              </a:p>
              <a:p>
                <a:r>
                  <a:rPr lang="en-US" dirty="0"/>
                  <a:t>Since </a:t>
                </a:r>
                <a14:m>
                  <m:oMath xmlns:m="http://schemas.openxmlformats.org/officeDocument/2006/math">
                    <m:r>
                      <a:rPr lang="en-US" b="0" i="0" smtClean="0">
                        <a:latin typeface="Cambria Math"/>
                      </a:rPr>
                      <m:t>−1.1644</m:t>
                    </m:r>
                    <m:r>
                      <a:rPr lang="en-US" b="0" i="1" smtClean="0">
                        <a:latin typeface="Cambria Math"/>
                      </a:rPr>
                      <m:t>&gt;−1.7956</m:t>
                    </m:r>
                  </m:oMath>
                </a14:m>
                <a:r>
                  <a:rPr lang="en-US" dirty="0"/>
                  <a:t>, we do not reject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a:t>
                </a:r>
              </a:p>
              <a:p>
                <a:r>
                  <a:rPr lang="en-US" dirty="0"/>
                  <a:t>There is not enough evidence to claim that the average yearly kilowatt hours used by vacuum cleaners is less than 46.</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r="-2222" b="-1111"/>
                </a:stretch>
              </a:blipFill>
            </p:spPr>
            <p:txBody>
              <a:bodyPr/>
              <a:lstStyle/>
              <a:p>
                <a:r>
                  <a:rPr lang="en-US">
                    <a:noFill/>
                  </a:rPr>
                  <a:t> </a:t>
                </a:r>
              </a:p>
            </p:txBody>
          </p:sp>
        </mc:Fallback>
      </mc:AlternateContent>
    </p:spTree>
    <p:extLst>
      <p:ext uri="{BB962C8B-B14F-4D97-AF65-F5344CB8AC3E}">
        <p14:creationId xmlns:p14="http://schemas.microsoft.com/office/powerpoint/2010/main" val="4181944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10.4 – Tests for a Single Mean</a:t>
            </a:r>
          </a:p>
        </p:txBody>
      </p:sp>
      <p:sp>
        <p:nvSpPr>
          <p:cNvPr id="3" name="Content Placeholder 2"/>
          <p:cNvSpPr>
            <a:spLocks noGrp="1"/>
          </p:cNvSpPr>
          <p:nvPr>
            <p:ph idx="1"/>
          </p:nvPr>
        </p:nvSpPr>
        <p:spPr/>
        <p:txBody>
          <a:bodyPr>
            <a:normAutofit/>
          </a:bodyPr>
          <a:lstStyle/>
          <a:p>
            <a:r>
              <a:rPr lang="en-US" dirty="0"/>
              <a:t>What kind of error could we have made in the previous example?</a:t>
            </a:r>
          </a:p>
          <a:p>
            <a:endParaRPr lang="en-US" dirty="0"/>
          </a:p>
          <a:p>
            <a:r>
              <a:rPr lang="en-US" dirty="0"/>
              <a:t>Explain that error in the context of the problem.</a:t>
            </a:r>
          </a:p>
        </p:txBody>
      </p:sp>
    </p:spTree>
    <p:extLst>
      <p:ext uri="{BB962C8B-B14F-4D97-AF65-F5344CB8AC3E}">
        <p14:creationId xmlns:p14="http://schemas.microsoft.com/office/powerpoint/2010/main" val="3991590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10.4 – Tests for a Single Mean</a:t>
            </a:r>
          </a:p>
        </p:txBody>
      </p:sp>
      <p:sp>
        <p:nvSpPr>
          <p:cNvPr id="3" name="Content Placeholder 2"/>
          <p:cNvSpPr>
            <a:spLocks noGrp="1"/>
          </p:cNvSpPr>
          <p:nvPr>
            <p:ph idx="1"/>
          </p:nvPr>
        </p:nvSpPr>
        <p:spPr/>
        <p:txBody>
          <a:bodyPr>
            <a:normAutofit/>
          </a:bodyPr>
          <a:lstStyle/>
          <a:p>
            <a:r>
              <a:rPr lang="en-US" dirty="0"/>
              <a:t>Since we failed to reject the null hypothesis, we could have made a type II error.</a:t>
            </a:r>
          </a:p>
          <a:p>
            <a:endParaRPr lang="en-US" dirty="0"/>
          </a:p>
          <a:p>
            <a:r>
              <a:rPr lang="en-US" dirty="0"/>
              <a:t>This would mean that we failed to conclude that the average number of kilowatt hours used by vacuum cleaners in a year is less than 46 when it actually is.</a:t>
            </a:r>
          </a:p>
        </p:txBody>
      </p:sp>
    </p:spTree>
    <p:extLst>
      <p:ext uri="{BB962C8B-B14F-4D97-AF65-F5344CB8AC3E}">
        <p14:creationId xmlns:p14="http://schemas.microsoft.com/office/powerpoint/2010/main" val="462618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10.5 – Test for Two Means</a:t>
            </a:r>
          </a:p>
        </p:txBody>
      </p:sp>
      <p:sp>
        <p:nvSpPr>
          <p:cNvPr id="3" name="Content Placeholder 2"/>
          <p:cNvSpPr>
            <a:spLocks noGrp="1"/>
          </p:cNvSpPr>
          <p:nvPr>
            <p:ph idx="1"/>
          </p:nvPr>
        </p:nvSpPr>
        <p:spPr/>
        <p:txBody>
          <a:bodyPr/>
          <a:lstStyle/>
          <a:p>
            <a:r>
              <a:rPr lang="en-US" dirty="0"/>
              <a:t>In this section, we consider hypothesis tests for the difference of two means. Recall that we gave the distribution for the difference of two means (when the population variances are known) in section 8.4. We will use this distribution as well as two others to conduct hypothesis tests that will allow us to compare two means.</a:t>
            </a:r>
          </a:p>
          <a:p>
            <a:pPr marL="0" indent="0">
              <a:buNone/>
            </a:pPr>
            <a:endParaRPr lang="en-US" dirty="0"/>
          </a:p>
        </p:txBody>
      </p:sp>
    </p:spTree>
    <p:extLst>
      <p:ext uri="{BB962C8B-B14F-4D97-AF65-F5344CB8AC3E}">
        <p14:creationId xmlns:p14="http://schemas.microsoft.com/office/powerpoint/2010/main" val="3098244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10.5 – Test for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As we did in 10.4, we consider two cases: where the population variances,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2</m:t>
                        </m:r>
                      </m:sub>
                    </m:sSub>
                  </m:oMath>
                </a14:m>
                <a:r>
                  <a:rPr lang="en-US" dirty="0"/>
                  <a:t>, are known and where they are unknown. This second case however, is broken into two subcases.</a:t>
                </a:r>
              </a:p>
              <a:p>
                <a:endParaRPr lang="en-US" dirty="0"/>
              </a:p>
              <a:p>
                <a:r>
                  <a:rPr lang="en-US" dirty="0"/>
                  <a:t>So we will look at these three cases:</a:t>
                </a:r>
              </a:p>
              <a:p>
                <a:pPr lvl="1"/>
                <a:r>
                  <a:rPr lang="en-US" dirty="0"/>
                  <a:t>Population variances are known – will use the standard normal distribution.</a:t>
                </a:r>
              </a:p>
              <a:p>
                <a:pPr lvl="1"/>
                <a:r>
                  <a:rPr lang="en-US" dirty="0"/>
                  <a:t>Population variances are unknown but are assumed to be equal – will use the t-distribution.</a:t>
                </a:r>
              </a:p>
              <a:p>
                <a:pPr lvl="1"/>
                <a:r>
                  <a:rPr lang="en-US" dirty="0"/>
                  <a:t>Population variances are unknown and we do not assume them to be equal – will use the t-distribution.</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1944" r="-1259"/>
                </a:stretch>
              </a:blipFill>
            </p:spPr>
            <p:txBody>
              <a:bodyPr/>
              <a:lstStyle/>
              <a:p>
                <a:r>
                  <a:rPr lang="en-US">
                    <a:noFill/>
                  </a:rPr>
                  <a:t> </a:t>
                </a:r>
              </a:p>
            </p:txBody>
          </p:sp>
        </mc:Fallback>
      </mc:AlternateContent>
    </p:spTree>
    <p:extLst>
      <p:ext uri="{BB962C8B-B14F-4D97-AF65-F5344CB8AC3E}">
        <p14:creationId xmlns:p14="http://schemas.microsoft.com/office/powerpoint/2010/main" val="1526523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10.5 – Test for Two Means</a:t>
            </a:r>
          </a:p>
        </p:txBody>
      </p:sp>
      <p:sp>
        <p:nvSpPr>
          <p:cNvPr id="3" name="Content Placeholder 2"/>
          <p:cNvSpPr>
            <a:spLocks noGrp="1"/>
          </p:cNvSpPr>
          <p:nvPr>
            <p:ph idx="1"/>
          </p:nvPr>
        </p:nvSpPr>
        <p:spPr/>
        <p:txBody>
          <a:bodyPr>
            <a:normAutofit/>
          </a:bodyPr>
          <a:lstStyle/>
          <a:p>
            <a:r>
              <a:rPr lang="en-US" dirty="0"/>
              <a:t>The reason we have to break up the unknown variance case into two subcases is that the t-distribution we use is different depending on whether or not we assume the variances to be equal (that is, they have different degrees of freedom).</a:t>
            </a:r>
          </a:p>
          <a:p>
            <a:endParaRPr lang="en-US" dirty="0"/>
          </a:p>
          <a:p>
            <a:r>
              <a:rPr lang="en-US" dirty="0"/>
              <a:t>Once we know the distribution we are using, everything else proceeds in exactly the same way as we have seen so far.</a:t>
            </a:r>
          </a:p>
          <a:p>
            <a:pPr marL="0" indent="0">
              <a:buNone/>
            </a:pPr>
            <a:endParaRPr lang="en-US" dirty="0"/>
          </a:p>
        </p:txBody>
      </p:sp>
    </p:spTree>
    <p:extLst>
      <p:ext uri="{BB962C8B-B14F-4D97-AF65-F5344CB8AC3E}">
        <p14:creationId xmlns:p14="http://schemas.microsoft.com/office/powerpoint/2010/main" val="2949204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10.5 – Test for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Case 1: Known population variances. If we know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2</m:t>
                        </m:r>
                      </m:sub>
                    </m:sSub>
                  </m:oMath>
                </a14:m>
                <a:r>
                  <a:rPr lang="en-US" dirty="0"/>
                  <a:t>, then our test statistic follows the standard normal distribution. That is, we can use </a:t>
                </a:r>
                <a14:m>
                  <m:oMath xmlns:m="http://schemas.openxmlformats.org/officeDocument/2006/math">
                    <m:r>
                      <a:rPr lang="en-US" b="0" i="1" smtClean="0">
                        <a:latin typeface="Cambria Math"/>
                      </a:rPr>
                      <m:t>𝑍</m:t>
                    </m:r>
                    <m:r>
                      <a:rPr lang="en-US" b="0" i="1" smtClean="0">
                        <a:latin typeface="Cambria Math"/>
                      </a:rPr>
                      <m:t>=</m:t>
                    </m:r>
                    <m:f>
                      <m:fPr>
                        <m:ctrlPr>
                          <a:rPr lang="en-US" b="0" i="1" smtClean="0">
                            <a:latin typeface="Cambria Math" panose="02040503050406030204" pitchFamily="18" charset="0"/>
                          </a:rPr>
                        </m:ctrlPr>
                      </m:fPr>
                      <m:num>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𝑋</m:t>
                                </m:r>
                              </m:e>
                            </m:acc>
                          </m:e>
                          <m:sub>
                            <m:r>
                              <a:rPr lang="en-US" b="0" i="1" dirty="0" smtClean="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a:rPr>
                                  <m:t>𝑋</m:t>
                                </m:r>
                              </m:e>
                            </m:acc>
                          </m:e>
                          <m:sub>
                            <m:r>
                              <a:rPr lang="en-US" b="0" i="1" dirty="0" smtClean="0">
                                <a:latin typeface="Cambria Math"/>
                              </a:rPr>
                              <m:t>2</m:t>
                            </m:r>
                          </m:sub>
                        </m:sSub>
                        <m:r>
                          <a:rPr lang="en-US" b="0" i="1" dirty="0" smtClean="0">
                            <a:latin typeface="Cambria Math"/>
                          </a:rPr>
                          <m:t>−</m:t>
                        </m:r>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a:rPr>
                                  <m:t>𝜇</m:t>
                                </m:r>
                              </m:e>
                              <m:sub>
                                <m:r>
                                  <a:rPr lang="en-US" b="0" i="1" dirty="0" smtClean="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𝜇</m:t>
                                </m:r>
                              </m:e>
                              <m:sub>
                                <m:r>
                                  <a:rPr lang="en-US" b="0" i="1" dirty="0" smtClean="0">
                                    <a:latin typeface="Cambria Math"/>
                                  </a:rPr>
                                  <m:t>2</m:t>
                                </m:r>
                              </m:sub>
                            </m:sSub>
                          </m:e>
                        </m:d>
                      </m:num>
                      <m:den>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a:rPr>
                                      <m:t>𝜎</m:t>
                                    </m:r>
                                  </m:e>
                                  <m:sub>
                                    <m:r>
                                      <a:rPr lang="en-US" b="0" i="1" smtClean="0">
                                        <a:latin typeface="Cambria Math"/>
                                      </a:rPr>
                                      <m:t>1</m:t>
                                    </m:r>
                                  </m:sub>
                                  <m:sup>
                                    <m:r>
                                      <a:rPr lang="en-US" b="0" i="1" smtClean="0">
                                        <a:latin typeface="Cambria Math"/>
                                      </a:rPr>
                                      <m:t>2</m:t>
                                    </m:r>
                                  </m:sup>
                                </m:sSubSup>
                              </m:num>
                              <m:den>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den>
                            </m:f>
                            <m:r>
                              <a:rPr lang="en-US" b="0" i="1" smtClean="0">
                                <a:latin typeface="Cambria Math"/>
                              </a:rPr>
                              <m:t>+</m:t>
                            </m:r>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a:rPr>
                                      <m:t>𝜎</m:t>
                                    </m:r>
                                  </m:e>
                                  <m:sub>
                                    <m:r>
                                      <a:rPr lang="en-US" b="0" i="1" smtClean="0">
                                        <a:latin typeface="Cambria Math"/>
                                      </a:rPr>
                                      <m:t>2</m:t>
                                    </m:r>
                                  </m:sub>
                                  <m:sup>
                                    <m:r>
                                      <a:rPr lang="en-US" b="0" i="1" smtClean="0">
                                        <a:latin typeface="Cambria Math"/>
                                      </a:rPr>
                                      <m:t>2</m:t>
                                    </m:r>
                                  </m:sup>
                                </m:sSubSup>
                              </m:num>
                              <m:den>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den>
                            </m:f>
                          </m:e>
                        </m:rad>
                      </m:den>
                    </m:f>
                  </m:oMath>
                </a14:m>
                <a:r>
                  <a:rPr lang="en-US" dirty="0"/>
                  <a:t> as the test statistic. Then critical values or p-values can be found using the standard normal distribution.</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2296"/>
                </a:stretch>
              </a:blipFill>
            </p:spPr>
            <p:txBody>
              <a:bodyPr/>
              <a:lstStyle/>
              <a:p>
                <a:r>
                  <a:rPr lang="en-US">
                    <a:noFill/>
                  </a:rPr>
                  <a:t> </a:t>
                </a:r>
              </a:p>
            </p:txBody>
          </p:sp>
        </mc:Fallback>
      </mc:AlternateContent>
    </p:spTree>
    <p:extLst>
      <p:ext uri="{BB962C8B-B14F-4D97-AF65-F5344CB8AC3E}">
        <p14:creationId xmlns:p14="http://schemas.microsoft.com/office/powerpoint/2010/main" val="3314559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10.5 – Test for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US" dirty="0"/>
                  <a:t>Case 2: Unknown but equal population variances. Here we must use the t-distribution. Since we are assuming the variances to be equal, we “pool” the sample variances together in order to estimate what the population variances are. The pooled variance estimate is given by:</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a:rPr>
                            <m:t>𝑠</m:t>
                          </m:r>
                        </m:e>
                        <m:sub>
                          <m:r>
                            <a:rPr lang="en-US" b="0" i="1" smtClean="0">
                              <a:latin typeface="Cambria Math"/>
                            </a:rPr>
                            <m:t>𝑝</m:t>
                          </m:r>
                        </m:sub>
                        <m:sup>
                          <m:r>
                            <a:rPr lang="en-US" b="0" i="1" smtClean="0">
                              <a:latin typeface="Cambria Math"/>
                            </a:rPr>
                            <m:t>2</m:t>
                          </m:r>
                        </m:sup>
                      </m:sSubSup>
                      <m:r>
                        <a:rPr lang="en-US" b="0" i="1" smtClean="0">
                          <a:latin typeface="Cambria Math"/>
                        </a:rPr>
                        <m:t>=</m:t>
                      </m:r>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a:rPr>
                                <m:t>𝑠</m:t>
                              </m:r>
                            </m:e>
                            <m:sub>
                              <m:r>
                                <a:rPr lang="en-US" b="0" i="1" smtClean="0">
                                  <a:latin typeface="Cambria Math"/>
                                </a:rPr>
                                <m:t>1</m:t>
                              </m:r>
                            </m:sub>
                            <m:sup>
                              <m:r>
                                <a:rPr lang="en-US" b="0" i="1" smtClean="0">
                                  <a:latin typeface="Cambria Math"/>
                                </a:rPr>
                                <m:t>2</m:t>
                              </m:r>
                            </m:sup>
                          </m:sSub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r>
                                <a:rPr lang="en-US" b="0" i="1" smtClean="0">
                                  <a:latin typeface="Cambria Math"/>
                                </a:rPr>
                                <m:t>−1</m:t>
                              </m:r>
                            </m:e>
                          </m:d>
                          <m:r>
                            <a:rPr lang="en-US" b="0" i="1" smtClean="0">
                              <a:latin typeface="Cambria Math"/>
                            </a:rPr>
                            <m:t>+</m:t>
                          </m:r>
                          <m:sSubSup>
                            <m:sSubSupPr>
                              <m:ctrlPr>
                                <a:rPr lang="en-US" b="0" i="1" smtClean="0">
                                  <a:latin typeface="Cambria Math" panose="02040503050406030204" pitchFamily="18" charset="0"/>
                                </a:rPr>
                              </m:ctrlPr>
                            </m:sSubSupPr>
                            <m:e>
                              <m:r>
                                <a:rPr lang="en-US" b="0" i="1" smtClean="0">
                                  <a:latin typeface="Cambria Math"/>
                                </a:rPr>
                                <m:t>𝑠</m:t>
                              </m:r>
                            </m:e>
                            <m:sub>
                              <m:r>
                                <a:rPr lang="en-US" b="0" i="1" smtClean="0">
                                  <a:latin typeface="Cambria Math"/>
                                </a:rPr>
                                <m:t>2</m:t>
                              </m:r>
                            </m:sub>
                            <m:sup>
                              <m:r>
                                <a:rPr lang="en-US" b="0" i="1" smtClean="0">
                                  <a:latin typeface="Cambria Math"/>
                                </a:rPr>
                                <m:t>2</m:t>
                              </m:r>
                            </m:sup>
                          </m:sSubSup>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r>
                            <a:rPr lang="en-US" b="0" i="1" smtClean="0">
                              <a:latin typeface="Cambria Math"/>
                            </a:rPr>
                            <m:t>−1)</m:t>
                          </m:r>
                        </m:num>
                        <m:den>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r>
                            <a:rPr lang="en-US" b="0" i="1" smtClean="0">
                              <a:latin typeface="Cambria Math"/>
                            </a:rPr>
                            <m:t>−2</m:t>
                          </m:r>
                        </m:den>
                      </m:f>
                    </m:oMath>
                  </m:oMathPara>
                </a14:m>
                <a:endParaRPr lang="en-US" dirty="0"/>
              </a:p>
              <a:p>
                <a:pPr marL="0" indent="0">
                  <a:buNone/>
                </a:pPr>
                <a:r>
                  <a:rPr lang="en-US" dirty="0"/>
                  <a:t>(Note that this is simply a weighted average of the sample variances where the weights are based on the size of each sample)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111" t="-1111" r="-1481" b="-1667"/>
                </a:stretch>
              </a:blipFill>
            </p:spPr>
            <p:txBody>
              <a:bodyPr/>
              <a:lstStyle/>
              <a:p>
                <a:r>
                  <a:rPr lang="en-US">
                    <a:noFill/>
                  </a:rPr>
                  <a:t> </a:t>
                </a:r>
              </a:p>
            </p:txBody>
          </p:sp>
        </mc:Fallback>
      </mc:AlternateContent>
    </p:spTree>
    <p:extLst>
      <p:ext uri="{BB962C8B-B14F-4D97-AF65-F5344CB8AC3E}">
        <p14:creationId xmlns:p14="http://schemas.microsoft.com/office/powerpoint/2010/main" val="3343462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10.5 – Test for Two Means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dirty="0"/>
                  <a:t>Using this pooled variance estimate, we have the test statistic:</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𝑇</m:t>
                      </m:r>
                      <m:r>
                        <a:rPr lang="en-US" b="0" i="1" smtClean="0">
                          <a:latin typeface="Cambria Math"/>
                        </a:rPr>
                        <m:t>=</m:t>
                      </m:r>
                      <m:f>
                        <m:fPr>
                          <m:ctrlPr>
                            <a:rPr lang="en-US" b="0" i="1" smtClean="0">
                              <a:latin typeface="Cambria Math" panose="02040503050406030204" pitchFamily="18" charset="0"/>
                            </a:rPr>
                          </m:ctrlPr>
                        </m:fPr>
                        <m:num>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𝑋</m:t>
                                  </m:r>
                                </m:e>
                              </m:acc>
                            </m:e>
                            <m:sub>
                              <m:r>
                                <a:rPr lang="en-US" b="0" i="1" dirty="0" smtClean="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a:rPr>
                                    <m:t>𝑋</m:t>
                                  </m:r>
                                </m:e>
                              </m:acc>
                            </m:e>
                            <m:sub>
                              <m:r>
                                <a:rPr lang="en-US" b="0" i="1" dirty="0" smtClean="0">
                                  <a:latin typeface="Cambria Math"/>
                                </a:rPr>
                                <m:t>2</m:t>
                              </m:r>
                            </m:sub>
                          </m:sSub>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𝜇</m:t>
                              </m:r>
                            </m:e>
                            <m:sub>
                              <m:r>
                                <a:rPr lang="en-US" b="0" i="1" dirty="0" smtClean="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𝜇</m:t>
                              </m:r>
                            </m:e>
                            <m:sub>
                              <m:r>
                                <a:rPr lang="en-US" b="0" i="1" dirty="0" smtClean="0">
                                  <a:latin typeface="Cambria Math"/>
                                </a:rPr>
                                <m:t>2</m:t>
                              </m:r>
                            </m:sub>
                          </m:sSub>
                          <m:r>
                            <a:rPr lang="en-US" b="0" i="1" dirty="0" smtClean="0">
                              <a:latin typeface="Cambria Math"/>
                            </a:rPr>
                            <m:t>)</m:t>
                          </m:r>
                        </m:num>
                        <m:den>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a:rPr>
                                        <m:t>𝑠</m:t>
                                      </m:r>
                                    </m:e>
                                    <m:sub>
                                      <m:r>
                                        <a:rPr lang="en-US" b="0" i="1" smtClean="0">
                                          <a:latin typeface="Cambria Math"/>
                                        </a:rPr>
                                        <m:t>𝑝</m:t>
                                      </m:r>
                                    </m:sub>
                                    <m:sup>
                                      <m:r>
                                        <a:rPr lang="en-US" b="0" i="1" smtClean="0">
                                          <a:latin typeface="Cambria Math"/>
                                        </a:rPr>
                                        <m:t>2</m:t>
                                      </m:r>
                                    </m:sup>
                                  </m:sSubSup>
                                </m:num>
                                <m:den>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den>
                              </m:f>
                              <m:r>
                                <a:rPr lang="en-US" b="0" i="1" smtClean="0">
                                  <a:latin typeface="Cambria Math"/>
                                </a:rPr>
                                <m:t>+</m:t>
                              </m:r>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a:rPr>
                                        <m:t>𝑠</m:t>
                                      </m:r>
                                    </m:e>
                                    <m:sub>
                                      <m:r>
                                        <a:rPr lang="en-US" b="0" i="1" smtClean="0">
                                          <a:latin typeface="Cambria Math"/>
                                        </a:rPr>
                                        <m:t>𝑝</m:t>
                                      </m:r>
                                    </m:sub>
                                    <m:sup>
                                      <m:r>
                                        <a:rPr lang="en-US" b="0" i="1" smtClean="0">
                                          <a:latin typeface="Cambria Math"/>
                                        </a:rPr>
                                        <m:t>2</m:t>
                                      </m:r>
                                    </m:sup>
                                  </m:sSubSup>
                                </m:num>
                                <m:den>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den>
                              </m:f>
                            </m:e>
                          </m:rad>
                        </m:den>
                      </m:f>
                      <m:r>
                        <a:rPr lang="en-US" i="1">
                          <a:latin typeface="Cambria Math"/>
                        </a:rPr>
                        <m:t>=</m:t>
                      </m:r>
                      <m:f>
                        <m:fPr>
                          <m:ctrlPr>
                            <a:rPr lang="en-US" i="1">
                              <a:latin typeface="Cambria Math" panose="02040503050406030204" pitchFamily="18" charset="0"/>
                            </a:rPr>
                          </m:ctrlPr>
                        </m:fPr>
                        <m:num>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a:rPr>
                                    <m:t>𝑋</m:t>
                                  </m:r>
                                </m:e>
                              </m:acc>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b="0" i="1" dirty="0" smtClean="0">
                                      <a:latin typeface="Cambria Math"/>
                                    </a:rPr>
                                    <m:t>𝑋</m:t>
                                  </m:r>
                                </m:e>
                              </m:acc>
                            </m:e>
                            <m:sub>
                              <m:r>
                                <a:rPr lang="en-US" i="1" dirty="0">
                                  <a:latin typeface="Cambria Math"/>
                                </a:rPr>
                                <m:t>2</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𝜇</m:t>
                              </m:r>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𝜇</m:t>
                              </m:r>
                            </m:e>
                            <m:sub>
                              <m:r>
                                <a:rPr lang="en-US" i="1" dirty="0">
                                  <a:latin typeface="Cambria Math"/>
                                </a:rPr>
                                <m:t>2</m:t>
                              </m:r>
                            </m:sub>
                          </m:sSub>
                          <m:r>
                            <a:rPr lang="en-US" i="1" dirty="0">
                              <a:latin typeface="Cambria Math"/>
                            </a:rPr>
                            <m:t>)</m:t>
                          </m:r>
                        </m:num>
                        <m:den>
                          <m:sSubSup>
                            <m:sSubSupPr>
                              <m:ctrlPr>
                                <a:rPr lang="en-US" b="0" i="1" dirty="0" smtClean="0">
                                  <a:latin typeface="Cambria Math" panose="02040503050406030204" pitchFamily="18" charset="0"/>
                                </a:rPr>
                              </m:ctrlPr>
                            </m:sSubSupPr>
                            <m:e>
                              <m:r>
                                <a:rPr lang="en-US" b="0" i="1" dirty="0" smtClean="0">
                                  <a:latin typeface="Cambria Math"/>
                                </a:rPr>
                                <m:t>𝑠</m:t>
                              </m:r>
                            </m:e>
                            <m:sub>
                              <m:r>
                                <a:rPr lang="en-US" b="0" i="1" dirty="0" smtClean="0">
                                  <a:latin typeface="Cambria Math"/>
                                </a:rPr>
                                <m:t>𝑝</m:t>
                              </m:r>
                            </m:sub>
                            <m:sup/>
                          </m:sSubSup>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b="0" i="1" smtClean="0">
                                      <a:latin typeface="Cambria Math"/>
                                    </a:rPr>
                                    <m:t>1</m:t>
                                  </m:r>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den>
                              </m:f>
                              <m:r>
                                <a:rPr lang="en-US" i="1">
                                  <a:latin typeface="Cambria Math"/>
                                </a:rPr>
                                <m:t>+</m:t>
                              </m:r>
                              <m:f>
                                <m:fPr>
                                  <m:ctrlPr>
                                    <a:rPr lang="en-US" i="1">
                                      <a:latin typeface="Cambria Math" panose="02040503050406030204" pitchFamily="18" charset="0"/>
                                    </a:rPr>
                                  </m:ctrlPr>
                                </m:fPr>
                                <m:num>
                                  <m:r>
                                    <a:rPr lang="en-US" b="0" i="1" smtClean="0">
                                      <a:latin typeface="Cambria Math"/>
                                    </a:rPr>
                                    <m:t>1</m:t>
                                  </m:r>
                                </m:num>
                                <m:den>
                                  <m:sSub>
                                    <m:sSubPr>
                                      <m:ctrlPr>
                                        <a:rPr lang="en-US" i="1">
                                          <a:latin typeface="Cambria Math" panose="02040503050406030204" pitchFamily="18" charset="0"/>
                                        </a:rPr>
                                      </m:ctrlPr>
                                    </m:sSubPr>
                                    <m:e>
                                      <m:r>
                                        <a:rPr lang="en-US" i="1">
                                          <a:latin typeface="Cambria Math"/>
                                        </a:rPr>
                                        <m:t>𝑛</m:t>
                                      </m:r>
                                    </m:e>
                                    <m:sub>
                                      <m:r>
                                        <a:rPr lang="en-US" b="0" i="1" smtClean="0">
                                          <a:latin typeface="Cambria Math"/>
                                        </a:rPr>
                                        <m:t>2</m:t>
                                      </m:r>
                                    </m:sub>
                                  </m:sSub>
                                </m:den>
                              </m:f>
                            </m:e>
                          </m:rad>
                        </m:den>
                      </m:f>
                    </m:oMath>
                  </m:oMathPara>
                </a14:m>
                <a:endParaRPr lang="en-US" dirty="0"/>
              </a:p>
              <a:p>
                <a:endParaRPr lang="en-US" dirty="0"/>
              </a:p>
              <a:p>
                <a:r>
                  <a:rPr lang="en-US" dirty="0"/>
                  <a:t>This test statistic follows a t-distribution with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r>
                      <a:rPr lang="en-US" b="0" i="1" smtClean="0">
                        <a:latin typeface="Cambria Math"/>
                      </a:rPr>
                      <m:t>−2</m:t>
                    </m:r>
                  </m:oMath>
                </a14:m>
                <a:r>
                  <a:rPr lang="en-US" dirty="0"/>
                  <a:t> degrees of freedom.</a:t>
                </a:r>
              </a:p>
              <a:p>
                <a:pPr marL="0"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t="-1250" b="-2917"/>
                </a:stretch>
              </a:blipFill>
            </p:spPr>
            <p:txBody>
              <a:bodyPr/>
              <a:lstStyle/>
              <a:p>
                <a:r>
                  <a:rPr lang="en-US">
                    <a:noFill/>
                  </a:rPr>
                  <a:t> </a:t>
                </a:r>
              </a:p>
            </p:txBody>
          </p:sp>
        </mc:Fallback>
      </mc:AlternateContent>
    </p:spTree>
    <p:extLst>
      <p:ext uri="{BB962C8B-B14F-4D97-AF65-F5344CB8AC3E}">
        <p14:creationId xmlns:p14="http://schemas.microsoft.com/office/powerpoint/2010/main" val="405928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10.5 – Test for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So while the computation is a little more involved, the process is exactly the same. We can get critical values and p-values from the t-distribution with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r>
                      <a:rPr lang="en-US" b="0" i="1" smtClean="0">
                        <a:latin typeface="Cambria Math"/>
                      </a:rPr>
                      <m:t>−2</m:t>
                    </m:r>
                  </m:oMath>
                </a14:m>
                <a:r>
                  <a:rPr lang="en-US" dirty="0"/>
                  <a:t> degrees of freedom to make decisions about the hypotheses.</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222"/>
                </a:stretch>
              </a:blipFill>
            </p:spPr>
            <p:txBody>
              <a:bodyPr/>
              <a:lstStyle/>
              <a:p>
                <a:r>
                  <a:rPr lang="en-US">
                    <a:noFill/>
                  </a:rPr>
                  <a:t> </a:t>
                </a:r>
              </a:p>
            </p:txBody>
          </p:sp>
        </mc:Fallback>
      </mc:AlternateContent>
    </p:spTree>
    <p:extLst>
      <p:ext uri="{BB962C8B-B14F-4D97-AF65-F5344CB8AC3E}">
        <p14:creationId xmlns:p14="http://schemas.microsoft.com/office/powerpoint/2010/main" val="1041554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10.5 – Test for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Case 3: Unknown and unequal variances. If we can’t assume that the population variances are equal, then we don’t want to pool the variance. The test statistic we use in this case is given by:</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𝑇</m:t>
                      </m:r>
                      <m:r>
                        <a:rPr lang="en-US" i="1">
                          <a:latin typeface="Cambria Math"/>
                        </a:rPr>
                        <m:t>=</m:t>
                      </m:r>
                      <m:f>
                        <m:fPr>
                          <m:ctrlPr>
                            <a:rPr lang="en-US" i="1">
                              <a:latin typeface="Cambria Math" panose="02040503050406030204" pitchFamily="18" charset="0"/>
                            </a:rPr>
                          </m:ctrlPr>
                        </m:fPr>
                        <m:num>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a:rPr>
                                    <m:t>𝑋</m:t>
                                  </m:r>
                                </m:e>
                              </m:acc>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b="0" i="1" dirty="0" smtClean="0">
                                      <a:latin typeface="Cambria Math"/>
                                    </a:rPr>
                                    <m:t>𝑋</m:t>
                                  </m:r>
                                </m:e>
                              </m:acc>
                            </m:e>
                            <m:sub>
                              <m:r>
                                <a:rPr lang="en-US" i="1" dirty="0">
                                  <a:latin typeface="Cambria Math"/>
                                </a:rPr>
                                <m:t>2</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𝜇</m:t>
                              </m:r>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𝜇</m:t>
                              </m:r>
                            </m:e>
                            <m:sub>
                              <m:r>
                                <a:rPr lang="en-US" i="1" dirty="0">
                                  <a:latin typeface="Cambria Math"/>
                                </a:rPr>
                                <m:t>2</m:t>
                              </m:r>
                            </m:sub>
                          </m:sSub>
                          <m:r>
                            <a:rPr lang="en-US" i="1" dirty="0">
                              <a:latin typeface="Cambria Math"/>
                            </a:rPr>
                            <m:t>)</m:t>
                          </m:r>
                        </m:num>
                        <m:den>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a:rPr>
                                        <m:t>𝑠</m:t>
                                      </m:r>
                                    </m:e>
                                    <m:sub>
                                      <m:r>
                                        <a:rPr lang="en-US" b="0" i="1" smtClean="0">
                                          <a:latin typeface="Cambria Math"/>
                                        </a:rPr>
                                        <m:t>1</m:t>
                                      </m:r>
                                    </m:sub>
                                    <m:sup>
                                      <m:r>
                                        <a:rPr lang="en-US" b="0" i="1" smtClean="0">
                                          <a:latin typeface="Cambria Math"/>
                                        </a:rPr>
                                        <m:t>2</m:t>
                                      </m:r>
                                    </m:sup>
                                  </m:sSubSup>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den>
                              </m:f>
                              <m:r>
                                <a:rPr lang="en-US" i="1">
                                  <a:latin typeface="Cambria Math"/>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a:rPr>
                                        <m:t>𝑠</m:t>
                                      </m:r>
                                    </m:e>
                                    <m:sub>
                                      <m:r>
                                        <a:rPr lang="en-US" b="0" i="1" smtClean="0">
                                          <a:latin typeface="Cambria Math"/>
                                        </a:rPr>
                                        <m:t>2</m:t>
                                      </m:r>
                                    </m:sub>
                                    <m:sup>
                                      <m:r>
                                        <a:rPr lang="en-US" i="1">
                                          <a:latin typeface="Cambria Math"/>
                                        </a:rPr>
                                        <m:t>2</m:t>
                                      </m:r>
                                    </m:sup>
                                  </m:sSubSup>
                                </m:num>
                                <m:den>
                                  <m:sSub>
                                    <m:sSubPr>
                                      <m:ctrlPr>
                                        <a:rPr lang="en-US" i="1">
                                          <a:latin typeface="Cambria Math" panose="02040503050406030204" pitchFamily="18" charset="0"/>
                                        </a:rPr>
                                      </m:ctrlPr>
                                    </m:sSubPr>
                                    <m:e>
                                      <m:r>
                                        <a:rPr lang="en-US" i="1">
                                          <a:latin typeface="Cambria Math"/>
                                        </a:rPr>
                                        <m:t>𝑛</m:t>
                                      </m:r>
                                    </m:e>
                                    <m:sub>
                                      <m:r>
                                        <a:rPr lang="en-US" b="0" i="1" smtClean="0">
                                          <a:latin typeface="Cambria Math"/>
                                        </a:rPr>
                                        <m:t>2</m:t>
                                      </m:r>
                                    </m:sub>
                                  </m:sSub>
                                </m:den>
                              </m:f>
                            </m:e>
                          </m:rad>
                        </m:den>
                      </m:f>
                    </m:oMath>
                  </m:oMathPara>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2000"/>
                </a:stretch>
              </a:blipFill>
            </p:spPr>
            <p:txBody>
              <a:bodyPr/>
              <a:lstStyle/>
              <a:p>
                <a:r>
                  <a:rPr lang="en-US">
                    <a:noFill/>
                  </a:rPr>
                  <a:t> </a:t>
                </a:r>
              </a:p>
            </p:txBody>
          </p:sp>
        </mc:Fallback>
      </mc:AlternateContent>
    </p:spTree>
    <p:extLst>
      <p:ext uri="{BB962C8B-B14F-4D97-AF65-F5344CB8AC3E}">
        <p14:creationId xmlns:p14="http://schemas.microsoft.com/office/powerpoint/2010/main" val="1809070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10.5 – Test for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In all three cases, the test statistic is essentially the same. The difference in this case is that the degrees of freedom are not as fun to find. If the underlying population is normal, then the t-statistic from the previous slide has an approximate t-distribution with approximately </a:t>
                </a:r>
                <a14:m>
                  <m:oMath xmlns:m="http://schemas.openxmlformats.org/officeDocument/2006/math">
                    <m:r>
                      <a:rPr lang="en-US" b="0" i="1" smtClean="0">
                        <a:latin typeface="Cambria Math"/>
                      </a:rPr>
                      <m:t>𝑣</m:t>
                    </m:r>
                  </m:oMath>
                </a14:m>
                <a:r>
                  <a:rPr lang="en-US" dirty="0"/>
                  <a:t> degrees of freedom where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𝑣</m:t>
                      </m:r>
                      <m:r>
                        <a:rPr lang="en-US" b="0" i="1" smtClean="0">
                          <a:latin typeface="Cambria Math"/>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a:rPr>
                                            <m:t>𝑠</m:t>
                                          </m:r>
                                        </m:e>
                                        <m:sub>
                                          <m:r>
                                            <a:rPr lang="en-US" b="0" i="1" smtClean="0">
                                              <a:latin typeface="Cambria Math"/>
                                            </a:rPr>
                                            <m:t>1</m:t>
                                          </m:r>
                                        </m:sub>
                                        <m:sup>
                                          <m:r>
                                            <a:rPr lang="en-US" b="0" i="1" smtClean="0">
                                              <a:latin typeface="Cambria Math"/>
                                            </a:rPr>
                                            <m:t>2</m:t>
                                          </m:r>
                                        </m:sup>
                                      </m:sSubSup>
                                    </m:num>
                                    <m:den>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den>
                                  </m:f>
                                  <m:r>
                                    <a:rPr lang="en-US" b="0" i="1" smtClean="0">
                                      <a:latin typeface="Cambria Math"/>
                                    </a:rPr>
                                    <m:t>+</m:t>
                                  </m:r>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a:rPr>
                                            <m:t>𝑠</m:t>
                                          </m:r>
                                        </m:e>
                                        <m:sub>
                                          <m:r>
                                            <a:rPr lang="en-US" b="0" i="1" smtClean="0">
                                              <a:latin typeface="Cambria Math"/>
                                            </a:rPr>
                                            <m:t>2</m:t>
                                          </m:r>
                                        </m:sub>
                                        <m:sup>
                                          <m:r>
                                            <a:rPr lang="en-US" b="0" i="1" smtClean="0">
                                              <a:latin typeface="Cambria Math"/>
                                            </a:rPr>
                                            <m:t>2</m:t>
                                          </m:r>
                                        </m:sup>
                                      </m:sSubSup>
                                    </m:num>
                                    <m:den>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den>
                                  </m:f>
                                </m:e>
                              </m:d>
                            </m:e>
                            <m:sup>
                              <m:r>
                                <a:rPr lang="en-US" b="0" i="1" smtClean="0">
                                  <a:latin typeface="Cambria Math"/>
                                </a:rPr>
                                <m:t>2</m:t>
                              </m:r>
                            </m:sup>
                          </m:sSup>
                        </m:num>
                        <m:den>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a:rPr>
                                                <m:t>𝑠</m:t>
                                              </m:r>
                                            </m:e>
                                            <m:sub>
                                              <m:r>
                                                <a:rPr lang="en-US" b="0" i="1" smtClean="0">
                                                  <a:latin typeface="Cambria Math"/>
                                                </a:rPr>
                                                <m:t>1</m:t>
                                              </m:r>
                                            </m:sub>
                                            <m:sup>
                                              <m:r>
                                                <a:rPr lang="en-US" b="0" i="1" smtClean="0">
                                                  <a:latin typeface="Cambria Math"/>
                                                </a:rPr>
                                                <m:t>2</m:t>
                                              </m:r>
                                            </m:sup>
                                          </m:sSubSup>
                                        </m:num>
                                        <m:den>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den>
                                      </m:f>
                                    </m:e>
                                  </m:d>
                                </m:e>
                                <m:sup>
                                  <m:r>
                                    <a:rPr lang="en-US" b="0" i="1" smtClean="0">
                                      <a:latin typeface="Cambria Math"/>
                                    </a:rPr>
                                    <m:t>2</m:t>
                                  </m:r>
                                </m:sup>
                              </m:sSup>
                            </m:num>
                            <m:den>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r>
                                <a:rPr lang="en-US" b="0" i="1" smtClean="0">
                                  <a:latin typeface="Cambria Math"/>
                                </a:rPr>
                                <m:t>−1</m:t>
                              </m:r>
                            </m:den>
                          </m:f>
                          <m:r>
                            <a:rPr lang="en-US" b="0" i="1" smtClean="0">
                              <a:latin typeface="Cambria Math"/>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a:rPr>
                                                <m:t>𝑠</m:t>
                                              </m:r>
                                            </m:e>
                                            <m:sub>
                                              <m:r>
                                                <a:rPr lang="en-US" b="0" i="1" smtClean="0">
                                                  <a:latin typeface="Cambria Math"/>
                                                </a:rPr>
                                                <m:t>2</m:t>
                                              </m:r>
                                            </m:sub>
                                            <m:sup>
                                              <m:r>
                                                <a:rPr lang="en-US" i="1">
                                                  <a:latin typeface="Cambria Math"/>
                                                </a:rPr>
                                                <m:t>2</m:t>
                                              </m:r>
                                            </m:sup>
                                          </m:sSubSup>
                                        </m:num>
                                        <m:den>
                                          <m:sSub>
                                            <m:sSubPr>
                                              <m:ctrlPr>
                                                <a:rPr lang="en-US" i="1">
                                                  <a:latin typeface="Cambria Math" panose="02040503050406030204" pitchFamily="18" charset="0"/>
                                                </a:rPr>
                                              </m:ctrlPr>
                                            </m:sSubPr>
                                            <m:e>
                                              <m:r>
                                                <a:rPr lang="en-US" i="1">
                                                  <a:latin typeface="Cambria Math"/>
                                                </a:rPr>
                                                <m:t>𝑛</m:t>
                                              </m:r>
                                            </m:e>
                                            <m:sub>
                                              <m:r>
                                                <a:rPr lang="en-US" b="0" i="1" smtClean="0">
                                                  <a:latin typeface="Cambria Math"/>
                                                </a:rPr>
                                                <m:t>2</m:t>
                                              </m:r>
                                            </m:sub>
                                          </m:sSub>
                                        </m:den>
                                      </m:f>
                                    </m:e>
                                  </m:d>
                                </m:e>
                                <m:sup>
                                  <m:r>
                                    <a:rPr lang="en-US" i="1">
                                      <a:latin typeface="Cambria Math"/>
                                    </a:rPr>
                                    <m:t>2</m:t>
                                  </m:r>
                                </m:sup>
                              </m:sSup>
                            </m:num>
                            <m:den>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r>
                                <a:rPr lang="en-US" i="1">
                                  <a:latin typeface="Cambria Math"/>
                                </a:rPr>
                                <m:t>−1</m:t>
                              </m:r>
                            </m:den>
                          </m:f>
                        </m:den>
                      </m:f>
                    </m:oMath>
                  </m:oMathPara>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1944" r="-1704"/>
                </a:stretch>
              </a:blipFill>
            </p:spPr>
            <p:txBody>
              <a:bodyPr/>
              <a:lstStyle/>
              <a:p>
                <a:r>
                  <a:rPr lang="en-US">
                    <a:noFill/>
                  </a:rPr>
                  <a:t> </a:t>
                </a:r>
              </a:p>
            </p:txBody>
          </p:sp>
        </mc:Fallback>
      </mc:AlternateContent>
    </p:spTree>
    <p:extLst>
      <p:ext uri="{BB962C8B-B14F-4D97-AF65-F5344CB8AC3E}">
        <p14:creationId xmlns:p14="http://schemas.microsoft.com/office/powerpoint/2010/main" val="5031468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10.5 – Test for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As </a:t>
                </a:r>
                <a14:m>
                  <m:oMath xmlns:m="http://schemas.openxmlformats.org/officeDocument/2006/math">
                    <m:r>
                      <a:rPr lang="en-US" b="0" i="1" smtClean="0">
                        <a:latin typeface="Cambria Math"/>
                      </a:rPr>
                      <m:t>𝑣</m:t>
                    </m:r>
                  </m:oMath>
                </a14:m>
                <a:r>
                  <a:rPr lang="en-US" dirty="0"/>
                  <a:t> is not likely to be an integer, we typically round down to the nearest integer.</a:t>
                </a:r>
              </a:p>
              <a:p>
                <a:endParaRPr lang="en-US" dirty="0"/>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t="-1250"/>
                </a:stretch>
              </a:blipFill>
            </p:spPr>
            <p:txBody>
              <a:bodyPr/>
              <a:lstStyle/>
              <a:p>
                <a:r>
                  <a:rPr lang="en-US">
                    <a:noFill/>
                  </a:rPr>
                  <a:t> </a:t>
                </a:r>
              </a:p>
            </p:txBody>
          </p:sp>
        </mc:Fallback>
      </mc:AlternateContent>
    </p:spTree>
    <p:extLst>
      <p:ext uri="{BB962C8B-B14F-4D97-AF65-F5344CB8AC3E}">
        <p14:creationId xmlns:p14="http://schemas.microsoft.com/office/powerpoint/2010/main" val="733770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10.5 – Test for Two Means</a:t>
            </a:r>
          </a:p>
        </p:txBody>
      </p:sp>
      <p:sp>
        <p:nvSpPr>
          <p:cNvPr id="3" name="Content Placeholder 2"/>
          <p:cNvSpPr>
            <a:spLocks noGrp="1"/>
          </p:cNvSpPr>
          <p:nvPr>
            <p:ph idx="1"/>
          </p:nvPr>
        </p:nvSpPr>
        <p:spPr/>
        <p:txBody>
          <a:bodyPr>
            <a:normAutofit/>
          </a:bodyPr>
          <a:lstStyle/>
          <a:p>
            <a:r>
              <a:rPr lang="en-US" dirty="0"/>
              <a:t>Example: Given the following information, test the two-sided hypothesis that the two population means are equal at the 0.01 level of significance:</a:t>
            </a:r>
          </a:p>
          <a:p>
            <a:endParaRPr lang="en-US" dirty="0"/>
          </a:p>
          <a:p>
            <a:pPr marL="0" indent="0">
              <a:buNone/>
            </a:pPr>
            <a:endParaRPr lang="en-US" dirty="0"/>
          </a:p>
          <a:p>
            <a:endParaRPr lang="en-US" dirty="0"/>
          </a:p>
          <a:p>
            <a:endParaRPr lang="en-US" dirty="0"/>
          </a:p>
          <a:p>
            <a:pPr marL="0" indent="0">
              <a:buNone/>
            </a:pPr>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865919926"/>
                  </p:ext>
                </p:extLst>
              </p:nvPr>
            </p:nvGraphicFramePr>
            <p:xfrm>
              <a:off x="1447800" y="3886200"/>
              <a:ext cx="6096000" cy="148336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dirty="0"/>
                            <a:t>Population 1</a:t>
                          </a:r>
                        </a:p>
                      </a:txBody>
                      <a:tcPr/>
                    </a:tc>
                    <a:tc>
                      <a:txBody>
                        <a:bodyPr/>
                        <a:lstStyle/>
                        <a:p>
                          <a:pPr algn="ctr"/>
                          <a:r>
                            <a:rPr lang="en-US" dirty="0"/>
                            <a:t>Population 2</a:t>
                          </a:r>
                        </a:p>
                      </a:txBody>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𝑥</m:t>
                                        </m:r>
                                      </m:e>
                                    </m:acc>
                                  </m:e>
                                  <m:sub>
                                    <m:r>
                                      <a:rPr lang="en-US" b="0" i="1" smtClean="0">
                                        <a:latin typeface="Cambria Math"/>
                                      </a:rPr>
                                      <m:t>1</m:t>
                                    </m:r>
                                  </m:sub>
                                </m:sSub>
                                <m:r>
                                  <a:rPr lang="en-US" b="0" i="1" smtClean="0">
                                    <a:latin typeface="Cambria Math"/>
                                  </a:rPr>
                                  <m:t>=81</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𝑥</m:t>
                                        </m:r>
                                      </m:e>
                                    </m:acc>
                                  </m:e>
                                  <m:sub>
                                    <m:r>
                                      <a:rPr lang="en-US" b="0" i="1" smtClean="0">
                                        <a:latin typeface="Cambria Math"/>
                                      </a:rPr>
                                      <m:t>2</m:t>
                                    </m:r>
                                  </m:sub>
                                </m:sSub>
                                <m:r>
                                  <a:rPr lang="en-US" b="0" i="1" smtClean="0">
                                    <a:latin typeface="Cambria Math"/>
                                  </a:rPr>
                                  <m:t>=76</m:t>
                                </m:r>
                              </m:oMath>
                            </m:oMathPara>
                          </a14:m>
                          <a:endParaRPr lang="en-US" dirty="0"/>
                        </a:p>
                      </a:txBody>
                      <a:tcPr/>
                    </a:tc>
                    <a:extLst>
                      <a:ext uri="{0D108BD9-81ED-4DB2-BD59-A6C34878D82A}">
                        <a16:rowId xmlns:a16="http://schemas.microsoft.com/office/drawing/2014/main" val="1000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1</m:t>
                                    </m:r>
                                  </m:sub>
                                </m:sSub>
                                <m:r>
                                  <a:rPr lang="en-US" b="0" i="1" smtClean="0">
                                    <a:latin typeface="Cambria Math"/>
                                  </a:rPr>
                                  <m:t>=5.2</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2</m:t>
                                    </m:r>
                                  </m:sub>
                                </m:sSub>
                                <m:r>
                                  <a:rPr lang="en-US" b="0" i="1" smtClean="0">
                                    <a:latin typeface="Cambria Math"/>
                                  </a:rPr>
                                  <m:t>=3.4</m:t>
                                </m:r>
                              </m:oMath>
                            </m:oMathPara>
                          </a14:m>
                          <a:endParaRPr lang="en-US" dirty="0"/>
                        </a:p>
                      </a:txBody>
                      <a:tcPr/>
                    </a:tc>
                    <a:extLst>
                      <a:ext uri="{0D108BD9-81ED-4DB2-BD59-A6C34878D82A}">
                        <a16:rowId xmlns:a16="http://schemas.microsoft.com/office/drawing/2014/main" val="10002"/>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r>
                                  <a:rPr lang="en-US" b="0" i="1" smtClean="0">
                                    <a:latin typeface="Cambria Math"/>
                                  </a:rPr>
                                  <m:t>=25</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r>
                                  <a:rPr lang="en-US" b="0" i="1" smtClean="0">
                                    <a:latin typeface="Cambria Math"/>
                                  </a:rPr>
                                  <m:t>=36</m:t>
                                </m:r>
                              </m:oMath>
                            </m:oMathPara>
                          </a14:m>
                          <a:endParaRPr lang="en-US" dirty="0"/>
                        </a:p>
                      </a:txBody>
                      <a:tcPr/>
                    </a:tc>
                    <a:extLst>
                      <a:ext uri="{0D108BD9-81ED-4DB2-BD59-A6C34878D82A}">
                        <a16:rowId xmlns:a16="http://schemas.microsoft.com/office/drawing/2014/main" val="10003"/>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865919926"/>
                  </p:ext>
                </p:extLst>
              </p:nvPr>
            </p:nvGraphicFramePr>
            <p:xfrm>
              <a:off x="1447800" y="3886200"/>
              <a:ext cx="6096000" cy="1483360"/>
            </p:xfrm>
            <a:graphic>
              <a:graphicData uri="http://schemas.openxmlformats.org/drawingml/2006/table">
                <a:tbl>
                  <a:tblPr firstRow="1" bandRow="1">
                    <a:tableStyleId>{5C22544A-7EE6-4342-B048-85BDC9FD1C3A}</a:tableStyleId>
                  </a:tblPr>
                  <a:tblGrid>
                    <a:gridCol w="3048000"/>
                    <a:gridCol w="3048000"/>
                  </a:tblGrid>
                  <a:tr h="370840">
                    <a:tc>
                      <a:txBody>
                        <a:bodyPr/>
                        <a:lstStyle/>
                        <a:p>
                          <a:pPr algn="ctr"/>
                          <a:r>
                            <a:rPr lang="en-US" dirty="0" smtClean="0"/>
                            <a:t>Population 1</a:t>
                          </a:r>
                          <a:endParaRPr lang="en-US" dirty="0"/>
                        </a:p>
                      </a:txBody>
                      <a:tcPr/>
                    </a:tc>
                    <a:tc>
                      <a:txBody>
                        <a:bodyPr/>
                        <a:lstStyle/>
                        <a:p>
                          <a:pPr algn="ctr"/>
                          <a:r>
                            <a:rPr lang="en-US" dirty="0" smtClean="0"/>
                            <a:t>Population 2</a:t>
                          </a:r>
                          <a:endParaRPr lang="en-US" dirty="0"/>
                        </a:p>
                      </a:txBody>
                      <a:tcPr/>
                    </a:tc>
                  </a:tr>
                  <a:tr h="370840">
                    <a:tc>
                      <a:txBody>
                        <a:bodyPr/>
                        <a:lstStyle/>
                        <a:p>
                          <a:endParaRPr lang="en-US"/>
                        </a:p>
                      </a:txBody>
                      <a:tcPr>
                        <a:blipFill rotWithShape="1">
                          <a:blip r:embed="rId2"/>
                          <a:stretch>
                            <a:fillRect l="-200" t="-108197" r="-100000" b="-198361"/>
                          </a:stretch>
                        </a:blipFill>
                      </a:tcPr>
                    </a:tc>
                    <a:tc>
                      <a:txBody>
                        <a:bodyPr/>
                        <a:lstStyle/>
                        <a:p>
                          <a:endParaRPr lang="en-US"/>
                        </a:p>
                      </a:txBody>
                      <a:tcPr>
                        <a:blipFill rotWithShape="1">
                          <a:blip r:embed="rId2"/>
                          <a:stretch>
                            <a:fillRect l="-100200" t="-108197" b="-198361"/>
                          </a:stretch>
                        </a:blipFill>
                      </a:tcPr>
                    </a:tc>
                  </a:tr>
                  <a:tr h="370840">
                    <a:tc>
                      <a:txBody>
                        <a:bodyPr/>
                        <a:lstStyle/>
                        <a:p>
                          <a:endParaRPr lang="en-US"/>
                        </a:p>
                      </a:txBody>
                      <a:tcPr>
                        <a:blipFill rotWithShape="1">
                          <a:blip r:embed="rId2"/>
                          <a:stretch>
                            <a:fillRect l="-200" t="-211667" r="-100000" b="-101667"/>
                          </a:stretch>
                        </a:blipFill>
                      </a:tcPr>
                    </a:tc>
                    <a:tc>
                      <a:txBody>
                        <a:bodyPr/>
                        <a:lstStyle/>
                        <a:p>
                          <a:endParaRPr lang="en-US"/>
                        </a:p>
                      </a:txBody>
                      <a:tcPr>
                        <a:blipFill rotWithShape="1">
                          <a:blip r:embed="rId2"/>
                          <a:stretch>
                            <a:fillRect l="-100200" t="-211667" b="-101667"/>
                          </a:stretch>
                        </a:blipFill>
                      </a:tcPr>
                    </a:tc>
                  </a:tr>
                  <a:tr h="370840">
                    <a:tc>
                      <a:txBody>
                        <a:bodyPr/>
                        <a:lstStyle/>
                        <a:p>
                          <a:endParaRPr lang="en-US"/>
                        </a:p>
                      </a:txBody>
                      <a:tcPr>
                        <a:blipFill rotWithShape="1">
                          <a:blip r:embed="rId2"/>
                          <a:stretch>
                            <a:fillRect l="-200" t="-306557" r="-100000"/>
                          </a:stretch>
                        </a:blipFill>
                      </a:tcPr>
                    </a:tc>
                    <a:tc>
                      <a:txBody>
                        <a:bodyPr/>
                        <a:lstStyle/>
                        <a:p>
                          <a:endParaRPr lang="en-US"/>
                        </a:p>
                      </a:txBody>
                      <a:tcPr>
                        <a:blipFill rotWithShape="1">
                          <a:blip r:embed="rId2"/>
                          <a:stretch>
                            <a:fillRect l="-100200" t="-306557"/>
                          </a:stretch>
                        </a:blipFill>
                      </a:tcPr>
                    </a:tc>
                  </a:tr>
                </a:tbl>
              </a:graphicData>
            </a:graphic>
          </p:graphicFrame>
        </mc:Fallback>
      </mc:AlternateContent>
    </p:spTree>
    <p:extLst>
      <p:ext uri="{BB962C8B-B14F-4D97-AF65-F5344CB8AC3E}">
        <p14:creationId xmlns:p14="http://schemas.microsoft.com/office/powerpoint/2010/main" val="1622348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10.5 – Test for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20000"/>
              </a:bodyPr>
              <a:lstStyle/>
              <a:p>
                <a:r>
                  <a:rPr lang="en-US" dirty="0"/>
                  <a:t>Example: Suppose we are interested if incorporating a lab into a physics class helps students do better in the course. 11 students were randomly selected to participate in the course with labs while 17 students were randomly selected to participate in the course without labs. Of the students who had the labs, the average grade was 85 with a sample standard deviation of 4.7. For the other class, the average grade was 79 with a standard deviation of 6.1. Assume the populations are approximately normal and that the variances are equal. Using </a:t>
                </a:r>
                <a14:m>
                  <m:oMath xmlns:m="http://schemas.openxmlformats.org/officeDocument/2006/math">
                    <m:r>
                      <a:rPr lang="en-US" b="0" i="1" smtClean="0">
                        <a:latin typeface="Cambria Math"/>
                      </a:rPr>
                      <m:t>𝛼</m:t>
                    </m:r>
                    <m:r>
                      <a:rPr lang="en-US" b="0" i="1" smtClean="0">
                        <a:latin typeface="Cambria Math"/>
                      </a:rPr>
                      <m:t>=0.05</m:t>
                    </m:r>
                  </m:oMath>
                </a14:m>
                <a:r>
                  <a:rPr lang="en-US" dirty="0"/>
                  <a:t>, do we have evidence that incorporating the lab into the physics course improves the average grade:</a:t>
                </a:r>
              </a:p>
              <a:p>
                <a:pPr lvl="1"/>
                <a:r>
                  <a:rPr lang="en-US" dirty="0"/>
                  <a:t>At all?</a:t>
                </a:r>
              </a:p>
              <a:p>
                <a:pPr lvl="1"/>
                <a:r>
                  <a:rPr lang="en-US" dirty="0"/>
                  <a:t>By at least 5 points?</a:t>
                </a:r>
              </a:p>
              <a:p>
                <a:pPr lvl="1"/>
                <a:r>
                  <a:rPr lang="en-US" dirty="0"/>
                  <a:t>By at least 8 points?</a:t>
                </a:r>
              </a:p>
              <a:p>
                <a:pPr lvl="2"/>
                <a:r>
                  <a:rPr lang="en-US" dirty="0"/>
                  <a:t>Note that I’m asking for three separate hypothesis tests here</a:t>
                </a:r>
              </a:p>
              <a:p>
                <a:endParaRPr lang="en-US" dirty="0"/>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2222" r="-1407"/>
                </a:stretch>
              </a:blipFill>
            </p:spPr>
            <p:txBody>
              <a:bodyPr/>
              <a:lstStyle/>
              <a:p>
                <a:r>
                  <a:rPr lang="en-US">
                    <a:noFill/>
                  </a:rPr>
                  <a:t> </a:t>
                </a:r>
              </a:p>
            </p:txBody>
          </p:sp>
        </mc:Fallback>
      </mc:AlternateContent>
    </p:spTree>
    <p:extLst>
      <p:ext uri="{BB962C8B-B14F-4D97-AF65-F5344CB8AC3E}">
        <p14:creationId xmlns:p14="http://schemas.microsoft.com/office/powerpoint/2010/main" val="1228417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10.5 – Test for Two Means</a:t>
            </a:r>
          </a:p>
        </p:txBody>
      </p:sp>
      <p:sp>
        <p:nvSpPr>
          <p:cNvPr id="3" name="Content Placeholder 2"/>
          <p:cNvSpPr>
            <a:spLocks noGrp="1"/>
          </p:cNvSpPr>
          <p:nvPr>
            <p:ph idx="1"/>
          </p:nvPr>
        </p:nvSpPr>
        <p:spPr/>
        <p:txBody>
          <a:bodyPr>
            <a:normAutofit/>
          </a:bodyPr>
          <a:lstStyle/>
          <a:p>
            <a:r>
              <a:rPr lang="en-US" dirty="0"/>
              <a:t>It may be helpful to begin by organizing the given information into a table (though you don’t have to). </a:t>
            </a:r>
          </a:p>
          <a:p>
            <a:endParaRPr lang="en-US" dirty="0"/>
          </a:p>
          <a:p>
            <a:endParaRPr lang="en-US" dirty="0"/>
          </a:p>
          <a:p>
            <a:pPr marL="0" indent="0">
              <a:buNone/>
            </a:pPr>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610646635"/>
                  </p:ext>
                </p:extLst>
              </p:nvPr>
            </p:nvGraphicFramePr>
            <p:xfrm>
              <a:off x="1447800" y="3886200"/>
              <a:ext cx="6096000" cy="148336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dirty="0"/>
                            <a:t>Lab</a:t>
                          </a:r>
                        </a:p>
                      </a:txBody>
                      <a:tcPr/>
                    </a:tc>
                    <a:tc>
                      <a:txBody>
                        <a:bodyPr/>
                        <a:lstStyle/>
                        <a:p>
                          <a:pPr algn="ctr"/>
                          <a:r>
                            <a:rPr lang="en-US" dirty="0"/>
                            <a:t>No Lab</a:t>
                          </a:r>
                        </a:p>
                      </a:txBody>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𝑥</m:t>
                                        </m:r>
                                      </m:e>
                                    </m:acc>
                                  </m:e>
                                  <m:sub>
                                    <m:r>
                                      <a:rPr lang="en-US" b="0" i="1" smtClean="0">
                                        <a:latin typeface="Cambria Math"/>
                                      </a:rPr>
                                      <m:t>1</m:t>
                                    </m:r>
                                  </m:sub>
                                </m:sSub>
                                <m:r>
                                  <a:rPr lang="en-US" b="0" i="1" smtClean="0">
                                    <a:latin typeface="Cambria Math"/>
                                  </a:rPr>
                                  <m:t>=85</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𝑥</m:t>
                                        </m:r>
                                      </m:e>
                                    </m:acc>
                                  </m:e>
                                  <m:sub>
                                    <m:r>
                                      <a:rPr lang="en-US" b="0" i="1" smtClean="0">
                                        <a:latin typeface="Cambria Math"/>
                                      </a:rPr>
                                      <m:t>2</m:t>
                                    </m:r>
                                  </m:sub>
                                </m:sSub>
                                <m:r>
                                  <a:rPr lang="en-US" b="0" i="1" smtClean="0">
                                    <a:latin typeface="Cambria Math"/>
                                  </a:rPr>
                                  <m:t>=79</m:t>
                                </m:r>
                              </m:oMath>
                            </m:oMathPara>
                          </a14:m>
                          <a:endParaRPr lang="en-US" dirty="0"/>
                        </a:p>
                      </a:txBody>
                      <a:tcPr/>
                    </a:tc>
                    <a:extLst>
                      <a:ext uri="{0D108BD9-81ED-4DB2-BD59-A6C34878D82A}">
                        <a16:rowId xmlns:a16="http://schemas.microsoft.com/office/drawing/2014/main" val="1000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𝑠</m:t>
                                    </m:r>
                                  </m:e>
                                  <m:sub>
                                    <m:r>
                                      <a:rPr lang="en-US" b="0" i="1" smtClean="0">
                                        <a:latin typeface="Cambria Math"/>
                                      </a:rPr>
                                      <m:t>1</m:t>
                                    </m:r>
                                  </m:sub>
                                </m:sSub>
                                <m:r>
                                  <a:rPr lang="en-US" b="0" i="1" smtClean="0">
                                    <a:latin typeface="Cambria Math"/>
                                  </a:rPr>
                                  <m:t>=4.7</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𝑠</m:t>
                                    </m:r>
                                  </m:e>
                                  <m:sub>
                                    <m:r>
                                      <a:rPr lang="en-US" b="0" i="1" smtClean="0">
                                        <a:latin typeface="Cambria Math"/>
                                      </a:rPr>
                                      <m:t>2</m:t>
                                    </m:r>
                                  </m:sub>
                                </m:sSub>
                                <m:r>
                                  <a:rPr lang="en-US" b="0" i="1" smtClean="0">
                                    <a:latin typeface="Cambria Math"/>
                                  </a:rPr>
                                  <m:t>=6.1</m:t>
                                </m:r>
                              </m:oMath>
                            </m:oMathPara>
                          </a14:m>
                          <a:endParaRPr lang="en-US" dirty="0"/>
                        </a:p>
                      </a:txBody>
                      <a:tcPr/>
                    </a:tc>
                    <a:extLst>
                      <a:ext uri="{0D108BD9-81ED-4DB2-BD59-A6C34878D82A}">
                        <a16:rowId xmlns:a16="http://schemas.microsoft.com/office/drawing/2014/main" val="10002"/>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r>
                                  <a:rPr lang="en-US" b="0" i="1" smtClean="0">
                                    <a:latin typeface="Cambria Math"/>
                                  </a:rPr>
                                  <m:t>=11</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r>
                                  <a:rPr lang="en-US" b="0" i="1" smtClean="0">
                                    <a:latin typeface="Cambria Math"/>
                                  </a:rPr>
                                  <m:t>=17</m:t>
                                </m:r>
                              </m:oMath>
                            </m:oMathPara>
                          </a14:m>
                          <a:endParaRPr lang="en-US" dirty="0"/>
                        </a:p>
                      </a:txBody>
                      <a:tcPr/>
                    </a:tc>
                    <a:extLst>
                      <a:ext uri="{0D108BD9-81ED-4DB2-BD59-A6C34878D82A}">
                        <a16:rowId xmlns:a16="http://schemas.microsoft.com/office/drawing/2014/main" val="10003"/>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610646635"/>
                  </p:ext>
                </p:extLst>
              </p:nvPr>
            </p:nvGraphicFramePr>
            <p:xfrm>
              <a:off x="1447800" y="3886200"/>
              <a:ext cx="6096000" cy="1483360"/>
            </p:xfrm>
            <a:graphic>
              <a:graphicData uri="http://schemas.openxmlformats.org/drawingml/2006/table">
                <a:tbl>
                  <a:tblPr firstRow="1" bandRow="1">
                    <a:tableStyleId>{5C22544A-7EE6-4342-B048-85BDC9FD1C3A}</a:tableStyleId>
                  </a:tblPr>
                  <a:tblGrid>
                    <a:gridCol w="3048000"/>
                    <a:gridCol w="3048000"/>
                  </a:tblGrid>
                  <a:tr h="370840">
                    <a:tc>
                      <a:txBody>
                        <a:bodyPr/>
                        <a:lstStyle/>
                        <a:p>
                          <a:pPr algn="ctr"/>
                          <a:r>
                            <a:rPr lang="en-US" dirty="0" smtClean="0"/>
                            <a:t>Lab</a:t>
                          </a:r>
                          <a:endParaRPr lang="en-US" dirty="0"/>
                        </a:p>
                      </a:txBody>
                      <a:tcPr/>
                    </a:tc>
                    <a:tc>
                      <a:txBody>
                        <a:bodyPr/>
                        <a:lstStyle/>
                        <a:p>
                          <a:pPr algn="ctr"/>
                          <a:r>
                            <a:rPr lang="en-US" dirty="0" smtClean="0"/>
                            <a:t>No Lab</a:t>
                          </a:r>
                          <a:endParaRPr lang="en-US" dirty="0"/>
                        </a:p>
                      </a:txBody>
                      <a:tcPr/>
                    </a:tc>
                  </a:tr>
                  <a:tr h="370840">
                    <a:tc>
                      <a:txBody>
                        <a:bodyPr/>
                        <a:lstStyle/>
                        <a:p>
                          <a:endParaRPr lang="en-US"/>
                        </a:p>
                      </a:txBody>
                      <a:tcPr>
                        <a:blipFill rotWithShape="1">
                          <a:blip r:embed="rId2"/>
                          <a:stretch>
                            <a:fillRect l="-200" t="-108197" r="-100000" b="-198361"/>
                          </a:stretch>
                        </a:blipFill>
                      </a:tcPr>
                    </a:tc>
                    <a:tc>
                      <a:txBody>
                        <a:bodyPr/>
                        <a:lstStyle/>
                        <a:p>
                          <a:endParaRPr lang="en-US"/>
                        </a:p>
                      </a:txBody>
                      <a:tcPr>
                        <a:blipFill rotWithShape="1">
                          <a:blip r:embed="rId2"/>
                          <a:stretch>
                            <a:fillRect l="-100200" t="-108197" b="-198361"/>
                          </a:stretch>
                        </a:blipFill>
                      </a:tcPr>
                    </a:tc>
                  </a:tr>
                  <a:tr h="370840">
                    <a:tc>
                      <a:txBody>
                        <a:bodyPr/>
                        <a:lstStyle/>
                        <a:p>
                          <a:endParaRPr lang="en-US"/>
                        </a:p>
                      </a:txBody>
                      <a:tcPr>
                        <a:blipFill rotWithShape="1">
                          <a:blip r:embed="rId2"/>
                          <a:stretch>
                            <a:fillRect l="-200" t="-211667" r="-100000" b="-101667"/>
                          </a:stretch>
                        </a:blipFill>
                      </a:tcPr>
                    </a:tc>
                    <a:tc>
                      <a:txBody>
                        <a:bodyPr/>
                        <a:lstStyle/>
                        <a:p>
                          <a:endParaRPr lang="en-US"/>
                        </a:p>
                      </a:txBody>
                      <a:tcPr>
                        <a:blipFill rotWithShape="1">
                          <a:blip r:embed="rId2"/>
                          <a:stretch>
                            <a:fillRect l="-100200" t="-211667" b="-101667"/>
                          </a:stretch>
                        </a:blipFill>
                      </a:tcPr>
                    </a:tc>
                  </a:tr>
                  <a:tr h="370840">
                    <a:tc>
                      <a:txBody>
                        <a:bodyPr/>
                        <a:lstStyle/>
                        <a:p>
                          <a:endParaRPr lang="en-US"/>
                        </a:p>
                      </a:txBody>
                      <a:tcPr>
                        <a:blipFill rotWithShape="1">
                          <a:blip r:embed="rId2"/>
                          <a:stretch>
                            <a:fillRect l="-200" t="-306557" r="-100000"/>
                          </a:stretch>
                        </a:blipFill>
                      </a:tcPr>
                    </a:tc>
                    <a:tc>
                      <a:txBody>
                        <a:bodyPr/>
                        <a:lstStyle/>
                        <a:p>
                          <a:endParaRPr lang="en-US"/>
                        </a:p>
                      </a:txBody>
                      <a:tcPr>
                        <a:blipFill rotWithShape="1">
                          <a:blip r:embed="rId2"/>
                          <a:stretch>
                            <a:fillRect l="-100200" t="-306557"/>
                          </a:stretch>
                        </a:blipFill>
                      </a:tcPr>
                    </a:tc>
                  </a:tr>
                </a:tbl>
              </a:graphicData>
            </a:graphic>
          </p:graphicFrame>
        </mc:Fallback>
      </mc:AlternateContent>
    </p:spTree>
    <p:extLst>
      <p:ext uri="{BB962C8B-B14F-4D97-AF65-F5344CB8AC3E}">
        <p14:creationId xmlns:p14="http://schemas.microsoft.com/office/powerpoint/2010/main" val="33108807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10.5 – Test for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Suppose we are interested in comparing the average price that men and women pay for haircuts. Given the following (real) information, test whether women pay more on average than men for haircuts at the </a:t>
                </a:r>
                <a14:m>
                  <m:oMath xmlns:m="http://schemas.openxmlformats.org/officeDocument/2006/math">
                    <m:r>
                      <a:rPr lang="en-US" b="0" i="1" smtClean="0">
                        <a:latin typeface="Cambria Math"/>
                      </a:rPr>
                      <m:t>𝛼</m:t>
                    </m:r>
                    <m:r>
                      <a:rPr lang="en-US" b="0" i="1" smtClean="0">
                        <a:latin typeface="Cambria Math"/>
                      </a:rPr>
                      <m:t>=0.10</m:t>
                    </m:r>
                  </m:oMath>
                </a14:m>
                <a:r>
                  <a:rPr lang="en-US" dirty="0"/>
                  <a:t> significance level. Assume the populations are approximately normal with unequal variances. </a:t>
                </a:r>
              </a:p>
              <a:p>
                <a:endParaRPr lang="en-US" dirty="0"/>
              </a:p>
              <a:p>
                <a:pPr marL="0" indent="0">
                  <a:buNone/>
                </a:pPr>
                <a:endParaRPr lang="en-US" dirty="0"/>
              </a:p>
              <a:p>
                <a:endParaRPr lang="en-US" dirty="0"/>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2754977738"/>
                  </p:ext>
                </p:extLst>
              </p:nvPr>
            </p:nvGraphicFramePr>
            <p:xfrm>
              <a:off x="1447800" y="4876800"/>
              <a:ext cx="6096000" cy="148336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dirty="0"/>
                            <a:t>Female</a:t>
                          </a:r>
                        </a:p>
                      </a:txBody>
                      <a:tcPr/>
                    </a:tc>
                    <a:tc>
                      <a:txBody>
                        <a:bodyPr/>
                        <a:lstStyle/>
                        <a:p>
                          <a:pPr algn="ctr"/>
                          <a:r>
                            <a:rPr lang="en-US" dirty="0"/>
                            <a:t>Male</a:t>
                          </a:r>
                        </a:p>
                      </a:txBody>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𝑥</m:t>
                                        </m:r>
                                      </m:e>
                                    </m:acc>
                                  </m:e>
                                  <m:sub>
                                    <m:r>
                                      <a:rPr lang="en-US" b="0" i="1" smtClean="0">
                                        <a:latin typeface="Cambria Math"/>
                                      </a:rPr>
                                      <m:t>1</m:t>
                                    </m:r>
                                  </m:sub>
                                </m:sSub>
                                <m:r>
                                  <a:rPr lang="en-US" b="0" i="1" smtClean="0">
                                    <a:latin typeface="Cambria Math"/>
                                  </a:rPr>
                                  <m:t>=54.05</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𝑥</m:t>
                                        </m:r>
                                      </m:e>
                                    </m:acc>
                                  </m:e>
                                  <m:sub>
                                    <m:r>
                                      <a:rPr lang="en-US" b="0" i="1" smtClean="0">
                                        <a:latin typeface="Cambria Math"/>
                                      </a:rPr>
                                      <m:t>2</m:t>
                                    </m:r>
                                  </m:sub>
                                </m:sSub>
                                <m:r>
                                  <a:rPr lang="en-US" b="0" i="1" smtClean="0">
                                    <a:latin typeface="Cambria Math"/>
                                  </a:rPr>
                                  <m:t>=22.42</m:t>
                                </m:r>
                              </m:oMath>
                            </m:oMathPara>
                          </a14:m>
                          <a:endParaRPr lang="en-US" dirty="0"/>
                        </a:p>
                      </a:txBody>
                      <a:tcPr/>
                    </a:tc>
                    <a:extLst>
                      <a:ext uri="{0D108BD9-81ED-4DB2-BD59-A6C34878D82A}">
                        <a16:rowId xmlns:a16="http://schemas.microsoft.com/office/drawing/2014/main" val="1000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𝑠</m:t>
                                    </m:r>
                                  </m:e>
                                  <m:sub>
                                    <m:r>
                                      <a:rPr lang="en-US" b="0" i="1" smtClean="0">
                                        <a:latin typeface="Cambria Math"/>
                                      </a:rPr>
                                      <m:t>1</m:t>
                                    </m:r>
                                  </m:sub>
                                </m:sSub>
                                <m:r>
                                  <a:rPr lang="en-US" b="0" i="1" smtClean="0">
                                    <a:latin typeface="Cambria Math"/>
                                  </a:rPr>
                                  <m:t>=41.61</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𝑠</m:t>
                                    </m:r>
                                  </m:e>
                                  <m:sub>
                                    <m:r>
                                      <a:rPr lang="en-US" b="0" i="1" smtClean="0">
                                        <a:latin typeface="Cambria Math"/>
                                      </a:rPr>
                                      <m:t>2</m:t>
                                    </m:r>
                                  </m:sub>
                                </m:sSub>
                                <m:r>
                                  <a:rPr lang="en-US" b="0" i="1" smtClean="0">
                                    <a:latin typeface="Cambria Math"/>
                                  </a:rPr>
                                  <m:t>=23.02</m:t>
                                </m:r>
                              </m:oMath>
                            </m:oMathPara>
                          </a14:m>
                          <a:endParaRPr lang="en-US" dirty="0"/>
                        </a:p>
                      </a:txBody>
                      <a:tcPr/>
                    </a:tc>
                    <a:extLst>
                      <a:ext uri="{0D108BD9-81ED-4DB2-BD59-A6C34878D82A}">
                        <a16:rowId xmlns:a16="http://schemas.microsoft.com/office/drawing/2014/main" val="10002"/>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r>
                                  <a:rPr lang="en-US" b="0" i="1" smtClean="0">
                                    <a:latin typeface="Cambria Math"/>
                                  </a:rPr>
                                  <m:t>=37</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r>
                                  <a:rPr lang="en-US" b="0" i="1" smtClean="0">
                                    <a:latin typeface="Cambria Math"/>
                                  </a:rPr>
                                  <m:t>=12</m:t>
                                </m:r>
                              </m:oMath>
                            </m:oMathPara>
                          </a14:m>
                          <a:endParaRPr lang="en-US" dirty="0"/>
                        </a:p>
                      </a:txBody>
                      <a:tcPr/>
                    </a:tc>
                    <a:extLst>
                      <a:ext uri="{0D108BD9-81ED-4DB2-BD59-A6C34878D82A}">
                        <a16:rowId xmlns:a16="http://schemas.microsoft.com/office/drawing/2014/main" val="10003"/>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754977738"/>
                  </p:ext>
                </p:extLst>
              </p:nvPr>
            </p:nvGraphicFramePr>
            <p:xfrm>
              <a:off x="1447800" y="4876800"/>
              <a:ext cx="6096000" cy="1483360"/>
            </p:xfrm>
            <a:graphic>
              <a:graphicData uri="http://schemas.openxmlformats.org/drawingml/2006/table">
                <a:tbl>
                  <a:tblPr firstRow="1" bandRow="1">
                    <a:tableStyleId>{5C22544A-7EE6-4342-B048-85BDC9FD1C3A}</a:tableStyleId>
                  </a:tblPr>
                  <a:tblGrid>
                    <a:gridCol w="3048000"/>
                    <a:gridCol w="3048000"/>
                  </a:tblGrid>
                  <a:tr h="370840">
                    <a:tc>
                      <a:txBody>
                        <a:bodyPr/>
                        <a:lstStyle/>
                        <a:p>
                          <a:pPr algn="ctr"/>
                          <a:r>
                            <a:rPr lang="en-US" dirty="0" smtClean="0"/>
                            <a:t>Female</a:t>
                          </a:r>
                          <a:endParaRPr lang="en-US" dirty="0"/>
                        </a:p>
                      </a:txBody>
                      <a:tcPr/>
                    </a:tc>
                    <a:tc>
                      <a:txBody>
                        <a:bodyPr/>
                        <a:lstStyle/>
                        <a:p>
                          <a:pPr algn="ctr"/>
                          <a:r>
                            <a:rPr lang="en-US" dirty="0" smtClean="0"/>
                            <a:t>Male</a:t>
                          </a:r>
                          <a:endParaRPr lang="en-US" dirty="0"/>
                        </a:p>
                      </a:txBody>
                      <a:tcPr/>
                    </a:tc>
                  </a:tr>
                  <a:tr h="370840">
                    <a:tc>
                      <a:txBody>
                        <a:bodyPr/>
                        <a:lstStyle/>
                        <a:p>
                          <a:endParaRPr lang="en-US"/>
                        </a:p>
                      </a:txBody>
                      <a:tcPr>
                        <a:blipFill rotWithShape="1">
                          <a:blip r:embed="rId3"/>
                          <a:stretch>
                            <a:fillRect l="-200" t="-108197" r="-100000" b="-200000"/>
                          </a:stretch>
                        </a:blipFill>
                      </a:tcPr>
                    </a:tc>
                    <a:tc>
                      <a:txBody>
                        <a:bodyPr/>
                        <a:lstStyle/>
                        <a:p>
                          <a:endParaRPr lang="en-US"/>
                        </a:p>
                      </a:txBody>
                      <a:tcPr>
                        <a:blipFill rotWithShape="1">
                          <a:blip r:embed="rId3"/>
                          <a:stretch>
                            <a:fillRect l="-100200" t="-108197" b="-200000"/>
                          </a:stretch>
                        </a:blipFill>
                      </a:tcPr>
                    </a:tc>
                  </a:tr>
                  <a:tr h="370840">
                    <a:tc>
                      <a:txBody>
                        <a:bodyPr/>
                        <a:lstStyle/>
                        <a:p>
                          <a:endParaRPr lang="en-US"/>
                        </a:p>
                      </a:txBody>
                      <a:tcPr>
                        <a:blipFill rotWithShape="1">
                          <a:blip r:embed="rId3"/>
                          <a:stretch>
                            <a:fillRect l="-200" t="-211667" r="-100000" b="-103333"/>
                          </a:stretch>
                        </a:blipFill>
                      </a:tcPr>
                    </a:tc>
                    <a:tc>
                      <a:txBody>
                        <a:bodyPr/>
                        <a:lstStyle/>
                        <a:p>
                          <a:endParaRPr lang="en-US"/>
                        </a:p>
                      </a:txBody>
                      <a:tcPr>
                        <a:blipFill rotWithShape="1">
                          <a:blip r:embed="rId3"/>
                          <a:stretch>
                            <a:fillRect l="-100200" t="-211667" b="-103333"/>
                          </a:stretch>
                        </a:blipFill>
                      </a:tcPr>
                    </a:tc>
                  </a:tr>
                  <a:tr h="370840">
                    <a:tc>
                      <a:txBody>
                        <a:bodyPr/>
                        <a:lstStyle/>
                        <a:p>
                          <a:endParaRPr lang="en-US"/>
                        </a:p>
                      </a:txBody>
                      <a:tcPr>
                        <a:blipFill rotWithShape="1">
                          <a:blip r:embed="rId3"/>
                          <a:stretch>
                            <a:fillRect l="-200" t="-306557" r="-100000" b="-1639"/>
                          </a:stretch>
                        </a:blipFill>
                      </a:tcPr>
                    </a:tc>
                    <a:tc>
                      <a:txBody>
                        <a:bodyPr/>
                        <a:lstStyle/>
                        <a:p>
                          <a:endParaRPr lang="en-US"/>
                        </a:p>
                      </a:txBody>
                      <a:tcPr>
                        <a:blipFill rotWithShape="1">
                          <a:blip r:embed="rId3"/>
                          <a:stretch>
                            <a:fillRect l="-100200" t="-306557" b="-1639"/>
                          </a:stretch>
                        </a:blipFill>
                      </a:tcPr>
                    </a:tc>
                  </a:tr>
                </a:tbl>
              </a:graphicData>
            </a:graphic>
          </p:graphicFrame>
        </mc:Fallback>
      </mc:AlternateContent>
    </p:spTree>
    <p:extLst>
      <p:ext uri="{BB962C8B-B14F-4D97-AF65-F5344CB8AC3E}">
        <p14:creationId xmlns:p14="http://schemas.microsoft.com/office/powerpoint/2010/main" val="3923782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473</TotalTime>
  <Words>1972</Words>
  <Application>Microsoft Office PowerPoint</Application>
  <PresentationFormat>On-screen Show (4:3)</PresentationFormat>
  <Paragraphs>146</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Calibri</vt:lpstr>
      <vt:lpstr>Cambria Math</vt:lpstr>
      <vt:lpstr>Constantia</vt:lpstr>
      <vt:lpstr>Wingdings 2</vt:lpstr>
      <vt:lpstr>Flow</vt:lpstr>
      <vt:lpstr>Hypothesis Testing</vt:lpstr>
      <vt:lpstr>10.4 – Tests for a Single Mean</vt:lpstr>
      <vt:lpstr>10.4 – Tests for a Single Mean</vt:lpstr>
      <vt:lpstr>10.4 – Tests for a Single Mean</vt:lpstr>
      <vt:lpstr>10.4 – Tests for a Single Mean</vt:lpstr>
      <vt:lpstr>10.4 – Tests for a Single Mean</vt:lpstr>
      <vt:lpstr>10.4 – Tests for a Single Mean</vt:lpstr>
      <vt:lpstr>10.4 – Tests for a Single Mean</vt:lpstr>
      <vt:lpstr>10.4 – Tests for a Single Mean</vt:lpstr>
      <vt:lpstr>10.4 – Tests for a Single Mean</vt:lpstr>
      <vt:lpstr>10.4 – Tests for a Single Mean</vt:lpstr>
      <vt:lpstr>10.4 – Tests for a Single Mean</vt:lpstr>
      <vt:lpstr>10.4 – Tests for a Single Mean</vt:lpstr>
      <vt:lpstr>10.4 – Tests for a Single Mean</vt:lpstr>
      <vt:lpstr>10.4 – Tests for a Single Mean</vt:lpstr>
      <vt:lpstr>10.5 – Test for Two Means</vt:lpstr>
      <vt:lpstr>10.5 – Test for Two Means</vt:lpstr>
      <vt:lpstr>10.5 – Test for Two Means</vt:lpstr>
      <vt:lpstr>10.5 – Test for Two Means</vt:lpstr>
      <vt:lpstr>10.5 – Test for Two Means</vt:lpstr>
      <vt:lpstr>10.5 – Test for Two Means</vt:lpstr>
      <vt:lpstr>10.5 – Test for Two Means</vt:lpstr>
      <vt:lpstr>10.5 – Test for Two Means</vt:lpstr>
      <vt:lpstr>10.5 – Test for Two Means</vt:lpstr>
      <vt:lpstr>10.5 – Test for Two Means</vt:lpstr>
      <vt:lpstr>10.5 – Test for Two Means</vt:lpstr>
      <vt:lpstr>10.5 – Test for Two Means</vt:lpstr>
      <vt:lpstr>10.5 – Test for Two Means</vt:lpstr>
      <vt:lpstr>10.5 – Test for Two Means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Hypothesis Testing</dc:title>
  <dc:creator>Jason Adams</dc:creator>
  <cp:lastModifiedBy>Lizzie Sharkey</cp:lastModifiedBy>
  <cp:revision>31</cp:revision>
  <dcterms:created xsi:type="dcterms:W3CDTF">2017-08-01T01:23:24Z</dcterms:created>
  <dcterms:modified xsi:type="dcterms:W3CDTF">2021-04-10T14:15:11Z</dcterms:modified>
</cp:coreProperties>
</file>
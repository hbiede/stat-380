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60" y="6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5D907286-CBF9-4112-B5E3-15A5B39237A5}" type="datetimeFigureOut">
              <a:rPr lang="en-US" smtClean="0"/>
              <a:t>1/14/2021</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313FFF5F-26B8-4D58-8635-7A2D44582CC3}" type="slidenum">
              <a:rPr lang="en-US" smtClean="0"/>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5D907286-CBF9-4112-B5E3-15A5B39237A5}"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3FFF5F-26B8-4D58-8635-7A2D44582CC3}" type="slidenum">
              <a:rPr lang="en-US" smtClean="0"/>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5D907286-CBF9-4112-B5E3-15A5B39237A5}" type="datetimeFigureOut">
              <a:rPr lang="en-US" smtClean="0"/>
              <a:t>1/14/2021</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313FFF5F-26B8-4D58-8635-7A2D44582CC3}" type="slidenum">
              <a:rPr lang="en-US" smtClean="0"/>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5D907286-CBF9-4112-B5E3-15A5B39237A5}"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3FFF5F-26B8-4D58-8635-7A2D44582CC3}" type="slidenum">
              <a:rPr lang="en-US" smtClean="0"/>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5D907286-CBF9-4112-B5E3-15A5B39237A5}" type="datetimeFigureOut">
              <a:rPr lang="en-US" smtClean="0"/>
              <a:t>1/14/2021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13FFF5F-26B8-4D58-8635-7A2D44582CC3}" type="slidenum">
              <a:rPr lang="en-US" smtClean="0"/>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D907286-CBF9-4112-B5E3-15A5B39237A5}" type="datetimeFigureOut">
              <a:rPr lang="en-US" smtClean="0"/>
              <a:t>1/14/2021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3FFF5F-26B8-4D58-8635-7A2D44582CC3}" type="slidenum">
              <a:rPr lang="en-US" smtClean="0"/>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907286-CBF9-4112-B5E3-15A5B39237A5}" type="datetimeFigureOut">
              <a:rPr lang="en-US" smtClean="0"/>
              <a:t>1/14/2021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13FFF5F-26B8-4D58-8635-7A2D44582CC3}" type="slidenum">
              <a:rPr lang="en-US" smtClean="0"/>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D907286-CBF9-4112-B5E3-15A5B39237A5}"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3FFF5F-26B8-4D58-8635-7A2D44582CC3}" type="slidenum">
              <a:rPr lang="en-US" smtClean="0"/>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D907286-CBF9-4112-B5E3-15A5B39237A5}"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3FFF5F-26B8-4D58-8635-7A2D44582CC3}" type="slidenum">
              <a:rPr lang="en-US" smtClean="0"/>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D907286-CBF9-4112-B5E3-15A5B39237A5}"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3FFF5F-26B8-4D58-8635-7A2D44582CC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D907286-CBF9-4112-B5E3-15A5B39237A5}"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3FFF5F-26B8-4D58-8635-7A2D44582CC3}" type="slidenum">
              <a:rPr lang="en-US" smtClean="0"/>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5D907286-CBF9-4112-B5E3-15A5B39237A5}" type="datetimeFigureOut">
              <a:rPr lang="en-US" smtClean="0"/>
              <a:t>1/14/2021</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313FFF5F-26B8-4D58-8635-7A2D44582CC3}" type="slidenum">
              <a:rPr lang="en-US" smtClean="0"/>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Some Discrete Probability Distributions</a:t>
            </a:r>
          </a:p>
        </p:txBody>
      </p:sp>
      <p:sp>
        <p:nvSpPr>
          <p:cNvPr id="3" name="Subtitle 2"/>
          <p:cNvSpPr>
            <a:spLocks noGrp="1"/>
          </p:cNvSpPr>
          <p:nvPr>
            <p:ph type="subTitle" idx="1"/>
          </p:nvPr>
        </p:nvSpPr>
        <p:spPr/>
        <p:txBody>
          <a:bodyPr/>
          <a:lstStyle/>
          <a:p>
            <a:r>
              <a:rPr lang="en-US" dirty="0"/>
              <a:t>Chapter 5</a:t>
            </a:r>
          </a:p>
        </p:txBody>
      </p:sp>
    </p:spTree>
    <p:extLst>
      <p:ext uri="{BB962C8B-B14F-4D97-AF65-F5344CB8AC3E}">
        <p14:creationId xmlns:p14="http://schemas.microsoft.com/office/powerpoint/2010/main" val="1670928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5</a:t>
            </a:r>
          </a:p>
        </p:txBody>
      </p:sp>
      <p:sp>
        <p:nvSpPr>
          <p:cNvPr id="3" name="Content Placeholder 2"/>
          <p:cNvSpPr>
            <a:spLocks noGrp="1"/>
          </p:cNvSpPr>
          <p:nvPr>
            <p:ph sz="quarter" idx="1"/>
          </p:nvPr>
        </p:nvSpPr>
        <p:spPr/>
        <p:txBody>
          <a:bodyPr/>
          <a:lstStyle/>
          <a:p>
            <a:r>
              <a:rPr lang="en-US" dirty="0"/>
              <a:t>You may have noticed in chapter 3 that certain random variables looked the same for different experiments. For instance, counting the number of heads in three flips of a coin ended up having the same probability distribution as counting the number of red chips when three chips were drawn with replacement from a jar containing 2 red and 2 black chips.</a:t>
            </a:r>
          </a:p>
          <a:p>
            <a:endParaRPr lang="en-US" dirty="0"/>
          </a:p>
          <a:p>
            <a:r>
              <a:rPr lang="en-US" dirty="0"/>
              <a:t>Because many experiments will end up having the same probability distribution, it is helpful to know and be able to use the more common distributions.</a:t>
            </a:r>
          </a:p>
        </p:txBody>
      </p:sp>
    </p:spTree>
    <p:extLst>
      <p:ext uri="{BB962C8B-B14F-4D97-AF65-F5344CB8AC3E}">
        <p14:creationId xmlns:p14="http://schemas.microsoft.com/office/powerpoint/2010/main" val="3664392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5</a:t>
            </a:r>
          </a:p>
        </p:txBody>
      </p:sp>
      <p:sp>
        <p:nvSpPr>
          <p:cNvPr id="3" name="Content Placeholder 2"/>
          <p:cNvSpPr>
            <a:spLocks noGrp="1"/>
          </p:cNvSpPr>
          <p:nvPr>
            <p:ph sz="quarter" idx="1"/>
          </p:nvPr>
        </p:nvSpPr>
        <p:spPr/>
        <p:txBody>
          <a:bodyPr/>
          <a:lstStyle/>
          <a:p>
            <a:r>
              <a:rPr lang="en-US" dirty="0"/>
              <a:t>Chapters 5 and 6 will cover some specific discrete and continuous probability distributions, respectively.</a:t>
            </a:r>
          </a:p>
          <a:p>
            <a:endParaRPr lang="en-US" dirty="0"/>
          </a:p>
          <a:p>
            <a:r>
              <a:rPr lang="en-US" dirty="0"/>
              <a:t>In chapter 5, we will discuss the Binomial and Multinomial distributions in 5.2. Then we will cover the Poisson distribution in 5.5. The sections in between go over some other common distributions, but Binomial and Poisson are probably the most commonly used discrete distributions.</a:t>
            </a:r>
          </a:p>
        </p:txBody>
      </p:sp>
    </p:spTree>
    <p:extLst>
      <p:ext uri="{BB962C8B-B14F-4D97-AF65-F5344CB8AC3E}">
        <p14:creationId xmlns:p14="http://schemas.microsoft.com/office/powerpoint/2010/main" val="1900051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p:sp>
        <p:nvSpPr>
          <p:cNvPr id="3" name="Content Placeholder 2"/>
          <p:cNvSpPr>
            <a:spLocks noGrp="1"/>
          </p:cNvSpPr>
          <p:nvPr>
            <p:ph sz="quarter" idx="1"/>
          </p:nvPr>
        </p:nvSpPr>
        <p:spPr/>
        <p:txBody>
          <a:bodyPr/>
          <a:lstStyle/>
          <a:p>
            <a:r>
              <a:rPr lang="en-US" dirty="0"/>
              <a:t>We are often concerned with experiments that have only two possible outcomes. We can arbitrarily label one outcome as a </a:t>
            </a:r>
            <a:r>
              <a:rPr lang="en-US" i="1" dirty="0"/>
              <a:t>success</a:t>
            </a:r>
            <a:r>
              <a:rPr lang="en-US" dirty="0"/>
              <a:t> and one outcome as a </a:t>
            </a:r>
            <a:r>
              <a:rPr lang="en-US" i="1" dirty="0"/>
              <a:t>failure</a:t>
            </a:r>
            <a:r>
              <a:rPr lang="en-US" dirty="0"/>
              <a:t>.  Some examples:</a:t>
            </a:r>
          </a:p>
          <a:p>
            <a:pPr lvl="1"/>
            <a:r>
              <a:rPr lang="en-US" dirty="0"/>
              <a:t>Kicking a field goal in football</a:t>
            </a:r>
          </a:p>
          <a:p>
            <a:pPr lvl="1"/>
            <a:r>
              <a:rPr lang="en-US" dirty="0"/>
              <a:t>Disease screening</a:t>
            </a:r>
          </a:p>
          <a:p>
            <a:pPr lvl="1"/>
            <a:r>
              <a:rPr lang="en-US" dirty="0"/>
              <a:t>Vaccine/medication effectiveness</a:t>
            </a:r>
          </a:p>
          <a:p>
            <a:pPr lvl="1"/>
            <a:r>
              <a:rPr lang="en-US" dirty="0"/>
              <a:t>Seed germination</a:t>
            </a:r>
          </a:p>
          <a:p>
            <a:pPr lvl="1"/>
            <a:r>
              <a:rPr lang="en-US" dirty="0"/>
              <a:t>Opinion polling (such as approval ratings)</a:t>
            </a:r>
          </a:p>
          <a:p>
            <a:pPr lvl="1"/>
            <a:r>
              <a:rPr lang="en-US" dirty="0"/>
              <a:t>Pesticide/herbicide effectiveness</a:t>
            </a:r>
          </a:p>
          <a:p>
            <a:pPr lvl="1"/>
            <a:endParaRPr lang="en-US" dirty="0"/>
          </a:p>
        </p:txBody>
      </p:sp>
    </p:spTree>
    <p:extLst>
      <p:ext uri="{BB962C8B-B14F-4D97-AF65-F5344CB8AC3E}">
        <p14:creationId xmlns:p14="http://schemas.microsoft.com/office/powerpoint/2010/main" val="2732974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A random process, such as those on the previous slide, that has only two possible outcomes is known as a </a:t>
                </a:r>
                <a:r>
                  <a:rPr lang="en-US" i="1" dirty="0"/>
                  <a:t>Bernoulli process</a:t>
                </a:r>
                <a:r>
                  <a:rPr lang="en-US" dirty="0"/>
                  <a:t> and each individual trial is called a </a:t>
                </a:r>
                <a:r>
                  <a:rPr lang="en-US" i="1" dirty="0"/>
                  <a:t>Bernoulli trial </a:t>
                </a:r>
                <a:r>
                  <a:rPr lang="en-US" dirty="0"/>
                  <a:t>if the following characteristics are met:</a:t>
                </a:r>
              </a:p>
              <a:p>
                <a:pPr lvl="1"/>
                <a:r>
                  <a:rPr lang="en-US" dirty="0"/>
                  <a:t>The process consists of repeated, identical trials </a:t>
                </a:r>
              </a:p>
              <a:p>
                <a:pPr lvl="1"/>
                <a:r>
                  <a:rPr lang="en-US" dirty="0"/>
                  <a:t>The outcome of each trial can be classified as either success or failure</a:t>
                </a:r>
              </a:p>
              <a:p>
                <a:pPr lvl="1"/>
                <a:r>
                  <a:rPr lang="en-US" dirty="0"/>
                  <a:t>The probability of success, denoted by </a:t>
                </a:r>
                <a14:m>
                  <m:oMath xmlns:m="http://schemas.openxmlformats.org/officeDocument/2006/math">
                    <m:r>
                      <a:rPr lang="en-US" b="0" i="1" smtClean="0">
                        <a:latin typeface="Cambria Math"/>
                      </a:rPr>
                      <m:t>𝑝</m:t>
                    </m:r>
                  </m:oMath>
                </a14:m>
                <a:r>
                  <a:rPr lang="en-US" dirty="0"/>
                  <a:t>, is the same for every trial</a:t>
                </a:r>
              </a:p>
              <a:p>
                <a:pPr lvl="1"/>
                <a:r>
                  <a:rPr lang="en-US" dirty="0"/>
                  <a:t>The trials are independent so that the outcome of one trial is not affected by the outcome of any other trial</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1704"/>
                </a:stretch>
              </a:blipFill>
            </p:spPr>
            <p:txBody>
              <a:bodyPr/>
              <a:lstStyle/>
              <a:p>
                <a:r>
                  <a:rPr lang="en-US">
                    <a:noFill/>
                  </a:rPr>
                  <a:t> </a:t>
                </a:r>
              </a:p>
            </p:txBody>
          </p:sp>
        </mc:Fallback>
      </mc:AlternateContent>
    </p:spTree>
    <p:extLst>
      <p:ext uri="{BB962C8B-B14F-4D97-AF65-F5344CB8AC3E}">
        <p14:creationId xmlns:p14="http://schemas.microsoft.com/office/powerpoint/2010/main" val="656044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Example: Consider the following Bernoulli process. Three patients are given a vaccine to prevent a particular disease. Suppose it is known that for patients who have been given the vaccine, the probability of getting the disease is 0.03. </a:t>
                </a:r>
              </a:p>
              <a:p>
                <a:pPr lvl="1"/>
                <a:r>
                  <a:rPr lang="en-US" dirty="0"/>
                  <a:t>Explain why this is a Bernoulli process</a:t>
                </a:r>
              </a:p>
              <a:p>
                <a:pPr lvl="1"/>
                <a:r>
                  <a:rPr lang="en-US" dirty="0"/>
                  <a:t>Define the random variable </a:t>
                </a:r>
                <a14:m>
                  <m:oMath xmlns:m="http://schemas.openxmlformats.org/officeDocument/2006/math">
                    <m:r>
                      <a:rPr lang="en-US" b="0" i="1" smtClean="0">
                        <a:latin typeface="Cambria Math"/>
                      </a:rPr>
                      <m:t>𝑋</m:t>
                    </m:r>
                  </m:oMath>
                </a14:m>
                <a:r>
                  <a:rPr lang="en-US" dirty="0"/>
                  <a:t> to be the number of patients who contract the disease after receiving the vaccine. Make a table showing the assignment of values to outcomes</a:t>
                </a:r>
              </a:p>
              <a:p>
                <a:pPr lvl="1"/>
                <a:r>
                  <a:rPr lang="en-US" dirty="0"/>
                  <a:t>Give the probability distribution of </a:t>
                </a:r>
                <a14:m>
                  <m:oMath xmlns:m="http://schemas.openxmlformats.org/officeDocument/2006/math">
                    <m:r>
                      <a:rPr lang="en-US" b="0" i="1" smtClean="0">
                        <a:latin typeface="Cambria Math"/>
                      </a:rPr>
                      <m:t>𝑋</m:t>
                    </m:r>
                  </m:oMath>
                </a14:m>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741"/>
                </a:stretch>
              </a:blipFill>
            </p:spPr>
            <p:txBody>
              <a:bodyPr/>
              <a:lstStyle/>
              <a:p>
                <a:r>
                  <a:rPr lang="en-US">
                    <a:noFill/>
                  </a:rPr>
                  <a:t> </a:t>
                </a:r>
              </a:p>
            </p:txBody>
          </p:sp>
        </mc:Fallback>
      </mc:AlternateContent>
    </p:spTree>
    <p:extLst>
      <p:ext uri="{BB962C8B-B14F-4D97-AF65-F5344CB8AC3E}">
        <p14:creationId xmlns:p14="http://schemas.microsoft.com/office/powerpoint/2010/main" val="668915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p:sp>
        <p:nvSpPr>
          <p:cNvPr id="3" name="Content Placeholder 2"/>
          <p:cNvSpPr>
            <a:spLocks noGrp="1"/>
          </p:cNvSpPr>
          <p:nvPr>
            <p:ph sz="quarter" idx="1"/>
          </p:nvPr>
        </p:nvSpPr>
        <p:spPr/>
        <p:txBody>
          <a:bodyPr/>
          <a:lstStyle/>
          <a:p>
            <a:r>
              <a:rPr lang="en-US" dirty="0"/>
              <a:t>Each time a vaccine is given is a trial, so we have three trials here.</a:t>
            </a:r>
          </a:p>
          <a:p>
            <a:r>
              <a:rPr lang="en-US" dirty="0"/>
              <a:t>There are two outcomes for each individual: either they get the disease or they don’t.</a:t>
            </a:r>
          </a:p>
          <a:p>
            <a:pPr lvl="1"/>
            <a:r>
              <a:rPr lang="en-US" dirty="0"/>
              <a:t>Note that we have defined getting the disease as a “success.”</a:t>
            </a:r>
          </a:p>
          <a:p>
            <a:r>
              <a:rPr lang="en-US" dirty="0"/>
              <a:t>The probability of getting a disease is constant for all three individuals.</a:t>
            </a:r>
          </a:p>
          <a:p>
            <a:r>
              <a:rPr lang="en-US" dirty="0"/>
              <a:t>While independence is rarely perfectly satisfied in real life, it is reasonable to assume that each of these three trials are independent.</a:t>
            </a:r>
          </a:p>
          <a:p>
            <a:endParaRPr lang="en-US" dirty="0"/>
          </a:p>
        </p:txBody>
      </p:sp>
    </p:spTree>
    <p:extLst>
      <p:ext uri="{BB962C8B-B14F-4D97-AF65-F5344CB8AC3E}">
        <p14:creationId xmlns:p14="http://schemas.microsoft.com/office/powerpoint/2010/main" val="1377361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Using D as the event that a patient gets the disease and </a:t>
                </a:r>
                <a14:m>
                  <m:oMath xmlns:m="http://schemas.openxmlformats.org/officeDocument/2006/math">
                    <m:r>
                      <a:rPr lang="en-US" b="0" i="1" smtClean="0">
                        <a:latin typeface="Cambria Math"/>
                      </a:rPr>
                      <m:t>𝑁</m:t>
                    </m:r>
                  </m:oMath>
                </a14:m>
                <a:r>
                  <a:rPr lang="en-US" dirty="0"/>
                  <a:t> as the event that a patient does not get the disease, we have the following assignment of values to outcomes:</a:t>
                </a:r>
              </a:p>
              <a:p>
                <a:pPr marL="0"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4116737686"/>
                  </p:ext>
                </p:extLst>
              </p:nvPr>
            </p:nvGraphicFramePr>
            <p:xfrm>
              <a:off x="1524000" y="2743200"/>
              <a:ext cx="6096000" cy="3362958"/>
            </p:xfrm>
            <a:graphic>
              <a:graphicData uri="http://schemas.openxmlformats.org/drawingml/2006/table">
                <a:tbl>
                  <a:tblPr firstRow="1" bandRow="1">
                    <a:tableStyleId>{073A0DAA-6AF3-43AB-8588-CEC1D06C72B9}</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3662">
                    <a:tc>
                      <a:txBody>
                        <a:bodyPr/>
                        <a:lstStyle/>
                        <a:p>
                          <a:pPr algn="ctr"/>
                          <a:r>
                            <a:rPr lang="en-US" dirty="0"/>
                            <a:t>Outcome</a:t>
                          </a:r>
                        </a:p>
                      </a:txBody>
                      <a:tcPr/>
                    </a:tc>
                    <a:tc>
                      <a:txBody>
                        <a:bodyPr/>
                        <a:lstStyle/>
                        <a:p>
                          <a:pPr algn="ctr"/>
                          <a14:m>
                            <m:oMathPara xmlns:m="http://schemas.openxmlformats.org/officeDocument/2006/math">
                              <m:oMathParaPr>
                                <m:jc m:val="centerGroup"/>
                              </m:oMathParaPr>
                              <m:oMath xmlns:m="http://schemas.openxmlformats.org/officeDocument/2006/math">
                                <m:r>
                                  <a:rPr lang="en-US" smtClean="0">
                                    <a:latin typeface="Cambria Math"/>
                                  </a:rPr>
                                  <m:t>𝒙</m:t>
                                </m:r>
                              </m:oMath>
                            </m:oMathPara>
                          </a14:m>
                          <a:endParaRPr lang="en-US" dirty="0"/>
                        </a:p>
                      </a:txBody>
                      <a:tcPr/>
                    </a:tc>
                    <a:extLst>
                      <a:ext uri="{0D108BD9-81ED-4DB2-BD59-A6C34878D82A}">
                        <a16:rowId xmlns:a16="http://schemas.microsoft.com/office/drawing/2014/main" val="10000"/>
                      </a:ext>
                    </a:extLst>
                  </a:tr>
                  <a:tr h="373662">
                    <a:tc>
                      <a:txBody>
                        <a:bodyPr/>
                        <a:lstStyle/>
                        <a:p>
                          <a:pPr algn="ctr"/>
                          <a:r>
                            <a:rPr lang="en-US" dirty="0"/>
                            <a:t>DDD</a:t>
                          </a:r>
                        </a:p>
                      </a:txBody>
                      <a:tcPr/>
                    </a:tc>
                    <a:tc>
                      <a:txBody>
                        <a:bodyPr/>
                        <a:lstStyle/>
                        <a:p>
                          <a:pPr algn="ctr"/>
                          <a:r>
                            <a:rPr lang="en-US" dirty="0"/>
                            <a:t>3</a:t>
                          </a:r>
                        </a:p>
                      </a:txBody>
                      <a:tcPr/>
                    </a:tc>
                    <a:extLst>
                      <a:ext uri="{0D108BD9-81ED-4DB2-BD59-A6C34878D82A}">
                        <a16:rowId xmlns:a16="http://schemas.microsoft.com/office/drawing/2014/main" val="10001"/>
                      </a:ext>
                    </a:extLst>
                  </a:tr>
                  <a:tr h="373662">
                    <a:tc>
                      <a:txBody>
                        <a:bodyPr/>
                        <a:lstStyle/>
                        <a:p>
                          <a:pPr algn="ctr"/>
                          <a:r>
                            <a:rPr lang="en-US" dirty="0"/>
                            <a:t>DNN</a:t>
                          </a:r>
                        </a:p>
                      </a:txBody>
                      <a:tcPr/>
                    </a:tc>
                    <a:tc>
                      <a:txBody>
                        <a:bodyPr/>
                        <a:lstStyle/>
                        <a:p>
                          <a:pPr algn="ctr"/>
                          <a:r>
                            <a:rPr lang="en-US" dirty="0"/>
                            <a:t>1</a:t>
                          </a:r>
                        </a:p>
                      </a:txBody>
                      <a:tcPr/>
                    </a:tc>
                    <a:extLst>
                      <a:ext uri="{0D108BD9-81ED-4DB2-BD59-A6C34878D82A}">
                        <a16:rowId xmlns:a16="http://schemas.microsoft.com/office/drawing/2014/main" val="10002"/>
                      </a:ext>
                    </a:extLst>
                  </a:tr>
                  <a:tr h="373662">
                    <a:tc>
                      <a:txBody>
                        <a:bodyPr/>
                        <a:lstStyle/>
                        <a:p>
                          <a:pPr algn="ctr"/>
                          <a:r>
                            <a:rPr lang="en-US" dirty="0"/>
                            <a:t>NDN</a:t>
                          </a:r>
                        </a:p>
                      </a:txBody>
                      <a:tcPr/>
                    </a:tc>
                    <a:tc>
                      <a:txBody>
                        <a:bodyPr/>
                        <a:lstStyle/>
                        <a:p>
                          <a:pPr algn="ctr"/>
                          <a:r>
                            <a:rPr lang="en-US" dirty="0"/>
                            <a:t>1</a:t>
                          </a:r>
                        </a:p>
                      </a:txBody>
                      <a:tcPr/>
                    </a:tc>
                    <a:extLst>
                      <a:ext uri="{0D108BD9-81ED-4DB2-BD59-A6C34878D82A}">
                        <a16:rowId xmlns:a16="http://schemas.microsoft.com/office/drawing/2014/main" val="10003"/>
                      </a:ext>
                    </a:extLst>
                  </a:tr>
                  <a:tr h="373662">
                    <a:tc>
                      <a:txBody>
                        <a:bodyPr/>
                        <a:lstStyle/>
                        <a:p>
                          <a:pPr algn="ctr"/>
                          <a:r>
                            <a:rPr lang="en-US" dirty="0"/>
                            <a:t>NND</a:t>
                          </a:r>
                        </a:p>
                      </a:txBody>
                      <a:tcPr/>
                    </a:tc>
                    <a:tc>
                      <a:txBody>
                        <a:bodyPr/>
                        <a:lstStyle/>
                        <a:p>
                          <a:pPr algn="ctr"/>
                          <a:r>
                            <a:rPr lang="en-US" dirty="0"/>
                            <a:t>1</a:t>
                          </a:r>
                        </a:p>
                      </a:txBody>
                      <a:tcPr/>
                    </a:tc>
                    <a:extLst>
                      <a:ext uri="{0D108BD9-81ED-4DB2-BD59-A6C34878D82A}">
                        <a16:rowId xmlns:a16="http://schemas.microsoft.com/office/drawing/2014/main" val="10004"/>
                      </a:ext>
                    </a:extLst>
                  </a:tr>
                  <a:tr h="373662">
                    <a:tc>
                      <a:txBody>
                        <a:bodyPr/>
                        <a:lstStyle/>
                        <a:p>
                          <a:pPr algn="ctr"/>
                          <a:r>
                            <a:rPr lang="en-US" dirty="0"/>
                            <a:t>DDN</a:t>
                          </a:r>
                        </a:p>
                      </a:txBody>
                      <a:tcPr/>
                    </a:tc>
                    <a:tc>
                      <a:txBody>
                        <a:bodyPr/>
                        <a:lstStyle/>
                        <a:p>
                          <a:pPr algn="ctr"/>
                          <a:r>
                            <a:rPr lang="en-US" dirty="0"/>
                            <a:t>2</a:t>
                          </a:r>
                        </a:p>
                      </a:txBody>
                      <a:tcPr/>
                    </a:tc>
                    <a:extLst>
                      <a:ext uri="{0D108BD9-81ED-4DB2-BD59-A6C34878D82A}">
                        <a16:rowId xmlns:a16="http://schemas.microsoft.com/office/drawing/2014/main" val="10005"/>
                      </a:ext>
                    </a:extLst>
                  </a:tr>
                  <a:tr h="373662">
                    <a:tc>
                      <a:txBody>
                        <a:bodyPr/>
                        <a:lstStyle/>
                        <a:p>
                          <a:pPr algn="ctr"/>
                          <a:r>
                            <a:rPr lang="en-US" dirty="0"/>
                            <a:t>DND</a:t>
                          </a:r>
                        </a:p>
                      </a:txBody>
                      <a:tcPr/>
                    </a:tc>
                    <a:tc>
                      <a:txBody>
                        <a:bodyPr/>
                        <a:lstStyle/>
                        <a:p>
                          <a:pPr algn="ctr"/>
                          <a:r>
                            <a:rPr lang="en-US" dirty="0"/>
                            <a:t>2</a:t>
                          </a:r>
                        </a:p>
                      </a:txBody>
                      <a:tcPr/>
                    </a:tc>
                    <a:extLst>
                      <a:ext uri="{0D108BD9-81ED-4DB2-BD59-A6C34878D82A}">
                        <a16:rowId xmlns:a16="http://schemas.microsoft.com/office/drawing/2014/main" val="10006"/>
                      </a:ext>
                    </a:extLst>
                  </a:tr>
                  <a:tr h="373662">
                    <a:tc>
                      <a:txBody>
                        <a:bodyPr/>
                        <a:lstStyle/>
                        <a:p>
                          <a:pPr algn="ctr"/>
                          <a:r>
                            <a:rPr lang="en-US" dirty="0"/>
                            <a:t>NDD</a:t>
                          </a:r>
                        </a:p>
                      </a:txBody>
                      <a:tcPr/>
                    </a:tc>
                    <a:tc>
                      <a:txBody>
                        <a:bodyPr/>
                        <a:lstStyle/>
                        <a:p>
                          <a:pPr algn="ctr"/>
                          <a:r>
                            <a:rPr lang="en-US" dirty="0"/>
                            <a:t>2</a:t>
                          </a:r>
                        </a:p>
                      </a:txBody>
                      <a:tcPr/>
                    </a:tc>
                    <a:extLst>
                      <a:ext uri="{0D108BD9-81ED-4DB2-BD59-A6C34878D82A}">
                        <a16:rowId xmlns:a16="http://schemas.microsoft.com/office/drawing/2014/main" val="10007"/>
                      </a:ext>
                    </a:extLst>
                  </a:tr>
                  <a:tr h="373662">
                    <a:tc>
                      <a:txBody>
                        <a:bodyPr/>
                        <a:lstStyle/>
                        <a:p>
                          <a:pPr algn="ctr"/>
                          <a:r>
                            <a:rPr lang="en-US" dirty="0"/>
                            <a:t>NNN</a:t>
                          </a:r>
                        </a:p>
                      </a:txBody>
                      <a:tcPr/>
                    </a:tc>
                    <a:tc>
                      <a:txBody>
                        <a:bodyPr/>
                        <a:lstStyle/>
                        <a:p>
                          <a:pPr algn="ctr"/>
                          <a:r>
                            <a:rPr lang="en-US" dirty="0"/>
                            <a:t>0</a:t>
                          </a:r>
                        </a:p>
                      </a:txBody>
                      <a:tcPr/>
                    </a:tc>
                    <a:extLst>
                      <a:ext uri="{0D108BD9-81ED-4DB2-BD59-A6C34878D82A}">
                        <a16:rowId xmlns:a16="http://schemas.microsoft.com/office/drawing/2014/main" val="10008"/>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4116737686"/>
                  </p:ext>
                </p:extLst>
              </p:nvPr>
            </p:nvGraphicFramePr>
            <p:xfrm>
              <a:off x="1524000" y="2743200"/>
              <a:ext cx="6096000" cy="3362958"/>
            </p:xfrm>
            <a:graphic>
              <a:graphicData uri="http://schemas.openxmlformats.org/drawingml/2006/table">
                <a:tbl>
                  <a:tblPr firstRow="1" bandRow="1">
                    <a:tableStyleId>{073A0DAA-6AF3-43AB-8588-CEC1D06C72B9}</a:tableStyleId>
                  </a:tblPr>
                  <a:tblGrid>
                    <a:gridCol w="3048000"/>
                    <a:gridCol w="3048000"/>
                  </a:tblGrid>
                  <a:tr h="373662">
                    <a:tc>
                      <a:txBody>
                        <a:bodyPr/>
                        <a:lstStyle/>
                        <a:p>
                          <a:pPr algn="ctr"/>
                          <a:r>
                            <a:rPr lang="en-US" dirty="0" smtClean="0"/>
                            <a:t>Outcome</a:t>
                          </a:r>
                          <a:endParaRPr lang="en-US" dirty="0"/>
                        </a:p>
                      </a:txBody>
                      <a:tcPr/>
                    </a:tc>
                    <a:tc>
                      <a:txBody>
                        <a:bodyPr/>
                        <a:lstStyle/>
                        <a:p>
                          <a:endParaRPr lang="en-US"/>
                        </a:p>
                      </a:txBody>
                      <a:tcPr>
                        <a:blipFill rotWithShape="1">
                          <a:blip r:embed="rId3"/>
                          <a:stretch>
                            <a:fillRect l="-100000" t="-8197" b="-827869"/>
                          </a:stretch>
                        </a:blipFill>
                      </a:tcPr>
                    </a:tc>
                  </a:tr>
                  <a:tr h="373662">
                    <a:tc>
                      <a:txBody>
                        <a:bodyPr/>
                        <a:lstStyle/>
                        <a:p>
                          <a:pPr algn="ctr"/>
                          <a:r>
                            <a:rPr lang="en-US" dirty="0" smtClean="0"/>
                            <a:t>DDD</a:t>
                          </a:r>
                          <a:endParaRPr lang="en-US" dirty="0"/>
                        </a:p>
                      </a:txBody>
                      <a:tcPr/>
                    </a:tc>
                    <a:tc>
                      <a:txBody>
                        <a:bodyPr/>
                        <a:lstStyle/>
                        <a:p>
                          <a:pPr algn="ctr"/>
                          <a:r>
                            <a:rPr lang="en-US" dirty="0" smtClean="0"/>
                            <a:t>3</a:t>
                          </a:r>
                          <a:endParaRPr lang="en-US" dirty="0"/>
                        </a:p>
                      </a:txBody>
                      <a:tcPr/>
                    </a:tc>
                  </a:tr>
                  <a:tr h="373662">
                    <a:tc>
                      <a:txBody>
                        <a:bodyPr/>
                        <a:lstStyle/>
                        <a:p>
                          <a:pPr algn="ctr"/>
                          <a:r>
                            <a:rPr lang="en-US" dirty="0" smtClean="0"/>
                            <a:t>DNN</a:t>
                          </a:r>
                          <a:endParaRPr lang="en-US" dirty="0"/>
                        </a:p>
                      </a:txBody>
                      <a:tcPr/>
                    </a:tc>
                    <a:tc>
                      <a:txBody>
                        <a:bodyPr/>
                        <a:lstStyle/>
                        <a:p>
                          <a:pPr algn="ctr"/>
                          <a:r>
                            <a:rPr lang="en-US" dirty="0" smtClean="0"/>
                            <a:t>1</a:t>
                          </a:r>
                          <a:endParaRPr lang="en-US" dirty="0"/>
                        </a:p>
                      </a:txBody>
                      <a:tcPr/>
                    </a:tc>
                  </a:tr>
                  <a:tr h="373662">
                    <a:tc>
                      <a:txBody>
                        <a:bodyPr/>
                        <a:lstStyle/>
                        <a:p>
                          <a:pPr algn="ctr"/>
                          <a:r>
                            <a:rPr lang="en-US" dirty="0" smtClean="0"/>
                            <a:t>NDN</a:t>
                          </a:r>
                          <a:endParaRPr lang="en-US" dirty="0"/>
                        </a:p>
                      </a:txBody>
                      <a:tcPr/>
                    </a:tc>
                    <a:tc>
                      <a:txBody>
                        <a:bodyPr/>
                        <a:lstStyle/>
                        <a:p>
                          <a:pPr algn="ctr"/>
                          <a:r>
                            <a:rPr lang="en-US" dirty="0" smtClean="0"/>
                            <a:t>1</a:t>
                          </a:r>
                          <a:endParaRPr lang="en-US" dirty="0"/>
                        </a:p>
                      </a:txBody>
                      <a:tcPr/>
                    </a:tc>
                  </a:tr>
                  <a:tr h="373662">
                    <a:tc>
                      <a:txBody>
                        <a:bodyPr/>
                        <a:lstStyle/>
                        <a:p>
                          <a:pPr algn="ctr"/>
                          <a:r>
                            <a:rPr lang="en-US" dirty="0" smtClean="0"/>
                            <a:t>NND</a:t>
                          </a:r>
                          <a:endParaRPr lang="en-US" dirty="0"/>
                        </a:p>
                      </a:txBody>
                      <a:tcPr/>
                    </a:tc>
                    <a:tc>
                      <a:txBody>
                        <a:bodyPr/>
                        <a:lstStyle/>
                        <a:p>
                          <a:pPr algn="ctr"/>
                          <a:r>
                            <a:rPr lang="en-US" dirty="0" smtClean="0"/>
                            <a:t>1</a:t>
                          </a:r>
                          <a:endParaRPr lang="en-US" dirty="0"/>
                        </a:p>
                      </a:txBody>
                      <a:tcPr/>
                    </a:tc>
                  </a:tr>
                  <a:tr h="373662">
                    <a:tc>
                      <a:txBody>
                        <a:bodyPr/>
                        <a:lstStyle/>
                        <a:p>
                          <a:pPr algn="ctr"/>
                          <a:r>
                            <a:rPr lang="en-US" dirty="0" smtClean="0"/>
                            <a:t>DDN</a:t>
                          </a:r>
                          <a:endParaRPr lang="en-US" dirty="0"/>
                        </a:p>
                      </a:txBody>
                      <a:tcPr/>
                    </a:tc>
                    <a:tc>
                      <a:txBody>
                        <a:bodyPr/>
                        <a:lstStyle/>
                        <a:p>
                          <a:pPr algn="ctr"/>
                          <a:r>
                            <a:rPr lang="en-US" dirty="0" smtClean="0"/>
                            <a:t>2</a:t>
                          </a:r>
                          <a:endParaRPr lang="en-US" dirty="0"/>
                        </a:p>
                      </a:txBody>
                      <a:tcPr/>
                    </a:tc>
                  </a:tr>
                  <a:tr h="373662">
                    <a:tc>
                      <a:txBody>
                        <a:bodyPr/>
                        <a:lstStyle/>
                        <a:p>
                          <a:pPr algn="ctr"/>
                          <a:r>
                            <a:rPr lang="en-US" dirty="0" smtClean="0"/>
                            <a:t>DND</a:t>
                          </a:r>
                          <a:endParaRPr lang="en-US" dirty="0"/>
                        </a:p>
                      </a:txBody>
                      <a:tcPr/>
                    </a:tc>
                    <a:tc>
                      <a:txBody>
                        <a:bodyPr/>
                        <a:lstStyle/>
                        <a:p>
                          <a:pPr algn="ctr"/>
                          <a:r>
                            <a:rPr lang="en-US" dirty="0" smtClean="0"/>
                            <a:t>2</a:t>
                          </a:r>
                          <a:endParaRPr lang="en-US" dirty="0"/>
                        </a:p>
                      </a:txBody>
                      <a:tcPr/>
                    </a:tc>
                  </a:tr>
                  <a:tr h="373662">
                    <a:tc>
                      <a:txBody>
                        <a:bodyPr/>
                        <a:lstStyle/>
                        <a:p>
                          <a:pPr algn="ctr"/>
                          <a:r>
                            <a:rPr lang="en-US" dirty="0" smtClean="0"/>
                            <a:t>NDD</a:t>
                          </a:r>
                          <a:endParaRPr lang="en-US" dirty="0"/>
                        </a:p>
                      </a:txBody>
                      <a:tcPr/>
                    </a:tc>
                    <a:tc>
                      <a:txBody>
                        <a:bodyPr/>
                        <a:lstStyle/>
                        <a:p>
                          <a:pPr algn="ctr"/>
                          <a:r>
                            <a:rPr lang="en-US" dirty="0" smtClean="0"/>
                            <a:t>2</a:t>
                          </a:r>
                          <a:endParaRPr lang="en-US" dirty="0"/>
                        </a:p>
                      </a:txBody>
                      <a:tcPr/>
                    </a:tc>
                  </a:tr>
                  <a:tr h="373662">
                    <a:tc>
                      <a:txBody>
                        <a:bodyPr/>
                        <a:lstStyle/>
                        <a:p>
                          <a:pPr algn="ctr"/>
                          <a:r>
                            <a:rPr lang="en-US" dirty="0" smtClean="0"/>
                            <a:t>NNN</a:t>
                          </a:r>
                          <a:endParaRPr lang="en-US" dirty="0"/>
                        </a:p>
                      </a:txBody>
                      <a:tcPr/>
                    </a:tc>
                    <a:tc>
                      <a:txBody>
                        <a:bodyPr/>
                        <a:lstStyle/>
                        <a:p>
                          <a:pPr algn="ctr"/>
                          <a:r>
                            <a:rPr lang="en-US" dirty="0" smtClean="0"/>
                            <a:t>0</a:t>
                          </a:r>
                          <a:endParaRPr lang="en-US" dirty="0"/>
                        </a:p>
                      </a:txBody>
                      <a:tcPr/>
                    </a:tc>
                  </a:tr>
                </a:tbl>
              </a:graphicData>
            </a:graphic>
          </p:graphicFrame>
        </mc:Fallback>
      </mc:AlternateContent>
    </p:spTree>
    <p:extLst>
      <p:ext uri="{BB962C8B-B14F-4D97-AF65-F5344CB8AC3E}">
        <p14:creationId xmlns:p14="http://schemas.microsoft.com/office/powerpoint/2010/main" val="3712478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The independence of the trials makes calculations easier:</a:t>
                </a:r>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𝑁𝐷𝑁</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𝐷𝑁𝑁</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𝑁𝑁𝐷</m:t>
                        </m:r>
                      </m:e>
                    </m:d>
                    <m:r>
                      <a:rPr lang="en-US" b="0" i="1" smtClean="0">
                        <a:latin typeface="Cambria Math"/>
                      </a:rPr>
                      <m:t>=</m:t>
                    </m:r>
                    <m:d>
                      <m:dPr>
                        <m:ctrlPr>
                          <a:rPr lang="en-US" b="0" i="1" smtClean="0">
                            <a:latin typeface="Cambria Math" panose="02040503050406030204" pitchFamily="18" charset="0"/>
                          </a:rPr>
                        </m:ctrlPr>
                      </m:dPr>
                      <m:e>
                        <m:r>
                          <a:rPr lang="en-US" b="0" i="1" smtClean="0">
                            <a:latin typeface="Cambria Math"/>
                          </a:rPr>
                          <m:t>0.03</m:t>
                        </m:r>
                      </m:e>
                    </m:d>
                    <m:d>
                      <m:dPr>
                        <m:ctrlPr>
                          <a:rPr lang="en-US" b="0" i="1" smtClean="0">
                            <a:latin typeface="Cambria Math" panose="02040503050406030204" pitchFamily="18" charset="0"/>
                          </a:rPr>
                        </m:ctrlPr>
                      </m:dPr>
                      <m:e>
                        <m:r>
                          <a:rPr lang="en-US" b="0" i="1" smtClean="0">
                            <a:latin typeface="Cambria Math"/>
                          </a:rPr>
                          <m:t>0.97</m:t>
                        </m:r>
                      </m:e>
                    </m:d>
                    <m:d>
                      <m:dPr>
                        <m:ctrlPr>
                          <a:rPr lang="en-US" b="0" i="1" smtClean="0">
                            <a:latin typeface="Cambria Math" panose="02040503050406030204" pitchFamily="18" charset="0"/>
                          </a:rPr>
                        </m:ctrlPr>
                      </m:dPr>
                      <m:e>
                        <m:r>
                          <a:rPr lang="en-US" b="0" i="1" smtClean="0">
                            <a:latin typeface="Cambria Math"/>
                          </a:rPr>
                          <m:t>0.97</m:t>
                        </m:r>
                      </m:e>
                    </m:d>
                    <m:r>
                      <a:rPr lang="en-US" b="0" i="1" smtClean="0">
                        <a:latin typeface="Cambria Math"/>
                      </a:rPr>
                      <m:t>=0.028227</m:t>
                    </m:r>
                  </m:oMath>
                </a14:m>
                <a:endParaRPr lang="en-US"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𝑁𝐷𝐷</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𝐷𝐷𝑁</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𝐷𝑁𝐷</m:t>
                        </m:r>
                      </m:e>
                    </m:d>
                    <m:r>
                      <a:rPr lang="en-US" b="0" i="1" smtClean="0">
                        <a:latin typeface="Cambria Math"/>
                      </a:rPr>
                      <m:t>=</m:t>
                    </m:r>
                    <m:d>
                      <m:dPr>
                        <m:ctrlPr>
                          <a:rPr lang="en-US" i="1">
                            <a:latin typeface="Cambria Math" panose="02040503050406030204" pitchFamily="18" charset="0"/>
                          </a:rPr>
                        </m:ctrlPr>
                      </m:dPr>
                      <m:e>
                        <m:r>
                          <a:rPr lang="en-US" i="1">
                            <a:latin typeface="Cambria Math"/>
                          </a:rPr>
                          <m:t>0.03</m:t>
                        </m:r>
                      </m:e>
                    </m:d>
                    <m:d>
                      <m:dPr>
                        <m:ctrlPr>
                          <a:rPr lang="en-US" i="1">
                            <a:latin typeface="Cambria Math" panose="02040503050406030204" pitchFamily="18" charset="0"/>
                          </a:rPr>
                        </m:ctrlPr>
                      </m:dPr>
                      <m:e>
                        <m:r>
                          <a:rPr lang="en-US" i="1">
                            <a:latin typeface="Cambria Math"/>
                          </a:rPr>
                          <m:t>0.</m:t>
                        </m:r>
                        <m:r>
                          <a:rPr lang="en-US" b="0" i="1" smtClean="0">
                            <a:latin typeface="Cambria Math"/>
                          </a:rPr>
                          <m:t>03</m:t>
                        </m:r>
                      </m:e>
                    </m:d>
                    <m:d>
                      <m:dPr>
                        <m:ctrlPr>
                          <a:rPr lang="en-US" i="1">
                            <a:latin typeface="Cambria Math" panose="02040503050406030204" pitchFamily="18" charset="0"/>
                          </a:rPr>
                        </m:ctrlPr>
                      </m:dPr>
                      <m:e>
                        <m:r>
                          <a:rPr lang="en-US" i="1">
                            <a:latin typeface="Cambria Math"/>
                          </a:rPr>
                          <m:t>0.97</m:t>
                        </m:r>
                      </m:e>
                    </m:d>
                    <m:r>
                      <a:rPr lang="en-US" b="0" i="1" smtClean="0">
                        <a:latin typeface="Cambria Math"/>
                      </a:rPr>
                      <m:t>=0.000873</m:t>
                    </m:r>
                  </m:oMath>
                </a14:m>
                <a:endParaRPr lang="en-US"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𝑁𝑁𝑁</m:t>
                        </m:r>
                      </m:e>
                    </m:d>
                    <m:r>
                      <a:rPr lang="en-US" b="0" i="1" smtClean="0">
                        <a:latin typeface="Cambria Math"/>
                      </a:rPr>
                      <m:t>=</m:t>
                    </m:r>
                    <m:d>
                      <m:dPr>
                        <m:ctrlPr>
                          <a:rPr lang="en-US" i="1">
                            <a:latin typeface="Cambria Math" panose="02040503050406030204" pitchFamily="18" charset="0"/>
                          </a:rPr>
                        </m:ctrlPr>
                      </m:dPr>
                      <m:e>
                        <m:r>
                          <a:rPr lang="en-US" i="1">
                            <a:latin typeface="Cambria Math"/>
                          </a:rPr>
                          <m:t>0.</m:t>
                        </m:r>
                        <m:r>
                          <a:rPr lang="en-US" b="0" i="1" smtClean="0">
                            <a:latin typeface="Cambria Math"/>
                          </a:rPr>
                          <m:t>97</m:t>
                        </m:r>
                      </m:e>
                    </m:d>
                    <m:d>
                      <m:dPr>
                        <m:ctrlPr>
                          <a:rPr lang="en-US" i="1">
                            <a:latin typeface="Cambria Math" panose="02040503050406030204" pitchFamily="18" charset="0"/>
                          </a:rPr>
                        </m:ctrlPr>
                      </m:dPr>
                      <m:e>
                        <m:r>
                          <a:rPr lang="en-US" i="1">
                            <a:latin typeface="Cambria Math"/>
                          </a:rPr>
                          <m:t>0.97</m:t>
                        </m:r>
                      </m:e>
                    </m:d>
                    <m:d>
                      <m:dPr>
                        <m:ctrlPr>
                          <a:rPr lang="en-US" i="1">
                            <a:latin typeface="Cambria Math" panose="02040503050406030204" pitchFamily="18" charset="0"/>
                          </a:rPr>
                        </m:ctrlPr>
                      </m:dPr>
                      <m:e>
                        <m:r>
                          <a:rPr lang="en-US" i="1">
                            <a:latin typeface="Cambria Math"/>
                          </a:rPr>
                          <m:t>0.97</m:t>
                        </m:r>
                      </m:e>
                    </m:d>
                    <m:r>
                      <a:rPr lang="en-US" b="0" i="1" smtClean="0">
                        <a:latin typeface="Cambria Math"/>
                      </a:rPr>
                      <m:t>=0.912673</m:t>
                    </m:r>
                  </m:oMath>
                </a14:m>
                <a:endParaRPr lang="en-US" b="0"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𝐷𝐷𝐷</m:t>
                        </m:r>
                      </m:e>
                    </m:d>
                    <m:r>
                      <a:rPr lang="en-US" b="0" i="1" smtClean="0">
                        <a:latin typeface="Cambria Math"/>
                      </a:rPr>
                      <m:t>=</m:t>
                    </m:r>
                    <m:d>
                      <m:dPr>
                        <m:ctrlPr>
                          <a:rPr lang="en-US" i="1">
                            <a:latin typeface="Cambria Math" panose="02040503050406030204" pitchFamily="18" charset="0"/>
                          </a:rPr>
                        </m:ctrlPr>
                      </m:dPr>
                      <m:e>
                        <m:r>
                          <a:rPr lang="en-US" i="1">
                            <a:latin typeface="Cambria Math"/>
                          </a:rPr>
                          <m:t>0.03</m:t>
                        </m:r>
                      </m:e>
                    </m:d>
                    <m:d>
                      <m:dPr>
                        <m:ctrlPr>
                          <a:rPr lang="en-US" i="1">
                            <a:latin typeface="Cambria Math" panose="02040503050406030204" pitchFamily="18" charset="0"/>
                          </a:rPr>
                        </m:ctrlPr>
                      </m:dPr>
                      <m:e>
                        <m:r>
                          <a:rPr lang="en-US" i="1">
                            <a:latin typeface="Cambria Math"/>
                          </a:rPr>
                          <m:t>0.</m:t>
                        </m:r>
                        <m:r>
                          <a:rPr lang="en-US" b="0" i="1" smtClean="0">
                            <a:latin typeface="Cambria Math"/>
                          </a:rPr>
                          <m:t>03</m:t>
                        </m:r>
                      </m:e>
                    </m:d>
                    <m:d>
                      <m:dPr>
                        <m:ctrlPr>
                          <a:rPr lang="en-US" i="1">
                            <a:latin typeface="Cambria Math" panose="02040503050406030204" pitchFamily="18" charset="0"/>
                          </a:rPr>
                        </m:ctrlPr>
                      </m:dPr>
                      <m:e>
                        <m:r>
                          <a:rPr lang="en-US" i="1">
                            <a:latin typeface="Cambria Math"/>
                          </a:rPr>
                          <m:t>0</m:t>
                        </m:r>
                        <m:r>
                          <a:rPr lang="en-US" b="0" i="1" smtClean="0">
                            <a:latin typeface="Cambria Math"/>
                          </a:rPr>
                          <m:t>.03</m:t>
                        </m:r>
                      </m:e>
                    </m:d>
                    <m:r>
                      <a:rPr lang="en-US" b="0" i="1" smtClean="0">
                        <a:latin typeface="Cambria Math"/>
                      </a:rPr>
                      <m:t>=0.000027</m:t>
                    </m:r>
                  </m:oMath>
                </a14:m>
                <a:endParaRPr lang="en-US" dirty="0"/>
              </a:p>
              <a:p>
                <a:r>
                  <a:rPr lang="en-US" dirty="0"/>
                  <a:t>This leads to the following probability distribution for </a:t>
                </a:r>
                <a14:m>
                  <m:oMath xmlns:m="http://schemas.openxmlformats.org/officeDocument/2006/math">
                    <m:r>
                      <a:rPr lang="en-US" b="0" i="1" smtClean="0">
                        <a:latin typeface="Cambria Math"/>
                      </a:rPr>
                      <m:t>𝑋</m:t>
                    </m:r>
                  </m:oMath>
                </a14:m>
                <a:r>
                  <a:rPr lang="en-US" dirty="0"/>
                  <a:t>:</a:t>
                </a:r>
              </a:p>
              <a:p>
                <a:pPr marL="0"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904262221"/>
                  </p:ext>
                </p:extLst>
              </p:nvPr>
            </p:nvGraphicFramePr>
            <p:xfrm>
              <a:off x="1447800" y="4953000"/>
              <a:ext cx="6096000" cy="741680"/>
            </p:xfrm>
            <a:graphic>
              <a:graphicData uri="http://schemas.openxmlformats.org/drawingml/2006/table">
                <a:tbl>
                  <a:tblPr firstRow="1" bandRow="1">
                    <a:tableStyleId>{073A0DAA-6AF3-43AB-8588-CEC1D06C72B9}</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𝑋</m:t>
                                </m:r>
                                <m:r>
                                  <a:rPr lang="en-US" b="0" i="1" smtClean="0">
                                    <a:latin typeface="Cambria Math"/>
                                  </a:rPr>
                                  <m:t>=</m:t>
                                </m:r>
                                <m:r>
                                  <a:rPr lang="en-US" b="0" i="1" smtClean="0">
                                    <a:latin typeface="Cambria Math"/>
                                  </a:rPr>
                                  <m:t>𝑥</m:t>
                                </m:r>
                                <m:r>
                                  <a:rPr lang="en-US" b="0" i="1" smtClean="0">
                                    <a:latin typeface="Cambria Math"/>
                                  </a:rPr>
                                  <m:t>)</m:t>
                                </m:r>
                              </m:oMath>
                            </m:oMathPara>
                          </a14:m>
                          <a:endParaRPr lang="en-US" dirty="0"/>
                        </a:p>
                      </a:txBody>
                      <a:tcPr/>
                    </a:tc>
                    <a:tc>
                      <a:txBody>
                        <a:bodyPr/>
                        <a:lstStyle/>
                        <a:p>
                          <a:pPr algn="ctr"/>
                          <a:r>
                            <a:rPr lang="en-US" dirty="0"/>
                            <a:t>0.912673</a:t>
                          </a:r>
                        </a:p>
                      </a:txBody>
                      <a:tcPr/>
                    </a:tc>
                    <a:tc>
                      <a:txBody>
                        <a:bodyPr/>
                        <a:lstStyle/>
                        <a:p>
                          <a:pPr algn="ctr"/>
                          <a:r>
                            <a:rPr lang="en-US" dirty="0"/>
                            <a:t>0.084681</a:t>
                          </a:r>
                        </a:p>
                      </a:txBody>
                      <a:tcPr/>
                    </a:tc>
                    <a:tc>
                      <a:txBody>
                        <a:bodyPr/>
                        <a:lstStyle/>
                        <a:p>
                          <a:pPr algn="ctr"/>
                          <a:r>
                            <a:rPr lang="en-US" dirty="0"/>
                            <a:t>0.002619</a:t>
                          </a:r>
                        </a:p>
                      </a:txBody>
                      <a:tcPr/>
                    </a:tc>
                    <a:tc>
                      <a:txBody>
                        <a:bodyPr/>
                        <a:lstStyle/>
                        <a:p>
                          <a:pPr algn="ctr"/>
                          <a:r>
                            <a:rPr lang="en-US" dirty="0"/>
                            <a:t>0.000027</a:t>
                          </a:r>
                        </a:p>
                      </a:txBody>
                      <a:tcPr/>
                    </a:tc>
                    <a:extLst>
                      <a:ext uri="{0D108BD9-81ED-4DB2-BD59-A6C34878D82A}">
                        <a16:rowId xmlns:a16="http://schemas.microsoft.com/office/drawing/2014/main" val="100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904262221"/>
                  </p:ext>
                </p:extLst>
              </p:nvPr>
            </p:nvGraphicFramePr>
            <p:xfrm>
              <a:off x="1447800" y="4953000"/>
              <a:ext cx="6096000" cy="741680"/>
            </p:xfrm>
            <a:graphic>
              <a:graphicData uri="http://schemas.openxmlformats.org/drawingml/2006/table">
                <a:tbl>
                  <a:tblPr firstRow="1" bandRow="1">
                    <a:tableStyleId>{073A0DAA-6AF3-43AB-8588-CEC1D06C72B9}</a:tableStyleId>
                  </a:tblPr>
                  <a:tblGrid>
                    <a:gridCol w="1219200"/>
                    <a:gridCol w="1219200"/>
                    <a:gridCol w="1219200"/>
                    <a:gridCol w="1219200"/>
                    <a:gridCol w="1219200"/>
                  </a:tblGrid>
                  <a:tr h="370840">
                    <a:tc>
                      <a:txBody>
                        <a:bodyPr/>
                        <a:lstStyle/>
                        <a:p>
                          <a:endParaRPr lang="en-US"/>
                        </a:p>
                      </a:txBody>
                      <a:tcPr>
                        <a:blipFill rotWithShape="1">
                          <a:blip r:embed="rId3"/>
                          <a:stretch>
                            <a:fillRect l="-500" t="-8197" r="-400000" b="-122951"/>
                          </a:stretch>
                        </a:blipFill>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2</a:t>
                          </a:r>
                          <a:endParaRPr lang="en-US" dirty="0"/>
                        </a:p>
                      </a:txBody>
                      <a:tcPr/>
                    </a:tc>
                    <a:tc>
                      <a:txBody>
                        <a:bodyPr/>
                        <a:lstStyle/>
                        <a:p>
                          <a:pPr algn="ctr"/>
                          <a:r>
                            <a:rPr lang="en-US" dirty="0" smtClean="0"/>
                            <a:t>3</a:t>
                          </a:r>
                          <a:endParaRPr lang="en-US" dirty="0"/>
                        </a:p>
                      </a:txBody>
                      <a:tcPr/>
                    </a:tc>
                  </a:tr>
                  <a:tr h="370840">
                    <a:tc>
                      <a:txBody>
                        <a:bodyPr/>
                        <a:lstStyle/>
                        <a:p>
                          <a:endParaRPr lang="en-US"/>
                        </a:p>
                      </a:txBody>
                      <a:tcPr>
                        <a:blipFill rotWithShape="1">
                          <a:blip r:embed="rId3"/>
                          <a:stretch>
                            <a:fillRect l="-500" t="-110000" r="-400000" b="-25000"/>
                          </a:stretch>
                        </a:blipFill>
                      </a:tcPr>
                    </a:tc>
                    <a:tc>
                      <a:txBody>
                        <a:bodyPr/>
                        <a:lstStyle/>
                        <a:p>
                          <a:pPr algn="ctr"/>
                          <a:r>
                            <a:rPr lang="en-US" dirty="0" smtClean="0"/>
                            <a:t>0.912673</a:t>
                          </a:r>
                          <a:endParaRPr lang="en-US" dirty="0"/>
                        </a:p>
                      </a:txBody>
                      <a:tcPr/>
                    </a:tc>
                    <a:tc>
                      <a:txBody>
                        <a:bodyPr/>
                        <a:lstStyle/>
                        <a:p>
                          <a:pPr algn="ctr"/>
                          <a:r>
                            <a:rPr lang="en-US" dirty="0" smtClean="0"/>
                            <a:t>0.084681</a:t>
                          </a:r>
                          <a:endParaRPr lang="en-US" dirty="0"/>
                        </a:p>
                      </a:txBody>
                      <a:tcPr/>
                    </a:tc>
                    <a:tc>
                      <a:txBody>
                        <a:bodyPr/>
                        <a:lstStyle/>
                        <a:p>
                          <a:pPr algn="ctr"/>
                          <a:r>
                            <a:rPr lang="en-US" dirty="0" smtClean="0"/>
                            <a:t>0.002619</a:t>
                          </a:r>
                          <a:endParaRPr lang="en-US" dirty="0"/>
                        </a:p>
                      </a:txBody>
                      <a:tcPr/>
                    </a:tc>
                    <a:tc>
                      <a:txBody>
                        <a:bodyPr/>
                        <a:lstStyle/>
                        <a:p>
                          <a:pPr algn="ctr"/>
                          <a:r>
                            <a:rPr lang="en-US" dirty="0" smtClean="0"/>
                            <a:t>0.000027</a:t>
                          </a:r>
                          <a:endParaRPr lang="en-US" dirty="0"/>
                        </a:p>
                      </a:txBody>
                      <a:tcPr/>
                    </a:tc>
                  </a:tr>
                </a:tbl>
              </a:graphicData>
            </a:graphic>
          </p:graphicFrame>
        </mc:Fallback>
      </mc:AlternateContent>
    </p:spTree>
    <p:extLst>
      <p:ext uri="{BB962C8B-B14F-4D97-AF65-F5344CB8AC3E}">
        <p14:creationId xmlns:p14="http://schemas.microsoft.com/office/powerpoint/2010/main" val="2018860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This is an example of a </a:t>
                </a:r>
                <a:r>
                  <a:rPr lang="en-US" i="1" dirty="0"/>
                  <a:t>binomial distribution</a:t>
                </a:r>
                <a:r>
                  <a:rPr lang="en-US" dirty="0"/>
                  <a:t>. The number </a:t>
                </a:r>
                <a14:m>
                  <m:oMath xmlns:m="http://schemas.openxmlformats.org/officeDocument/2006/math">
                    <m:r>
                      <a:rPr lang="en-US" b="0" i="1" smtClean="0">
                        <a:latin typeface="Cambria Math"/>
                      </a:rPr>
                      <m:t>𝑋</m:t>
                    </m:r>
                  </m:oMath>
                </a14:m>
                <a:r>
                  <a:rPr lang="en-US" dirty="0"/>
                  <a:t> of successes in </a:t>
                </a:r>
                <a14:m>
                  <m:oMath xmlns:m="http://schemas.openxmlformats.org/officeDocument/2006/math">
                    <m:r>
                      <a:rPr lang="en-US" b="0" i="1" smtClean="0">
                        <a:latin typeface="Cambria Math"/>
                      </a:rPr>
                      <m:t>𝑛</m:t>
                    </m:r>
                  </m:oMath>
                </a14:m>
                <a:r>
                  <a:rPr lang="en-US" dirty="0"/>
                  <a:t> Bernoulli trials is a </a:t>
                </a:r>
                <a:r>
                  <a:rPr lang="en-US" i="1" dirty="0"/>
                  <a:t>binomial random variable</a:t>
                </a:r>
                <a:r>
                  <a:rPr lang="en-US" dirty="0"/>
                  <a:t>. </a:t>
                </a:r>
              </a:p>
              <a:p>
                <a:endParaRPr lang="en-US" dirty="0"/>
              </a:p>
              <a:p>
                <a:r>
                  <a:rPr lang="en-US" dirty="0"/>
                  <a:t>From this definition, a binomial distribution depends on two parameters: the number of Bernoulli trials, </a:t>
                </a:r>
                <a14:m>
                  <m:oMath xmlns:m="http://schemas.openxmlformats.org/officeDocument/2006/math">
                    <m:r>
                      <a:rPr lang="en-US" b="0" i="1" smtClean="0">
                        <a:latin typeface="Cambria Math"/>
                      </a:rPr>
                      <m:t>𝑛</m:t>
                    </m:r>
                  </m:oMath>
                </a14:m>
                <a:r>
                  <a:rPr lang="en-US" dirty="0"/>
                  <a:t>, and the probability of success, </a:t>
                </a:r>
                <a14:m>
                  <m:oMath xmlns:m="http://schemas.openxmlformats.org/officeDocument/2006/math">
                    <m:r>
                      <a:rPr lang="en-US" b="0" i="1" smtClean="0">
                        <a:latin typeface="Cambria Math"/>
                      </a:rPr>
                      <m:t>𝑝</m:t>
                    </m:r>
                  </m:oMath>
                </a14:m>
                <a:r>
                  <a:rPr lang="en-US" dirty="0"/>
                  <a:t>.</a:t>
                </a:r>
              </a:p>
              <a:p>
                <a:endParaRPr lang="en-US" dirty="0"/>
              </a:p>
              <a:p>
                <a:r>
                  <a:rPr lang="en-US" dirty="0"/>
                  <a:t>If we have </a:t>
                </a:r>
                <a14:m>
                  <m:oMath xmlns:m="http://schemas.openxmlformats.org/officeDocument/2006/math">
                    <m:r>
                      <a:rPr lang="en-US" b="0" i="1" smtClean="0">
                        <a:latin typeface="Cambria Math"/>
                      </a:rPr>
                      <m:t>𝑛</m:t>
                    </m:r>
                  </m:oMath>
                </a14:m>
                <a:r>
                  <a:rPr lang="en-US" dirty="0"/>
                  <a:t> and </a:t>
                </a:r>
                <a14:m>
                  <m:oMath xmlns:m="http://schemas.openxmlformats.org/officeDocument/2006/math">
                    <m:r>
                      <a:rPr lang="en-US" b="0" i="1" smtClean="0">
                        <a:latin typeface="Cambria Math"/>
                      </a:rPr>
                      <m:t>𝑝</m:t>
                    </m:r>
                  </m:oMath>
                </a14:m>
                <a:r>
                  <a:rPr lang="en-US" dirty="0"/>
                  <a:t>, we can calculate any probability for </a:t>
                </a:r>
                <a14:m>
                  <m:oMath xmlns:m="http://schemas.openxmlformats.org/officeDocument/2006/math">
                    <m:r>
                      <a:rPr lang="en-US" b="0" i="1" smtClean="0">
                        <a:latin typeface="Cambria Math"/>
                      </a:rPr>
                      <m:t>𝑋</m:t>
                    </m:r>
                  </m:oMath>
                </a14:m>
                <a:r>
                  <a:rPr lang="en-US" dirty="0"/>
                  <a:t> that we are interested in. </a:t>
                </a:r>
              </a:p>
              <a:p>
                <a:pPr marL="0"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1407"/>
                </a:stretch>
              </a:blipFill>
            </p:spPr>
            <p:txBody>
              <a:bodyPr/>
              <a:lstStyle/>
              <a:p>
                <a:r>
                  <a:rPr lang="en-US">
                    <a:noFill/>
                  </a:rPr>
                  <a:t> </a:t>
                </a:r>
              </a:p>
            </p:txBody>
          </p:sp>
        </mc:Fallback>
      </mc:AlternateContent>
    </p:spTree>
    <p:extLst>
      <p:ext uri="{BB962C8B-B14F-4D97-AF65-F5344CB8AC3E}">
        <p14:creationId xmlns:p14="http://schemas.microsoft.com/office/powerpoint/2010/main" val="14966035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Now let’s use the ideas we have introduced to come up with the PMF for the binomial distribution.</a:t>
                </a:r>
              </a:p>
              <a:p>
                <a:endParaRPr lang="en-US" dirty="0"/>
              </a:p>
              <a:p>
                <a:r>
                  <a:rPr lang="en-US" dirty="0"/>
                  <a:t>Assume that there are </a:t>
                </a:r>
                <a14:m>
                  <m:oMath xmlns:m="http://schemas.openxmlformats.org/officeDocument/2006/math">
                    <m:r>
                      <a:rPr lang="en-US" b="0" i="1" smtClean="0">
                        <a:latin typeface="Cambria Math"/>
                      </a:rPr>
                      <m:t>𝑛</m:t>
                    </m:r>
                  </m:oMath>
                </a14:m>
                <a:r>
                  <a:rPr lang="en-US" dirty="0"/>
                  <a:t> Bernoulli trials and </a:t>
                </a:r>
                <a14:m>
                  <m:oMath xmlns:m="http://schemas.openxmlformats.org/officeDocument/2006/math">
                    <m:r>
                      <a:rPr lang="en-US" b="0" i="1" smtClean="0">
                        <a:latin typeface="Cambria Math"/>
                      </a:rPr>
                      <m:t>𝑝</m:t>
                    </m:r>
                  </m:oMath>
                </a14:m>
                <a:r>
                  <a:rPr lang="en-US" dirty="0"/>
                  <a:t> is the probability of success.  We can also define </a:t>
                </a:r>
                <a14:m>
                  <m:oMath xmlns:m="http://schemas.openxmlformats.org/officeDocument/2006/math">
                    <m:r>
                      <a:rPr lang="en-US" b="0" i="1" smtClean="0">
                        <a:latin typeface="Cambria Math"/>
                      </a:rPr>
                      <m:t>𝑞</m:t>
                    </m:r>
                    <m:r>
                      <a:rPr lang="en-US" b="0" i="1" smtClean="0">
                        <a:latin typeface="Cambria Math"/>
                      </a:rPr>
                      <m:t>=1−</m:t>
                    </m:r>
                    <m:r>
                      <a:rPr lang="en-US" b="0" i="1" smtClean="0">
                        <a:latin typeface="Cambria Math"/>
                      </a:rPr>
                      <m:t>𝑝</m:t>
                    </m:r>
                  </m:oMath>
                </a14:m>
                <a:r>
                  <a:rPr lang="en-US" dirty="0"/>
                  <a:t> to be the probability of failure. Then we are interested in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𝑥</m:t>
                        </m:r>
                      </m:e>
                    </m:d>
                    <m:r>
                      <a:rPr lang="en-US" b="0" i="1" smtClean="0">
                        <a:latin typeface="Cambria Math"/>
                      </a:rPr>
                      <m:t>=</m:t>
                    </m:r>
                    <m:r>
                      <a:rPr lang="en-US" b="0" i="1" smtClean="0">
                        <a:latin typeface="Cambria Math"/>
                      </a:rPr>
                      <m:t>𝑏</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𝑛</m:t>
                    </m:r>
                    <m:r>
                      <a:rPr lang="en-US" b="0" i="1" smtClean="0">
                        <a:latin typeface="Cambria Math"/>
                      </a:rPr>
                      <m:t>,</m:t>
                    </m:r>
                    <m:r>
                      <a:rPr lang="en-US" b="0" i="1" smtClean="0">
                        <a:latin typeface="Cambria Math"/>
                      </a:rPr>
                      <m:t>𝑝</m:t>
                    </m:r>
                    <m:r>
                      <a:rPr lang="en-US" b="0" i="1" smtClean="0">
                        <a:latin typeface="Cambria Math"/>
                      </a:rPr>
                      <m:t>)</m:t>
                    </m:r>
                  </m:oMath>
                </a14:m>
                <a:r>
                  <a:rPr lang="en-US" dirty="0"/>
                  <a:t> – the probability that we’ll have </a:t>
                </a:r>
                <a14:m>
                  <m:oMath xmlns:m="http://schemas.openxmlformats.org/officeDocument/2006/math">
                    <m:r>
                      <a:rPr lang="en-US" b="0" i="1" smtClean="0">
                        <a:latin typeface="Cambria Math"/>
                      </a:rPr>
                      <m:t>𝑥</m:t>
                    </m:r>
                  </m:oMath>
                </a14:m>
                <a:r>
                  <a:rPr lang="en-US" dirty="0"/>
                  <a:t> successes (the latter is the book’s notation for a binomial probability). Remembering that each trial is independent, what is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𝑋</m:t>
                    </m:r>
                    <m:r>
                      <a:rPr lang="en-US" b="0" i="1" smtClean="0">
                        <a:latin typeface="Cambria Math"/>
                      </a:rPr>
                      <m:t>=</m:t>
                    </m:r>
                    <m:r>
                      <a:rPr lang="en-US" b="0" i="1" smtClean="0">
                        <a:latin typeface="Cambria Math"/>
                      </a:rPr>
                      <m:t>𝑥</m:t>
                    </m:r>
                    <m:r>
                      <a:rPr lang="en-US" b="0" i="1" smtClean="0">
                        <a:latin typeface="Cambria Math"/>
                      </a:rPr>
                      <m:t>)</m:t>
                    </m:r>
                  </m:oMath>
                </a14:m>
                <a:r>
                  <a:rPr lang="en-US" dirty="0"/>
                  <a:t>?</a:t>
                </a:r>
              </a:p>
              <a:p>
                <a:pPr marL="0"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1037"/>
                </a:stretch>
              </a:blipFill>
            </p:spPr>
            <p:txBody>
              <a:bodyPr/>
              <a:lstStyle/>
              <a:p>
                <a:r>
                  <a:rPr lang="en-US">
                    <a:noFill/>
                  </a:rPr>
                  <a:t> </a:t>
                </a:r>
              </a:p>
            </p:txBody>
          </p:sp>
        </mc:Fallback>
      </mc:AlternateContent>
    </p:spTree>
    <p:extLst>
      <p:ext uri="{BB962C8B-B14F-4D97-AF65-F5344CB8AC3E}">
        <p14:creationId xmlns:p14="http://schemas.microsoft.com/office/powerpoint/2010/main" val="3450600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The PMF for the binomial distribution is given by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𝑥</m:t>
                        </m:r>
                      </m:e>
                    </m:d>
                    <m:r>
                      <a:rPr lang="en-US" b="0" i="1" smtClean="0">
                        <a:latin typeface="Cambria Math"/>
                      </a:rPr>
                      <m:t>=</m:t>
                    </m:r>
                    <m:r>
                      <a:rPr lang="en-US" b="0" i="1" smtClean="0">
                        <a:latin typeface="Cambria Math"/>
                      </a:rPr>
                      <m:t>𝑏</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𝑛</m:t>
                        </m:r>
                        <m:r>
                          <a:rPr lang="en-US" b="0" i="1" smtClean="0">
                            <a:latin typeface="Cambria Math"/>
                          </a:rPr>
                          <m:t>,</m:t>
                        </m:r>
                        <m:r>
                          <a:rPr lang="en-US" b="0" i="1" smtClean="0">
                            <a:latin typeface="Cambria Math"/>
                          </a:rPr>
                          <m:t>𝑝</m:t>
                        </m:r>
                      </m:e>
                    </m:d>
                    <m:r>
                      <a:rPr lang="en-US" b="0" i="1" smtClean="0">
                        <a:latin typeface="Cambria Math"/>
                      </a:rPr>
                      <m:t>=</m:t>
                    </m:r>
                    <m:d>
                      <m:dPr>
                        <m:ctrlPr>
                          <a:rPr lang="en-US" b="0" i="1" smtClean="0">
                            <a:latin typeface="Cambria Math" panose="02040503050406030204" pitchFamily="18" charset="0"/>
                          </a:rPr>
                        </m:ctrlPr>
                      </m:dPr>
                      <m:e>
                        <m:f>
                          <m:fPr>
                            <m:type m:val="noBar"/>
                            <m:ctrlPr>
                              <a:rPr lang="en-US" b="0" i="1" smtClean="0">
                                <a:latin typeface="Cambria Math" panose="02040503050406030204" pitchFamily="18" charset="0"/>
                              </a:rPr>
                            </m:ctrlPr>
                          </m:fPr>
                          <m:num>
                            <m:r>
                              <a:rPr lang="en-US" b="0" i="1" smtClean="0">
                                <a:latin typeface="Cambria Math"/>
                              </a:rPr>
                              <m:t>𝑛</m:t>
                            </m:r>
                          </m:num>
                          <m:den>
                            <m:r>
                              <a:rPr lang="en-US" b="0" i="1" smtClean="0">
                                <a:latin typeface="Cambria Math"/>
                              </a:rPr>
                              <m:t>𝑥</m:t>
                            </m:r>
                          </m:den>
                        </m:f>
                      </m:e>
                    </m:d>
                    <m:sSup>
                      <m:sSupPr>
                        <m:ctrlPr>
                          <a:rPr lang="en-US" b="0" i="1" smtClean="0">
                            <a:latin typeface="Cambria Math" panose="02040503050406030204" pitchFamily="18" charset="0"/>
                          </a:rPr>
                        </m:ctrlPr>
                      </m:sSupPr>
                      <m:e>
                        <m:r>
                          <a:rPr lang="en-US" b="0" i="1" smtClean="0">
                            <a:latin typeface="Cambria Math"/>
                          </a:rPr>
                          <m:t>𝑝</m:t>
                        </m:r>
                      </m:e>
                      <m:sup>
                        <m:r>
                          <a:rPr lang="en-US" b="0" i="1" smtClean="0">
                            <a:latin typeface="Cambria Math"/>
                          </a:rPr>
                          <m:t>𝑥</m:t>
                        </m:r>
                      </m:sup>
                    </m:sSup>
                    <m:sSup>
                      <m:sSupPr>
                        <m:ctrlPr>
                          <a:rPr lang="en-US" b="0" i="1" smtClean="0">
                            <a:latin typeface="Cambria Math" panose="02040503050406030204" pitchFamily="18" charset="0"/>
                          </a:rPr>
                        </m:ctrlPr>
                      </m:sSupPr>
                      <m:e>
                        <m:r>
                          <a:rPr lang="en-US" b="0" i="1" smtClean="0">
                            <a:latin typeface="Cambria Math"/>
                          </a:rPr>
                          <m:t>𝑞</m:t>
                        </m:r>
                      </m:e>
                      <m:sup>
                        <m:r>
                          <a:rPr lang="en-US" b="0" i="1" smtClean="0">
                            <a:latin typeface="Cambria Math"/>
                          </a:rPr>
                          <m:t>𝑛</m:t>
                        </m:r>
                        <m:r>
                          <a:rPr lang="en-US" b="0" i="1" smtClean="0">
                            <a:latin typeface="Cambria Math"/>
                          </a:rPr>
                          <m:t>−</m:t>
                        </m:r>
                        <m:r>
                          <a:rPr lang="en-US" b="0" i="1" smtClean="0">
                            <a:latin typeface="Cambria Math"/>
                          </a:rPr>
                          <m:t>𝑥</m:t>
                        </m:r>
                      </m:sup>
                    </m:sSup>
                  </m:oMath>
                </a14:m>
                <a:endParaRPr lang="en-US" dirty="0"/>
              </a:p>
              <a:p>
                <a:endParaRPr lang="en-US" dirty="0"/>
              </a:p>
              <a:p>
                <a:r>
                  <a:rPr lang="en-US" dirty="0"/>
                  <a:t>Example: Suppose </a:t>
                </a:r>
                <a14:m>
                  <m:oMath xmlns:m="http://schemas.openxmlformats.org/officeDocument/2006/math">
                    <m:r>
                      <a:rPr lang="en-US" b="0" i="1" smtClean="0">
                        <a:latin typeface="Cambria Math"/>
                      </a:rPr>
                      <m:t>𝑌</m:t>
                    </m:r>
                  </m:oMath>
                </a14:m>
                <a:r>
                  <a:rPr lang="en-US" dirty="0"/>
                  <a:t> has a binomial distribution with </a:t>
                </a:r>
                <a14:m>
                  <m:oMath xmlns:m="http://schemas.openxmlformats.org/officeDocument/2006/math">
                    <m:r>
                      <a:rPr lang="en-US" b="0" i="1" smtClean="0">
                        <a:latin typeface="Cambria Math"/>
                      </a:rPr>
                      <m:t>𝑛</m:t>
                    </m:r>
                    <m:r>
                      <a:rPr lang="en-US" b="0" i="1" smtClean="0">
                        <a:latin typeface="Cambria Math"/>
                      </a:rPr>
                      <m:t>=10</m:t>
                    </m:r>
                  </m:oMath>
                </a14:m>
                <a:r>
                  <a:rPr lang="en-US" dirty="0"/>
                  <a:t> and </a:t>
                </a:r>
                <a14:m>
                  <m:oMath xmlns:m="http://schemas.openxmlformats.org/officeDocument/2006/math">
                    <m:r>
                      <a:rPr lang="en-US" b="0" i="1" smtClean="0">
                        <a:latin typeface="Cambria Math"/>
                      </a:rPr>
                      <m:t>𝑝</m:t>
                    </m:r>
                    <m:r>
                      <a:rPr lang="en-US" b="0" i="1" smtClean="0">
                        <a:latin typeface="Cambria Math"/>
                      </a:rPr>
                      <m:t>=0.372</m:t>
                    </m:r>
                  </m:oMath>
                </a14:m>
                <a:r>
                  <a:rPr lang="en-US" dirty="0"/>
                  <a:t>. Calculate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𝑌</m:t>
                    </m:r>
                    <m:r>
                      <a:rPr lang="en-US" b="0" i="1" smtClean="0">
                        <a:latin typeface="Cambria Math"/>
                      </a:rPr>
                      <m:t>=2)</m:t>
                    </m:r>
                  </m:oMath>
                </a14:m>
                <a:r>
                  <a:rPr lang="en-US" dirty="0"/>
                  <a:t>:</a:t>
                </a:r>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𝑌</m:t>
                        </m:r>
                        <m:r>
                          <a:rPr lang="en-US" b="0" i="1" smtClean="0">
                            <a:latin typeface="Cambria Math"/>
                          </a:rPr>
                          <m:t>=2</m:t>
                        </m:r>
                      </m:e>
                    </m:d>
                    <m:r>
                      <a:rPr lang="en-US" b="0" i="1" smtClean="0">
                        <a:latin typeface="Cambria Math"/>
                      </a:rPr>
                      <m:t>=</m:t>
                    </m:r>
                    <m:d>
                      <m:dPr>
                        <m:ctrlPr>
                          <a:rPr lang="en-US" b="0" i="1" smtClean="0">
                            <a:latin typeface="Cambria Math" panose="02040503050406030204" pitchFamily="18" charset="0"/>
                          </a:rPr>
                        </m:ctrlPr>
                      </m:dPr>
                      <m:e>
                        <m:f>
                          <m:fPr>
                            <m:type m:val="noBar"/>
                            <m:ctrlPr>
                              <a:rPr lang="en-US" b="0" i="1" smtClean="0">
                                <a:latin typeface="Cambria Math" panose="02040503050406030204" pitchFamily="18" charset="0"/>
                              </a:rPr>
                            </m:ctrlPr>
                          </m:fPr>
                          <m:num>
                            <m:r>
                              <a:rPr lang="en-US" b="0" i="1" smtClean="0">
                                <a:latin typeface="Cambria Math"/>
                              </a:rPr>
                              <m:t>10</m:t>
                            </m:r>
                          </m:num>
                          <m:den>
                            <m:r>
                              <a:rPr lang="en-US" b="0" i="1" smtClean="0">
                                <a:latin typeface="Cambria Math"/>
                              </a:rPr>
                              <m:t>2</m:t>
                            </m:r>
                          </m:den>
                        </m:f>
                      </m:e>
                    </m:d>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.372</m:t>
                            </m:r>
                          </m:e>
                        </m:d>
                      </m:e>
                      <m:sup>
                        <m:r>
                          <a:rPr lang="en-US" b="0" i="1" smtClean="0">
                            <a:latin typeface="Cambria Math"/>
                          </a:rPr>
                          <m:t>2</m:t>
                        </m:r>
                      </m:sup>
                    </m:sSup>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1−.372</m:t>
                            </m:r>
                          </m:e>
                        </m:d>
                      </m:e>
                      <m:sup>
                        <m:r>
                          <a:rPr lang="en-US" b="0" i="1" smtClean="0">
                            <a:latin typeface="Cambria Math"/>
                          </a:rPr>
                          <m:t>8</m:t>
                        </m:r>
                      </m:sup>
                    </m:sSup>
                    <m:r>
                      <a:rPr lang="en-US" b="0" i="1" smtClean="0">
                        <a:latin typeface="Cambria Math"/>
                      </a:rPr>
                      <m:t>=0.1507</m:t>
                    </m:r>
                  </m:oMath>
                </a14:m>
                <a:endParaRPr lang="en-US" dirty="0"/>
              </a:p>
              <a:p>
                <a:pPr marL="0" indent="0">
                  <a:buNone/>
                </a:pPr>
                <a:endParaRPr lang="en-US" dirty="0"/>
              </a:p>
              <a:p>
                <a:r>
                  <a:rPr lang="en-US" dirty="0"/>
                  <a:t>We can also calculate probabilities such as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𝑥</m:t>
                        </m:r>
                      </m:e>
                    </m:d>
                    <m:r>
                      <a:rPr lang="en-US" b="0" i="1" smtClean="0">
                        <a:latin typeface="Cambria Math"/>
                      </a:rPr>
                      <m:t>, </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&gt;</m:t>
                        </m:r>
                        <m:r>
                          <a:rPr lang="en-US" b="0" i="1" smtClean="0">
                            <a:latin typeface="Cambria Math"/>
                          </a:rPr>
                          <m:t>𝑥</m:t>
                        </m:r>
                      </m:e>
                    </m:d>
                    <m:r>
                      <a:rPr lang="en-US" b="0" i="1" smtClean="0">
                        <a:latin typeface="Cambria Math"/>
                      </a:rPr>
                      <m:t>,</m:t>
                    </m:r>
                  </m:oMath>
                </a14:m>
                <a:r>
                  <a:rPr lang="en-US" dirty="0"/>
                  <a:t> and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𝑎</m:t>
                    </m:r>
                    <m:r>
                      <a:rPr lang="en-US" b="0" i="1" smtClean="0">
                        <a:latin typeface="Cambria Math"/>
                      </a:rPr>
                      <m:t>≤</m:t>
                    </m:r>
                    <m:r>
                      <a:rPr lang="en-US" b="0" i="1" smtClean="0">
                        <a:latin typeface="Cambria Math"/>
                      </a:rPr>
                      <m:t>𝑋</m:t>
                    </m:r>
                    <m:r>
                      <a:rPr lang="en-US" b="0" i="1" smtClean="0">
                        <a:latin typeface="Cambria Math"/>
                      </a:rPr>
                      <m:t>≤</m:t>
                    </m:r>
                    <m:r>
                      <a:rPr lang="en-US" b="0" i="1" smtClean="0">
                        <a:latin typeface="Cambria Math"/>
                      </a:rPr>
                      <m:t>𝑏</m:t>
                    </m:r>
                    <m:r>
                      <a:rPr lang="en-US" b="0" i="1" smtClean="0">
                        <a:latin typeface="Cambria Math"/>
                      </a:rPr>
                      <m:t>)</m:t>
                    </m:r>
                  </m:oMath>
                </a14:m>
                <a:r>
                  <a:rPr lang="en-US" dirty="0"/>
                  <a:t>. As we are dealing with a discrete random variable, we have to be careful about the strict vs. the inclusive inequalities.</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b="-2593"/>
                </a:stretch>
              </a:blipFill>
            </p:spPr>
            <p:txBody>
              <a:bodyPr/>
              <a:lstStyle/>
              <a:p>
                <a:r>
                  <a:rPr lang="en-US">
                    <a:noFill/>
                  </a:rPr>
                  <a:t> </a:t>
                </a:r>
              </a:p>
            </p:txBody>
          </p:sp>
        </mc:Fallback>
      </mc:AlternateContent>
    </p:spTree>
    <p:extLst>
      <p:ext uri="{BB962C8B-B14F-4D97-AF65-F5344CB8AC3E}">
        <p14:creationId xmlns:p14="http://schemas.microsoft.com/office/powerpoint/2010/main" val="3936893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mc:AlternateContent xmlns:mc="http://schemas.openxmlformats.org/markup-compatibility/2006">
        <mc:Choice xmlns:a14="http://schemas.microsoft.com/office/drawing/2010/main" Requires="a14">
          <p:sp>
            <p:nvSpPr>
              <p:cNvPr id="3" name="Content Placeholder 2"/>
              <p:cNvSpPr>
                <a:spLocks noGrp="1"/>
              </p:cNvSpPr>
              <p:nvPr>
                <p:ph sz="quarter" idx="1"/>
              </p:nvPr>
            </p:nvSpPr>
            <p:spPr/>
            <p:txBody>
              <a:bodyPr>
                <a:normAutofit/>
              </a:bodyPr>
              <a:lstStyle/>
              <a:p>
                <a:r>
                  <a:rPr lang="en-US" dirty="0"/>
                  <a:t>Calculating these probabilities is simply a matter of summing a number of individual probabilities. So for the previous three examples:</a:t>
                </a:r>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0</m:t>
                            </m:r>
                          </m:sub>
                        </m:sSub>
                      </m:e>
                    </m:d>
                    <m:r>
                      <a:rPr lang="en-US" b="0" i="1" smtClean="0">
                        <a:latin typeface="Cambria Math"/>
                      </a:rPr>
                      <m:t>=</m:t>
                    </m:r>
                    <m:nary>
                      <m:naryPr>
                        <m:chr m:val="∑"/>
                        <m:ctrlPr>
                          <a:rPr lang="en-US" b="0" i="1" smtClean="0">
                            <a:latin typeface="Cambria Math" panose="02040503050406030204" pitchFamily="18" charset="0"/>
                          </a:rPr>
                        </m:ctrlPr>
                      </m:naryPr>
                      <m:sub>
                        <m:r>
                          <m:rPr>
                            <m:brk m:alnAt="23"/>
                          </m:rPr>
                          <a:rPr lang="en-US" b="0" i="1" smtClean="0">
                            <a:latin typeface="Cambria Math"/>
                          </a:rPr>
                          <m:t>𝑥</m:t>
                        </m:r>
                        <m:r>
                          <a:rPr lang="en-US" b="0" i="1" smtClean="0">
                            <a:latin typeface="Cambria Math"/>
                          </a:rPr>
                          <m:t>=0</m:t>
                        </m:r>
                      </m:sub>
                      <m:sup>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0</m:t>
                            </m:r>
                          </m:sub>
                        </m:sSub>
                      </m:sup>
                      <m:e>
                        <m:d>
                          <m:dPr>
                            <m:ctrlPr>
                              <a:rPr lang="en-US" i="1">
                                <a:latin typeface="Cambria Math" panose="02040503050406030204" pitchFamily="18" charset="0"/>
                              </a:rPr>
                            </m:ctrlPr>
                          </m:dPr>
                          <m:e>
                            <m:f>
                              <m:fPr>
                                <m:type m:val="noBar"/>
                                <m:ctrlPr>
                                  <a:rPr lang="en-US" i="1">
                                    <a:latin typeface="Cambria Math" panose="02040503050406030204" pitchFamily="18" charset="0"/>
                                  </a:rPr>
                                </m:ctrlPr>
                              </m:fPr>
                              <m:num>
                                <m:r>
                                  <a:rPr lang="en-US" i="1">
                                    <a:latin typeface="Cambria Math"/>
                                  </a:rPr>
                                  <m:t>𝑛</m:t>
                                </m:r>
                              </m:num>
                              <m:den>
                                <m:r>
                                  <a:rPr lang="en-US" i="1">
                                    <a:latin typeface="Cambria Math"/>
                                  </a:rPr>
                                  <m:t>𝑥</m:t>
                                </m:r>
                              </m:den>
                            </m:f>
                          </m:e>
                        </m:d>
                        <m:sSup>
                          <m:sSupPr>
                            <m:ctrlPr>
                              <a:rPr lang="en-US" i="1">
                                <a:latin typeface="Cambria Math" panose="02040503050406030204" pitchFamily="18" charset="0"/>
                              </a:rPr>
                            </m:ctrlPr>
                          </m:sSupPr>
                          <m:e>
                            <m:r>
                              <a:rPr lang="en-US" i="1">
                                <a:latin typeface="Cambria Math"/>
                              </a:rPr>
                              <m:t>𝑝</m:t>
                            </m:r>
                          </m:e>
                          <m:sup>
                            <m:r>
                              <a:rPr lang="en-US" i="1">
                                <a:latin typeface="Cambria Math"/>
                              </a:rPr>
                              <m:t>𝑥</m:t>
                            </m:r>
                          </m:sup>
                        </m:sSup>
                        <m:sSup>
                          <m:sSupPr>
                            <m:ctrlPr>
                              <a:rPr lang="en-US" i="1">
                                <a:latin typeface="Cambria Math" panose="02040503050406030204" pitchFamily="18" charset="0"/>
                              </a:rPr>
                            </m:ctrlPr>
                          </m:sSupPr>
                          <m:e>
                            <m:r>
                              <a:rPr lang="en-US" i="1">
                                <a:latin typeface="Cambria Math"/>
                              </a:rPr>
                              <m:t>𝑞</m:t>
                            </m:r>
                          </m:e>
                          <m:sup>
                            <m:r>
                              <a:rPr lang="en-US" b="0" i="1" smtClean="0">
                                <a:latin typeface="Cambria Math"/>
                              </a:rPr>
                              <m:t>𝑛</m:t>
                            </m:r>
                            <m:r>
                              <a:rPr lang="en-US" i="1">
                                <a:latin typeface="Cambria Math"/>
                              </a:rPr>
                              <m:t>−</m:t>
                            </m:r>
                            <m:r>
                              <a:rPr lang="en-US" i="1">
                                <a:latin typeface="Cambria Math"/>
                              </a:rPr>
                              <m:t>𝑥</m:t>
                            </m:r>
                          </m:sup>
                        </m:sSup>
                      </m:e>
                    </m:nary>
                  </m:oMath>
                </a14:m>
                <a:endParaRPr lang="en-US" b="0" dirty="0"/>
              </a:p>
              <a:p>
                <a:pPr lvl="1"/>
                <a14:m>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𝑋</m:t>
                        </m:r>
                        <m:r>
                          <a:rPr lang="en-US" b="0" i="1" smtClean="0">
                            <a:latin typeface="Cambria Math"/>
                          </a:rPr>
                          <m:t>&gt;</m:t>
                        </m:r>
                        <m:sSub>
                          <m:sSubPr>
                            <m:ctrlPr>
                              <a:rPr lang="en-US" b="0" i="1" smtClean="0">
                                <a:latin typeface="Cambria Math" panose="02040503050406030204" pitchFamily="18" charset="0"/>
                              </a:rPr>
                            </m:ctrlPr>
                          </m:sSubPr>
                          <m:e>
                            <m:r>
                              <a:rPr lang="en-US" i="1">
                                <a:latin typeface="Cambria Math"/>
                              </a:rPr>
                              <m:t>𝑥</m:t>
                            </m:r>
                          </m:e>
                          <m:sub>
                            <m:r>
                              <a:rPr lang="en-US" b="0" i="1" smtClean="0">
                                <a:latin typeface="Cambria Math"/>
                              </a:rPr>
                              <m:t>0</m:t>
                            </m:r>
                          </m:sub>
                        </m:sSub>
                      </m:e>
                    </m:d>
                    <m:r>
                      <a:rPr lang="en-US" i="1">
                        <a:latin typeface="Cambria Math"/>
                      </a:rPr>
                      <m:t>=</m:t>
                    </m:r>
                    <m:nary>
                      <m:naryPr>
                        <m:chr m:val="∑"/>
                        <m:ctrlPr>
                          <a:rPr lang="en-US" i="1">
                            <a:latin typeface="Cambria Math" panose="02040503050406030204" pitchFamily="18" charset="0"/>
                          </a:rPr>
                        </m:ctrlPr>
                      </m:naryPr>
                      <m:sub>
                        <m:r>
                          <a:rPr lang="en-US" b="0" i="1" smtClean="0">
                            <a:latin typeface="Cambria Math"/>
                          </a:rPr>
                          <m:t>𝑥</m:t>
                        </m:r>
                        <m:r>
                          <a:rPr lang="en-US" i="1">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0</m:t>
                            </m:r>
                          </m:sub>
                        </m:sSub>
                        <m:r>
                          <a:rPr lang="en-US" b="0" i="1" smtClean="0">
                            <a:latin typeface="Cambria Math"/>
                          </a:rPr>
                          <m:t>+1</m:t>
                        </m:r>
                      </m:sub>
                      <m:sup>
                        <m:r>
                          <a:rPr lang="en-US" b="0" i="1" smtClean="0">
                            <a:latin typeface="Cambria Math"/>
                          </a:rPr>
                          <m:t>𝑛</m:t>
                        </m:r>
                      </m:sup>
                      <m:e>
                        <m:d>
                          <m:dPr>
                            <m:ctrlPr>
                              <a:rPr lang="en-US" i="1">
                                <a:latin typeface="Cambria Math" panose="02040503050406030204" pitchFamily="18" charset="0"/>
                              </a:rPr>
                            </m:ctrlPr>
                          </m:dPr>
                          <m:e>
                            <m:f>
                              <m:fPr>
                                <m:type m:val="noBar"/>
                                <m:ctrlPr>
                                  <a:rPr lang="en-US" i="1">
                                    <a:latin typeface="Cambria Math" panose="02040503050406030204" pitchFamily="18" charset="0"/>
                                  </a:rPr>
                                </m:ctrlPr>
                              </m:fPr>
                              <m:num>
                                <m:r>
                                  <a:rPr lang="en-US" i="1">
                                    <a:latin typeface="Cambria Math"/>
                                  </a:rPr>
                                  <m:t>𝑛</m:t>
                                </m:r>
                              </m:num>
                              <m:den>
                                <m:r>
                                  <a:rPr lang="en-US" i="1">
                                    <a:latin typeface="Cambria Math"/>
                                  </a:rPr>
                                  <m:t>𝑥</m:t>
                                </m:r>
                              </m:den>
                            </m:f>
                          </m:e>
                        </m:d>
                        <m:sSup>
                          <m:sSupPr>
                            <m:ctrlPr>
                              <a:rPr lang="en-US" i="1">
                                <a:latin typeface="Cambria Math" panose="02040503050406030204" pitchFamily="18" charset="0"/>
                              </a:rPr>
                            </m:ctrlPr>
                          </m:sSupPr>
                          <m:e>
                            <m:r>
                              <a:rPr lang="en-US" i="1">
                                <a:latin typeface="Cambria Math"/>
                              </a:rPr>
                              <m:t>𝑝</m:t>
                            </m:r>
                          </m:e>
                          <m:sup>
                            <m:r>
                              <a:rPr lang="en-US" i="1">
                                <a:latin typeface="Cambria Math"/>
                              </a:rPr>
                              <m:t>𝑥</m:t>
                            </m:r>
                          </m:sup>
                        </m:sSup>
                        <m:sSup>
                          <m:sSupPr>
                            <m:ctrlPr>
                              <a:rPr lang="en-US" i="1">
                                <a:latin typeface="Cambria Math" panose="02040503050406030204" pitchFamily="18" charset="0"/>
                              </a:rPr>
                            </m:ctrlPr>
                          </m:sSupPr>
                          <m:e>
                            <m:r>
                              <a:rPr lang="en-US" i="1">
                                <a:latin typeface="Cambria Math"/>
                              </a:rPr>
                              <m:t>𝑞</m:t>
                            </m:r>
                          </m:e>
                          <m:sup>
                            <m:r>
                              <a:rPr lang="en-US" b="0" i="1" smtClean="0">
                                <a:latin typeface="Cambria Math"/>
                              </a:rPr>
                              <m:t>𝑛</m:t>
                            </m:r>
                            <m:r>
                              <a:rPr lang="en-US" i="1">
                                <a:latin typeface="Cambria Math"/>
                              </a:rPr>
                              <m:t>−</m:t>
                            </m:r>
                            <m:r>
                              <a:rPr lang="en-US" i="1">
                                <a:latin typeface="Cambria Math"/>
                              </a:rPr>
                              <m:t>𝑥</m:t>
                            </m:r>
                          </m:sup>
                        </m:sSup>
                      </m:e>
                    </m:nary>
                    <m:r>
                      <a:rPr lang="en-US" b="0" i="1" smtClean="0">
                        <a:latin typeface="Cambria Math"/>
                      </a:rPr>
                      <m:t>=1−</m:t>
                    </m:r>
                    <m:nary>
                      <m:naryPr>
                        <m:chr m:val="∑"/>
                        <m:ctrlPr>
                          <a:rPr lang="en-US" i="1">
                            <a:latin typeface="Cambria Math" panose="02040503050406030204" pitchFamily="18" charset="0"/>
                          </a:rPr>
                        </m:ctrlPr>
                      </m:naryPr>
                      <m:sub>
                        <m:r>
                          <m:rPr>
                            <m:brk m:alnAt="23"/>
                          </m:rPr>
                          <a:rPr lang="en-US" i="1">
                            <a:latin typeface="Cambria Math"/>
                          </a:rPr>
                          <m:t>𝑥</m:t>
                        </m:r>
                        <m:r>
                          <a:rPr lang="en-US" i="1">
                            <a:latin typeface="Cambria Math"/>
                          </a:rPr>
                          <m:t>=0</m:t>
                        </m:r>
                      </m:sub>
                      <m:sup>
                        <m:sSub>
                          <m:sSubPr>
                            <m:ctrlPr>
                              <a:rPr lang="en-US" i="1">
                                <a:latin typeface="Cambria Math" panose="02040503050406030204" pitchFamily="18" charset="0"/>
                              </a:rPr>
                            </m:ctrlPr>
                          </m:sSubPr>
                          <m:e>
                            <m:r>
                              <a:rPr lang="en-US" i="1">
                                <a:latin typeface="Cambria Math"/>
                              </a:rPr>
                              <m:t>𝑥</m:t>
                            </m:r>
                          </m:e>
                          <m:sub>
                            <m:r>
                              <a:rPr lang="en-US" i="1">
                                <a:latin typeface="Cambria Math"/>
                              </a:rPr>
                              <m:t>0</m:t>
                            </m:r>
                          </m:sub>
                        </m:sSub>
                      </m:sup>
                      <m:e>
                        <m:d>
                          <m:dPr>
                            <m:ctrlPr>
                              <a:rPr lang="en-US" i="1">
                                <a:latin typeface="Cambria Math" panose="02040503050406030204" pitchFamily="18" charset="0"/>
                              </a:rPr>
                            </m:ctrlPr>
                          </m:dPr>
                          <m:e>
                            <m:f>
                              <m:fPr>
                                <m:type m:val="noBar"/>
                                <m:ctrlPr>
                                  <a:rPr lang="en-US" i="1">
                                    <a:latin typeface="Cambria Math" panose="02040503050406030204" pitchFamily="18" charset="0"/>
                                  </a:rPr>
                                </m:ctrlPr>
                              </m:fPr>
                              <m:num>
                                <m:r>
                                  <a:rPr lang="en-US" i="1">
                                    <a:latin typeface="Cambria Math"/>
                                  </a:rPr>
                                  <m:t>𝑛</m:t>
                                </m:r>
                              </m:num>
                              <m:den>
                                <m:r>
                                  <a:rPr lang="en-US" i="1">
                                    <a:latin typeface="Cambria Math"/>
                                  </a:rPr>
                                  <m:t>𝑥</m:t>
                                </m:r>
                              </m:den>
                            </m:f>
                          </m:e>
                        </m:d>
                        <m:sSup>
                          <m:sSupPr>
                            <m:ctrlPr>
                              <a:rPr lang="en-US" i="1">
                                <a:latin typeface="Cambria Math" panose="02040503050406030204" pitchFamily="18" charset="0"/>
                              </a:rPr>
                            </m:ctrlPr>
                          </m:sSupPr>
                          <m:e>
                            <m:r>
                              <a:rPr lang="en-US" i="1">
                                <a:latin typeface="Cambria Math"/>
                              </a:rPr>
                              <m:t>𝑝</m:t>
                            </m:r>
                          </m:e>
                          <m:sup>
                            <m:r>
                              <a:rPr lang="en-US" i="1">
                                <a:latin typeface="Cambria Math"/>
                              </a:rPr>
                              <m:t>𝑥</m:t>
                            </m:r>
                          </m:sup>
                        </m:sSup>
                        <m:sSup>
                          <m:sSupPr>
                            <m:ctrlPr>
                              <a:rPr lang="en-US" i="1">
                                <a:latin typeface="Cambria Math" panose="02040503050406030204" pitchFamily="18" charset="0"/>
                              </a:rPr>
                            </m:ctrlPr>
                          </m:sSupPr>
                          <m:e>
                            <m:r>
                              <a:rPr lang="en-US" i="1">
                                <a:latin typeface="Cambria Math"/>
                              </a:rPr>
                              <m:t>𝑞</m:t>
                            </m:r>
                          </m:e>
                          <m:sup>
                            <m:r>
                              <a:rPr lang="en-US" b="0" i="1" smtClean="0">
                                <a:latin typeface="Cambria Math"/>
                              </a:rPr>
                              <m:t>𝑛</m:t>
                            </m:r>
                            <m:r>
                              <a:rPr lang="en-US" i="1">
                                <a:latin typeface="Cambria Math"/>
                              </a:rPr>
                              <m:t>−</m:t>
                            </m:r>
                            <m:r>
                              <a:rPr lang="en-US" i="1">
                                <a:latin typeface="Cambria Math"/>
                              </a:rPr>
                              <m:t>𝑥</m:t>
                            </m:r>
                          </m:sup>
                        </m:sSup>
                      </m:e>
                    </m:nary>
                  </m:oMath>
                </a14:m>
                <a:endParaRPr lang="en-US"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𝑎</m:t>
                        </m:r>
                        <m:r>
                          <a:rPr lang="en-US" b="0" i="1" smtClean="0">
                            <a:latin typeface="Cambria Math"/>
                          </a:rPr>
                          <m:t>≤</m:t>
                        </m:r>
                        <m:r>
                          <a:rPr lang="en-US" b="0" i="1" smtClean="0">
                            <a:latin typeface="Cambria Math"/>
                          </a:rPr>
                          <m:t>𝑋</m:t>
                        </m:r>
                        <m:r>
                          <a:rPr lang="en-US" b="0" i="1" smtClean="0">
                            <a:latin typeface="Cambria Math"/>
                          </a:rPr>
                          <m:t>≤</m:t>
                        </m:r>
                        <m:r>
                          <a:rPr lang="en-US" b="0" i="1" smtClean="0">
                            <a:latin typeface="Cambria Math"/>
                          </a:rPr>
                          <m:t>𝑏</m:t>
                        </m:r>
                      </m:e>
                    </m:d>
                    <m:r>
                      <a:rPr lang="en-US" b="0" i="1" smtClean="0">
                        <a:latin typeface="Cambria Math"/>
                      </a:rPr>
                      <m:t>=</m:t>
                    </m:r>
                    <m:nary>
                      <m:naryPr>
                        <m:chr m:val="∑"/>
                        <m:ctrlPr>
                          <a:rPr lang="en-US" i="1">
                            <a:latin typeface="Cambria Math" panose="02040503050406030204" pitchFamily="18" charset="0"/>
                          </a:rPr>
                        </m:ctrlPr>
                      </m:naryPr>
                      <m:sub>
                        <m:r>
                          <m:rPr>
                            <m:brk m:alnAt="23"/>
                          </m:rPr>
                          <a:rPr lang="en-US" i="1">
                            <a:latin typeface="Cambria Math"/>
                          </a:rPr>
                          <m:t>𝑥</m:t>
                        </m:r>
                        <m:r>
                          <a:rPr lang="en-US" i="1">
                            <a:latin typeface="Cambria Math"/>
                          </a:rPr>
                          <m:t>=</m:t>
                        </m:r>
                        <m:r>
                          <a:rPr lang="en-US" b="0" i="1" smtClean="0">
                            <a:latin typeface="Cambria Math"/>
                          </a:rPr>
                          <m:t>𝑎</m:t>
                        </m:r>
                      </m:sub>
                      <m:sup>
                        <m:r>
                          <a:rPr lang="en-US" b="0" i="1" smtClean="0">
                            <a:latin typeface="Cambria Math"/>
                          </a:rPr>
                          <m:t>𝑏</m:t>
                        </m:r>
                      </m:sup>
                      <m:e>
                        <m:d>
                          <m:dPr>
                            <m:ctrlPr>
                              <a:rPr lang="en-US" i="1">
                                <a:latin typeface="Cambria Math" panose="02040503050406030204" pitchFamily="18" charset="0"/>
                              </a:rPr>
                            </m:ctrlPr>
                          </m:dPr>
                          <m:e>
                            <m:f>
                              <m:fPr>
                                <m:type m:val="noBar"/>
                                <m:ctrlPr>
                                  <a:rPr lang="en-US" i="1">
                                    <a:latin typeface="Cambria Math" panose="02040503050406030204" pitchFamily="18" charset="0"/>
                                  </a:rPr>
                                </m:ctrlPr>
                              </m:fPr>
                              <m:num>
                                <m:r>
                                  <a:rPr lang="en-US" i="1">
                                    <a:latin typeface="Cambria Math"/>
                                  </a:rPr>
                                  <m:t>𝑛</m:t>
                                </m:r>
                              </m:num>
                              <m:den>
                                <m:r>
                                  <a:rPr lang="en-US" i="1">
                                    <a:latin typeface="Cambria Math"/>
                                  </a:rPr>
                                  <m:t>𝑥</m:t>
                                </m:r>
                              </m:den>
                            </m:f>
                          </m:e>
                        </m:d>
                        <m:sSup>
                          <m:sSupPr>
                            <m:ctrlPr>
                              <a:rPr lang="en-US" i="1">
                                <a:latin typeface="Cambria Math" panose="02040503050406030204" pitchFamily="18" charset="0"/>
                              </a:rPr>
                            </m:ctrlPr>
                          </m:sSupPr>
                          <m:e>
                            <m:r>
                              <a:rPr lang="en-US" i="1">
                                <a:latin typeface="Cambria Math"/>
                              </a:rPr>
                              <m:t>𝑝</m:t>
                            </m:r>
                          </m:e>
                          <m:sup>
                            <m:r>
                              <a:rPr lang="en-US" i="1">
                                <a:latin typeface="Cambria Math"/>
                              </a:rPr>
                              <m:t>𝑥</m:t>
                            </m:r>
                          </m:sup>
                        </m:sSup>
                        <m:sSup>
                          <m:sSupPr>
                            <m:ctrlPr>
                              <a:rPr lang="en-US" i="1">
                                <a:latin typeface="Cambria Math" panose="02040503050406030204" pitchFamily="18" charset="0"/>
                              </a:rPr>
                            </m:ctrlPr>
                          </m:sSupPr>
                          <m:e>
                            <m:r>
                              <a:rPr lang="en-US" i="1">
                                <a:latin typeface="Cambria Math"/>
                              </a:rPr>
                              <m:t>𝑞</m:t>
                            </m:r>
                          </m:e>
                          <m:sup>
                            <m:r>
                              <a:rPr lang="en-US" b="0" i="1" smtClean="0">
                                <a:latin typeface="Cambria Math"/>
                              </a:rPr>
                              <m:t>𝑛</m:t>
                            </m:r>
                            <m:r>
                              <a:rPr lang="en-US" i="1">
                                <a:latin typeface="Cambria Math"/>
                              </a:rPr>
                              <m:t>−</m:t>
                            </m:r>
                            <m:r>
                              <a:rPr lang="en-US" i="1">
                                <a:latin typeface="Cambria Math"/>
                              </a:rPr>
                              <m:t>𝑥</m:t>
                            </m:r>
                          </m:sup>
                        </m:sSup>
                      </m:e>
                    </m:nary>
                  </m:oMath>
                </a14:m>
                <a:endParaRPr lang="en-US" dirty="0"/>
              </a:p>
              <a:p>
                <a:pPr lvl="2"/>
                <a:r>
                  <a:rPr lang="en-US" dirty="0"/>
                  <a:t>These should remind you of what we did with CDFs. In fact, we are technically using the binomial CDF here.</a:t>
                </a:r>
              </a:p>
              <a:p>
                <a:pPr lvl="2"/>
                <a:r>
                  <a:rPr lang="en-US" dirty="0"/>
                  <a:t>Calculating these by hand when there are more than 2 or 3 three terms in the summation is tedious. Table A.1 in appendix A provides a convenient way of finding these sums. </a:t>
                </a:r>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667" t="-1111"/>
                </a:stretch>
              </a:blipFill>
            </p:spPr>
            <p:txBody>
              <a:bodyPr/>
              <a:lstStyle/>
              <a:p>
                <a:r>
                  <a:rPr lang="en-US">
                    <a:noFill/>
                  </a:rPr>
                  <a:t> </a:t>
                </a:r>
              </a:p>
            </p:txBody>
          </p:sp>
        </mc:Fallback>
      </mc:AlternateContent>
    </p:spTree>
    <p:extLst>
      <p:ext uri="{BB962C8B-B14F-4D97-AF65-F5344CB8AC3E}">
        <p14:creationId xmlns:p14="http://schemas.microsoft.com/office/powerpoint/2010/main" val="2191737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p:sp>
        <p:nvSpPr>
          <p:cNvPr id="3" name="Content Placeholder 2"/>
          <p:cNvSpPr>
            <a:spLocks noGrp="1"/>
          </p:cNvSpPr>
          <p:nvPr>
            <p:ph sz="quarter" idx="1"/>
          </p:nvPr>
        </p:nvSpPr>
        <p:spPr/>
        <p:txBody>
          <a:bodyPr>
            <a:normAutofit/>
          </a:bodyPr>
          <a:lstStyle/>
          <a:p>
            <a:r>
              <a:rPr lang="en-US" dirty="0"/>
              <a:t>Exercise: The probability that a patient recovers from a certain infection is 0.4. For a group of 15 patients, use table A.1 or the app to find the probability that:</a:t>
            </a:r>
          </a:p>
          <a:p>
            <a:pPr lvl="1"/>
            <a:r>
              <a:rPr lang="en-US" dirty="0"/>
              <a:t>At least 10 recover</a:t>
            </a:r>
          </a:p>
          <a:p>
            <a:pPr lvl="1"/>
            <a:r>
              <a:rPr lang="en-US" dirty="0"/>
              <a:t>Between 3 and 8 recover</a:t>
            </a:r>
          </a:p>
          <a:p>
            <a:pPr lvl="1"/>
            <a:r>
              <a:rPr lang="en-US" dirty="0"/>
              <a:t>Exactly 5 recover </a:t>
            </a:r>
          </a:p>
        </p:txBody>
      </p:sp>
    </p:spTree>
    <p:extLst>
      <p:ext uri="{BB962C8B-B14F-4D97-AF65-F5344CB8AC3E}">
        <p14:creationId xmlns:p14="http://schemas.microsoft.com/office/powerpoint/2010/main" val="4259933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The key is to identify </a:t>
                </a:r>
                <a14:m>
                  <m:oMath xmlns:m="http://schemas.openxmlformats.org/officeDocument/2006/math">
                    <m:r>
                      <a:rPr lang="en-US" b="0" i="1" smtClean="0">
                        <a:latin typeface="Cambria Math"/>
                      </a:rPr>
                      <m:t>𝑛</m:t>
                    </m:r>
                  </m:oMath>
                </a14:m>
                <a:r>
                  <a:rPr lang="en-US" dirty="0"/>
                  <a:t>, </a:t>
                </a:r>
                <a14:m>
                  <m:oMath xmlns:m="http://schemas.openxmlformats.org/officeDocument/2006/math">
                    <m:r>
                      <a:rPr lang="en-US" b="0" i="1" smtClean="0">
                        <a:latin typeface="Cambria Math"/>
                      </a:rPr>
                      <m:t>𝑝</m:t>
                    </m:r>
                  </m:oMath>
                </a14:m>
                <a:r>
                  <a:rPr lang="en-US" dirty="0"/>
                  <a:t>, and the probability that you are supposed to calculate. From there, it’s just a matter of using a calculator or looking up a value in the table.</a:t>
                </a:r>
              </a:p>
              <a:p>
                <a:endParaRPr lang="en-US" dirty="0"/>
              </a:p>
              <a:p>
                <a:r>
                  <a:rPr lang="en-US" dirty="0"/>
                  <a:t>Anytime we learn about a distribution, we are going to be interested in the mean and variance of the associated random variable.</a:t>
                </a:r>
              </a:p>
              <a:p>
                <a:endParaRPr lang="en-US" dirty="0"/>
              </a:p>
              <a:p>
                <a:r>
                  <a:rPr lang="en-US" dirty="0"/>
                  <a:t>Exercise: Find the mean of a binomial distributed random variable. Assume </a:t>
                </a:r>
                <a14:m>
                  <m:oMath xmlns:m="http://schemas.openxmlformats.org/officeDocument/2006/math">
                    <m:r>
                      <a:rPr lang="en-US" b="0" i="1" smtClean="0">
                        <a:latin typeface="Cambria Math"/>
                      </a:rPr>
                      <m:t>𝑛</m:t>
                    </m:r>
                  </m:oMath>
                </a14:m>
                <a:r>
                  <a:rPr lang="en-US" dirty="0"/>
                  <a:t> trials and probability of success </a:t>
                </a:r>
                <a14:m>
                  <m:oMath xmlns:m="http://schemas.openxmlformats.org/officeDocument/2006/math">
                    <m:r>
                      <a:rPr lang="en-US" b="0" i="1" smtClean="0">
                        <a:latin typeface="Cambria Math"/>
                      </a:rPr>
                      <m:t>𝑝</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667" t="-1111" r="-2370"/>
                </a:stretch>
              </a:blipFill>
            </p:spPr>
            <p:txBody>
              <a:bodyPr/>
              <a:lstStyle/>
              <a:p>
                <a:r>
                  <a:rPr lang="en-US">
                    <a:noFill/>
                  </a:rPr>
                  <a:t> </a:t>
                </a:r>
              </a:p>
            </p:txBody>
          </p:sp>
        </mc:Fallback>
      </mc:AlternateContent>
    </p:spTree>
    <p:extLst>
      <p:ext uri="{BB962C8B-B14F-4D97-AF65-F5344CB8AC3E}">
        <p14:creationId xmlns:p14="http://schemas.microsoft.com/office/powerpoint/2010/main" val="4118579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A similar idea can be used to calculate the variance. So for the binomial distribution we have </a:t>
                </a:r>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r>
                      <a:rPr lang="en-US" b="0" i="1" smtClean="0">
                        <a:latin typeface="Cambria Math"/>
                      </a:rPr>
                      <m:t>𝑛𝑝</m:t>
                    </m:r>
                  </m:oMath>
                </a14:m>
                <a:r>
                  <a:rPr lang="en-US" dirty="0"/>
                  <a:t> and </a:t>
                </a:r>
                <a14:m>
                  <m:oMath xmlns:m="http://schemas.openxmlformats.org/officeDocument/2006/math">
                    <m:r>
                      <a:rPr lang="en-US" b="0" i="1" smtClean="0">
                        <a:latin typeface="Cambria Math"/>
                      </a:rPr>
                      <m:t>𝑉</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r>
                      <a:rPr lang="en-US" b="0" i="1" smtClean="0">
                        <a:latin typeface="Cambria Math"/>
                      </a:rPr>
                      <m:t>𝑛𝑝𝑞</m:t>
                    </m:r>
                  </m:oMath>
                </a14:m>
                <a:r>
                  <a:rPr lang="en-US" dirty="0"/>
                  <a:t>.</a:t>
                </a:r>
              </a:p>
              <a:p>
                <a:endParaRPr lang="en-US" dirty="0"/>
              </a:p>
              <a:p>
                <a:r>
                  <a:rPr lang="en-US" dirty="0"/>
                  <a:t>You may be asked to find the mean and variance. Don’t find these using expected value. Just use the formulas on this slide. If you know </a:t>
                </a:r>
                <a14:m>
                  <m:oMath xmlns:m="http://schemas.openxmlformats.org/officeDocument/2006/math">
                    <m:r>
                      <a:rPr lang="en-US" b="0" i="1" smtClean="0">
                        <a:latin typeface="Cambria Math"/>
                      </a:rPr>
                      <m:t>𝑛</m:t>
                    </m:r>
                  </m:oMath>
                </a14:m>
                <a:r>
                  <a:rPr lang="en-US" dirty="0"/>
                  <a:t> and </a:t>
                </a:r>
                <a14:m>
                  <m:oMath xmlns:m="http://schemas.openxmlformats.org/officeDocument/2006/math">
                    <m:r>
                      <a:rPr lang="en-US" b="0" i="1" smtClean="0">
                        <a:latin typeface="Cambria Math"/>
                      </a:rPr>
                      <m:t>𝑝</m:t>
                    </m:r>
                  </m:oMath>
                </a14:m>
                <a:r>
                  <a:rPr lang="en-US" dirty="0"/>
                  <a:t>, you have everything you need.</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667" t="-1111"/>
                </a:stretch>
              </a:blipFill>
            </p:spPr>
            <p:txBody>
              <a:bodyPr/>
              <a:lstStyle/>
              <a:p>
                <a:r>
                  <a:rPr lang="en-US">
                    <a:noFill/>
                  </a:rPr>
                  <a:t> </a:t>
                </a:r>
              </a:p>
            </p:txBody>
          </p:sp>
        </mc:Fallback>
      </mc:AlternateContent>
    </p:spTree>
    <p:extLst>
      <p:ext uri="{BB962C8B-B14F-4D97-AF65-F5344CB8AC3E}">
        <p14:creationId xmlns:p14="http://schemas.microsoft.com/office/powerpoint/2010/main" val="173787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We now look briefly at an extension of the binomial distribution. There are two questions on your homework regarding the </a:t>
                </a:r>
                <a:r>
                  <a:rPr lang="en-US" i="1" dirty="0"/>
                  <a:t>multinomial distribution</a:t>
                </a:r>
                <a:r>
                  <a:rPr lang="en-US" dirty="0"/>
                  <a:t>.</a:t>
                </a:r>
              </a:p>
              <a:p>
                <a:endParaRPr lang="en-US" dirty="0"/>
              </a:p>
              <a:p>
                <a:r>
                  <a:rPr lang="en-US" dirty="0"/>
                  <a:t>The idea behind the multinomial distribution is that not every experiment has only two outcomes. If we take the definition of a Bernoulli experiment and adjust it so that each trial can result in one of </a:t>
                </a:r>
                <a14:m>
                  <m:oMath xmlns:m="http://schemas.openxmlformats.org/officeDocument/2006/math">
                    <m:r>
                      <a:rPr lang="en-US" b="0" i="1" smtClean="0">
                        <a:latin typeface="Cambria Math"/>
                      </a:rPr>
                      <m:t>𝑘</m:t>
                    </m:r>
                  </m:oMath>
                </a14:m>
                <a:r>
                  <a:rPr lang="en-US" dirty="0"/>
                  <a:t> possible outcomes, we have a </a:t>
                </a:r>
                <a:r>
                  <a:rPr lang="en-US" i="1" dirty="0"/>
                  <a:t>multinomial experiment</a:t>
                </a: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741"/>
                </a:stretch>
              </a:blipFill>
            </p:spPr>
            <p:txBody>
              <a:bodyPr/>
              <a:lstStyle/>
              <a:p>
                <a:r>
                  <a:rPr lang="en-US">
                    <a:noFill/>
                  </a:rPr>
                  <a:t> </a:t>
                </a:r>
              </a:p>
            </p:txBody>
          </p:sp>
        </mc:Fallback>
      </mc:AlternateContent>
    </p:spTree>
    <p:extLst>
      <p:ext uri="{BB962C8B-B14F-4D97-AF65-F5344CB8AC3E}">
        <p14:creationId xmlns:p14="http://schemas.microsoft.com/office/powerpoint/2010/main" val="563611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If there are </a:t>
                </a:r>
                <a14:m>
                  <m:oMath xmlns:m="http://schemas.openxmlformats.org/officeDocument/2006/math">
                    <m:r>
                      <a:rPr lang="en-US" b="0" i="1" smtClean="0">
                        <a:latin typeface="Cambria Math"/>
                      </a:rPr>
                      <m:t>𝑛</m:t>
                    </m:r>
                  </m:oMath>
                </a14:m>
                <a:r>
                  <a:rPr lang="en-US" dirty="0"/>
                  <a:t> independent trials and each trial can result in one of </a:t>
                </a:r>
                <a14:m>
                  <m:oMath xmlns:m="http://schemas.openxmlformats.org/officeDocument/2006/math">
                    <m:r>
                      <a:rPr lang="en-US" b="0" i="1" smtClean="0">
                        <a:latin typeface="Cambria Math"/>
                      </a:rPr>
                      <m:t>𝑘</m:t>
                    </m:r>
                  </m:oMath>
                </a14:m>
                <a:r>
                  <a:rPr lang="en-US" dirty="0"/>
                  <a:t> outcomes with respective probabilities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𝑝</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𝑝</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𝑝</m:t>
                        </m:r>
                      </m:e>
                      <m:sub>
                        <m:r>
                          <a:rPr lang="en-US" b="0" i="1" smtClean="0">
                            <a:latin typeface="Cambria Math"/>
                          </a:rPr>
                          <m:t>𝑘</m:t>
                        </m:r>
                      </m:sub>
                    </m:sSub>
                  </m:oMath>
                </a14:m>
                <a:r>
                  <a:rPr lang="en-US" dirty="0"/>
                  <a:t>, then the multinomial distribution will find the probability that the first outcome occurs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oMath>
                </a14:m>
                <a:r>
                  <a:rPr lang="en-US" dirty="0"/>
                  <a:t> times, the second outcome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oMath>
                </a14:m>
                <a:r>
                  <a:rPr lang="en-US" dirty="0"/>
                  <a:t> times, and so on until the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𝑘</m:t>
                        </m:r>
                      </m:e>
                      <m:sup>
                        <m:r>
                          <a:rPr lang="en-US" b="0" i="1" smtClean="0">
                            <a:latin typeface="Cambria Math"/>
                          </a:rPr>
                          <m:t>𝑡h</m:t>
                        </m:r>
                      </m:sup>
                    </m:sSup>
                  </m:oMath>
                </a14:m>
                <a:r>
                  <a:rPr lang="en-US" dirty="0"/>
                  <a:t> outcome occurs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𝑘</m:t>
                        </m:r>
                      </m:sub>
                    </m:sSub>
                  </m:oMath>
                </a14:m>
                <a:r>
                  <a:rPr lang="en-US" dirty="0"/>
                  <a:t> times. Note that </a:t>
                </a:r>
                <a14:m>
                  <m:oMath xmlns:m="http://schemas.openxmlformats.org/officeDocument/2006/math">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𝑝</m:t>
                        </m:r>
                      </m:e>
                      <m:sub>
                        <m:r>
                          <a:rPr lang="en-US" b="0" i="1" smtClean="0">
                            <a:latin typeface="Cambria Math"/>
                          </a:rPr>
                          <m:t>𝑖</m:t>
                        </m:r>
                      </m:sub>
                    </m:sSub>
                    <m:r>
                      <a:rPr lang="en-US" b="0" i="1" smtClean="0">
                        <a:latin typeface="Cambria Math"/>
                      </a:rPr>
                      <m:t>=1</m:t>
                    </m:r>
                  </m:oMath>
                </a14:m>
                <a:r>
                  <a:rPr lang="en-US" dirty="0"/>
                  <a:t> and </a:t>
                </a:r>
                <a14:m>
                  <m:oMath xmlns:m="http://schemas.openxmlformats.org/officeDocument/2006/math">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𝑖</m:t>
                        </m:r>
                      </m:sub>
                    </m:sSub>
                    <m:r>
                      <a:rPr lang="en-US" b="0" i="1" smtClean="0">
                        <a:latin typeface="Cambria Math"/>
                      </a:rPr>
                      <m:t>=</m:t>
                    </m:r>
                    <m:r>
                      <a:rPr lang="en-US" b="0" i="1" smtClean="0">
                        <a:latin typeface="Cambria Math"/>
                      </a:rPr>
                      <m:t>𝑛</m:t>
                    </m:r>
                  </m:oMath>
                </a14:m>
                <a:r>
                  <a:rPr lang="en-US" dirty="0"/>
                  <a:t>.</a:t>
                </a:r>
              </a:p>
              <a:p>
                <a:endParaRPr lang="en-US" dirty="0"/>
              </a:p>
              <a:p>
                <a:r>
                  <a:rPr lang="en-US" dirty="0"/>
                  <a:t>The PMF for the multinomial distribution is given by</a:t>
                </a: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𝑛</m:t>
                          </m:r>
                          <m:r>
                            <a:rPr lang="en-US" b="0" i="1" smtClean="0">
                              <a:latin typeface="Cambria Math"/>
                            </a:rPr>
                            <m:t>!</m:t>
                          </m:r>
                        </m:num>
                        <m:den>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𝑛</m:t>
                              </m:r>
                            </m:sub>
                          </m:sSub>
                          <m:r>
                            <a:rPr lang="en-US" b="0" i="1" smtClean="0">
                              <a:latin typeface="Cambria Math"/>
                            </a:rPr>
                            <m:t>!</m:t>
                          </m:r>
                        </m:den>
                      </m:f>
                      <m:sSubSup>
                        <m:sSubSupPr>
                          <m:ctrlPr>
                            <a:rPr lang="en-US" b="0" i="1" smtClean="0">
                              <a:latin typeface="Cambria Math" panose="02040503050406030204" pitchFamily="18" charset="0"/>
                            </a:rPr>
                          </m:ctrlPr>
                        </m:sSubSupPr>
                        <m:e>
                          <m:r>
                            <a:rPr lang="en-US" b="0" i="1" smtClean="0">
                              <a:latin typeface="Cambria Math"/>
                            </a:rPr>
                            <m:t>𝑝</m:t>
                          </m:r>
                        </m:e>
                        <m:sub>
                          <m:r>
                            <a:rPr lang="en-US" b="0" i="1" smtClean="0">
                              <a:latin typeface="Cambria Math"/>
                            </a:rPr>
                            <m:t>1</m:t>
                          </m:r>
                        </m:sub>
                        <m:sup>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sup>
                      </m:sSubSup>
                      <m:sSubSup>
                        <m:sSubSupPr>
                          <m:ctrlPr>
                            <a:rPr lang="en-US" b="0" i="1" smtClean="0">
                              <a:latin typeface="Cambria Math" panose="02040503050406030204" pitchFamily="18" charset="0"/>
                            </a:rPr>
                          </m:ctrlPr>
                        </m:sSubSupPr>
                        <m:e>
                          <m:r>
                            <a:rPr lang="en-US" b="0" i="1" smtClean="0">
                              <a:latin typeface="Cambria Math"/>
                            </a:rPr>
                            <m:t>𝑝</m:t>
                          </m:r>
                        </m:e>
                        <m:sub>
                          <m:r>
                            <a:rPr lang="en-US" b="0" i="1" smtClean="0">
                              <a:latin typeface="Cambria Math"/>
                            </a:rPr>
                            <m:t>2</m:t>
                          </m:r>
                        </m:sub>
                        <m:sup>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sup>
                      </m:sSubSup>
                      <m:r>
                        <a:rPr lang="en-US" b="0" i="1" smtClean="0">
                          <a:latin typeface="Cambria Math"/>
                        </a:rPr>
                        <m:t>…</m:t>
                      </m:r>
                      <m:sSubSup>
                        <m:sSubSupPr>
                          <m:ctrlPr>
                            <a:rPr lang="en-US" b="0" i="1" smtClean="0">
                              <a:latin typeface="Cambria Math" panose="02040503050406030204" pitchFamily="18" charset="0"/>
                            </a:rPr>
                          </m:ctrlPr>
                        </m:sSubSupPr>
                        <m:e>
                          <m:r>
                            <a:rPr lang="en-US" b="0" i="1" smtClean="0">
                              <a:latin typeface="Cambria Math"/>
                            </a:rPr>
                            <m:t>𝑝</m:t>
                          </m:r>
                        </m:e>
                        <m:sub>
                          <m:r>
                            <a:rPr lang="en-US" b="0" i="1" smtClean="0">
                              <a:latin typeface="Cambria Math"/>
                            </a:rPr>
                            <m:t>𝑘</m:t>
                          </m:r>
                        </m:sub>
                        <m:sup>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𝑘</m:t>
                              </m:r>
                            </m:sub>
                          </m:sSub>
                        </m:sup>
                      </m:sSubSup>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667" t="-1111" r="-2296"/>
                </a:stretch>
              </a:blipFill>
            </p:spPr>
            <p:txBody>
              <a:bodyPr/>
              <a:lstStyle/>
              <a:p>
                <a:r>
                  <a:rPr lang="en-US">
                    <a:noFill/>
                  </a:rPr>
                  <a:t> </a:t>
                </a:r>
              </a:p>
            </p:txBody>
          </p:sp>
        </mc:Fallback>
      </mc:AlternateContent>
    </p:spTree>
    <p:extLst>
      <p:ext uri="{BB962C8B-B14F-4D97-AF65-F5344CB8AC3E}">
        <p14:creationId xmlns:p14="http://schemas.microsoft.com/office/powerpoint/2010/main" val="2656852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5.2 – Binomial and Multinomial</a:t>
            </a:r>
          </a:p>
        </p:txBody>
      </p:sp>
      <p:sp>
        <p:nvSpPr>
          <p:cNvPr id="3" name="Content Placeholder 2"/>
          <p:cNvSpPr>
            <a:spLocks noGrp="1"/>
          </p:cNvSpPr>
          <p:nvPr>
            <p:ph sz="quarter" idx="1"/>
          </p:nvPr>
        </p:nvSpPr>
        <p:spPr/>
        <p:txBody>
          <a:bodyPr>
            <a:normAutofit/>
          </a:bodyPr>
          <a:lstStyle/>
          <a:p>
            <a:r>
              <a:rPr lang="en-US" dirty="0"/>
              <a:t>Example: Suppose a certain candy comes in five different colors: red, green, blue, orange, and yellow. It is known that these colors occur with frequency 0.4, 0.2, 0.2, 0.1, and 0.1, respectively. In a random sample of 20 candies, what is the probability that we will have four of each color?</a:t>
            </a:r>
          </a:p>
        </p:txBody>
      </p:sp>
    </p:spTree>
    <p:extLst>
      <p:ext uri="{BB962C8B-B14F-4D97-AF65-F5344CB8AC3E}">
        <p14:creationId xmlns:p14="http://schemas.microsoft.com/office/powerpoint/2010/main" val="2009864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5.5 - Poisson</a:t>
            </a:r>
          </a:p>
        </p:txBody>
      </p:sp>
      <p:sp>
        <p:nvSpPr>
          <p:cNvPr id="3" name="Content Placeholder 2"/>
          <p:cNvSpPr>
            <a:spLocks noGrp="1"/>
          </p:cNvSpPr>
          <p:nvPr>
            <p:ph sz="quarter" idx="1"/>
          </p:nvPr>
        </p:nvSpPr>
        <p:spPr/>
        <p:txBody>
          <a:bodyPr>
            <a:normAutofit fontScale="92500"/>
          </a:bodyPr>
          <a:lstStyle/>
          <a:p>
            <a:r>
              <a:rPr lang="en-US" dirty="0"/>
              <a:t>We now move on from binomial and multinomial to look at a different discrete distribution. </a:t>
            </a:r>
          </a:p>
          <a:p>
            <a:endParaRPr lang="en-US" dirty="0"/>
          </a:p>
          <a:p>
            <a:r>
              <a:rPr lang="en-US" dirty="0"/>
              <a:t>Experiments that yield a number of outcomes in a given time interval or in a specified region are called </a:t>
            </a:r>
            <a:r>
              <a:rPr lang="en-US" i="1" dirty="0"/>
              <a:t>Poisson experiments</a:t>
            </a:r>
            <a:r>
              <a:rPr lang="en-US" dirty="0"/>
              <a:t>. Note that any time interval or any specified region can be used. </a:t>
            </a:r>
          </a:p>
          <a:p>
            <a:endParaRPr lang="en-US" dirty="0"/>
          </a:p>
          <a:p>
            <a:r>
              <a:rPr lang="en-US" dirty="0"/>
              <a:t>The Poisson process is named for the French mathematician Simeon Poisson. But the word Poisson means “fish” in French. Because of this, the classic example of a Poisson process is the number of fish caught in an hour.</a:t>
            </a:r>
          </a:p>
        </p:txBody>
      </p:sp>
    </p:spTree>
    <p:extLst>
      <p:ext uri="{BB962C8B-B14F-4D97-AF65-F5344CB8AC3E}">
        <p14:creationId xmlns:p14="http://schemas.microsoft.com/office/powerpoint/2010/main" val="2636244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5.5 - Poisson</a:t>
            </a:r>
          </a:p>
        </p:txBody>
      </p:sp>
      <p:sp>
        <p:nvSpPr>
          <p:cNvPr id="3" name="Content Placeholder 2"/>
          <p:cNvSpPr>
            <a:spLocks noGrp="1"/>
          </p:cNvSpPr>
          <p:nvPr>
            <p:ph sz="quarter" idx="1"/>
          </p:nvPr>
        </p:nvSpPr>
        <p:spPr/>
        <p:txBody>
          <a:bodyPr>
            <a:normAutofit/>
          </a:bodyPr>
          <a:lstStyle/>
          <a:p>
            <a:r>
              <a:rPr lang="en-US" dirty="0"/>
              <a:t>Other examples:</a:t>
            </a:r>
          </a:p>
          <a:p>
            <a:pPr lvl="1"/>
            <a:r>
              <a:rPr lang="en-US" dirty="0"/>
              <a:t>Quality control (number of flaws in a manufacturing process, number of defective products in a shipment)</a:t>
            </a:r>
          </a:p>
          <a:p>
            <a:pPr lvl="1"/>
            <a:r>
              <a:rPr lang="en-US" dirty="0"/>
              <a:t>Ecology (number of plant species present in a certain area)</a:t>
            </a:r>
          </a:p>
          <a:p>
            <a:pPr lvl="1"/>
            <a:r>
              <a:rPr lang="en-US" dirty="0"/>
              <a:t>Entomology (number of eggs eaten by a beetle in an hour)</a:t>
            </a:r>
          </a:p>
          <a:p>
            <a:pPr lvl="1"/>
            <a:r>
              <a:rPr lang="en-US" dirty="0"/>
              <a:t>Epidemiology (number of cases of a disease per 100,000 people)</a:t>
            </a:r>
          </a:p>
          <a:p>
            <a:pPr lvl="1"/>
            <a:r>
              <a:rPr lang="en-US" dirty="0"/>
              <a:t>Sales (number of customers that will purchase a particular item in a month)</a:t>
            </a:r>
          </a:p>
          <a:p>
            <a:pPr lvl="1"/>
            <a:endParaRPr lang="en-US" dirty="0"/>
          </a:p>
        </p:txBody>
      </p:sp>
    </p:spTree>
    <p:extLst>
      <p:ext uri="{BB962C8B-B14F-4D97-AF65-F5344CB8AC3E}">
        <p14:creationId xmlns:p14="http://schemas.microsoft.com/office/powerpoint/2010/main" val="4256870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5.5 - Poisson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r>
                  <a:rPr lang="en-US" dirty="0"/>
                  <a:t>The number of outcomes </a:t>
                </a:r>
                <a14:m>
                  <m:oMath xmlns:m="http://schemas.openxmlformats.org/officeDocument/2006/math">
                    <m:r>
                      <a:rPr lang="en-US" b="0" i="1" smtClean="0">
                        <a:latin typeface="Cambria Math"/>
                      </a:rPr>
                      <m:t>𝑋</m:t>
                    </m:r>
                  </m:oMath>
                </a14:m>
                <a:r>
                  <a:rPr lang="en-US" dirty="0"/>
                  <a:t> in a Poisson process is called a </a:t>
                </a:r>
                <a:r>
                  <a:rPr lang="en-US" i="1" dirty="0"/>
                  <a:t>Poisson random variable</a:t>
                </a:r>
                <a:r>
                  <a:rPr lang="en-US" dirty="0"/>
                  <a:t>. The probability distribution of a Poisson random variable is called the </a:t>
                </a:r>
                <a:r>
                  <a:rPr lang="en-US" i="1" dirty="0"/>
                  <a:t>Poisson </a:t>
                </a:r>
                <a:r>
                  <a:rPr lang="en-US" dirty="0"/>
                  <a:t>distribution.</a:t>
                </a:r>
              </a:p>
              <a:p>
                <a:endParaRPr lang="en-US" dirty="0"/>
              </a:p>
              <a:p>
                <a:r>
                  <a:rPr lang="en-US" dirty="0"/>
                  <a:t>Letting </a:t>
                </a:r>
                <a14:m>
                  <m:oMath xmlns:m="http://schemas.openxmlformats.org/officeDocument/2006/math">
                    <m:r>
                      <a:rPr lang="en-US" b="0" i="1" smtClean="0">
                        <a:latin typeface="Cambria Math"/>
                      </a:rPr>
                      <m:t>𝜆</m:t>
                    </m:r>
                  </m:oMath>
                </a14:m>
                <a:r>
                  <a:rPr lang="en-US" dirty="0"/>
                  <a:t> be the average number of outcomes in a given time interval, denoted by </a:t>
                </a:r>
                <a14:m>
                  <m:oMath xmlns:m="http://schemas.openxmlformats.org/officeDocument/2006/math">
                    <m:r>
                      <a:rPr lang="en-US" b="0" i="1" smtClean="0">
                        <a:latin typeface="Cambria Math"/>
                      </a:rPr>
                      <m:t>𝑡</m:t>
                    </m:r>
                  </m:oMath>
                </a14:m>
                <a:r>
                  <a:rPr lang="en-US" dirty="0"/>
                  <a:t>, the Poisson PMF is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𝑥</m:t>
                          </m:r>
                        </m:e>
                      </m:d>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m:t>
                              </m:r>
                              <m:r>
                                <a:rPr lang="en-US" b="0" i="1" smtClean="0">
                                  <a:latin typeface="Cambria Math"/>
                                </a:rPr>
                                <m:t>𝜆</m:t>
                              </m:r>
                              <m:r>
                                <a:rPr lang="en-US" b="0" i="1" smtClean="0">
                                  <a:latin typeface="Cambria Math"/>
                                </a:rPr>
                                <m:t>𝑡</m:t>
                              </m:r>
                            </m:sup>
                          </m:sSup>
                          <m:r>
                            <a:rPr lang="en-US" b="0" i="1" smtClean="0">
                              <a:latin typeface="Cambria Math"/>
                            </a:rPr>
                            <m:t>(</m:t>
                          </m:r>
                          <m:r>
                            <a:rPr lang="en-US" b="0" i="1" smtClean="0">
                              <a:latin typeface="Cambria Math"/>
                            </a:rPr>
                            <m:t>𝜆</m:t>
                          </m:r>
                          <m:sSup>
                            <m:sSupPr>
                              <m:ctrlPr>
                                <a:rPr lang="en-US" b="0" i="1" smtClean="0">
                                  <a:latin typeface="Cambria Math" panose="02040503050406030204" pitchFamily="18" charset="0"/>
                                </a:rPr>
                              </m:ctrlPr>
                            </m:sSupPr>
                            <m:e>
                              <m:r>
                                <a:rPr lang="en-US" b="0" i="1" smtClean="0">
                                  <a:latin typeface="Cambria Math"/>
                                </a:rPr>
                                <m:t>𝑡</m:t>
                              </m:r>
                              <m:r>
                                <a:rPr lang="en-US" b="0" i="1" smtClean="0">
                                  <a:latin typeface="Cambria Math"/>
                                </a:rPr>
                                <m:t>)</m:t>
                              </m:r>
                            </m:e>
                            <m:sup>
                              <m:r>
                                <a:rPr lang="en-US" b="0" i="1" smtClean="0">
                                  <a:latin typeface="Cambria Math"/>
                                </a:rPr>
                                <m:t>𝑥</m:t>
                              </m:r>
                            </m:sup>
                          </m:sSup>
                        </m:num>
                        <m:den>
                          <m:r>
                            <a:rPr lang="en-US" b="0" i="1" smtClean="0">
                              <a:latin typeface="Cambria Math"/>
                            </a:rPr>
                            <m:t>𝑥</m:t>
                          </m:r>
                          <m:r>
                            <a:rPr lang="en-US" b="0" i="1" smtClean="0">
                              <a:latin typeface="Cambria Math"/>
                            </a:rPr>
                            <m:t>!</m:t>
                          </m:r>
                        </m:den>
                      </m:f>
                      <m:r>
                        <a:rPr lang="en-US" b="0" i="0" smtClean="0">
                          <a:latin typeface="Cambria Math"/>
                        </a:rPr>
                        <m:t>, </m:t>
                      </m:r>
                      <m:r>
                        <m:rPr>
                          <m:sty m:val="p"/>
                        </m:rPr>
                        <a:rPr lang="en-US" b="0" i="0" smtClean="0">
                          <a:latin typeface="Cambria Math"/>
                        </a:rPr>
                        <m:t>x</m:t>
                      </m:r>
                      <m:r>
                        <a:rPr lang="en-US" b="0" i="0" smtClean="0">
                          <a:latin typeface="Cambria Math"/>
                        </a:rPr>
                        <m:t>=0,1,2,</m:t>
                      </m:r>
                      <m:r>
                        <a:rPr lang="en-US" b="0" i="1" smtClean="0">
                          <a:latin typeface="Cambria Math"/>
                        </a:rPr>
                        <m:t>…</m:t>
                      </m:r>
                    </m:oMath>
                  </m:oMathPara>
                </a14:m>
                <a:endParaRPr lang="en-US" b="0" dirty="0"/>
              </a:p>
              <a:p>
                <a:r>
                  <a:rPr lang="en-US" dirty="0"/>
                  <a:t>As the Poisson random variable is also discrete, calculating probabilities is very similar to what we saw with the binomial distribution. You can use table A.2 or the app.</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667" t="-1852" r="-1185"/>
                </a:stretch>
              </a:blipFill>
            </p:spPr>
            <p:txBody>
              <a:bodyPr/>
              <a:lstStyle/>
              <a:p>
                <a:r>
                  <a:rPr lang="en-US">
                    <a:noFill/>
                  </a:rPr>
                  <a:t> </a:t>
                </a:r>
              </a:p>
            </p:txBody>
          </p:sp>
        </mc:Fallback>
      </mc:AlternateContent>
    </p:spTree>
    <p:extLst>
      <p:ext uri="{BB962C8B-B14F-4D97-AF65-F5344CB8AC3E}">
        <p14:creationId xmlns:p14="http://schemas.microsoft.com/office/powerpoint/2010/main" val="3644448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5.5 - Poisson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The key for this section is to simply identify </a:t>
                </a:r>
                <a14:m>
                  <m:oMath xmlns:m="http://schemas.openxmlformats.org/officeDocument/2006/math">
                    <m:r>
                      <a:rPr lang="en-US" b="0" i="1" smtClean="0">
                        <a:latin typeface="Cambria Math"/>
                      </a:rPr>
                      <m:t>𝜆</m:t>
                    </m:r>
                  </m:oMath>
                </a14:m>
                <a:r>
                  <a:rPr lang="en-US" dirty="0"/>
                  <a:t> and </a:t>
                </a:r>
                <a14:m>
                  <m:oMath xmlns:m="http://schemas.openxmlformats.org/officeDocument/2006/math">
                    <m:r>
                      <a:rPr lang="en-US" b="0" i="1" smtClean="0">
                        <a:latin typeface="Cambria Math"/>
                      </a:rPr>
                      <m:t>𝑡</m:t>
                    </m:r>
                  </m:oMath>
                </a14:m>
                <a:r>
                  <a:rPr lang="en-US" dirty="0"/>
                  <a:t>, and be sure you are calculating the correct probability.</a:t>
                </a:r>
              </a:p>
              <a:p>
                <a:endParaRPr lang="en-US" dirty="0"/>
              </a:p>
              <a:p>
                <a:r>
                  <a:rPr lang="en-US" dirty="0"/>
                  <a:t>Example: During an experiment, the average number of radioactive particles passing through a counter in 1 millisecond is 4. What is the probability that 6 particles enter the counter in a given millisecond?</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667" t="-1111"/>
                </a:stretch>
              </a:blipFill>
            </p:spPr>
            <p:txBody>
              <a:bodyPr/>
              <a:lstStyle/>
              <a:p>
                <a:r>
                  <a:rPr lang="en-US">
                    <a:noFill/>
                  </a:rPr>
                  <a:t> </a:t>
                </a:r>
              </a:p>
            </p:txBody>
          </p:sp>
        </mc:Fallback>
      </mc:AlternateContent>
    </p:spTree>
    <p:extLst>
      <p:ext uri="{BB962C8B-B14F-4D97-AF65-F5344CB8AC3E}">
        <p14:creationId xmlns:p14="http://schemas.microsoft.com/office/powerpoint/2010/main" val="3582174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5.5 - Poisson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Example:</a:t>
                </a:r>
              </a:p>
              <a:p>
                <a:pPr lvl="1"/>
                <a:r>
                  <a:rPr lang="en-US" dirty="0"/>
                  <a:t>Here </a:t>
                </a:r>
                <a14:m>
                  <m:oMath xmlns:m="http://schemas.openxmlformats.org/officeDocument/2006/math">
                    <m:r>
                      <a:rPr lang="en-US" b="0" i="1" smtClean="0">
                        <a:latin typeface="Cambria Math"/>
                      </a:rPr>
                      <m:t>𝜆</m:t>
                    </m:r>
                    <m:r>
                      <a:rPr lang="en-US" b="0" i="1" smtClean="0">
                        <a:latin typeface="Cambria Math"/>
                      </a:rPr>
                      <m:t>=4</m:t>
                    </m:r>
                  </m:oMath>
                </a14:m>
                <a:r>
                  <a:rPr lang="en-US" dirty="0"/>
                  <a:t> and </a:t>
                </a:r>
                <a14:m>
                  <m:oMath xmlns:m="http://schemas.openxmlformats.org/officeDocument/2006/math">
                    <m:r>
                      <a:rPr lang="en-US" b="0" i="1" smtClean="0">
                        <a:latin typeface="Cambria Math"/>
                      </a:rPr>
                      <m:t>𝑡</m:t>
                    </m:r>
                    <m:r>
                      <a:rPr lang="en-US" b="0" i="1" smtClean="0">
                        <a:latin typeface="Cambria Math"/>
                      </a:rPr>
                      <m:t>=1</m:t>
                    </m:r>
                  </m:oMath>
                </a14:m>
                <a:r>
                  <a:rPr lang="en-US" dirty="0"/>
                  <a:t> because the baseline doesn’t change – it stays at 1 millisecond. So we calculate:</a:t>
                </a:r>
              </a:p>
              <a:p>
                <a:pPr marL="27432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=6</m:t>
                          </m:r>
                        </m:e>
                      </m:d>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−4</m:t>
                              </m:r>
                            </m:sup>
                          </m:sSup>
                          <m:sSup>
                            <m:sSupPr>
                              <m:ctrlPr>
                                <a:rPr lang="en-US" b="0" i="1" smtClean="0">
                                  <a:latin typeface="Cambria Math" panose="02040503050406030204" pitchFamily="18" charset="0"/>
                                </a:rPr>
                              </m:ctrlPr>
                            </m:sSupPr>
                            <m:e>
                              <m:r>
                                <a:rPr lang="en-US" b="0" i="1" smtClean="0">
                                  <a:latin typeface="Cambria Math"/>
                                </a:rPr>
                                <m:t>4</m:t>
                              </m:r>
                            </m:e>
                            <m:sup>
                              <m:r>
                                <a:rPr lang="en-US" b="0" i="1" smtClean="0">
                                  <a:latin typeface="Cambria Math"/>
                                </a:rPr>
                                <m:t>6</m:t>
                              </m:r>
                            </m:sup>
                          </m:sSup>
                        </m:num>
                        <m:den>
                          <m:r>
                            <a:rPr lang="en-US" b="0" i="1" smtClean="0">
                              <a:latin typeface="Cambria Math"/>
                            </a:rPr>
                            <m:t>6!</m:t>
                          </m:r>
                        </m:den>
                      </m:f>
                      <m:r>
                        <a:rPr lang="en-US" b="0" i="1" smtClean="0">
                          <a:latin typeface="Cambria Math"/>
                        </a:rPr>
                        <m:t>=0.1042</m:t>
                      </m:r>
                    </m:oMath>
                  </m:oMathPara>
                </a14:m>
                <a:endParaRPr lang="en-US" dirty="0"/>
              </a:p>
              <a:p>
                <a:pPr marL="274320" lvl="1" indent="0">
                  <a:buNone/>
                </a:pPr>
                <a:endParaRPr lang="en-US" dirty="0"/>
              </a:p>
              <a:p>
                <a:pPr lvl="1"/>
                <a:r>
                  <a:rPr lang="en-US" dirty="0"/>
                  <a:t>Suppose we are instead interested in the probability that 6 particles pass through the counter in 2 milliseconds. Then </a:t>
                </a:r>
                <a14:m>
                  <m:oMath xmlns:m="http://schemas.openxmlformats.org/officeDocument/2006/math">
                    <m:r>
                      <a:rPr lang="en-US" b="0" i="1" smtClean="0">
                        <a:latin typeface="Cambria Math"/>
                      </a:rPr>
                      <m:t>𝜆</m:t>
                    </m:r>
                    <m:r>
                      <a:rPr lang="en-US" b="0" i="1" smtClean="0">
                        <a:latin typeface="Cambria Math"/>
                      </a:rPr>
                      <m:t>=4</m:t>
                    </m:r>
                  </m:oMath>
                </a14:m>
                <a:r>
                  <a:rPr lang="en-US" dirty="0"/>
                  <a:t> and </a:t>
                </a:r>
                <a14:m>
                  <m:oMath xmlns:m="http://schemas.openxmlformats.org/officeDocument/2006/math">
                    <m:r>
                      <a:rPr lang="en-US" b="0" i="1" smtClean="0">
                        <a:latin typeface="Cambria Math"/>
                      </a:rPr>
                      <m:t>𝑡</m:t>
                    </m:r>
                    <m:r>
                      <a:rPr lang="en-US" b="0" i="1" smtClean="0">
                        <a:latin typeface="Cambria Math"/>
                      </a:rPr>
                      <m:t>=2</m:t>
                    </m:r>
                  </m:oMath>
                </a14:m>
                <a:r>
                  <a:rPr lang="en-US" dirty="0"/>
                  <a:t> so that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=6</m:t>
                        </m:r>
                      </m:e>
                    </m:d>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−8</m:t>
                            </m:r>
                          </m:sup>
                        </m:sSup>
                        <m:sSup>
                          <m:sSupPr>
                            <m:ctrlPr>
                              <a:rPr lang="en-US" b="0" i="1" smtClean="0">
                                <a:latin typeface="Cambria Math" panose="02040503050406030204" pitchFamily="18" charset="0"/>
                              </a:rPr>
                            </m:ctrlPr>
                          </m:sSupPr>
                          <m:e>
                            <m:r>
                              <a:rPr lang="en-US" b="0" i="1" smtClean="0">
                                <a:latin typeface="Cambria Math"/>
                              </a:rPr>
                              <m:t>8</m:t>
                            </m:r>
                          </m:e>
                          <m:sup>
                            <m:r>
                              <a:rPr lang="en-US" b="0" i="1" smtClean="0">
                                <a:latin typeface="Cambria Math"/>
                              </a:rPr>
                              <m:t>6</m:t>
                            </m:r>
                          </m:sup>
                        </m:sSup>
                      </m:num>
                      <m:den>
                        <m:r>
                          <a:rPr lang="en-US" b="0" i="1" smtClean="0">
                            <a:latin typeface="Cambria Math"/>
                          </a:rPr>
                          <m:t>6!</m:t>
                        </m:r>
                      </m:den>
                    </m:f>
                    <m:r>
                      <a:rPr lang="en-US" b="0" i="1" smtClean="0">
                        <a:latin typeface="Cambria Math"/>
                      </a:rPr>
                      <m:t>=0.1221</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1111"/>
                </a:stretch>
              </a:blipFill>
            </p:spPr>
            <p:txBody>
              <a:bodyPr/>
              <a:lstStyle/>
              <a:p>
                <a:r>
                  <a:rPr lang="en-US">
                    <a:noFill/>
                  </a:rPr>
                  <a:t> </a:t>
                </a:r>
              </a:p>
            </p:txBody>
          </p:sp>
        </mc:Fallback>
      </mc:AlternateContent>
    </p:spTree>
    <p:extLst>
      <p:ext uri="{BB962C8B-B14F-4D97-AF65-F5344CB8AC3E}">
        <p14:creationId xmlns:p14="http://schemas.microsoft.com/office/powerpoint/2010/main" val="4055790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5.5 - Poisson</a:t>
            </a:r>
          </a:p>
        </p:txBody>
      </p:sp>
      <p:sp>
        <p:nvSpPr>
          <p:cNvPr id="3" name="Content Placeholder 2"/>
          <p:cNvSpPr>
            <a:spLocks noGrp="1"/>
          </p:cNvSpPr>
          <p:nvPr>
            <p:ph sz="quarter" idx="1"/>
          </p:nvPr>
        </p:nvSpPr>
        <p:spPr/>
        <p:txBody>
          <a:bodyPr>
            <a:normAutofit/>
          </a:bodyPr>
          <a:lstStyle/>
          <a:p>
            <a:r>
              <a:rPr lang="en-US" dirty="0"/>
              <a:t>We are again interested in formulas for the mean and variance of a Poisson random variable.</a:t>
            </a:r>
          </a:p>
          <a:p>
            <a:endParaRPr lang="en-US" dirty="0"/>
          </a:p>
          <a:p>
            <a:r>
              <a:rPr lang="en-US" dirty="0"/>
              <a:t>Exercise: Find the mean and variance for a Poisson random variable.</a:t>
            </a:r>
          </a:p>
        </p:txBody>
      </p:sp>
    </p:spTree>
    <p:extLst>
      <p:ext uri="{BB962C8B-B14F-4D97-AF65-F5344CB8AC3E}">
        <p14:creationId xmlns:p14="http://schemas.microsoft.com/office/powerpoint/2010/main" val="2246634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5.5 - Poisson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The Poisson distribution is the only distribution we will see where the mean equals the variance.</a:t>
                </a:r>
              </a:p>
              <a:p>
                <a:endParaRPr lang="en-US" dirty="0"/>
              </a:p>
              <a:p>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r>
                      <a:rPr lang="en-US" b="0" i="1" smtClean="0">
                        <a:latin typeface="Cambria Math"/>
                      </a:rPr>
                      <m:t>𝑉</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r>
                      <a:rPr lang="en-US" b="0" i="1" smtClean="0">
                        <a:latin typeface="Cambria Math"/>
                      </a:rPr>
                      <m:t>𝜆</m:t>
                    </m:r>
                    <m:r>
                      <a:rPr lang="en-US" b="0" i="1" smtClean="0">
                        <a:latin typeface="Cambria Math"/>
                      </a:rPr>
                      <m:t>𝑡</m:t>
                    </m:r>
                  </m:oMath>
                </a14:m>
                <a:endParaRPr lang="en-US" dirty="0"/>
              </a:p>
              <a:p>
                <a:endParaRPr lang="en-US" dirty="0"/>
              </a:p>
              <a:p>
                <a:r>
                  <a:rPr lang="en-US" dirty="0"/>
                  <a:t>Again, for any questions that ask you to find the mean or variance, you only need to use this formula.</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667" t="-1111" r="-222"/>
                </a:stretch>
              </a:blipFill>
            </p:spPr>
            <p:txBody>
              <a:bodyPr/>
              <a:lstStyle/>
              <a:p>
                <a:r>
                  <a:rPr lang="en-US">
                    <a:noFill/>
                  </a:rPr>
                  <a:t> </a:t>
                </a:r>
              </a:p>
            </p:txBody>
          </p:sp>
        </mc:Fallback>
      </mc:AlternateContent>
    </p:spTree>
    <p:extLst>
      <p:ext uri="{BB962C8B-B14F-4D97-AF65-F5344CB8AC3E}">
        <p14:creationId xmlns:p14="http://schemas.microsoft.com/office/powerpoint/2010/main" val="19436181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5.5 - Poisson</a:t>
            </a:r>
          </a:p>
        </p:txBody>
      </p:sp>
      <p:sp>
        <p:nvSpPr>
          <p:cNvPr id="3" name="Content Placeholder 2"/>
          <p:cNvSpPr>
            <a:spLocks noGrp="1"/>
          </p:cNvSpPr>
          <p:nvPr>
            <p:ph sz="quarter" idx="1"/>
          </p:nvPr>
        </p:nvSpPr>
        <p:spPr/>
        <p:txBody>
          <a:bodyPr>
            <a:normAutofit/>
          </a:bodyPr>
          <a:lstStyle/>
          <a:p>
            <a:r>
              <a:rPr lang="en-US" dirty="0"/>
              <a:t>Exercise: Suppose the number of cases of a certain disease reported in a year follows a Poisson distribution with mean 2.5. Find the probability that:</a:t>
            </a:r>
          </a:p>
          <a:p>
            <a:pPr lvl="1"/>
            <a:r>
              <a:rPr lang="en-US" dirty="0"/>
              <a:t>No cases are reported in a given year</a:t>
            </a:r>
          </a:p>
          <a:p>
            <a:pPr lvl="1"/>
            <a:r>
              <a:rPr lang="en-US" dirty="0"/>
              <a:t>Exactly three cases are reported in a year</a:t>
            </a:r>
          </a:p>
          <a:p>
            <a:pPr lvl="1"/>
            <a:r>
              <a:rPr lang="en-US" dirty="0"/>
              <a:t>At least three cases are reported in a year</a:t>
            </a:r>
          </a:p>
          <a:p>
            <a:pPr lvl="1"/>
            <a:r>
              <a:rPr lang="en-US" dirty="0"/>
              <a:t>At most three cases are reported in a year</a:t>
            </a:r>
          </a:p>
          <a:p>
            <a:pPr lvl="1"/>
            <a:r>
              <a:rPr lang="en-US" dirty="0"/>
              <a:t>Between 2 and 5 cases are reported in 6 months</a:t>
            </a:r>
          </a:p>
        </p:txBody>
      </p:sp>
    </p:spTree>
    <p:extLst>
      <p:ext uri="{BB962C8B-B14F-4D97-AF65-F5344CB8AC3E}">
        <p14:creationId xmlns:p14="http://schemas.microsoft.com/office/powerpoint/2010/main" val="40359984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960</TotalTime>
  <Words>2052</Words>
  <Application>Microsoft Office PowerPoint</Application>
  <PresentationFormat>On-screen Show (4:3)</PresentationFormat>
  <Paragraphs>168</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Bookman Old Style</vt:lpstr>
      <vt:lpstr>Cambria Math</vt:lpstr>
      <vt:lpstr>Gill Sans MT</vt:lpstr>
      <vt:lpstr>Wingdings</vt:lpstr>
      <vt:lpstr>Wingdings 3</vt:lpstr>
      <vt:lpstr>Origin</vt:lpstr>
      <vt:lpstr>Some Discrete Probability Distributions</vt:lpstr>
      <vt:lpstr>Chapter 5</vt:lpstr>
      <vt:lpstr>Chapter 5</vt:lpstr>
      <vt:lpstr>5.2 – Binomial and Multinomial</vt:lpstr>
      <vt:lpstr>5.2 – Binomial and Multinomial</vt:lpstr>
      <vt:lpstr>5.2 – Binomial and Multinomial</vt:lpstr>
      <vt:lpstr>5.2 – Binomial and Multinomial</vt:lpstr>
      <vt:lpstr>5.2 – Binomial and Multinomial</vt:lpstr>
      <vt:lpstr>5.2 – Binomial and Multinomial</vt:lpstr>
      <vt:lpstr>5.2 – Binomial and Multinomial</vt:lpstr>
      <vt:lpstr>5.2 – Binomial and Multinomial</vt:lpstr>
      <vt:lpstr>5.2 – Binomial and Multinomial</vt:lpstr>
      <vt:lpstr>5.2 – Binomial and Multinomial</vt:lpstr>
      <vt:lpstr>5.2 – Binomial and Multinomial</vt:lpstr>
      <vt:lpstr>5.2 – Binomial and Multinomial</vt:lpstr>
      <vt:lpstr>5.2 – Binomial and Multinomial</vt:lpstr>
      <vt:lpstr>5.2 – Binomial and Multinomial</vt:lpstr>
      <vt:lpstr>5.2 – Binomial and Multinomial</vt:lpstr>
      <vt:lpstr>5.2 – Binomial and Multinomial</vt:lpstr>
      <vt:lpstr>5.5 - Poisson</vt:lpstr>
      <vt:lpstr>5.5 - Poisson</vt:lpstr>
      <vt:lpstr>5.5 - Poisson</vt:lpstr>
      <vt:lpstr>5.5 - Poisson</vt:lpstr>
      <vt:lpstr>5.5 - Poisson</vt:lpstr>
      <vt:lpstr>5.5 - Poisson</vt:lpstr>
      <vt:lpstr>5.5 - Poisson</vt:lpstr>
      <vt:lpstr>5.5 - Poisson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Discrete Probability Distributions</dc:title>
  <dc:creator>Jason Adams</dc:creator>
  <cp:lastModifiedBy>Lizzie Reida</cp:lastModifiedBy>
  <cp:revision>31</cp:revision>
  <dcterms:created xsi:type="dcterms:W3CDTF">2017-07-18T15:45:15Z</dcterms:created>
  <dcterms:modified xsi:type="dcterms:W3CDTF">2021-01-14T15:37:30Z</dcterms:modified>
</cp:coreProperties>
</file>
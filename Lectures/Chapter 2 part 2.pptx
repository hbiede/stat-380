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60" y="6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AAED6714-BC77-4C2E-A67B-B7ABAF16BBA6}"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97E490-FF87-48A2-BE72-EA0F11B2AE2C}" type="slidenum">
              <a:rPr lang="en-US" smtClean="0"/>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AED6714-BC77-4C2E-A67B-B7ABAF16BBA6}"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97E490-FF87-48A2-BE72-EA0F11B2AE2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AED6714-BC77-4C2E-A67B-B7ABAF16BBA6}"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97E490-FF87-48A2-BE72-EA0F11B2AE2C}"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AED6714-BC77-4C2E-A67B-B7ABAF16BBA6}"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97E490-FF87-48A2-BE72-EA0F11B2AE2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AED6714-BC77-4C2E-A67B-B7ABAF16BBA6}" type="datetimeFigureOut">
              <a:rPr lang="en-US" smtClean="0"/>
              <a:t>1/14/2021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97E490-FF87-48A2-BE72-EA0F11B2AE2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AAED6714-BC77-4C2E-A67B-B7ABAF16BBA6}" type="datetimeFigureOut">
              <a:rPr lang="en-US" smtClean="0"/>
              <a:t>1/14/2021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97E490-FF87-48A2-BE72-EA0F11B2AE2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ED6714-BC77-4C2E-A67B-B7ABAF16BBA6}" type="datetimeFigureOut">
              <a:rPr lang="en-US" smtClean="0"/>
              <a:t>1/14/2021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97E490-FF87-48A2-BE72-EA0F11B2AE2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AED6714-BC77-4C2E-A67B-B7ABAF16BBA6}"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97E490-FF87-48A2-BE72-EA0F11B2AE2C}" type="slidenum">
              <a:rPr lang="en-US" smtClean="0"/>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AAED6714-BC77-4C2E-A67B-B7ABAF16BBA6}" type="datetimeFigureOut">
              <a:rPr lang="en-US" smtClean="0"/>
              <a:t>1/14/2021</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5C97E490-FF87-48A2-BE72-EA0F11B2AE2C}"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AED6714-BC77-4C2E-A67B-B7ABAF16BBA6}"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97E490-FF87-48A2-BE72-EA0F11B2AE2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AED6714-BC77-4C2E-A67B-B7ABAF16BBA6}" type="datetimeFigureOut">
              <a:rPr lang="en-US" smtClean="0"/>
              <a:t>1/14/2021</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5C97E490-FF87-48A2-BE72-EA0F11B2AE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a:t>Click to edit Master title style</a:t>
            </a:r>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AAED6714-BC77-4C2E-A67B-B7ABAF16BBA6}" type="datetimeFigureOut">
              <a:rPr lang="en-US" smtClean="0"/>
              <a:t>1/14/2021</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5C97E490-FF87-48A2-BE72-EA0F11B2AE2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Probability</a:t>
            </a:r>
          </a:p>
        </p:txBody>
      </p:sp>
      <p:sp>
        <p:nvSpPr>
          <p:cNvPr id="3" name="Subtitle 2"/>
          <p:cNvSpPr>
            <a:spLocks noGrp="1"/>
          </p:cNvSpPr>
          <p:nvPr>
            <p:ph type="subTitle" idx="1"/>
          </p:nvPr>
        </p:nvSpPr>
        <p:spPr/>
        <p:txBody>
          <a:bodyPr/>
          <a:lstStyle/>
          <a:p>
            <a:r>
              <a:rPr lang="en-US" dirty="0"/>
              <a:t>Chapter 2</a:t>
            </a:r>
          </a:p>
        </p:txBody>
      </p:sp>
    </p:spTree>
    <p:extLst>
      <p:ext uri="{BB962C8B-B14F-4D97-AF65-F5344CB8AC3E}">
        <p14:creationId xmlns:p14="http://schemas.microsoft.com/office/powerpoint/2010/main" val="677462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p:sp>
        <p:nvSpPr>
          <p:cNvPr id="3" name="Content Placeholder 2"/>
          <p:cNvSpPr>
            <a:spLocks noGrp="1"/>
          </p:cNvSpPr>
          <p:nvPr>
            <p:ph idx="1"/>
          </p:nvPr>
        </p:nvSpPr>
        <p:spPr/>
        <p:txBody>
          <a:bodyPr/>
          <a:lstStyle/>
          <a:p>
            <a:r>
              <a:rPr lang="en-US" dirty="0"/>
              <a:t>This section introduces us to the important idea of conditional probability. We will be using ideas from this section through the rest of the class.</a:t>
            </a:r>
          </a:p>
          <a:p>
            <a:endParaRPr lang="en-US" dirty="0"/>
          </a:p>
          <a:p>
            <a:r>
              <a:rPr lang="en-US" dirty="0"/>
              <a:t>The idea of conditional probability is that we look at how likely one event is </a:t>
            </a:r>
            <a:r>
              <a:rPr lang="en-US" i="1" dirty="0"/>
              <a:t>given</a:t>
            </a:r>
            <a:r>
              <a:rPr lang="en-US" dirty="0"/>
              <a:t> that some other event has occurred.</a:t>
            </a:r>
          </a:p>
        </p:txBody>
      </p:sp>
    </p:spTree>
    <p:extLst>
      <p:ext uri="{BB962C8B-B14F-4D97-AF65-F5344CB8AC3E}">
        <p14:creationId xmlns:p14="http://schemas.microsoft.com/office/powerpoint/2010/main" val="3550057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We denote conditional probability by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𝐵</m:t>
                    </m:r>
                    <m:r>
                      <a:rPr lang="en-US" b="0" i="1" smtClean="0">
                        <a:latin typeface="Cambria Math"/>
                      </a:rPr>
                      <m:t>|</m:t>
                    </m:r>
                    <m:r>
                      <a:rPr lang="en-US" b="0" i="1" smtClean="0">
                        <a:latin typeface="Cambria Math"/>
                      </a:rPr>
                      <m:t>𝐴</m:t>
                    </m:r>
                    <m:r>
                      <a:rPr lang="en-US" b="0" i="1" smtClean="0">
                        <a:latin typeface="Cambria Math"/>
                      </a:rPr>
                      <m:t>)</m:t>
                    </m:r>
                  </m:oMath>
                </a14:m>
                <a:r>
                  <a:rPr lang="en-US" dirty="0"/>
                  <a:t>, said “probability of B given A.” This is the probability that </a:t>
                </a:r>
                <a14:m>
                  <m:oMath xmlns:m="http://schemas.openxmlformats.org/officeDocument/2006/math">
                    <m:r>
                      <a:rPr lang="en-US" b="0" i="1" smtClean="0">
                        <a:latin typeface="Cambria Math"/>
                      </a:rPr>
                      <m:t>𝐵</m:t>
                    </m:r>
                  </m:oMath>
                </a14:m>
                <a:r>
                  <a:rPr lang="en-US" dirty="0"/>
                  <a:t> will occur given that </a:t>
                </a:r>
                <a14:m>
                  <m:oMath xmlns:m="http://schemas.openxmlformats.org/officeDocument/2006/math">
                    <m:r>
                      <a:rPr lang="en-US" b="0" i="1" smtClean="0">
                        <a:latin typeface="Cambria Math"/>
                      </a:rPr>
                      <m:t>𝐴</m:t>
                    </m:r>
                  </m:oMath>
                </a14:m>
                <a:r>
                  <a:rPr lang="en-US" dirty="0"/>
                  <a:t> occurs (or has already occurred). Example:</a:t>
                </a:r>
              </a:p>
              <a:p>
                <a:pPr lvl="1"/>
                <a:r>
                  <a:rPr lang="en-US" dirty="0"/>
                  <a:t>Let </a:t>
                </a:r>
                <a14:m>
                  <m:oMath xmlns:m="http://schemas.openxmlformats.org/officeDocument/2006/math">
                    <m:r>
                      <a:rPr lang="en-US" b="0" i="1" smtClean="0">
                        <a:latin typeface="Cambria Math"/>
                      </a:rPr>
                      <m:t>𝐵</m:t>
                    </m:r>
                  </m:oMath>
                </a14:m>
                <a:r>
                  <a:rPr lang="en-US" dirty="0"/>
                  <a:t> be the event that the ace of spades is drawn from a 52 card deck. We know that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52</m:t>
                        </m:r>
                      </m:den>
                    </m:f>
                  </m:oMath>
                </a14:m>
                <a:r>
                  <a:rPr lang="en-US" dirty="0"/>
                  <a:t>. Now suppose </a:t>
                </a:r>
                <a14:m>
                  <m:oMath xmlns:m="http://schemas.openxmlformats.org/officeDocument/2006/math">
                    <m:r>
                      <a:rPr lang="en-US" b="0" i="1" smtClean="0">
                        <a:latin typeface="Cambria Math"/>
                      </a:rPr>
                      <m:t>𝐴</m:t>
                    </m:r>
                  </m:oMath>
                </a14:m>
                <a:r>
                  <a:rPr lang="en-US" dirty="0"/>
                  <a:t> is the event that a spade is drawn. Then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13</m:t>
                        </m:r>
                      </m:den>
                    </m:f>
                  </m:oMath>
                </a14:m>
                <a:r>
                  <a:rPr lang="en-US" dirty="0"/>
                  <a:t> because </a:t>
                </a:r>
                <a:r>
                  <a:rPr lang="en-US" i="1" dirty="0"/>
                  <a:t>we have changed the sample space</a:t>
                </a:r>
                <a:r>
                  <a:rPr lang="en-US" dirty="0"/>
                  <a:t>. Previously the sample space was all cards. Now it’s just the spades.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81" r="-2667" b="-3294"/>
                </a:stretch>
              </a:blipFill>
            </p:spPr>
            <p:txBody>
              <a:bodyPr/>
              <a:lstStyle/>
              <a:p>
                <a:r>
                  <a:rPr lang="en-US">
                    <a:noFill/>
                  </a:rPr>
                  <a:t> </a:t>
                </a:r>
              </a:p>
            </p:txBody>
          </p:sp>
        </mc:Fallback>
      </mc:AlternateContent>
    </p:spTree>
    <p:extLst>
      <p:ext uri="{BB962C8B-B14F-4D97-AF65-F5344CB8AC3E}">
        <p14:creationId xmlns:p14="http://schemas.microsoft.com/office/powerpoint/2010/main" val="2559964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b="1" dirty="0"/>
                  <a:t>With conditional probability, there is always a change from the original sample space to a subset of the sample space.</a:t>
                </a:r>
              </a:p>
              <a:p>
                <a:endParaRPr lang="en-US" dirty="0"/>
              </a:p>
              <a:p>
                <a:r>
                  <a:rPr lang="en-US" dirty="0"/>
                  <a:t>The formula for conditional probability is given by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num>
                      <m:den>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den>
                    </m:f>
                  </m:oMath>
                </a14:m>
                <a:r>
                  <a:rPr lang="en-US" dirty="0"/>
                  <a:t>. </a:t>
                </a:r>
              </a:p>
              <a:p>
                <a:endParaRPr lang="en-US" dirty="0"/>
              </a:p>
              <a:p>
                <a:r>
                  <a:rPr lang="en-US" dirty="0"/>
                  <a:t>Use this formula to show that the probability we calculated on the previous slide is correct.</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713" r="-667"/>
                </a:stretch>
              </a:blipFill>
            </p:spPr>
            <p:txBody>
              <a:bodyPr/>
              <a:lstStyle/>
              <a:p>
                <a:r>
                  <a:rPr lang="en-US">
                    <a:noFill/>
                  </a:rPr>
                  <a:t> </a:t>
                </a:r>
              </a:p>
            </p:txBody>
          </p:sp>
        </mc:Fallback>
      </mc:AlternateContent>
    </p:spTree>
    <p:extLst>
      <p:ext uri="{BB962C8B-B14F-4D97-AF65-F5344CB8AC3E}">
        <p14:creationId xmlns:p14="http://schemas.microsoft.com/office/powerpoint/2010/main" val="3656274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Here,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52</m:t>
                        </m:r>
                      </m:den>
                    </m:f>
                  </m:oMath>
                </a14:m>
                <a:r>
                  <a:rPr lang="en-US" dirty="0"/>
                  <a:t> and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=13/52</m:t>
                    </m:r>
                  </m:oMath>
                </a14:m>
                <a:r>
                  <a:rPr lang="en-US" dirty="0"/>
                  <a:t>. Thus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52</m:t>
                            </m:r>
                          </m:den>
                        </m:f>
                      </m:num>
                      <m:den>
                        <m:f>
                          <m:fPr>
                            <m:ctrlPr>
                              <a:rPr lang="en-US" b="0" i="1" smtClean="0">
                                <a:latin typeface="Cambria Math" panose="02040503050406030204" pitchFamily="18" charset="0"/>
                              </a:rPr>
                            </m:ctrlPr>
                          </m:fPr>
                          <m:num>
                            <m:r>
                              <a:rPr lang="en-US" b="0" i="1" smtClean="0">
                                <a:latin typeface="Cambria Math"/>
                              </a:rPr>
                              <m:t>13</m:t>
                            </m:r>
                          </m:num>
                          <m:den>
                            <m:r>
                              <a:rPr lang="en-US" b="0" i="1" smtClean="0">
                                <a:latin typeface="Cambria Math"/>
                              </a:rPr>
                              <m:t>52</m:t>
                            </m:r>
                          </m:den>
                        </m:f>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13</m:t>
                        </m:r>
                      </m:den>
                    </m:f>
                  </m:oMath>
                </a14:m>
                <a:r>
                  <a:rPr lang="en-US" dirty="0"/>
                  <a:t>.</a:t>
                </a:r>
              </a:p>
              <a:p>
                <a:endParaRPr lang="en-US" dirty="0"/>
              </a:p>
              <a:p>
                <a:r>
                  <a:rPr lang="en-US" dirty="0"/>
                  <a:t>A helpful way to view conditional probability is by using a table. We will use data from a study conducted to see if a particular drug helped reduce symptoms of “elevation sickness” in hikers in the Himalayas. </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r="-74"/>
                </a:stretch>
              </a:blipFill>
            </p:spPr>
            <p:txBody>
              <a:bodyPr/>
              <a:lstStyle/>
              <a:p>
                <a:r>
                  <a:rPr lang="en-US">
                    <a:noFill/>
                  </a:rPr>
                  <a:t> </a:t>
                </a:r>
              </a:p>
            </p:txBody>
          </p:sp>
        </mc:Fallback>
      </mc:AlternateContent>
    </p:spTree>
    <p:extLst>
      <p:ext uri="{BB962C8B-B14F-4D97-AF65-F5344CB8AC3E}">
        <p14:creationId xmlns:p14="http://schemas.microsoft.com/office/powerpoint/2010/main" val="3386118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p:sp>
        <p:nvSpPr>
          <p:cNvPr id="3" name="Content Placeholder 2"/>
          <p:cNvSpPr>
            <a:spLocks noGrp="1"/>
          </p:cNvSpPr>
          <p:nvPr>
            <p:ph idx="1"/>
          </p:nvPr>
        </p:nvSpPr>
        <p:spPr/>
        <p:txBody>
          <a:bodyPr>
            <a:normAutofit/>
          </a:bodyPr>
          <a:lstStyle/>
          <a:p>
            <a:r>
              <a:rPr lang="en-US" dirty="0"/>
              <a:t>One of the benefits of conditional probability is that we can evaluate the probability of events using all the information available to us. This is extremely important in actual applications. The more information we have about something, the better our probability estimates can be.</a:t>
            </a:r>
          </a:p>
          <a:p>
            <a:endParaRPr lang="en-US" dirty="0"/>
          </a:p>
        </p:txBody>
      </p:sp>
    </p:spTree>
    <p:extLst>
      <p:ext uri="{BB962C8B-B14F-4D97-AF65-F5344CB8AC3E}">
        <p14:creationId xmlns:p14="http://schemas.microsoft.com/office/powerpoint/2010/main" val="3519570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Exercise (2.34 in book): Let </a:t>
                </a:r>
                <a14:m>
                  <m:oMath xmlns:m="http://schemas.openxmlformats.org/officeDocument/2006/math">
                    <m:r>
                      <a:rPr lang="en-US" b="0" i="1" smtClean="0">
                        <a:latin typeface="Cambria Math"/>
                      </a:rPr>
                      <m:t>𝐷</m:t>
                    </m:r>
                  </m:oMath>
                </a14:m>
                <a:r>
                  <a:rPr lang="en-US" dirty="0"/>
                  <a:t> be the event that a scheduled flight departs on time and </a:t>
                </a:r>
                <a14:m>
                  <m:oMath xmlns:m="http://schemas.openxmlformats.org/officeDocument/2006/math">
                    <m:r>
                      <a:rPr lang="en-US" b="0" i="1" smtClean="0">
                        <a:latin typeface="Cambria Math"/>
                      </a:rPr>
                      <m:t>𝐴</m:t>
                    </m:r>
                  </m:oMath>
                </a14:m>
                <a:r>
                  <a:rPr lang="en-US" dirty="0"/>
                  <a:t> be the event that the flight arrives on time. If we know that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m:t>
                        </m:r>
                      </m:e>
                    </m:d>
                    <m:r>
                      <a:rPr lang="en-US" b="0" i="1" smtClean="0">
                        <a:latin typeface="Cambria Math"/>
                      </a:rPr>
                      <m:t>=0.83, </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=0.82</m:t>
                    </m:r>
                  </m:oMath>
                </a14:m>
                <a:r>
                  <a:rPr lang="en-US" dirty="0"/>
                  <a:t>, and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m:t>
                        </m:r>
                        <m:r>
                          <a:rPr lang="en-US" b="0" i="1" smtClean="0">
                            <a:latin typeface="Cambria Math"/>
                          </a:rPr>
                          <m:t>∩</m:t>
                        </m:r>
                        <m:r>
                          <a:rPr lang="en-US" b="0" i="1" smtClean="0">
                            <a:latin typeface="Cambria Math"/>
                          </a:rPr>
                          <m:t>𝐴</m:t>
                        </m:r>
                      </m:e>
                    </m:d>
                    <m:r>
                      <a:rPr lang="en-US" b="0" i="1" smtClean="0">
                        <a:latin typeface="Cambria Math"/>
                      </a:rPr>
                      <m:t>=0.78</m:t>
                    </m:r>
                  </m:oMath>
                </a14:m>
                <a:r>
                  <a:rPr lang="en-US" dirty="0"/>
                  <a:t>, find:</a:t>
                </a:r>
              </a:p>
              <a:p>
                <a:pPr lvl="1"/>
                <a:r>
                  <a:rPr lang="en-US" dirty="0"/>
                  <a:t>The probability that the flight arrives on time given that it departed on time</a:t>
                </a:r>
              </a:p>
              <a:p>
                <a:pPr lvl="1"/>
                <a:r>
                  <a:rPr lang="en-US" dirty="0"/>
                  <a:t>The probability that the flight arrives on time given that it departed late</a:t>
                </a:r>
              </a:p>
              <a:p>
                <a:pPr lvl="1"/>
                <a:r>
                  <a:rPr lang="en-US" dirty="0"/>
                  <a:t>The probability that the flight departed on time given that it arrived on time</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81" r="-1852" b="-2240"/>
                </a:stretch>
              </a:blipFill>
            </p:spPr>
            <p:txBody>
              <a:bodyPr/>
              <a:lstStyle/>
              <a:p>
                <a:r>
                  <a:rPr lang="en-US">
                    <a:noFill/>
                  </a:rPr>
                  <a:t> </a:t>
                </a:r>
              </a:p>
            </p:txBody>
          </p:sp>
        </mc:Fallback>
      </mc:AlternateContent>
    </p:spTree>
    <p:extLst>
      <p:ext uri="{BB962C8B-B14F-4D97-AF65-F5344CB8AC3E}">
        <p14:creationId xmlns:p14="http://schemas.microsoft.com/office/powerpoint/2010/main" val="3001108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Conditional probability naturally leads us into another important topic: independence.</a:t>
                </a:r>
              </a:p>
              <a:p>
                <a:endParaRPr lang="en-US" dirty="0"/>
              </a:p>
              <a:p>
                <a:r>
                  <a:rPr lang="en-US" dirty="0"/>
                  <a:t>As an introduction, consider two events. When rolling two dice, </a:t>
                </a:r>
                <a14:m>
                  <m:oMath xmlns:m="http://schemas.openxmlformats.org/officeDocument/2006/math">
                    <m:r>
                      <a:rPr lang="en-US" b="0" i="1" smtClean="0">
                        <a:latin typeface="Cambria Math"/>
                      </a:rPr>
                      <m:t>𝐴</m:t>
                    </m:r>
                  </m:oMath>
                </a14:m>
                <a:r>
                  <a:rPr lang="en-US" dirty="0"/>
                  <a:t> is the event that the first die comes up even and </a:t>
                </a:r>
                <a14:m>
                  <m:oMath xmlns:m="http://schemas.openxmlformats.org/officeDocument/2006/math">
                    <m:r>
                      <a:rPr lang="en-US" b="0" i="1" smtClean="0">
                        <a:latin typeface="Cambria Math"/>
                      </a:rPr>
                      <m:t>𝐵</m:t>
                    </m:r>
                  </m:oMath>
                </a14:m>
                <a:r>
                  <a:rPr lang="en-US" dirty="0"/>
                  <a:t> is the event that the second die lands on 1 or 2. What are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oMath>
                </a14:m>
                <a:r>
                  <a:rPr lang="en-US" dirty="0"/>
                  <a:t>, </a:t>
                </a:r>
                <a14:m>
                  <m:oMath xmlns:m="http://schemas.openxmlformats.org/officeDocument/2006/math">
                    <m:r>
                      <a:rPr lang="en-US" b="0" i="1" dirty="0" smtClean="0">
                        <a:latin typeface="Cambria Math"/>
                      </a:rPr>
                      <m:t>𝑃</m:t>
                    </m:r>
                    <m:r>
                      <a:rPr lang="en-US" b="0" i="1" dirty="0" smtClean="0">
                        <a:latin typeface="Cambria Math"/>
                      </a:rPr>
                      <m:t>(</m:t>
                    </m:r>
                    <m:r>
                      <a:rPr lang="en-US" b="0" i="1" dirty="0" smtClean="0">
                        <a:latin typeface="Cambria Math"/>
                      </a:rPr>
                      <m:t>𝐵</m:t>
                    </m:r>
                    <m:r>
                      <a:rPr lang="en-US" b="0" i="1" dirty="0" smtClean="0">
                        <a:latin typeface="Cambria Math"/>
                      </a:rPr>
                      <m:t>)</m:t>
                    </m:r>
                  </m:oMath>
                </a14:m>
                <a:r>
                  <a:rPr lang="en-US" dirty="0"/>
                  <a:t>, and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1926"/>
                </a:stretch>
              </a:blipFill>
            </p:spPr>
            <p:txBody>
              <a:bodyPr/>
              <a:lstStyle/>
              <a:p>
                <a:r>
                  <a:rPr lang="en-US">
                    <a:noFill/>
                  </a:rPr>
                  <a:t> </a:t>
                </a:r>
              </a:p>
            </p:txBody>
          </p:sp>
        </mc:Fallback>
      </mc:AlternateContent>
    </p:spTree>
    <p:extLst>
      <p:ext uri="{BB962C8B-B14F-4D97-AF65-F5344CB8AC3E}">
        <p14:creationId xmlns:p14="http://schemas.microsoft.com/office/powerpoint/2010/main" val="3563345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2</m:t>
                        </m:r>
                      </m:den>
                    </m:f>
                  </m:oMath>
                </a14:m>
                <a:r>
                  <a:rPr lang="en-US" dirty="0"/>
                  <a:t>, </a:t>
                </a:r>
                <a14:m>
                  <m:oMath xmlns:m="http://schemas.openxmlformats.org/officeDocument/2006/math">
                    <m:r>
                      <a:rPr lang="en-US" b="0" i="1" dirty="0" smtClean="0">
                        <a:latin typeface="Cambria Math"/>
                      </a:rPr>
                      <m:t>𝑃</m:t>
                    </m:r>
                    <m:d>
                      <m:dPr>
                        <m:ctrlPr>
                          <a:rPr lang="en-US" b="0" i="1" dirty="0" smtClean="0">
                            <a:latin typeface="Cambria Math" panose="02040503050406030204" pitchFamily="18" charset="0"/>
                          </a:rPr>
                        </m:ctrlPr>
                      </m:dPr>
                      <m:e>
                        <m:r>
                          <a:rPr lang="en-US" b="0" i="1" dirty="0" smtClean="0">
                            <a:latin typeface="Cambria Math"/>
                          </a:rPr>
                          <m:t>𝐵</m:t>
                        </m:r>
                      </m:e>
                    </m:d>
                    <m:r>
                      <a:rPr lang="en-US" b="0" i="1" dirty="0" smtClean="0">
                        <a:latin typeface="Cambria Math"/>
                      </a:rPr>
                      <m:t>=</m:t>
                    </m:r>
                    <m:f>
                      <m:fPr>
                        <m:ctrlPr>
                          <a:rPr lang="en-US" b="0" i="1" dirty="0" smtClean="0">
                            <a:latin typeface="Cambria Math" panose="02040503050406030204" pitchFamily="18" charset="0"/>
                          </a:rPr>
                        </m:ctrlPr>
                      </m:fPr>
                      <m:num>
                        <m:r>
                          <a:rPr lang="en-US" b="0" i="1" dirty="0" smtClean="0">
                            <a:latin typeface="Cambria Math"/>
                          </a:rPr>
                          <m:t>1</m:t>
                        </m:r>
                      </m:num>
                      <m:den>
                        <m:r>
                          <a:rPr lang="en-US" b="0" i="1" dirty="0" smtClean="0">
                            <a:latin typeface="Cambria Math"/>
                          </a:rPr>
                          <m:t>3</m:t>
                        </m:r>
                      </m:den>
                    </m:f>
                  </m:oMath>
                </a14:m>
                <a:r>
                  <a:rPr lang="en-US" dirty="0"/>
                  <a:t>, and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6/36</m:t>
                        </m:r>
                      </m:num>
                      <m:den>
                        <m:r>
                          <a:rPr lang="en-US" b="0" i="1" smtClean="0">
                            <a:latin typeface="Cambria Math"/>
                          </a:rPr>
                          <m:t>1/2</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3</m:t>
                        </m:r>
                      </m:den>
                    </m:f>
                  </m:oMath>
                </a14:m>
                <a:r>
                  <a:rPr lang="en-US" dirty="0"/>
                  <a:t>.</a:t>
                </a:r>
              </a:p>
              <a:p>
                <a:endParaRPr lang="en-US" dirty="0"/>
              </a:p>
              <a:p>
                <a:r>
                  <a:rPr lang="en-US" dirty="0"/>
                  <a:t>Notice that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m:t>
                    </m:r>
                    <m:r>
                      <a:rPr lang="en-US" b="0" i="1" smtClean="0">
                        <a:latin typeface="Cambria Math"/>
                      </a:rPr>
                      <m:t>𝑃</m:t>
                    </m:r>
                    <m:r>
                      <a:rPr lang="en-US" b="0" i="1" smtClean="0">
                        <a:latin typeface="Cambria Math"/>
                      </a:rPr>
                      <m:t>(</m:t>
                    </m:r>
                    <m:r>
                      <a:rPr lang="en-US" b="0" i="1" smtClean="0">
                        <a:latin typeface="Cambria Math"/>
                      </a:rPr>
                      <m:t>𝐵</m:t>
                    </m:r>
                    <m:r>
                      <a:rPr lang="en-US" b="0" i="1" smtClean="0">
                        <a:latin typeface="Cambria Math"/>
                      </a:rPr>
                      <m:t>)</m:t>
                    </m:r>
                  </m:oMath>
                </a14:m>
                <a:r>
                  <a:rPr lang="en-US" dirty="0"/>
                  <a:t>. That is, conditioning on </a:t>
                </a:r>
                <a14:m>
                  <m:oMath xmlns:m="http://schemas.openxmlformats.org/officeDocument/2006/math">
                    <m:r>
                      <a:rPr lang="en-US" b="0" i="1" smtClean="0">
                        <a:latin typeface="Cambria Math"/>
                      </a:rPr>
                      <m:t>𝐴</m:t>
                    </m:r>
                  </m:oMath>
                </a14:m>
                <a:r>
                  <a:rPr lang="en-US" dirty="0"/>
                  <a:t> does not change the probability of </a:t>
                </a:r>
                <a14:m>
                  <m:oMath xmlns:m="http://schemas.openxmlformats.org/officeDocument/2006/math">
                    <m:r>
                      <a:rPr lang="en-US" b="0" i="1" smtClean="0">
                        <a:latin typeface="Cambria Math"/>
                      </a:rPr>
                      <m:t>𝐵</m:t>
                    </m:r>
                  </m:oMath>
                </a14:m>
                <a:r>
                  <a:rPr lang="en-US" dirty="0"/>
                  <a:t> occurring. In other words, </a:t>
                </a:r>
                <a14:m>
                  <m:oMath xmlns:m="http://schemas.openxmlformats.org/officeDocument/2006/math">
                    <m:r>
                      <a:rPr lang="en-US" b="0" i="1" smtClean="0">
                        <a:latin typeface="Cambria Math"/>
                      </a:rPr>
                      <m:t>𝐴</m:t>
                    </m:r>
                  </m:oMath>
                </a14:m>
                <a:r>
                  <a:rPr lang="en-US" dirty="0"/>
                  <a:t> is not affecting the outcome of </a:t>
                </a:r>
                <a14:m>
                  <m:oMath xmlns:m="http://schemas.openxmlformats.org/officeDocument/2006/math">
                    <m:r>
                      <a:rPr lang="en-US" b="0" i="1" smtClean="0">
                        <a:latin typeface="Cambria Math"/>
                      </a:rPr>
                      <m:t>𝐵</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r="-74"/>
                </a:stretch>
              </a:blipFill>
            </p:spPr>
            <p:txBody>
              <a:bodyPr/>
              <a:lstStyle/>
              <a:p>
                <a:r>
                  <a:rPr lang="en-US">
                    <a:noFill/>
                  </a:rPr>
                  <a:t> </a:t>
                </a:r>
              </a:p>
            </p:txBody>
          </p:sp>
        </mc:Fallback>
      </mc:AlternateContent>
    </p:spTree>
    <p:extLst>
      <p:ext uri="{BB962C8B-B14F-4D97-AF65-F5344CB8AC3E}">
        <p14:creationId xmlns:p14="http://schemas.microsoft.com/office/powerpoint/2010/main" val="1254515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This idea is actually how we define </a:t>
                </a:r>
                <a:r>
                  <a:rPr lang="en-US" i="1" dirty="0"/>
                  <a:t>independence of events</a:t>
                </a:r>
                <a:r>
                  <a:rPr lang="en-US" dirty="0"/>
                  <a:t>.</a:t>
                </a:r>
              </a:p>
              <a:p>
                <a:endParaRPr lang="en-US" i="1" dirty="0"/>
              </a:p>
              <a:p>
                <a:r>
                  <a:rPr lang="en-US" dirty="0"/>
                  <a:t>We say that events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𝐵</m:t>
                    </m:r>
                  </m:oMath>
                </a14:m>
                <a:r>
                  <a:rPr lang="en-US" dirty="0"/>
                  <a:t> are independent if and only if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m:t>
                    </m:r>
                    <m:r>
                      <a:rPr lang="en-US" b="0" i="1" smtClean="0">
                        <a:latin typeface="Cambria Math"/>
                      </a:rPr>
                      <m:t>𝑃</m:t>
                    </m:r>
                    <m:r>
                      <a:rPr lang="en-US" b="0" i="1" smtClean="0">
                        <a:latin typeface="Cambria Math"/>
                      </a:rPr>
                      <m:t>(</m:t>
                    </m:r>
                    <m:r>
                      <a:rPr lang="en-US" b="0" i="1" smtClean="0">
                        <a:latin typeface="Cambria Math"/>
                      </a:rPr>
                      <m:t>𝐵</m:t>
                    </m:r>
                    <m:r>
                      <a:rPr lang="en-US" b="0" i="1" smtClean="0">
                        <a:latin typeface="Cambria Math"/>
                      </a:rPr>
                      <m:t>)</m:t>
                    </m:r>
                  </m:oMath>
                </a14:m>
                <a:r>
                  <a:rPr lang="en-US" dirty="0"/>
                  <a:t> or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e>
                        <m:r>
                          <a:rPr lang="en-US" b="0" i="1" smtClean="0">
                            <a:latin typeface="Cambria Math"/>
                          </a:rPr>
                          <m:t>𝐵</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oMath>
                </a14:m>
                <a:r>
                  <a:rPr lang="en-US" dirty="0"/>
                  <a:t> (assuming that the conditional probabilities exist). Otherwise, the events are</a:t>
                </a:r>
                <a:r>
                  <a:rPr lang="en-US" i="1" dirty="0"/>
                  <a:t> dependent</a:t>
                </a: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667"/>
                </a:stretch>
              </a:blipFill>
            </p:spPr>
            <p:txBody>
              <a:bodyPr/>
              <a:lstStyle/>
              <a:p>
                <a:r>
                  <a:rPr lang="en-US">
                    <a:noFill/>
                  </a:rPr>
                  <a:t> </a:t>
                </a:r>
              </a:p>
            </p:txBody>
          </p:sp>
        </mc:Fallback>
      </mc:AlternateContent>
    </p:spTree>
    <p:extLst>
      <p:ext uri="{BB962C8B-B14F-4D97-AF65-F5344CB8AC3E}">
        <p14:creationId xmlns:p14="http://schemas.microsoft.com/office/powerpoint/2010/main" val="1849175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In our previous example,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m:t>
                    </m:r>
                    <m:r>
                      <a:rPr lang="en-US" b="0" i="1" smtClean="0">
                        <a:latin typeface="Cambria Math"/>
                      </a:rPr>
                      <m:t>𝑃</m:t>
                    </m:r>
                    <m:r>
                      <a:rPr lang="en-US" b="0" i="1" smtClean="0">
                        <a:latin typeface="Cambria Math"/>
                      </a:rPr>
                      <m:t>(</m:t>
                    </m:r>
                    <m:r>
                      <a:rPr lang="en-US" b="0" i="1" smtClean="0">
                        <a:latin typeface="Cambria Math"/>
                      </a:rPr>
                      <m:t>𝐵</m:t>
                    </m:r>
                    <m:r>
                      <a:rPr lang="en-US" b="0" i="1" smtClean="0">
                        <a:latin typeface="Cambria Math"/>
                      </a:rPr>
                      <m:t>)</m:t>
                    </m:r>
                  </m:oMath>
                </a14:m>
                <a:r>
                  <a:rPr lang="en-US" dirty="0"/>
                  <a:t>. Thus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𝐵</m:t>
                    </m:r>
                  </m:oMath>
                </a14:m>
                <a:r>
                  <a:rPr lang="en-US" dirty="0"/>
                  <a:t> are independent.</a:t>
                </a:r>
              </a:p>
              <a:p>
                <a:endParaRPr lang="en-US" dirty="0"/>
              </a:p>
              <a:p>
                <a:r>
                  <a:rPr lang="en-US" dirty="0"/>
                  <a:t>In the other examples we’ve seen, this has not been the case. So each of those pairs of events are dependent.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27"/>
                </a:stretch>
              </a:blipFill>
            </p:spPr>
            <p:txBody>
              <a:bodyPr/>
              <a:lstStyle/>
              <a:p>
                <a:r>
                  <a:rPr lang="en-US">
                    <a:noFill/>
                  </a:rPr>
                  <a:t> </a:t>
                </a:r>
              </a:p>
            </p:txBody>
          </p:sp>
        </mc:Fallback>
      </mc:AlternateContent>
    </p:spTree>
    <p:extLst>
      <p:ext uri="{BB962C8B-B14F-4D97-AF65-F5344CB8AC3E}">
        <p14:creationId xmlns:p14="http://schemas.microsoft.com/office/powerpoint/2010/main" val="1582144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We now introduce another important rule in calculating probabilities – the </a:t>
                </a:r>
                <a:r>
                  <a:rPr lang="en-US" i="1" dirty="0"/>
                  <a:t>product rule</a:t>
                </a:r>
                <a:r>
                  <a:rPr lang="en-US" dirty="0"/>
                  <a:t>. The additive rule gave us a formula for calculating the probability of a union of two events. The product rule gives a formula for calculating the intersection of two events. </a:t>
                </a:r>
              </a:p>
              <a:p>
                <a:endParaRPr lang="en-US" dirty="0"/>
              </a:p>
              <a:p>
                <a:r>
                  <a:rPr lang="en-US" dirty="0"/>
                  <a:t>The product rule is based on the formula for conditional probability. Looking back at that formula, how do we calculate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81"/>
                </a:stretch>
              </a:blipFill>
            </p:spPr>
            <p:txBody>
              <a:bodyPr/>
              <a:lstStyle/>
              <a:p>
                <a:r>
                  <a:rPr lang="en-US">
                    <a:noFill/>
                  </a:rPr>
                  <a:t> </a:t>
                </a:r>
              </a:p>
            </p:txBody>
          </p:sp>
        </mc:Fallback>
      </mc:AlternateContent>
    </p:spTree>
    <p:extLst>
      <p:ext uri="{BB962C8B-B14F-4D97-AF65-F5344CB8AC3E}">
        <p14:creationId xmlns:p14="http://schemas.microsoft.com/office/powerpoint/2010/main" val="2532678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It should be fairly easy to see that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oMath>
                </a14:m>
                <a:r>
                  <a:rPr lang="en-US" dirty="0"/>
                  <a:t>. Note that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r>
                          <a:rPr lang="en-US" b="0" i="1" smtClean="0">
                            <a:latin typeface="Cambria Math"/>
                          </a:rPr>
                          <m:t>∩</m:t>
                        </m:r>
                        <m:r>
                          <a:rPr lang="en-US" b="0" i="1" smtClean="0">
                            <a:latin typeface="Cambria Math"/>
                          </a:rPr>
                          <m:t>𝐴</m:t>
                        </m:r>
                      </m:e>
                    </m:d>
                    <m:r>
                      <a:rPr lang="en-US" b="0" i="1" smtClean="0">
                        <a:latin typeface="Cambria Math"/>
                      </a:rPr>
                      <m:t>,</m:t>
                    </m:r>
                  </m:oMath>
                </a14:m>
                <a:r>
                  <a:rPr lang="en-US" dirty="0"/>
                  <a:t> but in general,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e>
                        <m:r>
                          <a:rPr lang="en-US" b="0" i="1" smtClean="0">
                            <a:latin typeface="Cambria Math"/>
                          </a:rPr>
                          <m:t>𝐵</m:t>
                        </m:r>
                      </m:e>
                    </m:d>
                  </m:oMath>
                </a14:m>
                <a:r>
                  <a:rPr lang="en-US" dirty="0"/>
                  <a:t>.</a:t>
                </a:r>
              </a:p>
              <a:p>
                <a:endParaRPr lang="en-US" dirty="0"/>
              </a:p>
              <a:p>
                <a:r>
                  <a:rPr lang="en-US" dirty="0"/>
                  <a:t>So if we know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𝐵</m:t>
                    </m:r>
                    <m:r>
                      <a:rPr lang="en-US" b="0" i="1" smtClean="0">
                        <a:latin typeface="Cambria Math"/>
                      </a:rPr>
                      <m:t>|</m:t>
                    </m:r>
                    <m:r>
                      <a:rPr lang="en-US" b="0" i="1" smtClean="0">
                        <a:latin typeface="Cambria Math"/>
                      </a:rPr>
                      <m:t>𝐴</m:t>
                    </m:r>
                    <m:r>
                      <a:rPr lang="en-US" b="0" i="1" smtClean="0">
                        <a:latin typeface="Cambria Math"/>
                      </a:rPr>
                      <m:t>)</m:t>
                    </m:r>
                  </m:oMath>
                </a14:m>
                <a:r>
                  <a:rPr lang="en-US" dirty="0"/>
                  <a:t> and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oMath>
                </a14:m>
                <a:r>
                  <a:rPr lang="en-US" dirty="0"/>
                  <a:t>, we can calculate the probability of the intersection.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a:stretch>
              </a:blipFill>
            </p:spPr>
            <p:txBody>
              <a:bodyPr/>
              <a:lstStyle/>
              <a:p>
                <a:r>
                  <a:rPr lang="en-US">
                    <a:noFill/>
                  </a:rPr>
                  <a:t> </a:t>
                </a:r>
              </a:p>
            </p:txBody>
          </p:sp>
        </mc:Fallback>
      </mc:AlternateContent>
    </p:spTree>
    <p:extLst>
      <p:ext uri="{BB962C8B-B14F-4D97-AF65-F5344CB8AC3E}">
        <p14:creationId xmlns:p14="http://schemas.microsoft.com/office/powerpoint/2010/main" val="2436186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p:sp>
        <p:nvSpPr>
          <p:cNvPr id="3" name="Content Placeholder 2"/>
          <p:cNvSpPr>
            <a:spLocks noGrp="1"/>
          </p:cNvSpPr>
          <p:nvPr>
            <p:ph idx="1"/>
          </p:nvPr>
        </p:nvSpPr>
        <p:spPr/>
        <p:txBody>
          <a:bodyPr>
            <a:normAutofit/>
          </a:bodyPr>
          <a:lstStyle/>
          <a:p>
            <a:r>
              <a:rPr lang="en-US" dirty="0"/>
              <a:t>Example (2.84 in book): The probability that the head of household is home when a telemarketer calls is 0.4. The probability that goods will be bought from the company given that the head of household is home is 0.3. Find the probability that the head of household is home and goods are bought from the company.</a:t>
            </a:r>
          </a:p>
        </p:txBody>
      </p:sp>
    </p:spTree>
    <p:extLst>
      <p:ext uri="{BB962C8B-B14F-4D97-AF65-F5344CB8AC3E}">
        <p14:creationId xmlns:p14="http://schemas.microsoft.com/office/powerpoint/2010/main" val="755630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Here, we simply multiply: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𝐺</m:t>
                        </m:r>
                        <m:r>
                          <a:rPr lang="en-US" b="0" i="1" smtClean="0">
                            <a:latin typeface="Cambria Math"/>
                          </a:rPr>
                          <m:t>∩</m:t>
                        </m:r>
                        <m:r>
                          <a:rPr lang="en-US" b="0" i="1" smtClean="0">
                            <a:latin typeface="Cambria Math"/>
                          </a:rPr>
                          <m:t>𝐻</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𝐻</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𝐺</m:t>
                        </m:r>
                      </m:e>
                      <m:e>
                        <m:r>
                          <a:rPr lang="en-US" b="0" i="1" smtClean="0">
                            <a:latin typeface="Cambria Math"/>
                          </a:rPr>
                          <m:t>𝐻</m:t>
                        </m:r>
                      </m:e>
                    </m:d>
                    <m:r>
                      <a:rPr lang="en-US" b="0" i="1" smtClean="0">
                        <a:latin typeface="Cambria Math"/>
                      </a:rPr>
                      <m:t>=0.4∗0.3=0.12</m:t>
                    </m:r>
                  </m:oMath>
                </a14:m>
                <a:r>
                  <a:rPr lang="en-US" dirty="0"/>
                  <a:t>.</a:t>
                </a:r>
              </a:p>
              <a:p>
                <a:endParaRPr lang="en-US" dirty="0"/>
              </a:p>
              <a:p>
                <a:r>
                  <a:rPr lang="en-US" dirty="0"/>
                  <a:t>Now suppose that we are working with two independent events,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𝐵</m:t>
                    </m:r>
                  </m:oMath>
                </a14:m>
                <a:r>
                  <a:rPr lang="en-US" dirty="0"/>
                  <a:t>. Observe that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𝑃</m:t>
                    </m:r>
                    <m:r>
                      <a:rPr lang="en-US" b="0" i="1" smtClean="0">
                        <a:latin typeface="Cambria Math"/>
                      </a:rPr>
                      <m:t>(</m:t>
                    </m:r>
                    <m:r>
                      <a:rPr lang="en-US" b="0" i="1" smtClean="0">
                        <a:latin typeface="Cambria Math"/>
                      </a:rPr>
                      <m:t>𝐵</m:t>
                    </m:r>
                    <m:r>
                      <a:rPr lang="en-US" b="0" i="1" smtClean="0">
                        <a:latin typeface="Cambria Math"/>
                      </a:rPr>
                      <m:t>)</m:t>
                    </m:r>
                  </m:oMath>
                </a14:m>
                <a:r>
                  <a:rPr lang="en-US" dirty="0"/>
                  <a:t>. This provides two useful things:</a:t>
                </a:r>
              </a:p>
              <a:p>
                <a:pPr lvl="1"/>
                <a:r>
                  <a:rPr lang="en-US" dirty="0"/>
                  <a:t>A quick way to check if two events are independent</a:t>
                </a:r>
              </a:p>
              <a:p>
                <a:pPr lvl="1"/>
                <a:r>
                  <a:rPr lang="en-US" dirty="0"/>
                  <a:t>An easier formula to calculate the probability of both independent events occurring.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81"/>
                </a:stretch>
              </a:blipFill>
            </p:spPr>
            <p:txBody>
              <a:bodyPr/>
              <a:lstStyle/>
              <a:p>
                <a:r>
                  <a:rPr lang="en-US">
                    <a:noFill/>
                  </a:rPr>
                  <a:t> </a:t>
                </a:r>
              </a:p>
            </p:txBody>
          </p:sp>
        </mc:Fallback>
      </mc:AlternateContent>
    </p:spTree>
    <p:extLst>
      <p:ext uri="{BB962C8B-B14F-4D97-AF65-F5344CB8AC3E}">
        <p14:creationId xmlns:p14="http://schemas.microsoft.com/office/powerpoint/2010/main" val="2884762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Exercise: Assume that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𝐵</m:t>
                    </m:r>
                  </m:oMath>
                </a14:m>
                <a:r>
                  <a:rPr lang="en-US" dirty="0"/>
                  <a:t> are events with non-zero probability in the sample space </a:t>
                </a:r>
                <a14:m>
                  <m:oMath xmlns:m="http://schemas.openxmlformats.org/officeDocument/2006/math">
                    <m:r>
                      <a:rPr lang="en-US" b="0" i="1" smtClean="0">
                        <a:latin typeface="Cambria Math"/>
                      </a:rPr>
                      <m:t>𝑆</m:t>
                    </m:r>
                  </m:oMath>
                </a14:m>
                <a:r>
                  <a:rPr lang="en-US" dirty="0"/>
                  <a:t>. That is,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d>
                    <m:r>
                      <a:rPr lang="en-US" b="0" i="1" smtClean="0">
                        <a:latin typeface="Cambria Math"/>
                      </a:rPr>
                      <m:t>&gt;0</m:t>
                    </m:r>
                  </m:oMath>
                </a14:m>
                <a:r>
                  <a:rPr lang="en-US" dirty="0"/>
                  <a:t>. Show that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𝐵</m:t>
                    </m:r>
                  </m:oMath>
                </a14:m>
                <a:r>
                  <a:rPr lang="en-US" dirty="0"/>
                  <a:t> cannot be both independent and mutually exclusive.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27" r="-2296"/>
                </a:stretch>
              </a:blipFill>
            </p:spPr>
            <p:txBody>
              <a:bodyPr/>
              <a:lstStyle/>
              <a:p>
                <a:r>
                  <a:rPr lang="en-US">
                    <a:noFill/>
                  </a:rPr>
                  <a:t> </a:t>
                </a:r>
              </a:p>
            </p:txBody>
          </p:sp>
        </mc:Fallback>
      </mc:AlternateContent>
    </p:spTree>
    <p:extLst>
      <p:ext uri="{BB962C8B-B14F-4D97-AF65-F5344CB8AC3E}">
        <p14:creationId xmlns:p14="http://schemas.microsoft.com/office/powerpoint/2010/main" val="87694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finish this section by extending the product rule to the case with more than two events.</a:t>
                </a:r>
              </a:p>
              <a:p>
                <a:endParaRPr lang="en-US" dirty="0"/>
              </a:p>
              <a:p>
                <a:r>
                  <a:rPr lang="en-US" dirty="0"/>
                  <a:t>For </a:t>
                </a:r>
                <a14:m>
                  <m:oMath xmlns:m="http://schemas.openxmlformats.org/officeDocument/2006/math">
                    <m:r>
                      <a:rPr lang="en-US" b="0" i="1" smtClean="0">
                        <a:latin typeface="Cambria Math"/>
                      </a:rPr>
                      <m:t>𝑘</m:t>
                    </m:r>
                  </m:oMath>
                </a14:m>
                <a:r>
                  <a:rPr lang="en-US" dirty="0"/>
                  <a:t> events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𝑘</m:t>
                        </m:r>
                      </m:sub>
                    </m:sSub>
                  </m:oMath>
                </a14:m>
                <a:r>
                  <a:rPr lang="en-US" dirty="0"/>
                  <a:t>:</a:t>
                </a:r>
              </a:p>
              <a:p>
                <a:pPr lvl="1"/>
                <a14:m>
                  <m:oMath xmlns:m="http://schemas.openxmlformats.org/officeDocument/2006/math">
                    <m:r>
                      <a:rPr lang="en-US" sz="2400" b="0" i="1" smtClean="0">
                        <a:latin typeface="Cambria Math"/>
                      </a:rPr>
                      <m:t>𝑃</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1</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2</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𝑘</m:t>
                            </m:r>
                          </m:sub>
                        </m:sSub>
                      </m:e>
                    </m:d>
                    <m:r>
                      <a:rPr lang="en-US" sz="2400" b="0" i="1" smtClean="0">
                        <a:latin typeface="Cambria Math"/>
                      </a:rPr>
                      <m:t>=</m:t>
                    </m:r>
                    <m:r>
                      <a:rPr lang="en-US" sz="2400" b="0" i="1" smtClean="0">
                        <a:latin typeface="Cambria Math"/>
                      </a:rPr>
                      <m:t>𝑃</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1</m:t>
                            </m:r>
                          </m:sub>
                        </m:sSub>
                      </m:e>
                    </m:d>
                    <m:r>
                      <a:rPr lang="en-US" sz="2400" b="0" i="1" smtClean="0">
                        <a:latin typeface="Cambria Math"/>
                      </a:rPr>
                      <m:t>𝑃</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2</m:t>
                            </m:r>
                          </m:sub>
                        </m:sSub>
                      </m:e>
                      <m:e>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1</m:t>
                            </m:r>
                          </m:sub>
                        </m:sSub>
                      </m:e>
                    </m:d>
                    <m:r>
                      <a:rPr lang="en-US" sz="2400" b="0" i="1" smtClean="0">
                        <a:latin typeface="Cambria Math"/>
                      </a:rPr>
                      <m:t>𝑃</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3</m:t>
                            </m:r>
                          </m:sub>
                        </m:sSub>
                      </m:e>
                      <m:e>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1</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2</m:t>
                            </m:r>
                          </m:sub>
                        </m:sSub>
                      </m:e>
                    </m:d>
                    <m:r>
                      <a:rPr lang="en-US" sz="2400" b="0" i="1" smtClean="0">
                        <a:latin typeface="Cambria Math"/>
                      </a:rPr>
                      <m:t>…</m:t>
                    </m:r>
                    <m:r>
                      <a:rPr lang="en-US" sz="2400" b="0" i="1" smtClean="0">
                        <a:latin typeface="Cambria Math"/>
                      </a:rPr>
                      <m:t>𝑃</m:t>
                    </m:r>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𝑘</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1</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𝑘</m:t>
                        </m:r>
                        <m:r>
                          <a:rPr lang="en-US" sz="2400" b="0" i="1" smtClean="0">
                            <a:latin typeface="Cambria Math"/>
                          </a:rPr>
                          <m:t>−1</m:t>
                        </m:r>
                      </m:sub>
                    </m:sSub>
                    <m:r>
                      <a:rPr lang="en-US" sz="2400" b="0" i="1" smtClean="0">
                        <a:latin typeface="Cambria Math"/>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a:stretch>
              </a:blipFill>
            </p:spPr>
            <p:txBody>
              <a:bodyPr/>
              <a:lstStyle/>
              <a:p>
                <a:r>
                  <a:rPr lang="en-US">
                    <a:noFill/>
                  </a:rPr>
                  <a:t> </a:t>
                </a:r>
              </a:p>
            </p:txBody>
          </p:sp>
        </mc:Fallback>
      </mc:AlternateContent>
    </p:spTree>
    <p:extLst>
      <p:ext uri="{BB962C8B-B14F-4D97-AF65-F5344CB8AC3E}">
        <p14:creationId xmlns:p14="http://schemas.microsoft.com/office/powerpoint/2010/main" val="2129466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 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For the case with three events,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r>
                          <a:rPr lang="en-US" b="0" i="1" smtClean="0">
                            <a:latin typeface="Cambria Math"/>
                          </a:rPr>
                          <m:t>𝐶</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𝑃</m:t>
                    </m:r>
                    <m:r>
                      <a:rPr lang="en-US" b="0" i="1" smtClean="0">
                        <a:latin typeface="Cambria Math"/>
                      </a:rPr>
                      <m:t>(</m:t>
                    </m:r>
                    <m:r>
                      <a:rPr lang="en-US" b="0" i="1" smtClean="0">
                        <a:latin typeface="Cambria Math"/>
                      </a:rPr>
                      <m:t>𝐶</m:t>
                    </m:r>
                    <m:r>
                      <a:rPr lang="en-US" b="0" i="1" smtClean="0">
                        <a:latin typeface="Cambria Math"/>
                      </a:rPr>
                      <m:t>|</m:t>
                    </m:r>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oMath>
                </a14:m>
                <a:r>
                  <a:rPr lang="en-US" dirty="0"/>
                  <a:t>.</a:t>
                </a:r>
              </a:p>
              <a:p>
                <a:endParaRPr lang="en-US" dirty="0"/>
              </a:p>
              <a:p>
                <a:r>
                  <a:rPr lang="en-US" dirty="0"/>
                  <a:t>Now if </a:t>
                </a:r>
                <a14:m>
                  <m:oMath xmlns:m="http://schemas.openxmlformats.org/officeDocument/2006/math">
                    <m:sSub>
                      <m:sSubPr>
                        <m:ctrlPr>
                          <a:rPr lang="en-US" i="1">
                            <a:latin typeface="Cambria Math" panose="02040503050406030204" pitchFamily="18" charset="0"/>
                          </a:rPr>
                        </m:ctrlPr>
                      </m:sSubPr>
                      <m:e>
                        <m:r>
                          <a:rPr lang="en-US" i="1">
                            <a:latin typeface="Cambria Math"/>
                          </a:rPr>
                          <m:t>𝐴</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𝐴</m:t>
                        </m:r>
                      </m:e>
                      <m:sub>
                        <m:r>
                          <a:rPr lang="en-US" i="1">
                            <a:latin typeface="Cambria Math"/>
                          </a:rPr>
                          <m:t>𝑘</m:t>
                        </m:r>
                      </m:sub>
                    </m:sSub>
                  </m:oMath>
                </a14:m>
                <a:r>
                  <a:rPr lang="en-US" dirty="0"/>
                  <a:t> are independent</a:t>
                </a:r>
              </a:p>
              <a:p>
                <a:pPr lvl="1"/>
                <a14:m>
                  <m:oMath xmlns:m="http://schemas.openxmlformats.org/officeDocument/2006/math">
                    <m:r>
                      <a:rPr lang="en-US" i="1">
                        <a:latin typeface="Cambria Math"/>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𝐴</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𝐴</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𝐴</m:t>
                            </m:r>
                          </m:e>
                          <m:sub>
                            <m:r>
                              <a:rPr lang="en-US" i="1">
                                <a:latin typeface="Cambria Math"/>
                              </a:rPr>
                              <m:t>𝑘</m:t>
                            </m:r>
                          </m:sub>
                        </m:sSub>
                      </m:e>
                    </m:d>
                    <m:r>
                      <a:rPr lang="en-US" i="1">
                        <a:latin typeface="Cambria Math"/>
                      </a:rPr>
                      <m:t>=</m:t>
                    </m:r>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e>
                    </m:d>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2</m:t>
                            </m:r>
                          </m:sub>
                        </m:sSub>
                      </m:e>
                    </m:d>
                    <m:r>
                      <a:rPr lang="en-US" b="0" i="1" smtClean="0">
                        <a:latin typeface="Cambria Math"/>
                      </a:rPr>
                      <m:t>…</m:t>
                    </m:r>
                    <m:r>
                      <a:rPr lang="en-US" b="0" i="1" smtClean="0">
                        <a:latin typeface="Cambria Math"/>
                      </a:rPr>
                      <m:t>𝑃</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𝑘</m:t>
                        </m:r>
                      </m:sub>
                    </m:sSub>
                    <m:r>
                      <a:rPr lang="en-US" b="0" i="1" smtClean="0">
                        <a:latin typeface="Cambria Math"/>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527"/>
                </a:stretch>
              </a:blipFill>
            </p:spPr>
            <p:txBody>
              <a:bodyPr/>
              <a:lstStyle/>
              <a:p>
                <a:r>
                  <a:rPr lang="en-US">
                    <a:noFill/>
                  </a:rPr>
                  <a:t> </a:t>
                </a:r>
              </a:p>
            </p:txBody>
          </p:sp>
        </mc:Fallback>
      </mc:AlternateContent>
    </p:spTree>
    <p:extLst>
      <p:ext uri="{BB962C8B-B14F-4D97-AF65-F5344CB8AC3E}">
        <p14:creationId xmlns:p14="http://schemas.microsoft.com/office/powerpoint/2010/main" val="407742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p:sp>
        <p:nvSpPr>
          <p:cNvPr id="3" name="Content Placeholder 2"/>
          <p:cNvSpPr>
            <a:spLocks noGrp="1"/>
          </p:cNvSpPr>
          <p:nvPr>
            <p:ph idx="1"/>
          </p:nvPr>
        </p:nvSpPr>
        <p:spPr/>
        <p:txBody>
          <a:bodyPr>
            <a:normAutofit fontScale="92500" lnSpcReduction="20000"/>
          </a:bodyPr>
          <a:lstStyle/>
          <a:p>
            <a:r>
              <a:rPr lang="en-US" dirty="0"/>
              <a:t>This section introduces a concept that appears rather innocuous on the surface. While we will not spend much time in this class discussing this, there are two main branches or schools of thought in statistics: classical and Bayesian. Historically, these two camps have been at odds with a melding of the perspectives coming only in recent years. </a:t>
            </a:r>
          </a:p>
          <a:p>
            <a:endParaRPr lang="en-US" dirty="0"/>
          </a:p>
          <a:p>
            <a:r>
              <a:rPr lang="en-US" dirty="0"/>
              <a:t>The ideas behind Bayesian statistics are all based on Bayes’ rule.</a:t>
            </a:r>
          </a:p>
        </p:txBody>
      </p:sp>
    </p:spTree>
    <p:extLst>
      <p:ext uri="{BB962C8B-B14F-4D97-AF65-F5344CB8AC3E}">
        <p14:creationId xmlns:p14="http://schemas.microsoft.com/office/powerpoint/2010/main" val="3137020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p:sp>
        <p:nvSpPr>
          <p:cNvPr id="3" name="Content Placeholder 2"/>
          <p:cNvSpPr>
            <a:spLocks noGrp="1"/>
          </p:cNvSpPr>
          <p:nvPr>
            <p:ph idx="1"/>
          </p:nvPr>
        </p:nvSpPr>
        <p:spPr/>
        <p:txBody>
          <a:bodyPr>
            <a:normAutofit lnSpcReduction="10000"/>
          </a:bodyPr>
          <a:lstStyle/>
          <a:p>
            <a:r>
              <a:rPr lang="en-US" dirty="0"/>
              <a:t>Bayes’ rule is all about conditional probability. It originated with a thought experiment from Thomas Bayes in the 1700s:</a:t>
            </a:r>
          </a:p>
          <a:p>
            <a:pPr lvl="1"/>
            <a:r>
              <a:rPr lang="en-US" dirty="0"/>
              <a:t>Imagine standing with your back to a pool table. Someone throws a ball onto the table and you have to guess where on the table it lands. Clearly, your guess will not likely be very good. But suppose another ball is thrown onto the table and you are told whether this new ball is to the right or left of the original ball. </a:t>
            </a:r>
          </a:p>
        </p:txBody>
      </p:sp>
    </p:spTree>
    <p:extLst>
      <p:ext uri="{BB962C8B-B14F-4D97-AF65-F5344CB8AC3E}">
        <p14:creationId xmlns:p14="http://schemas.microsoft.com/office/powerpoint/2010/main" val="734251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p:sp>
        <p:nvSpPr>
          <p:cNvPr id="3" name="Content Placeholder 2"/>
          <p:cNvSpPr>
            <a:spLocks noGrp="1"/>
          </p:cNvSpPr>
          <p:nvPr>
            <p:ph idx="1"/>
          </p:nvPr>
        </p:nvSpPr>
        <p:spPr/>
        <p:txBody>
          <a:bodyPr>
            <a:normAutofit/>
          </a:bodyPr>
          <a:lstStyle/>
          <a:p>
            <a:r>
              <a:rPr lang="en-US" dirty="0"/>
              <a:t>Thought experiment continued:</a:t>
            </a:r>
          </a:p>
          <a:p>
            <a:pPr lvl="1"/>
            <a:r>
              <a:rPr lang="en-US" dirty="0"/>
              <a:t>After one additional ball, you still may not have a great idea about the location of the additional ball. But if the other person continues to throw more balls onto the table and tells you whether each new ball is to the right or left of the original ball, your estimate of where the original ball is will get better and better.</a:t>
            </a:r>
          </a:p>
        </p:txBody>
      </p:sp>
    </p:spTree>
    <p:extLst>
      <p:ext uri="{BB962C8B-B14F-4D97-AF65-F5344CB8AC3E}">
        <p14:creationId xmlns:p14="http://schemas.microsoft.com/office/powerpoint/2010/main" val="24981887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p:sp>
        <p:nvSpPr>
          <p:cNvPr id="3" name="Content Placeholder 2"/>
          <p:cNvSpPr>
            <a:spLocks noGrp="1"/>
          </p:cNvSpPr>
          <p:nvPr>
            <p:ph idx="1"/>
          </p:nvPr>
        </p:nvSpPr>
        <p:spPr/>
        <p:txBody>
          <a:bodyPr>
            <a:normAutofit/>
          </a:bodyPr>
          <a:lstStyle/>
          <a:p>
            <a:r>
              <a:rPr lang="en-US" dirty="0"/>
              <a:t>The idea is that with each new piece of information, we update our previous guess. This is the whole concept underlying Bayesian statistics.</a:t>
            </a:r>
          </a:p>
          <a:p>
            <a:endParaRPr lang="en-US" dirty="0"/>
          </a:p>
          <a:p>
            <a:r>
              <a:rPr lang="en-US" dirty="0"/>
              <a:t>Now to understand Bayes’ rule, let’s consider a sample space divided into two parts (on the board).</a:t>
            </a:r>
          </a:p>
        </p:txBody>
      </p:sp>
    </p:spTree>
    <p:extLst>
      <p:ext uri="{BB962C8B-B14F-4D97-AF65-F5344CB8AC3E}">
        <p14:creationId xmlns:p14="http://schemas.microsoft.com/office/powerpoint/2010/main" val="381967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What we have seen on the board leads to the </a:t>
                </a:r>
                <a:r>
                  <a:rPr lang="en-US" i="1" dirty="0"/>
                  <a:t>theorem of total probability</a:t>
                </a:r>
                <a:r>
                  <a:rPr lang="en-US" dirty="0"/>
                  <a:t>:</a:t>
                </a:r>
              </a:p>
              <a:p>
                <a:pPr lvl="1"/>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𝑘</m:t>
                        </m:r>
                      </m:sub>
                    </m:sSub>
                  </m:oMath>
                </a14:m>
                <a:r>
                  <a:rPr lang="en-US" dirty="0"/>
                  <a:t> constitute a partition of the sample space </a:t>
                </a:r>
                <a14:m>
                  <m:oMath xmlns:m="http://schemas.openxmlformats.org/officeDocument/2006/math">
                    <m:r>
                      <a:rPr lang="en-US" b="0" i="1" smtClean="0">
                        <a:latin typeface="Cambria Math"/>
                      </a:rPr>
                      <m:t>𝑆</m:t>
                    </m:r>
                  </m:oMath>
                </a14:m>
                <a:r>
                  <a:rPr lang="en-US" dirty="0"/>
                  <a:t> where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e>
                    </m:d>
                    <m:r>
                      <a:rPr lang="en-US" b="0" i="1" smtClean="0">
                        <a:latin typeface="Cambria Math"/>
                      </a:rPr>
                      <m:t>≠0</m:t>
                    </m:r>
                  </m:oMath>
                </a14:m>
                <a:r>
                  <a:rPr lang="en-US" dirty="0"/>
                  <a:t> for </a:t>
                </a:r>
                <a14:m>
                  <m:oMath xmlns:m="http://schemas.openxmlformats.org/officeDocument/2006/math">
                    <m:r>
                      <a:rPr lang="en-US" b="0" i="1" smtClean="0">
                        <a:latin typeface="Cambria Math"/>
                      </a:rPr>
                      <m:t>𝑖</m:t>
                    </m:r>
                    <m:r>
                      <a:rPr lang="en-US" b="0" i="1" smtClean="0">
                        <a:latin typeface="Cambria Math"/>
                      </a:rPr>
                      <m:t>=1,…,</m:t>
                    </m:r>
                    <m:r>
                      <a:rPr lang="en-US" b="0" i="1" smtClean="0">
                        <a:latin typeface="Cambria Math"/>
                      </a:rPr>
                      <m:t>𝑘</m:t>
                    </m:r>
                  </m:oMath>
                </a14:m>
                <a:r>
                  <a:rPr lang="en-US" dirty="0"/>
                  <a:t>. Then for any event </a:t>
                </a:r>
                <a14:m>
                  <m:oMath xmlns:m="http://schemas.openxmlformats.org/officeDocument/2006/math">
                    <m:r>
                      <a:rPr lang="en-US" b="0" i="1" smtClean="0">
                        <a:latin typeface="Cambria Math"/>
                      </a:rPr>
                      <m:t>𝐴</m:t>
                    </m:r>
                  </m:oMath>
                </a14:m>
                <a:r>
                  <a:rPr lang="en-US" dirty="0"/>
                  <a:t> in </a:t>
                </a:r>
                <a14:m>
                  <m:oMath xmlns:m="http://schemas.openxmlformats.org/officeDocument/2006/math">
                    <m:r>
                      <a:rPr lang="en-US" b="0" i="1" smtClean="0">
                        <a:latin typeface="Cambria Math"/>
                      </a:rPr>
                      <m:t>𝑆</m:t>
                    </m:r>
                  </m:oMath>
                </a14:m>
                <a:r>
                  <a:rPr lang="en-US" dirty="0"/>
                  <a:t>:</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m:t>
                      </m:r>
                      <m:nary>
                        <m:naryPr>
                          <m:chr m:val="∑"/>
                          <m:ctrlPr>
                            <a:rPr lang="en-US" b="0"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rPr>
                            <m:t>𝑘</m:t>
                          </m:r>
                        </m:sup>
                        <m:e>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r>
                                <a:rPr lang="en-US" b="0" i="1" smtClean="0">
                                  <a:latin typeface="Cambria Math"/>
                                </a:rPr>
                                <m:t>∩</m:t>
                              </m:r>
                              <m:r>
                                <a:rPr lang="en-US" b="0" i="1" smtClean="0">
                                  <a:latin typeface="Cambria Math"/>
                                </a:rPr>
                                <m:t>𝐴</m:t>
                              </m:r>
                            </m:e>
                          </m:d>
                          <m:r>
                            <a:rPr lang="en-US" b="0" i="1" smtClean="0">
                              <a:latin typeface="Cambria Math"/>
                            </a:rPr>
                            <m:t>=</m:t>
                          </m:r>
                          <m:nary>
                            <m:naryPr>
                              <m:chr m:val="∑"/>
                              <m:ctrlPr>
                                <a:rPr lang="en-US" b="0"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rPr>
                                <m:t>𝑘</m:t>
                              </m:r>
                            </m:sup>
                            <m:e>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e>
                              </m:d>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e>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e>
                              </m:d>
                            </m:e>
                          </m:nary>
                        </m:e>
                      </m:nary>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1778"/>
                </a:stretch>
              </a:blipFill>
            </p:spPr>
            <p:txBody>
              <a:bodyPr/>
              <a:lstStyle/>
              <a:p>
                <a:r>
                  <a:rPr lang="en-US">
                    <a:noFill/>
                  </a:rPr>
                  <a:t> </a:t>
                </a:r>
              </a:p>
            </p:txBody>
          </p:sp>
        </mc:Fallback>
      </mc:AlternateContent>
    </p:spTree>
    <p:extLst>
      <p:ext uri="{BB962C8B-B14F-4D97-AF65-F5344CB8AC3E}">
        <p14:creationId xmlns:p14="http://schemas.microsoft.com/office/powerpoint/2010/main" val="3054086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While the idea of total probability will be most useful to us in a minute when we give Bayes’ rule, it can also be used by itself.</a:t>
                </a:r>
              </a:p>
              <a:p>
                <a:endParaRPr lang="en-US" dirty="0"/>
              </a:p>
              <a:p>
                <a:r>
                  <a:rPr lang="en-US" dirty="0"/>
                  <a:t>Example (2.41 in book):</a:t>
                </a:r>
              </a:p>
              <a:p>
                <a:pPr lvl="1"/>
                <a:r>
                  <a:rPr lang="en-US" dirty="0"/>
                  <a:t>In some assembly plant, machines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2</m:t>
                        </m:r>
                      </m:sub>
                    </m:sSub>
                    <m:r>
                      <a:rPr lang="en-US" b="0" i="1" smtClean="0">
                        <a:latin typeface="Cambria Math"/>
                      </a:rPr>
                      <m:t>,</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3</m:t>
                        </m:r>
                      </m:sub>
                    </m:sSub>
                  </m:oMath>
                </a14:m>
                <a:r>
                  <a:rPr lang="en-US" dirty="0"/>
                  <a:t> make </a:t>
                </a:r>
                <a14:m>
                  <m:oMath xmlns:m="http://schemas.openxmlformats.org/officeDocument/2006/math">
                    <m:r>
                      <a:rPr lang="en-US" b="0" i="1" smtClean="0">
                        <a:latin typeface="Cambria Math"/>
                      </a:rPr>
                      <m:t>30%, 45%,</m:t>
                    </m:r>
                  </m:oMath>
                </a14:m>
                <a:r>
                  <a:rPr lang="en-US" dirty="0"/>
                  <a:t> and </a:t>
                </a:r>
                <a14:m>
                  <m:oMath xmlns:m="http://schemas.openxmlformats.org/officeDocument/2006/math">
                    <m:r>
                      <a:rPr lang="en-US" b="0" i="1" smtClean="0">
                        <a:latin typeface="Cambria Math"/>
                      </a:rPr>
                      <m:t>25%</m:t>
                    </m:r>
                  </m:oMath>
                </a14:m>
                <a:r>
                  <a:rPr lang="en-US" dirty="0"/>
                  <a:t> of the products, respectively. It is known that, respectively, </a:t>
                </a:r>
                <a14:m>
                  <m:oMath xmlns:m="http://schemas.openxmlformats.org/officeDocument/2006/math">
                    <m:r>
                      <a:rPr lang="en-US" b="0" i="1" smtClean="0">
                        <a:latin typeface="Cambria Math"/>
                      </a:rPr>
                      <m:t>2%, 3%</m:t>
                    </m:r>
                  </m:oMath>
                </a14:m>
                <a:r>
                  <a:rPr lang="en-US" dirty="0"/>
                  <a:t>, and </a:t>
                </a:r>
                <a14:m>
                  <m:oMath xmlns:m="http://schemas.openxmlformats.org/officeDocument/2006/math">
                    <m:r>
                      <a:rPr lang="en-US" b="0" i="1" smtClean="0">
                        <a:latin typeface="Cambria Math"/>
                      </a:rPr>
                      <m:t>2%</m:t>
                    </m:r>
                  </m:oMath>
                </a14:m>
                <a:r>
                  <a:rPr lang="en-US" dirty="0"/>
                  <a:t> of the products from each machine are defective. Find the probability that a randomly selected product is defective.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1581"/>
                </a:stretch>
              </a:blipFill>
            </p:spPr>
            <p:txBody>
              <a:bodyPr/>
              <a:lstStyle/>
              <a:p>
                <a:r>
                  <a:rPr lang="en-US">
                    <a:noFill/>
                  </a:rPr>
                  <a:t> </a:t>
                </a:r>
              </a:p>
            </p:txBody>
          </p:sp>
        </mc:Fallback>
      </mc:AlternateContent>
    </p:spTree>
    <p:extLst>
      <p:ext uri="{BB962C8B-B14F-4D97-AF65-F5344CB8AC3E}">
        <p14:creationId xmlns:p14="http://schemas.microsoft.com/office/powerpoint/2010/main" val="4081790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Now suppose we randomly select an item and find it is defective. What is the probability that it came from the second machine?</a:t>
                </a:r>
              </a:p>
              <a:p>
                <a:endParaRPr lang="en-US" dirty="0"/>
              </a:p>
              <a:p>
                <a:r>
                  <a:rPr lang="en-US" dirty="0"/>
                  <a:t>By conditional probability,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2</m:t>
                            </m:r>
                          </m:sub>
                        </m:sSub>
                      </m:e>
                      <m:e>
                        <m:r>
                          <a:rPr lang="en-US" b="0" i="1" smtClean="0">
                            <a:latin typeface="Cambria Math"/>
                          </a:rPr>
                          <m:t>𝐴</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2</m:t>
                                </m:r>
                              </m:sub>
                            </m:sSub>
                            <m:r>
                              <a:rPr lang="en-US" b="0" i="1" smtClean="0">
                                <a:latin typeface="Cambria Math"/>
                              </a:rPr>
                              <m:t>∩</m:t>
                            </m:r>
                            <m:r>
                              <a:rPr lang="en-US" b="0" i="1" smtClean="0">
                                <a:latin typeface="Cambria Math"/>
                              </a:rPr>
                              <m:t>𝐴</m:t>
                            </m:r>
                          </m:e>
                        </m:d>
                      </m:num>
                      <m:den>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den>
                    </m:f>
                  </m:oMath>
                </a14:m>
                <a:r>
                  <a:rPr lang="en-US" dirty="0"/>
                  <a:t>. From the last calculation, we have both of these pieces.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2519"/>
                </a:stretch>
              </a:blipFill>
            </p:spPr>
            <p:txBody>
              <a:bodyPr/>
              <a:lstStyle/>
              <a:p>
                <a:r>
                  <a:rPr lang="en-US">
                    <a:noFill/>
                  </a:rPr>
                  <a:t> </a:t>
                </a:r>
              </a:p>
            </p:txBody>
          </p:sp>
        </mc:Fallback>
      </mc:AlternateContent>
    </p:spTree>
    <p:extLst>
      <p:ext uri="{BB962C8B-B14F-4D97-AF65-F5344CB8AC3E}">
        <p14:creationId xmlns:p14="http://schemas.microsoft.com/office/powerpoint/2010/main" val="176886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This is the essence of Bayes’ rule. We can use it to answer the question: given that event </a:t>
                </a:r>
                <a14:m>
                  <m:oMath xmlns:m="http://schemas.openxmlformats.org/officeDocument/2006/math">
                    <m:r>
                      <a:rPr lang="en-US" b="0" i="1" smtClean="0">
                        <a:latin typeface="Cambria Math"/>
                      </a:rPr>
                      <m:t>𝐴</m:t>
                    </m:r>
                  </m:oMath>
                </a14:m>
                <a:r>
                  <a:rPr lang="en-US" dirty="0"/>
                  <a:t> occurred, what is the probability that we’re in “bin”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oMath>
                </a14:m>
                <a:r>
                  <a:rPr lang="en-US" dirty="0"/>
                  <a:t>?</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1704"/>
                </a:stretch>
              </a:blipFill>
            </p:spPr>
            <p:txBody>
              <a:bodyPr/>
              <a:lstStyle/>
              <a:p>
                <a:r>
                  <a:rPr lang="en-US">
                    <a:noFill/>
                  </a:rPr>
                  <a:t> </a:t>
                </a:r>
              </a:p>
            </p:txBody>
          </p:sp>
        </mc:Fallback>
      </mc:AlternateContent>
    </p:spTree>
    <p:extLst>
      <p:ext uri="{BB962C8B-B14F-4D97-AF65-F5344CB8AC3E}">
        <p14:creationId xmlns:p14="http://schemas.microsoft.com/office/powerpoint/2010/main" val="3509564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Using the same notation and assumptions as the total probability theorem, Bayes’ rule states that, for </a:t>
                </a:r>
                <a14:m>
                  <m:oMath xmlns:m="http://schemas.openxmlformats.org/officeDocument/2006/math">
                    <m:r>
                      <a:rPr lang="en-US" b="0" i="1" smtClean="0">
                        <a:latin typeface="Cambria Math"/>
                      </a:rPr>
                      <m:t>𝑟</m:t>
                    </m:r>
                    <m:r>
                      <a:rPr lang="en-US" b="0" i="1" smtClean="0">
                        <a:latin typeface="Cambria Math"/>
                      </a:rPr>
                      <m:t>=1, 2, …, </m:t>
                    </m:r>
                    <m:r>
                      <a:rPr lang="en-US" b="0" i="1" smtClean="0">
                        <a:latin typeface="Cambria Math"/>
                      </a:rPr>
                      <m:t>𝑘</m:t>
                    </m:r>
                  </m:oMath>
                </a14:m>
                <a:r>
                  <a:rPr lang="en-US" dirty="0"/>
                  <a:t>:</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𝑟</m:t>
                              </m:r>
                            </m:sub>
                          </m:sSub>
                        </m:e>
                        <m:e>
                          <m:r>
                            <a:rPr lang="en-US" b="0" i="1" smtClean="0">
                              <a:latin typeface="Cambria Math"/>
                            </a:rPr>
                            <m:t>𝐴</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𝑃</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𝑟</m:t>
                              </m:r>
                            </m:sub>
                          </m:sSub>
                          <m:r>
                            <a:rPr lang="en-US" b="0" i="1" smtClean="0">
                              <a:latin typeface="Cambria Math"/>
                            </a:rPr>
                            <m:t>∩</m:t>
                          </m:r>
                          <m:r>
                            <a:rPr lang="en-US" b="0" i="1" smtClean="0">
                              <a:latin typeface="Cambria Math"/>
                            </a:rPr>
                            <m:t>𝐴</m:t>
                          </m:r>
                          <m:r>
                            <a:rPr lang="en-US" b="0" i="1" smtClean="0">
                              <a:latin typeface="Cambria Math"/>
                            </a:rPr>
                            <m:t>)</m:t>
                          </m:r>
                        </m:num>
                        <m:den>
                          <m:nary>
                            <m:naryPr>
                              <m:chr m:val="∑"/>
                              <m:ctrlPr>
                                <a:rPr lang="en-US" b="0"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rPr>
                                <m:t>𝑘</m:t>
                              </m:r>
                            </m:sup>
                            <m:e>
                              <m:r>
                                <a:rPr lang="en-US" b="0" i="1" smtClean="0">
                                  <a:latin typeface="Cambria Math"/>
                                </a:rPr>
                                <m:t>𝑃</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r>
                                <a:rPr lang="en-US" b="0" i="1" smtClean="0">
                                  <a:latin typeface="Cambria Math"/>
                                </a:rPr>
                                <m:t>∩</m:t>
                              </m:r>
                              <m:r>
                                <a:rPr lang="en-US" b="0" i="1" smtClean="0">
                                  <a:latin typeface="Cambria Math"/>
                                </a:rPr>
                                <m:t>𝐴</m:t>
                              </m:r>
                              <m:r>
                                <a:rPr lang="en-US" b="0" i="1" smtClean="0">
                                  <a:latin typeface="Cambria Math"/>
                                </a:rPr>
                                <m:t>)</m:t>
                              </m:r>
                            </m:e>
                          </m:nary>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𝑟</m:t>
                                  </m:r>
                                </m:sub>
                              </m:sSub>
                            </m:e>
                          </m:d>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e>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𝑟</m:t>
                                  </m:r>
                                </m:sub>
                              </m:sSub>
                            </m:e>
                          </m:d>
                        </m:num>
                        <m:den>
                          <m:nary>
                            <m:naryPr>
                              <m:chr m:val="∑"/>
                              <m:ctrlPr>
                                <a:rPr lang="en-US" b="0"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rPr>
                                <m:t>𝑘</m:t>
                              </m:r>
                            </m:sup>
                            <m:e>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e>
                              </m:d>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r>
                                <a:rPr lang="en-US" b="0" i="1" smtClean="0">
                                  <a:latin typeface="Cambria Math"/>
                                </a:rPr>
                                <m:t>)</m:t>
                              </m:r>
                            </m:e>
                          </m:nary>
                        </m:den>
                      </m:f>
                    </m:oMath>
                  </m:oMathPara>
                </a14:m>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667"/>
                </a:stretch>
              </a:blipFill>
            </p:spPr>
            <p:txBody>
              <a:bodyPr/>
              <a:lstStyle/>
              <a:p>
                <a:r>
                  <a:rPr lang="en-US">
                    <a:noFill/>
                  </a:rPr>
                  <a:t> </a:t>
                </a:r>
              </a:p>
            </p:txBody>
          </p:sp>
        </mc:Fallback>
      </mc:AlternateContent>
    </p:spTree>
    <p:extLst>
      <p:ext uri="{BB962C8B-B14F-4D97-AF65-F5344CB8AC3E}">
        <p14:creationId xmlns:p14="http://schemas.microsoft.com/office/powerpoint/2010/main" val="1584928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p:sp>
        <p:nvSpPr>
          <p:cNvPr id="3" name="Content Placeholder 2"/>
          <p:cNvSpPr>
            <a:spLocks noGrp="1"/>
          </p:cNvSpPr>
          <p:nvPr>
            <p:ph idx="1"/>
          </p:nvPr>
        </p:nvSpPr>
        <p:spPr/>
        <p:txBody>
          <a:bodyPr>
            <a:normAutofit/>
          </a:bodyPr>
          <a:lstStyle/>
          <a:p>
            <a:r>
              <a:rPr lang="en-US" dirty="0"/>
              <a:t>Example:</a:t>
            </a:r>
          </a:p>
          <a:p>
            <a:pPr lvl="1"/>
            <a:r>
              <a:rPr lang="en-US" dirty="0"/>
              <a:t>Suppose there is a test to diagnose a certain rare disease that affects 0.01% of the population. For people with the disease, the test gives a positive diagnosis 99% of the time. Suppose you are tested and the result comes back positive. What is the probability that you actually have the disease?</a:t>
            </a:r>
          </a:p>
          <a:p>
            <a:endParaRPr lang="en-US" dirty="0"/>
          </a:p>
          <a:p>
            <a:endParaRPr lang="en-US" dirty="0"/>
          </a:p>
        </p:txBody>
      </p:sp>
    </p:spTree>
    <p:extLst>
      <p:ext uri="{BB962C8B-B14F-4D97-AF65-F5344CB8AC3E}">
        <p14:creationId xmlns:p14="http://schemas.microsoft.com/office/powerpoint/2010/main" val="102701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While it may be tempting to think that you have a 99% chance of having the disease, that is the wrong conditional probability. Use </a:t>
                </a:r>
                <a14:m>
                  <m:oMath xmlns:m="http://schemas.openxmlformats.org/officeDocument/2006/math">
                    <m:r>
                      <a:rPr lang="en-US" b="0" i="1" smtClean="0">
                        <a:latin typeface="Cambria Math"/>
                      </a:rPr>
                      <m:t>𝐷</m:t>
                    </m:r>
                  </m:oMath>
                </a14:m>
                <a:r>
                  <a:rPr lang="en-US" dirty="0"/>
                  <a:t> as the event that you have the disease and </a:t>
                </a:r>
                <a14:m>
                  <m:oMath xmlns:m="http://schemas.openxmlformats.org/officeDocument/2006/math">
                    <m:r>
                      <a:rPr lang="en-US" b="0" i="1" smtClean="0">
                        <a:latin typeface="Cambria Math"/>
                      </a:rPr>
                      <m:t>𝑇</m:t>
                    </m:r>
                  </m:oMath>
                </a14:m>
                <a:r>
                  <a:rPr lang="en-US" dirty="0"/>
                  <a:t> as the event that the test returns a positive result.</a:t>
                </a:r>
              </a:p>
              <a:p>
                <a:endParaRPr lang="en-US" dirty="0"/>
              </a:p>
              <a:p>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𝑇</m:t>
                        </m:r>
                      </m:e>
                      <m:e>
                        <m:r>
                          <a:rPr lang="en-US" b="0" i="1" smtClean="0">
                            <a:latin typeface="Cambria Math"/>
                          </a:rPr>
                          <m:t>𝐷</m:t>
                        </m:r>
                      </m:e>
                    </m:d>
                    <m:r>
                      <a:rPr lang="en-US" b="0" i="1" smtClean="0">
                        <a:latin typeface="Cambria Math"/>
                      </a:rPr>
                      <m:t>=0.99</m:t>
                    </m:r>
                  </m:oMath>
                </a14:m>
                <a:r>
                  <a:rPr lang="en-US" dirty="0"/>
                  <a:t>, but we are looking for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m:t>
                        </m:r>
                      </m:e>
                      <m:e>
                        <m:r>
                          <a:rPr lang="en-US" b="0" i="1" smtClean="0">
                            <a:latin typeface="Cambria Math"/>
                          </a:rPr>
                          <m:t>𝑇</m:t>
                        </m:r>
                      </m:e>
                    </m:d>
                    <m:r>
                      <a:rPr lang="en-US" b="0" i="1" smtClean="0">
                        <a:latin typeface="Cambria Math"/>
                      </a:rPr>
                      <m:t>.</m:t>
                    </m:r>
                  </m:oMath>
                </a14:m>
                <a:r>
                  <a:rPr lang="en-US" dirty="0"/>
                  <a:t> For this we need to use Bayes’ rule.</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963" b="-2372"/>
                </a:stretch>
              </a:blipFill>
            </p:spPr>
            <p:txBody>
              <a:bodyPr/>
              <a:lstStyle/>
              <a:p>
                <a:r>
                  <a:rPr lang="en-US">
                    <a:noFill/>
                  </a:rPr>
                  <a:t> </a:t>
                </a:r>
              </a:p>
            </p:txBody>
          </p:sp>
        </mc:Fallback>
      </mc:AlternateContent>
    </p:spTree>
    <p:extLst>
      <p:ext uri="{BB962C8B-B14F-4D97-AF65-F5344CB8AC3E}">
        <p14:creationId xmlns:p14="http://schemas.microsoft.com/office/powerpoint/2010/main" val="1696295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Bayes’ rule:</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m:t>
                        </m:r>
                      </m:e>
                      <m:e>
                        <m:r>
                          <a:rPr lang="en-US" b="0" i="1" smtClean="0">
                            <a:latin typeface="Cambria Math"/>
                          </a:rPr>
                          <m:t>𝑇</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m:t>
                            </m:r>
                          </m:e>
                        </m:d>
                        <m:r>
                          <a:rPr lang="en-US" b="0" i="1" smtClean="0">
                            <a:latin typeface="Cambria Math"/>
                          </a:rPr>
                          <m:t>𝑃</m:t>
                        </m:r>
                        <m:r>
                          <a:rPr lang="en-US" b="0" i="1" smtClean="0">
                            <a:latin typeface="Cambria Math"/>
                          </a:rPr>
                          <m:t>(</m:t>
                        </m:r>
                        <m:r>
                          <a:rPr lang="en-US" b="0" i="1" smtClean="0">
                            <a:latin typeface="Cambria Math"/>
                          </a:rPr>
                          <m:t>𝑇</m:t>
                        </m:r>
                        <m:r>
                          <a:rPr lang="en-US" b="0" i="1" smtClean="0">
                            <a:latin typeface="Cambria Math"/>
                          </a:rPr>
                          <m:t>|</m:t>
                        </m:r>
                        <m:r>
                          <a:rPr lang="en-US" b="0" i="1" smtClean="0">
                            <a:latin typeface="Cambria Math"/>
                          </a:rPr>
                          <m:t>𝐷</m:t>
                        </m:r>
                        <m:r>
                          <a:rPr lang="en-US" b="0" i="1" smtClean="0">
                            <a:latin typeface="Cambria Math"/>
                          </a:rPr>
                          <m:t>)</m:t>
                        </m:r>
                      </m:num>
                      <m:den>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m:t>
                            </m:r>
                          </m:e>
                        </m:d>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𝑇</m:t>
                            </m:r>
                          </m:e>
                          <m:e>
                            <m:r>
                              <a:rPr lang="en-US" b="0" i="1" smtClean="0">
                                <a:latin typeface="Cambria Math"/>
                              </a:rPr>
                              <m:t>𝐷</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𝐷</m:t>
                                </m:r>
                              </m:e>
                              <m:sup>
                                <m:r>
                                  <a:rPr lang="en-US" b="0" i="1" smtClean="0">
                                    <a:latin typeface="Cambria Math"/>
                                  </a:rPr>
                                  <m:t>′</m:t>
                                </m:r>
                              </m:sup>
                            </m:sSup>
                          </m:e>
                        </m:d>
                        <m:r>
                          <a:rPr lang="en-US" b="0" i="1" smtClean="0">
                            <a:latin typeface="Cambria Math"/>
                          </a:rPr>
                          <m:t>𝑃</m:t>
                        </m:r>
                        <m:r>
                          <a:rPr lang="en-US" b="0" i="1" smtClean="0">
                            <a:latin typeface="Cambria Math"/>
                          </a:rPr>
                          <m:t>(</m:t>
                        </m:r>
                        <m:r>
                          <a:rPr lang="en-US" b="0" i="1" smtClean="0">
                            <a:latin typeface="Cambria Math"/>
                          </a:rPr>
                          <m:t>𝑇</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𝐷</m:t>
                            </m:r>
                          </m:e>
                          <m:sup>
                            <m:r>
                              <a:rPr lang="en-US" b="0" i="1" smtClean="0">
                                <a:latin typeface="Cambria Math"/>
                              </a:rPr>
                              <m:t>′</m:t>
                            </m:r>
                          </m:sup>
                        </m:sSup>
                        <m:r>
                          <a:rPr lang="en-US" b="0" i="1" smtClean="0">
                            <a:latin typeface="Cambria Math"/>
                          </a:rPr>
                          <m:t>)</m:t>
                        </m:r>
                      </m:den>
                    </m:f>
                  </m:oMath>
                </a14:m>
                <a:endParaRPr lang="en-US" dirty="0"/>
              </a:p>
              <a:p>
                <a:endParaRPr lang="en-US" dirty="0"/>
              </a:p>
              <a:p>
                <a:r>
                  <a:rPr lang="en-US" dirty="0"/>
                  <a:t>We have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m:t>
                        </m:r>
                      </m:e>
                    </m:d>
                    <m:r>
                      <a:rPr lang="en-US" b="0" i="1" smtClean="0">
                        <a:latin typeface="Cambria Math"/>
                      </a:rPr>
                      <m:t>=0.0001</m:t>
                    </m:r>
                  </m:oMath>
                </a14:m>
                <a:r>
                  <a:rPr lang="en-US" dirty="0"/>
                  <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𝐷</m:t>
                            </m:r>
                          </m:e>
                          <m:sup>
                            <m:r>
                              <a:rPr lang="en-US" b="0" i="1" smtClean="0">
                                <a:latin typeface="Cambria Math"/>
                              </a:rPr>
                              <m:t>′</m:t>
                            </m:r>
                          </m:sup>
                        </m:sSup>
                      </m:e>
                    </m:d>
                    <m:r>
                      <a:rPr lang="en-US" b="0" i="1" smtClean="0">
                        <a:latin typeface="Cambria Math"/>
                      </a:rPr>
                      <m:t>=0.9999</m:t>
                    </m:r>
                  </m:oMath>
                </a14:m>
                <a:r>
                  <a:rPr lang="en-US" dirty="0"/>
                  <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𝑇</m:t>
                        </m:r>
                      </m:e>
                      <m:e>
                        <m:r>
                          <a:rPr lang="en-US" b="0" i="1" smtClean="0">
                            <a:latin typeface="Cambria Math"/>
                          </a:rPr>
                          <m:t>𝐷</m:t>
                        </m:r>
                      </m:e>
                    </m:d>
                    <m:r>
                      <a:rPr lang="en-US" b="0" i="1" smtClean="0">
                        <a:latin typeface="Cambria Math"/>
                      </a:rPr>
                      <m:t>=0.99</m:t>
                    </m:r>
                  </m:oMath>
                </a14:m>
                <a:r>
                  <a:rPr lang="en-US" dirty="0"/>
                  <a:t>, and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𝑇</m:t>
                        </m:r>
                      </m:e>
                      <m:e>
                        <m:sSup>
                          <m:sSupPr>
                            <m:ctrlPr>
                              <a:rPr lang="en-US" b="0" i="1" smtClean="0">
                                <a:latin typeface="Cambria Math" panose="02040503050406030204" pitchFamily="18" charset="0"/>
                              </a:rPr>
                            </m:ctrlPr>
                          </m:sSupPr>
                          <m:e>
                            <m:r>
                              <a:rPr lang="en-US" b="0" i="1" smtClean="0">
                                <a:latin typeface="Cambria Math"/>
                              </a:rPr>
                              <m:t>𝐷</m:t>
                            </m:r>
                          </m:e>
                          <m:sup>
                            <m:r>
                              <a:rPr lang="en-US" b="0" i="1" smtClean="0">
                                <a:latin typeface="Cambria Math"/>
                              </a:rPr>
                              <m:t>′</m:t>
                            </m:r>
                          </m:sup>
                        </m:sSup>
                      </m:e>
                    </m:d>
                    <m:r>
                      <a:rPr lang="en-US" b="0" i="1" smtClean="0">
                        <a:latin typeface="Cambria Math"/>
                      </a:rPr>
                      <m:t>=0.01</m:t>
                    </m:r>
                  </m:oMath>
                </a14:m>
                <a:r>
                  <a:rPr lang="en-US" dirty="0"/>
                  <a:t>.</a:t>
                </a:r>
              </a:p>
              <a:p>
                <a:endParaRPr lang="en-US" dirty="0"/>
              </a:p>
              <a:p>
                <a:r>
                  <a:rPr lang="en-US" dirty="0"/>
                  <a:t>Thus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m:t>
                        </m:r>
                      </m:e>
                      <m:e>
                        <m:r>
                          <a:rPr lang="en-US" b="0" i="1" smtClean="0">
                            <a:latin typeface="Cambria Math"/>
                          </a:rPr>
                          <m:t>𝑇</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0.0001∗0.99</m:t>
                        </m:r>
                      </m:num>
                      <m:den>
                        <m:d>
                          <m:dPr>
                            <m:ctrlPr>
                              <a:rPr lang="en-US" b="0" i="1" smtClean="0">
                                <a:latin typeface="Cambria Math" panose="02040503050406030204" pitchFamily="18" charset="0"/>
                              </a:rPr>
                            </m:ctrlPr>
                          </m:dPr>
                          <m:e>
                            <m:r>
                              <a:rPr lang="en-US" b="0" i="1" smtClean="0">
                                <a:latin typeface="Cambria Math"/>
                              </a:rPr>
                              <m:t>0.0001</m:t>
                            </m:r>
                          </m:e>
                        </m:d>
                        <m:d>
                          <m:dPr>
                            <m:ctrlPr>
                              <a:rPr lang="en-US" b="0" i="1" smtClean="0">
                                <a:latin typeface="Cambria Math" panose="02040503050406030204" pitchFamily="18" charset="0"/>
                              </a:rPr>
                            </m:ctrlPr>
                          </m:dPr>
                          <m:e>
                            <m:r>
                              <a:rPr lang="en-US" b="0" i="1" smtClean="0">
                                <a:latin typeface="Cambria Math"/>
                              </a:rPr>
                              <m:t>0.99</m:t>
                            </m:r>
                          </m:e>
                        </m:d>
                        <m:r>
                          <a:rPr lang="en-US" b="0" i="1" smtClean="0">
                            <a:latin typeface="Cambria Math"/>
                          </a:rPr>
                          <m:t>+(0.9999)(0.01)</m:t>
                        </m:r>
                      </m:den>
                    </m:f>
                    <m:r>
                      <a:rPr lang="en-US" b="0" i="1" smtClean="0">
                        <a:latin typeface="Cambria Math"/>
                      </a:rPr>
                      <m:t>=0.0098</m:t>
                    </m:r>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713"/>
                </a:stretch>
              </a:blipFill>
            </p:spPr>
            <p:txBody>
              <a:bodyPr/>
              <a:lstStyle/>
              <a:p>
                <a:r>
                  <a:rPr lang="en-US">
                    <a:noFill/>
                  </a:rPr>
                  <a:t> </a:t>
                </a:r>
              </a:p>
            </p:txBody>
          </p:sp>
        </mc:Fallback>
      </mc:AlternateContent>
    </p:spTree>
    <p:extLst>
      <p:ext uri="{BB962C8B-B14F-4D97-AF65-F5344CB8AC3E}">
        <p14:creationId xmlns:p14="http://schemas.microsoft.com/office/powerpoint/2010/main" val="2106095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p:sp>
        <p:nvSpPr>
          <p:cNvPr id="3" name="Content Placeholder 2"/>
          <p:cNvSpPr>
            <a:spLocks noGrp="1"/>
          </p:cNvSpPr>
          <p:nvPr>
            <p:ph idx="1"/>
          </p:nvPr>
        </p:nvSpPr>
        <p:spPr/>
        <p:txBody>
          <a:bodyPr>
            <a:normAutofit/>
          </a:bodyPr>
          <a:lstStyle/>
          <a:p>
            <a:r>
              <a:rPr lang="en-US" dirty="0"/>
              <a:t>This is not an intuitive answer! We are saying that the probability you actually have the disease given a positive test result is actually less than 0.1%. </a:t>
            </a:r>
          </a:p>
          <a:p>
            <a:endParaRPr lang="en-US" dirty="0"/>
          </a:p>
          <a:p>
            <a:r>
              <a:rPr lang="en-US" dirty="0"/>
              <a:t>Why is this so small?</a:t>
            </a:r>
          </a:p>
        </p:txBody>
      </p:sp>
    </p:spTree>
    <p:extLst>
      <p:ext uri="{BB962C8B-B14F-4D97-AF65-F5344CB8AC3E}">
        <p14:creationId xmlns:p14="http://schemas.microsoft.com/office/powerpoint/2010/main" val="10679807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p:sp>
        <p:nvSpPr>
          <p:cNvPr id="3" name="Content Placeholder 2"/>
          <p:cNvSpPr>
            <a:spLocks noGrp="1"/>
          </p:cNvSpPr>
          <p:nvPr>
            <p:ph idx="1"/>
          </p:nvPr>
        </p:nvSpPr>
        <p:spPr/>
        <p:txBody>
          <a:bodyPr>
            <a:normAutofit fontScale="85000" lnSpcReduction="10000"/>
          </a:bodyPr>
          <a:lstStyle/>
          <a:p>
            <a:r>
              <a:rPr lang="en-US" dirty="0"/>
              <a:t>The reason this is so small is because the incidence in the population is so small. We are not just using the information from the test, we are also including the information about how prevalent the disease is. This really drives the probability down.</a:t>
            </a:r>
          </a:p>
          <a:p>
            <a:endParaRPr lang="en-US" dirty="0"/>
          </a:p>
          <a:p>
            <a:r>
              <a:rPr lang="en-US" dirty="0"/>
              <a:t>If we had more information: your health history, your parents’/family health history, diet, exercise habits, or any other factors known to influence the disease, we could further improve our understanding of the estimate. Just like throwing more and more balls on the pool table. </a:t>
            </a:r>
          </a:p>
        </p:txBody>
      </p:sp>
    </p:spTree>
    <p:extLst>
      <p:ext uri="{BB962C8B-B14F-4D97-AF65-F5344CB8AC3E}">
        <p14:creationId xmlns:p14="http://schemas.microsoft.com/office/powerpoint/2010/main" val="279117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2.7 – 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Exercise: Suppose bowl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1</m:t>
                        </m:r>
                      </m:sub>
                    </m:sSub>
                  </m:oMath>
                </a14:m>
                <a:r>
                  <a:rPr lang="en-US" dirty="0"/>
                  <a:t> contains two white chips, bowl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2</m:t>
                        </m:r>
                      </m:sub>
                    </m:sSub>
                  </m:oMath>
                </a14:m>
                <a:r>
                  <a:rPr lang="en-US" dirty="0"/>
                  <a:t> contains two red chips,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3</m:t>
                        </m:r>
                      </m:sub>
                    </m:sSub>
                  </m:oMath>
                </a14:m>
                <a:r>
                  <a:rPr lang="en-US" dirty="0"/>
                  <a:t> has two white and two red,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4</m:t>
                        </m:r>
                      </m:sub>
                    </m:sSub>
                  </m:oMath>
                </a14:m>
                <a:r>
                  <a:rPr lang="en-US" dirty="0"/>
                  <a:t> has three white and 1 red. The probabilities of selecting bowl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2</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3</m:t>
                        </m:r>
                      </m:sub>
                    </m:sSub>
                    <m:r>
                      <a:rPr lang="en-US" b="0" i="0" smtClean="0">
                        <a:latin typeface="Cambria Math"/>
                      </a:rPr>
                      <m:t>,</m:t>
                    </m:r>
                  </m:oMath>
                </a14:m>
                <a:r>
                  <a:rPr lang="en-US" dirty="0"/>
                  <a:t> 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4</m:t>
                        </m:r>
                      </m:sub>
                    </m:sSub>
                  </m:oMath>
                </a14:m>
                <a:r>
                  <a:rPr lang="en-US" dirty="0"/>
                  <a:t> are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2</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8</m:t>
                        </m:r>
                      </m:den>
                    </m:f>
                    <m:r>
                      <a:rPr lang="en-US" b="0" i="1" smtClean="0">
                        <a:latin typeface="Cambria Math"/>
                      </a:rPr>
                      <m:t>,</m:t>
                    </m:r>
                  </m:oMath>
                </a14:m>
                <a:r>
                  <a:rPr lang="en-US" dirty="0"/>
                  <a:t> and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8</m:t>
                        </m:r>
                      </m:den>
                    </m:f>
                  </m:oMath>
                </a14:m>
                <a:r>
                  <a:rPr lang="en-US" dirty="0"/>
                  <a:t>, respectively. First a bowl is randomly selected, then a chip is drawn randomly from that bowl. Find:</a:t>
                </a:r>
              </a:p>
              <a:p>
                <a:pPr lvl="1"/>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𝑊</m:t>
                    </m:r>
                    <m:r>
                      <a:rPr lang="en-US" b="0" i="1" smtClean="0">
                        <a:latin typeface="Cambria Math"/>
                      </a:rPr>
                      <m:t>)</m:t>
                    </m:r>
                  </m:oMath>
                </a14:m>
                <a:r>
                  <a:rPr lang="en-US" dirty="0"/>
                  <a:t> where </a:t>
                </a:r>
                <a14:m>
                  <m:oMath xmlns:m="http://schemas.openxmlformats.org/officeDocument/2006/math">
                    <m:r>
                      <a:rPr lang="en-US" b="0" i="1" smtClean="0">
                        <a:latin typeface="Cambria Math"/>
                      </a:rPr>
                      <m:t>𝑊</m:t>
                    </m:r>
                  </m:oMath>
                </a14:m>
                <a:r>
                  <a:rPr lang="en-US" dirty="0"/>
                  <a:t> is the event that a white chip is drawn</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1</m:t>
                            </m:r>
                          </m:sub>
                        </m:sSub>
                      </m:e>
                      <m:e>
                        <m:r>
                          <a:rPr lang="en-US" b="0" i="1" smtClean="0">
                            <a:latin typeface="Cambria Math"/>
                          </a:rPr>
                          <m:t>𝑊</m:t>
                        </m:r>
                      </m:e>
                    </m:d>
                  </m:oMath>
                </a14:m>
                <a:endParaRPr lang="en-US" b="0" dirty="0"/>
              </a:p>
              <a:p>
                <a:pPr lvl="1"/>
                <a14:m>
                  <m:oMath xmlns:m="http://schemas.openxmlformats.org/officeDocument/2006/math">
                    <m:r>
                      <a:rPr lang="en-US" b="0" i="1" smtClean="0">
                        <a:latin typeface="Cambria Math"/>
                      </a:rPr>
                      <m:t>𝑃</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2</m:t>
                        </m:r>
                      </m:sub>
                    </m:sSub>
                    <m:r>
                      <a:rPr lang="en-US" b="0" i="1" smtClean="0">
                        <a:latin typeface="Cambria Math"/>
                      </a:rPr>
                      <m:t>|</m:t>
                    </m:r>
                    <m:r>
                      <a:rPr lang="en-US" b="0" i="1" smtClean="0">
                        <a:latin typeface="Cambria Math"/>
                      </a:rPr>
                      <m:t>𝑊</m:t>
                    </m:r>
                    <m:r>
                      <a:rPr lang="en-US" b="0" i="1" smtClean="0">
                        <a:latin typeface="Cambria Math"/>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81" r="-370"/>
                </a:stretch>
              </a:blipFill>
            </p:spPr>
            <p:txBody>
              <a:bodyPr/>
              <a:lstStyle/>
              <a:p>
                <a:r>
                  <a:rPr lang="en-US">
                    <a:noFill/>
                  </a:rPr>
                  <a:t> </a:t>
                </a:r>
              </a:p>
            </p:txBody>
          </p:sp>
        </mc:Fallback>
      </mc:AlternateContent>
    </p:spTree>
    <p:extLst>
      <p:ext uri="{BB962C8B-B14F-4D97-AF65-F5344CB8AC3E}">
        <p14:creationId xmlns:p14="http://schemas.microsoft.com/office/powerpoint/2010/main" val="10597339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573</TotalTime>
  <Words>2127</Words>
  <Application>Microsoft Office PowerPoint</Application>
  <PresentationFormat>On-screen Show (4:3)</PresentationFormat>
  <Paragraphs>129</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Cambria Math</vt:lpstr>
      <vt:lpstr>Corbel</vt:lpstr>
      <vt:lpstr>Wingdings</vt:lpstr>
      <vt:lpstr>Wingdings 2</vt:lpstr>
      <vt:lpstr>Wingdings 3</vt:lpstr>
      <vt:lpstr>Module</vt:lpstr>
      <vt:lpstr>Probability</vt:lpstr>
      <vt:lpstr>2.6 – Conditional Probability</vt:lpstr>
      <vt:lpstr>2.6 – Conditional Probability</vt:lpstr>
      <vt:lpstr>2.6 – Conditional Probability</vt:lpstr>
      <vt:lpstr>2.6 – Conditional Probability</vt:lpstr>
      <vt:lpstr>2.6 – Conditional Probability</vt:lpstr>
      <vt:lpstr>2.6 – Conditional Probability</vt:lpstr>
      <vt:lpstr>2.6 – Conditional Probability</vt:lpstr>
      <vt:lpstr>2.6 – Conditional Probability</vt:lpstr>
      <vt:lpstr>2.6 – Conditional Probability</vt:lpstr>
      <vt:lpstr>2.6 – Conditional Probability</vt:lpstr>
      <vt:lpstr>2.6 – Conditional Probability</vt:lpstr>
      <vt:lpstr>2.6 – Conditional Probability</vt:lpstr>
      <vt:lpstr>2.6 – Conditional Probability</vt:lpstr>
      <vt:lpstr>2.6 – Conditional Probability</vt:lpstr>
      <vt:lpstr>2.6 – Conditional Probability</vt:lpstr>
      <vt:lpstr>2.6 – Conditional Probability</vt:lpstr>
      <vt:lpstr>2.6 – Conditional Probability</vt:lpstr>
      <vt:lpstr>2.7 – Bayes’ Rule</vt:lpstr>
      <vt:lpstr>2.7 – Bayes’ Rule</vt:lpstr>
      <vt:lpstr>2.7 – Bayes’ Rule</vt:lpstr>
      <vt:lpstr>2.7 – Bayes’ Rule</vt:lpstr>
      <vt:lpstr>2.7 – Bayes’ Rule</vt:lpstr>
      <vt:lpstr>2.7 – Bayes’ Rule</vt:lpstr>
      <vt:lpstr>2.7 – Bayes’ Rule</vt:lpstr>
      <vt:lpstr>2.7 – Bayes’ Rule</vt:lpstr>
      <vt:lpstr>2.7 – Bayes’ Rule</vt:lpstr>
      <vt:lpstr>2.7 – Bayes’ Rule</vt:lpstr>
      <vt:lpstr>2.7 – Bayes’ Rule</vt:lpstr>
      <vt:lpstr>2.7 – Bayes’ Rule</vt:lpstr>
      <vt:lpstr>2.7 – Bayes’ Rule</vt:lpstr>
      <vt:lpstr>2.7 – Bayes’ Rule</vt:lpstr>
      <vt:lpstr>2.7 – Bayes’ Rule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dc:title>
  <dc:creator>Jason Adams</dc:creator>
  <cp:lastModifiedBy>Lizzie Reida</cp:lastModifiedBy>
  <cp:revision>23</cp:revision>
  <dcterms:created xsi:type="dcterms:W3CDTF">2017-07-07T13:57:42Z</dcterms:created>
  <dcterms:modified xsi:type="dcterms:W3CDTF">2021-01-14T15:33:28Z</dcterms:modified>
</cp:coreProperties>
</file>
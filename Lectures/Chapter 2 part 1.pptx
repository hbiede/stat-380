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5"/>
  </p:notesMasterIdLst>
  <p:sldIdLst>
    <p:sldId id="256" r:id="rId2"/>
    <p:sldId id="258" r:id="rId3"/>
    <p:sldId id="257"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2" r:id="rId26"/>
    <p:sldId id="283" r:id="rId27"/>
    <p:sldId id="284" r:id="rId28"/>
    <p:sldId id="285" r:id="rId29"/>
    <p:sldId id="286" r:id="rId30"/>
    <p:sldId id="287" r:id="rId31"/>
    <p:sldId id="289" r:id="rId32"/>
    <p:sldId id="290" r:id="rId33"/>
    <p:sldId id="291" r:id="rId34"/>
    <p:sldId id="292" r:id="rId35"/>
    <p:sldId id="293" r:id="rId36"/>
    <p:sldId id="295" r:id="rId37"/>
    <p:sldId id="296" r:id="rId38"/>
    <p:sldId id="297" r:id="rId39"/>
    <p:sldId id="298" r:id="rId40"/>
    <p:sldId id="299" r:id="rId41"/>
    <p:sldId id="300" r:id="rId42"/>
    <p:sldId id="301" r:id="rId43"/>
    <p:sldId id="302"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60" y="6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8DFE95-1635-4B1E-B3EC-676745C15BEE}" type="datetimeFigureOut">
              <a:rPr lang="en-US" smtClean="0"/>
              <a:t>1/14/2021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FECCAC-AD94-44DD-9AC1-8AE1FDB825A6}" type="slidenum">
              <a:rPr lang="en-US" smtClean="0"/>
              <a:t>‹#›</a:t>
            </a:fld>
            <a:endParaRPr lang="en-US"/>
          </a:p>
        </p:txBody>
      </p:sp>
    </p:spTree>
    <p:extLst>
      <p:ext uri="{BB962C8B-B14F-4D97-AF65-F5344CB8AC3E}">
        <p14:creationId xmlns:p14="http://schemas.microsoft.com/office/powerpoint/2010/main" val="153468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FECCAC-AD94-44DD-9AC1-8AE1FDB825A6}" type="slidenum">
              <a:rPr lang="en-US" smtClean="0"/>
              <a:t>38</a:t>
            </a:fld>
            <a:endParaRPr lang="en-US"/>
          </a:p>
        </p:txBody>
      </p:sp>
    </p:spTree>
    <p:extLst>
      <p:ext uri="{BB962C8B-B14F-4D97-AF65-F5344CB8AC3E}">
        <p14:creationId xmlns:p14="http://schemas.microsoft.com/office/powerpoint/2010/main" val="3019089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47C860B1-2D2C-4443-B4CC-A064CD84502F}"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3F1A52-21DB-4A10-A682-B47272303711}" type="slidenum">
              <a:rPr lang="en-US" smtClean="0"/>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C860B1-2D2C-4443-B4CC-A064CD84502F}"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3F1A52-21DB-4A10-A682-B4727230371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7C860B1-2D2C-4443-B4CC-A064CD84502F}"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3F1A52-21DB-4A10-A682-B4727230371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7C860B1-2D2C-4443-B4CC-A064CD84502F}"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3F1A52-21DB-4A10-A682-B4727230371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47C860B1-2D2C-4443-B4CC-A064CD84502F}" type="datetimeFigureOut">
              <a:rPr lang="en-US" smtClean="0"/>
              <a:t>1/14/2021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3F1A52-21DB-4A10-A682-B4727230371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7C860B1-2D2C-4443-B4CC-A064CD84502F}" type="datetimeFigureOut">
              <a:rPr lang="en-US" smtClean="0"/>
              <a:t>1/14/2021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3F1A52-21DB-4A10-A682-B4727230371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C860B1-2D2C-4443-B4CC-A064CD84502F}" type="datetimeFigureOut">
              <a:rPr lang="en-US" smtClean="0"/>
              <a:t>1/14/2021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3F1A52-21DB-4A10-A682-B4727230371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C860B1-2D2C-4443-B4CC-A064CD84502F}"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3F1A52-21DB-4A10-A682-B47272303711}" type="slidenum">
              <a:rPr lang="en-US" smtClean="0"/>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47C860B1-2D2C-4443-B4CC-A064CD84502F}" type="datetimeFigureOut">
              <a:rPr lang="en-US" smtClean="0"/>
              <a:t>1/14/2021</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AF3F1A52-21DB-4A10-A682-B4727230371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C860B1-2D2C-4443-B4CC-A064CD84502F}"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3F1A52-21DB-4A10-A682-B4727230371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C860B1-2D2C-4443-B4CC-A064CD84502F}" type="datetimeFigureOut">
              <a:rPr lang="en-US" smtClean="0"/>
              <a:t>1/14/2021</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AF3F1A52-21DB-4A10-A682-B4727230371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47C860B1-2D2C-4443-B4CC-A064CD84502F}" type="datetimeFigureOut">
              <a:rPr lang="en-US" smtClean="0"/>
              <a:t>1/14/2021</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AF3F1A52-21DB-4A10-A682-B4727230371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Probability</a:t>
            </a:r>
          </a:p>
        </p:txBody>
      </p:sp>
      <p:sp>
        <p:nvSpPr>
          <p:cNvPr id="3" name="Subtitle 2"/>
          <p:cNvSpPr>
            <a:spLocks noGrp="1"/>
          </p:cNvSpPr>
          <p:nvPr>
            <p:ph type="subTitle" idx="1"/>
          </p:nvPr>
        </p:nvSpPr>
        <p:spPr/>
        <p:txBody>
          <a:bodyPr/>
          <a:lstStyle/>
          <a:p>
            <a:r>
              <a:rPr lang="en-US" dirty="0"/>
              <a:t>Chapter 2</a:t>
            </a:r>
          </a:p>
        </p:txBody>
      </p:sp>
    </p:spTree>
    <p:extLst>
      <p:ext uri="{BB962C8B-B14F-4D97-AF65-F5344CB8AC3E}">
        <p14:creationId xmlns:p14="http://schemas.microsoft.com/office/powerpoint/2010/main" val="221776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a:t>
            </a:r>
          </a:p>
        </p:txBody>
      </p:sp>
      <p:sp>
        <p:nvSpPr>
          <p:cNvPr id="3" name="Content Placeholder 2"/>
          <p:cNvSpPr>
            <a:spLocks noGrp="1"/>
          </p:cNvSpPr>
          <p:nvPr>
            <p:ph idx="1"/>
          </p:nvPr>
        </p:nvSpPr>
        <p:spPr/>
        <p:txBody>
          <a:bodyPr/>
          <a:lstStyle/>
          <a:p>
            <a:r>
              <a:rPr lang="en-US" dirty="0"/>
              <a:t>As mentioned in chapter 1, chapters 2-6 deal primarily with probability theory.</a:t>
            </a:r>
          </a:p>
          <a:p>
            <a:endParaRPr lang="en-US" dirty="0"/>
          </a:p>
          <a:p>
            <a:r>
              <a:rPr lang="en-US" dirty="0"/>
              <a:t>2.1-2.3 give us the background in basic set theory and combinatorics (counting) to define probability in 2.4. Then 2.5-2.7 cover additional rules for calculating probabilities. Much of the material in this chapter will be crucial moving forward.</a:t>
            </a:r>
          </a:p>
        </p:txBody>
      </p:sp>
    </p:spTree>
    <p:extLst>
      <p:ext uri="{BB962C8B-B14F-4D97-AF65-F5344CB8AC3E}">
        <p14:creationId xmlns:p14="http://schemas.microsoft.com/office/powerpoint/2010/main" val="358112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p:sp>
        <p:nvSpPr>
          <p:cNvPr id="3" name="Content Placeholder 2"/>
          <p:cNvSpPr>
            <a:spLocks noGrp="1"/>
          </p:cNvSpPr>
          <p:nvPr>
            <p:ph idx="1"/>
          </p:nvPr>
        </p:nvSpPr>
        <p:spPr/>
        <p:txBody>
          <a:bodyPr/>
          <a:lstStyle/>
          <a:p>
            <a:r>
              <a:rPr lang="en-US" dirty="0"/>
              <a:t>While fairly short, this section introduces an extremely important idea in probability theory – the </a:t>
            </a:r>
            <a:r>
              <a:rPr lang="en-US" i="1" dirty="0"/>
              <a:t>sample space</a:t>
            </a:r>
            <a:r>
              <a:rPr lang="en-US" dirty="0"/>
              <a:t>.</a:t>
            </a:r>
          </a:p>
          <a:p>
            <a:endParaRPr lang="en-US" dirty="0"/>
          </a:p>
          <a:p>
            <a:r>
              <a:rPr lang="en-US" dirty="0"/>
              <a:t>Before defining sample space, we need to talk about the word experiment. </a:t>
            </a:r>
          </a:p>
        </p:txBody>
      </p:sp>
    </p:spTree>
    <p:extLst>
      <p:ext uri="{BB962C8B-B14F-4D97-AF65-F5344CB8AC3E}">
        <p14:creationId xmlns:p14="http://schemas.microsoft.com/office/powerpoint/2010/main" val="907299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p:sp>
        <p:nvSpPr>
          <p:cNvPr id="3" name="Content Placeholder 2"/>
          <p:cNvSpPr>
            <a:spLocks noGrp="1"/>
          </p:cNvSpPr>
          <p:nvPr>
            <p:ph idx="1"/>
          </p:nvPr>
        </p:nvSpPr>
        <p:spPr/>
        <p:txBody>
          <a:bodyPr>
            <a:normAutofit fontScale="92500" lnSpcReduction="20000"/>
          </a:bodyPr>
          <a:lstStyle/>
          <a:p>
            <a:r>
              <a:rPr lang="en-US" dirty="0"/>
              <a:t>Even within statistics, the word experiment can have different meanings. These could potentially differ from what you may think of when you hear the word experiment.</a:t>
            </a:r>
          </a:p>
          <a:p>
            <a:endParaRPr lang="en-US" dirty="0"/>
          </a:p>
          <a:p>
            <a:r>
              <a:rPr lang="en-US" dirty="0"/>
              <a:t>For our class, we are going to take a pretty general definition of the word. For us, an experiment is </a:t>
            </a:r>
            <a:r>
              <a:rPr lang="en-US" b="1" dirty="0"/>
              <a:t>any process that generates a set of data</a:t>
            </a:r>
            <a:r>
              <a:rPr lang="en-US" dirty="0"/>
              <a:t>. It is important to note that the process is subject to uncertainty so that we cannot know the outcome ahead of time.</a:t>
            </a:r>
          </a:p>
        </p:txBody>
      </p:sp>
    </p:spTree>
    <p:extLst>
      <p:ext uri="{BB962C8B-B14F-4D97-AF65-F5344CB8AC3E}">
        <p14:creationId xmlns:p14="http://schemas.microsoft.com/office/powerpoint/2010/main" val="121645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p:sp>
        <p:nvSpPr>
          <p:cNvPr id="3" name="Content Placeholder 2"/>
          <p:cNvSpPr>
            <a:spLocks noGrp="1"/>
          </p:cNvSpPr>
          <p:nvPr>
            <p:ph idx="1"/>
          </p:nvPr>
        </p:nvSpPr>
        <p:spPr/>
        <p:txBody>
          <a:bodyPr>
            <a:normAutofit/>
          </a:bodyPr>
          <a:lstStyle/>
          <a:p>
            <a:r>
              <a:rPr lang="en-US" dirty="0"/>
              <a:t>The classic example of an experiment is flipping a coin and observing whether it lands on heads or tails.</a:t>
            </a:r>
          </a:p>
          <a:p>
            <a:endParaRPr lang="en-US" dirty="0"/>
          </a:p>
          <a:p>
            <a:r>
              <a:rPr lang="en-US" dirty="0"/>
              <a:t>The book also gives examples such as observing the velocity of a missile at specified times and obtaining the opinions of voters on some proposed bill.</a:t>
            </a:r>
          </a:p>
        </p:txBody>
      </p:sp>
    </p:spTree>
    <p:extLst>
      <p:ext uri="{BB962C8B-B14F-4D97-AF65-F5344CB8AC3E}">
        <p14:creationId xmlns:p14="http://schemas.microsoft.com/office/powerpoint/2010/main" val="1216387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While we cannot know the exact outcome of an experiment before it is conducted, we should be able to know the possible outcomes. This is the idea of a sample space.</a:t>
                </a:r>
              </a:p>
              <a:p>
                <a:endParaRPr lang="en-US" dirty="0"/>
              </a:p>
              <a:p>
                <a:r>
                  <a:rPr lang="en-US" dirty="0"/>
                  <a:t>The sample space, denoted by </a:t>
                </a:r>
                <a14:m>
                  <m:oMath xmlns:m="http://schemas.openxmlformats.org/officeDocument/2006/math">
                    <m:r>
                      <a:rPr lang="en-US" b="0" i="1" smtClean="0">
                        <a:latin typeface="Cambria Math"/>
                      </a:rPr>
                      <m:t>𝑆</m:t>
                    </m:r>
                  </m:oMath>
                </a14:m>
                <a:r>
                  <a:rPr lang="en-US" dirty="0"/>
                  <a:t>, is the set of all possible outcomes of an experiment.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815"/>
                </a:stretch>
              </a:blipFill>
            </p:spPr>
            <p:txBody>
              <a:bodyPr/>
              <a:lstStyle/>
              <a:p>
                <a:r>
                  <a:rPr lang="en-US">
                    <a:noFill/>
                  </a:rPr>
                  <a:t> </a:t>
                </a:r>
              </a:p>
            </p:txBody>
          </p:sp>
        </mc:Fallback>
      </mc:AlternateContent>
    </p:spTree>
    <p:extLst>
      <p:ext uri="{BB962C8B-B14F-4D97-AF65-F5344CB8AC3E}">
        <p14:creationId xmlns:p14="http://schemas.microsoft.com/office/powerpoint/2010/main" val="3461511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As in set theory, we call the </a:t>
                </a:r>
                <a:r>
                  <a:rPr lang="en-US" i="1" dirty="0"/>
                  <a:t>outcomes</a:t>
                </a:r>
                <a:r>
                  <a:rPr lang="en-US" dirty="0"/>
                  <a:t> in </a:t>
                </a:r>
                <a14:m>
                  <m:oMath xmlns:m="http://schemas.openxmlformats.org/officeDocument/2006/math">
                    <m:r>
                      <a:rPr lang="en-US" b="0" i="1" smtClean="0">
                        <a:latin typeface="Cambria Math"/>
                      </a:rPr>
                      <m:t>𝑆</m:t>
                    </m:r>
                  </m:oMath>
                </a14:m>
                <a:r>
                  <a:rPr lang="en-US" dirty="0"/>
                  <a:t> </a:t>
                </a:r>
                <a:r>
                  <a:rPr lang="en-US" i="1" dirty="0"/>
                  <a:t>elements </a:t>
                </a:r>
                <a:r>
                  <a:rPr lang="en-US" dirty="0"/>
                  <a:t>or </a:t>
                </a:r>
                <a:r>
                  <a:rPr lang="en-US" i="1" dirty="0"/>
                  <a:t>members</a:t>
                </a:r>
                <a:r>
                  <a:rPr lang="en-US" dirty="0"/>
                  <a:t> (or sometimes </a:t>
                </a:r>
                <a:r>
                  <a:rPr lang="en-US" i="1" dirty="0"/>
                  <a:t>sample points</a:t>
                </a:r>
                <a:r>
                  <a:rPr lang="en-US" dirty="0"/>
                  <a:t>). Any of these four terms may be used interchangeably to describe the possible outcomes.</a:t>
                </a:r>
              </a:p>
              <a:p>
                <a:endParaRPr lang="en-US" dirty="0"/>
              </a:p>
              <a:p>
                <a:r>
                  <a:rPr lang="en-US" dirty="0"/>
                  <a:t>We also use set notation where all the elements of </a:t>
                </a:r>
                <a14:m>
                  <m:oMath xmlns:m="http://schemas.openxmlformats.org/officeDocument/2006/math">
                    <m:r>
                      <a:rPr lang="en-US" i="1">
                        <a:latin typeface="Cambria Math"/>
                      </a:rPr>
                      <m:t>𝑆</m:t>
                    </m:r>
                  </m:oMath>
                </a14:m>
                <a:r>
                  <a:rPr lang="en-US" dirty="0"/>
                  <a:t> are listed inside curly braces, </a:t>
                </a:r>
                <a14:m>
                  <m:oMath xmlns:m="http://schemas.openxmlformats.org/officeDocument/2006/math">
                    <m:r>
                      <a:rPr lang="en-US" i="1">
                        <a:latin typeface="Cambria Math"/>
                      </a:rPr>
                      <m:t>{ }</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r="-148" b="-2372"/>
                </a:stretch>
              </a:blipFill>
            </p:spPr>
            <p:txBody>
              <a:bodyPr/>
              <a:lstStyle/>
              <a:p>
                <a:r>
                  <a:rPr lang="en-US">
                    <a:noFill/>
                  </a:rPr>
                  <a:t> </a:t>
                </a:r>
              </a:p>
            </p:txBody>
          </p:sp>
        </mc:Fallback>
      </mc:AlternateContent>
    </p:spTree>
    <p:extLst>
      <p:ext uri="{BB962C8B-B14F-4D97-AF65-F5344CB8AC3E}">
        <p14:creationId xmlns:p14="http://schemas.microsoft.com/office/powerpoint/2010/main" val="2980513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So for our simple experiment of flipping a coin, there are two possible outcomes. If we let H be the outcome that the coin lands heads and T the outcome that the coin lands tails, we can write the sample space as </a:t>
                </a:r>
                <a14:m>
                  <m:oMath xmlns:m="http://schemas.openxmlformats.org/officeDocument/2006/math">
                    <m:r>
                      <a:rPr lang="en-US" b="0" i="1" smtClean="0">
                        <a:latin typeface="Cambria Math"/>
                      </a:rPr>
                      <m:t>𝑆</m:t>
                    </m:r>
                    <m:r>
                      <a:rPr lang="en-US" b="0" i="1" smtClean="0">
                        <a:latin typeface="Cambria Math"/>
                      </a:rPr>
                      <m:t>={</m:t>
                    </m:r>
                    <m:r>
                      <a:rPr lang="en-US" b="0" i="1" smtClean="0">
                        <a:latin typeface="Cambria Math"/>
                      </a:rPr>
                      <m:t>𝐻</m:t>
                    </m:r>
                    <m:r>
                      <a:rPr lang="en-US" b="0" i="1" smtClean="0">
                        <a:latin typeface="Cambria Math"/>
                      </a:rPr>
                      <m:t>, </m:t>
                    </m:r>
                    <m:r>
                      <a:rPr lang="en-US" b="0" i="1" smtClean="0">
                        <a:latin typeface="Cambria Math"/>
                      </a:rPr>
                      <m:t>𝑇</m:t>
                    </m:r>
                    <m:r>
                      <a:rPr lang="en-US" b="0" i="1" smtClean="0">
                        <a:latin typeface="Cambria Math"/>
                      </a:rPr>
                      <m:t>}</m:t>
                    </m:r>
                  </m:oMath>
                </a14:m>
                <a:r>
                  <a:rPr lang="en-US" dirty="0"/>
                  <a:t>.</a:t>
                </a:r>
              </a:p>
              <a:p>
                <a:endParaRPr lang="en-US" dirty="0"/>
              </a:p>
              <a:p>
                <a:r>
                  <a:rPr lang="en-US" dirty="0"/>
                  <a:t>What if, instead, the experiment was flipping a coin twice and recording the result of each flip? What then is our sample space?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713" r="-741" b="-2240"/>
                </a:stretch>
              </a:blipFill>
            </p:spPr>
            <p:txBody>
              <a:bodyPr/>
              <a:lstStyle/>
              <a:p>
                <a:r>
                  <a:rPr lang="en-US">
                    <a:noFill/>
                  </a:rPr>
                  <a:t> </a:t>
                </a:r>
              </a:p>
            </p:txBody>
          </p:sp>
        </mc:Fallback>
      </mc:AlternateContent>
    </p:spTree>
    <p:extLst>
      <p:ext uri="{BB962C8B-B14F-4D97-AF65-F5344CB8AC3E}">
        <p14:creationId xmlns:p14="http://schemas.microsoft.com/office/powerpoint/2010/main" val="3457583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In this case, </a:t>
                </a:r>
                <a14:m>
                  <m:oMath xmlns:m="http://schemas.openxmlformats.org/officeDocument/2006/math">
                    <m:r>
                      <a:rPr lang="en-US" b="0" i="1" smtClean="0">
                        <a:latin typeface="Cambria Math"/>
                      </a:rPr>
                      <m:t>𝑆</m:t>
                    </m:r>
                    <m:r>
                      <a:rPr lang="en-US" b="0" i="1" smtClean="0">
                        <a:latin typeface="Cambria Math"/>
                      </a:rPr>
                      <m:t>={</m:t>
                    </m:r>
                    <m:r>
                      <a:rPr lang="en-US" b="0" i="1" smtClean="0">
                        <a:latin typeface="Cambria Math"/>
                      </a:rPr>
                      <m:t>𝐻𝐻</m:t>
                    </m:r>
                    <m:r>
                      <a:rPr lang="en-US" b="0" i="1" smtClean="0">
                        <a:latin typeface="Cambria Math"/>
                      </a:rPr>
                      <m:t>, </m:t>
                    </m:r>
                    <m:r>
                      <a:rPr lang="en-US" b="0" i="1" smtClean="0">
                        <a:latin typeface="Cambria Math"/>
                      </a:rPr>
                      <m:t>𝐻𝑇</m:t>
                    </m:r>
                    <m:r>
                      <a:rPr lang="en-US" b="0" i="1" smtClean="0">
                        <a:latin typeface="Cambria Math"/>
                      </a:rPr>
                      <m:t>, </m:t>
                    </m:r>
                    <m:r>
                      <a:rPr lang="en-US" b="0" i="1" smtClean="0">
                        <a:latin typeface="Cambria Math"/>
                      </a:rPr>
                      <m:t>𝑇𝐻</m:t>
                    </m:r>
                    <m:r>
                      <a:rPr lang="en-US" b="0" i="1" smtClean="0">
                        <a:latin typeface="Cambria Math"/>
                      </a:rPr>
                      <m:t>, </m:t>
                    </m:r>
                    <m:r>
                      <a:rPr lang="en-US" b="0" i="1" smtClean="0">
                        <a:latin typeface="Cambria Math"/>
                      </a:rPr>
                      <m:t>𝑇𝑇</m:t>
                    </m:r>
                    <m:r>
                      <a:rPr lang="en-US" b="0" i="1" smtClean="0">
                        <a:latin typeface="Cambria Math"/>
                      </a:rPr>
                      <m:t>}</m:t>
                    </m:r>
                  </m:oMath>
                </a14:m>
                <a:r>
                  <a:rPr lang="en-US" dirty="0"/>
                  <a:t>.</a:t>
                </a:r>
              </a:p>
              <a:p>
                <a:endParaRPr lang="en-US" dirty="0"/>
              </a:p>
              <a:p>
                <a:r>
                  <a:rPr lang="en-US" dirty="0"/>
                  <a:t>Exercise: Give the sample space for each of the following experiments:</a:t>
                </a:r>
              </a:p>
              <a:p>
                <a:pPr lvl="1"/>
                <a:r>
                  <a:rPr lang="en-US" dirty="0"/>
                  <a:t>Observe the number that comes up after rolling a die (unless otherwise stated, we always mean a fair, six-sided die)</a:t>
                </a:r>
              </a:p>
              <a:p>
                <a:pPr lvl="1"/>
                <a:r>
                  <a:rPr lang="en-US" dirty="0"/>
                  <a:t>Observe the suit of a randomly drawn card from a standard 52 card deck of playing cards.</a:t>
                </a:r>
              </a:p>
              <a:p>
                <a:pPr lvl="1"/>
                <a:r>
                  <a:rPr lang="en-US" dirty="0"/>
                  <a:t>Roll two dice and observe the sum of the two resulting numbers.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r="-2074" b="-1054"/>
                </a:stretch>
              </a:blipFill>
            </p:spPr>
            <p:txBody>
              <a:bodyPr/>
              <a:lstStyle/>
              <a:p>
                <a:r>
                  <a:rPr lang="en-US">
                    <a:noFill/>
                  </a:rPr>
                  <a:t> </a:t>
                </a:r>
              </a:p>
            </p:txBody>
          </p:sp>
        </mc:Fallback>
      </mc:AlternateContent>
    </p:spTree>
    <p:extLst>
      <p:ext uri="{BB962C8B-B14F-4D97-AF65-F5344CB8AC3E}">
        <p14:creationId xmlns:p14="http://schemas.microsoft.com/office/powerpoint/2010/main" val="2329915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14:m>
                  <m:oMath xmlns:m="http://schemas.openxmlformats.org/officeDocument/2006/math">
                    <m:r>
                      <a:rPr lang="en-US" b="0" i="1" smtClean="0">
                        <a:latin typeface="Cambria Math"/>
                      </a:rPr>
                      <m:t>𝑆</m:t>
                    </m:r>
                    <m:r>
                      <a:rPr lang="en-US" b="0" i="1" smtClean="0">
                        <a:latin typeface="Cambria Math"/>
                      </a:rPr>
                      <m:t>={1, 2, 3, 4, 5, 6}</m:t>
                    </m:r>
                  </m:oMath>
                </a14:m>
                <a:endParaRPr lang="en-US" dirty="0"/>
              </a:p>
              <a:p>
                <a14:m>
                  <m:oMath xmlns:m="http://schemas.openxmlformats.org/officeDocument/2006/math">
                    <m:r>
                      <a:rPr lang="en-US" b="0" i="1" smtClean="0">
                        <a:latin typeface="Cambria Math"/>
                      </a:rPr>
                      <m:t>𝑆</m:t>
                    </m:r>
                    <m:r>
                      <a:rPr lang="en-US" b="0" i="1" smtClean="0">
                        <a:latin typeface="Cambria Math"/>
                      </a:rPr>
                      <m:t>={</m:t>
                    </m:r>
                    <m:r>
                      <m:rPr>
                        <m:sty m:val="p"/>
                      </m:rPr>
                      <a:rPr lang="en-US" b="0" i="0" smtClean="0">
                        <a:latin typeface="Cambria Math"/>
                      </a:rPr>
                      <m:t>heart</m:t>
                    </m:r>
                    <m:r>
                      <a:rPr lang="en-US" b="0" i="0" smtClean="0">
                        <a:latin typeface="Cambria Math"/>
                      </a:rPr>
                      <m:t>, </m:t>
                    </m:r>
                    <m:r>
                      <m:rPr>
                        <m:sty m:val="p"/>
                      </m:rPr>
                      <a:rPr lang="en-US" b="0" i="0" smtClean="0">
                        <a:latin typeface="Cambria Math"/>
                      </a:rPr>
                      <m:t>club</m:t>
                    </m:r>
                    <m:r>
                      <a:rPr lang="en-US" b="0" i="0" smtClean="0">
                        <a:latin typeface="Cambria Math"/>
                      </a:rPr>
                      <m:t>, </m:t>
                    </m:r>
                    <m:r>
                      <m:rPr>
                        <m:sty m:val="p"/>
                      </m:rPr>
                      <a:rPr lang="en-US" b="0" i="0" smtClean="0">
                        <a:latin typeface="Cambria Math"/>
                      </a:rPr>
                      <m:t>diamond</m:t>
                    </m:r>
                    <m:r>
                      <a:rPr lang="en-US" b="0" i="0" smtClean="0">
                        <a:latin typeface="Cambria Math"/>
                      </a:rPr>
                      <m:t>, </m:t>
                    </m:r>
                    <m:r>
                      <m:rPr>
                        <m:sty m:val="p"/>
                      </m:rPr>
                      <a:rPr lang="en-US" b="0" i="0" smtClean="0">
                        <a:latin typeface="Cambria Math"/>
                      </a:rPr>
                      <m:t>spade</m:t>
                    </m:r>
                    <m:r>
                      <a:rPr lang="en-US" b="0" i="1" smtClean="0">
                        <a:latin typeface="Cambria Math"/>
                      </a:rPr>
                      <m:t>}</m:t>
                    </m:r>
                  </m:oMath>
                </a14:m>
                <a:endParaRPr lang="en-US" dirty="0"/>
              </a:p>
              <a:p>
                <a14:m>
                  <m:oMath xmlns:m="http://schemas.openxmlformats.org/officeDocument/2006/math">
                    <m:r>
                      <a:rPr lang="en-US" b="0" i="1" smtClean="0">
                        <a:latin typeface="Cambria Math"/>
                      </a:rPr>
                      <m:t>𝑆</m:t>
                    </m:r>
                    <m:r>
                      <a:rPr lang="en-US" b="0" i="1" smtClean="0">
                        <a:latin typeface="Cambria Math"/>
                      </a:rPr>
                      <m:t>={2, 3, 4, 5, 6, 7, 8, 9, 10, 11, 12}</m:t>
                    </m:r>
                  </m:oMath>
                </a14:m>
                <a:endParaRPr lang="en-US" dirty="0"/>
              </a:p>
              <a:p>
                <a:endParaRPr lang="en-US" dirty="0"/>
              </a:p>
              <a:p>
                <a:r>
                  <a:rPr lang="en-US" dirty="0"/>
                  <a:t>Note that the order is not important here so that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a:rPr>
                          <m:t>1, 2, 3</m:t>
                        </m:r>
                      </m:e>
                    </m:d>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3, 1, 2</m:t>
                        </m:r>
                      </m:e>
                    </m:d>
                    <m:r>
                      <a:rPr lang="en-US" b="0" i="1" smtClean="0">
                        <a:latin typeface="Cambria Math"/>
                      </a:rPr>
                      <m:t>={1, 3, 2}</m:t>
                    </m:r>
                  </m:oMath>
                </a14:m>
                <a:r>
                  <a:rPr lang="en-US" dirty="0"/>
                  <a:t> etc.</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83267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There is another, but similar, way to express </a:t>
                </a:r>
                <a14:m>
                  <m:oMath xmlns:m="http://schemas.openxmlformats.org/officeDocument/2006/math">
                    <m:r>
                      <a:rPr lang="en-US" b="0" i="1" smtClean="0">
                        <a:latin typeface="Cambria Math"/>
                      </a:rPr>
                      <m:t>𝑆</m:t>
                    </m:r>
                  </m:oMath>
                </a14:m>
                <a:r>
                  <a:rPr lang="en-US" dirty="0"/>
                  <a:t>. The book calls this the </a:t>
                </a:r>
                <a:r>
                  <a:rPr lang="en-US" i="1" dirty="0"/>
                  <a:t>rule method</a:t>
                </a:r>
                <a:r>
                  <a:rPr lang="en-US" dirty="0"/>
                  <a:t>. Instead of listing out all of the elements, we give a rule that describes all elements of the set. Sometimes this is a much simpler way to describe a sample space.</a:t>
                </a:r>
              </a:p>
              <a:p>
                <a:endParaRPr lang="en-US" dirty="0"/>
              </a:p>
              <a:p>
                <a:r>
                  <a:rPr lang="en-US" dirty="0"/>
                  <a:t>For example, suppose </a:t>
                </a:r>
                <a14:m>
                  <m:oMath xmlns:m="http://schemas.openxmlformats.org/officeDocument/2006/math">
                    <m:r>
                      <a:rPr lang="en-US" b="0" i="1" smtClean="0">
                        <a:latin typeface="Cambria Math"/>
                      </a:rPr>
                      <m:t>𝑆</m:t>
                    </m:r>
                  </m:oMath>
                </a14:m>
                <a:r>
                  <a:rPr lang="en-US" dirty="0"/>
                  <a:t> is all real numbers between 1 and 25. How would you express this?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713" r="-2000" b="-2240"/>
                </a:stretch>
              </a:blipFill>
            </p:spPr>
            <p:txBody>
              <a:bodyPr/>
              <a:lstStyle/>
              <a:p>
                <a:r>
                  <a:rPr lang="en-US">
                    <a:noFill/>
                  </a:rPr>
                  <a:t> </a:t>
                </a:r>
              </a:p>
            </p:txBody>
          </p:sp>
        </mc:Fallback>
      </mc:AlternateContent>
    </p:spTree>
    <p:extLst>
      <p:ext uri="{BB962C8B-B14F-4D97-AF65-F5344CB8AC3E}">
        <p14:creationId xmlns:p14="http://schemas.microsoft.com/office/powerpoint/2010/main" val="3140346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Some possibilities:</a:t>
                </a:r>
              </a:p>
              <a:p>
                <a:pPr lvl="1"/>
                <a14:m>
                  <m:oMath xmlns:m="http://schemas.openxmlformats.org/officeDocument/2006/math">
                    <m:r>
                      <a:rPr lang="en-US" i="1">
                        <a:latin typeface="Cambria Math"/>
                      </a:rPr>
                      <m:t>𝑆</m:t>
                    </m:r>
                    <m:r>
                      <a:rPr lang="en-US" i="1">
                        <a:latin typeface="Cambria Math"/>
                      </a:rPr>
                      <m:t>=</m:t>
                    </m:r>
                    <m:d>
                      <m:dPr>
                        <m:begChr m:val="{"/>
                        <m:endChr m:val="|"/>
                        <m:ctrlPr>
                          <a:rPr lang="en-US" i="1">
                            <a:latin typeface="Cambria Math" panose="02040503050406030204" pitchFamily="18" charset="0"/>
                          </a:rPr>
                        </m:ctrlPr>
                      </m:dPr>
                      <m:e>
                        <m:r>
                          <a:rPr lang="en-US" i="1">
                            <a:latin typeface="Cambria Math"/>
                          </a:rPr>
                          <m:t>𝑥</m:t>
                        </m:r>
                        <m:r>
                          <a:rPr lang="en-US" i="1">
                            <a:latin typeface="Cambria Math"/>
                          </a:rPr>
                          <m:t> </m:t>
                        </m:r>
                      </m:e>
                    </m:d>
                    <m:r>
                      <a:rPr lang="en-US" i="1">
                        <a:latin typeface="Cambria Math"/>
                      </a:rPr>
                      <m:t> </m:t>
                    </m:r>
                    <m:r>
                      <a:rPr lang="en-US" i="1">
                        <a:latin typeface="Cambria Math"/>
                      </a:rPr>
                      <m:t>𝑥</m:t>
                    </m:r>
                    <m:r>
                      <a:rPr lang="en-US" i="1">
                        <a:latin typeface="Cambria Math"/>
                      </a:rPr>
                      <m:t> </m:t>
                    </m:r>
                    <m:r>
                      <m:rPr>
                        <m:sty m:val="p"/>
                      </m:rPr>
                      <a:rPr lang="en-US" i="0">
                        <a:latin typeface="Cambria Math"/>
                      </a:rPr>
                      <m:t>is</m:t>
                    </m:r>
                    <m:r>
                      <a:rPr lang="en-US" i="0">
                        <a:latin typeface="Cambria Math"/>
                      </a:rPr>
                      <m:t> </m:t>
                    </m:r>
                    <m:r>
                      <m:rPr>
                        <m:sty m:val="p"/>
                      </m:rPr>
                      <a:rPr lang="en-US" i="0">
                        <a:latin typeface="Cambria Math"/>
                      </a:rPr>
                      <m:t>a</m:t>
                    </m:r>
                    <m:r>
                      <a:rPr lang="en-US" i="0">
                        <a:latin typeface="Cambria Math"/>
                      </a:rPr>
                      <m:t> </m:t>
                    </m:r>
                    <m:r>
                      <m:rPr>
                        <m:sty m:val="p"/>
                      </m:rPr>
                      <a:rPr lang="en-US" i="0">
                        <a:latin typeface="Cambria Math"/>
                      </a:rPr>
                      <m:t>real</m:t>
                    </m:r>
                    <m:r>
                      <a:rPr lang="en-US" i="0">
                        <a:latin typeface="Cambria Math"/>
                      </a:rPr>
                      <m:t> </m:t>
                    </m:r>
                    <m:r>
                      <m:rPr>
                        <m:sty m:val="p"/>
                      </m:rPr>
                      <a:rPr lang="en-US" i="0">
                        <a:latin typeface="Cambria Math"/>
                      </a:rPr>
                      <m:t>number</m:t>
                    </m:r>
                    <m:r>
                      <a:rPr lang="en-US" i="0">
                        <a:latin typeface="Cambria Math"/>
                      </a:rPr>
                      <m:t> </m:t>
                    </m:r>
                    <m:r>
                      <m:rPr>
                        <m:sty m:val="p"/>
                      </m:rPr>
                      <a:rPr lang="en-US" i="0">
                        <a:latin typeface="Cambria Math"/>
                      </a:rPr>
                      <m:t>between</m:t>
                    </m:r>
                    <m:r>
                      <a:rPr lang="en-US" i="0">
                        <a:latin typeface="Cambria Math"/>
                      </a:rPr>
                      <m:t> </m:t>
                    </m:r>
                    <m:r>
                      <a:rPr lang="en-US" i="1">
                        <a:latin typeface="Cambria Math"/>
                      </a:rPr>
                      <m:t>1 </m:t>
                    </m:r>
                    <m:r>
                      <m:rPr>
                        <m:sty m:val="p"/>
                      </m:rPr>
                      <a:rPr lang="en-US" i="0">
                        <a:latin typeface="Cambria Math"/>
                      </a:rPr>
                      <m:t>and</m:t>
                    </m:r>
                    <m:r>
                      <a:rPr lang="en-US" i="1">
                        <a:latin typeface="Cambria Math"/>
                      </a:rPr>
                      <m:t> 25}</m:t>
                    </m:r>
                  </m:oMath>
                </a14:m>
                <a:endParaRPr lang="en-US" dirty="0"/>
              </a:p>
              <a:p>
                <a:pPr lvl="1"/>
                <a14:m>
                  <m:oMath xmlns:m="http://schemas.openxmlformats.org/officeDocument/2006/math">
                    <m:r>
                      <a:rPr lang="en-US" i="1">
                        <a:latin typeface="Cambria Math"/>
                      </a:rPr>
                      <m:t>𝑆</m:t>
                    </m:r>
                    <m:r>
                      <a:rPr lang="en-US" i="1">
                        <a:latin typeface="Cambria Math"/>
                      </a:rPr>
                      <m:t>=</m:t>
                    </m:r>
                    <m:d>
                      <m:dPr>
                        <m:begChr m:val="{"/>
                        <m:endChr m:val="|"/>
                        <m:ctrlPr>
                          <a:rPr lang="en-US" i="1">
                            <a:latin typeface="Cambria Math" panose="02040503050406030204" pitchFamily="18" charset="0"/>
                          </a:rPr>
                        </m:ctrlPr>
                      </m:dPr>
                      <m:e>
                        <m:r>
                          <a:rPr lang="en-US" i="1">
                            <a:latin typeface="Cambria Math"/>
                          </a:rPr>
                          <m:t>𝑥</m:t>
                        </m:r>
                        <m:r>
                          <a:rPr lang="en-US" i="1">
                            <a:latin typeface="Cambria Math"/>
                          </a:rPr>
                          <m:t> </m:t>
                        </m:r>
                      </m:e>
                    </m:d>
                    <m:r>
                      <a:rPr lang="en-US" i="1">
                        <a:latin typeface="Cambria Math"/>
                      </a:rPr>
                      <m:t> 1&lt;</m:t>
                    </m:r>
                    <m:r>
                      <a:rPr lang="en-US" i="1">
                        <a:latin typeface="Cambria Math"/>
                      </a:rPr>
                      <m:t>𝑥</m:t>
                    </m:r>
                    <m:r>
                      <a:rPr lang="en-US">
                        <a:latin typeface="Cambria Math"/>
                      </a:rPr>
                      <m:t>&lt;25}</m:t>
                    </m:r>
                  </m:oMath>
                </a14:m>
                <a:endParaRPr lang="en-US" dirty="0"/>
              </a:p>
              <a:p>
                <a:endParaRPr lang="en-US" dirty="0"/>
              </a:p>
              <a:p>
                <a:r>
                  <a:rPr lang="en-US" dirty="0"/>
                  <a:t>Exercise: Use the rule method to describe the following sample spaces:</a:t>
                </a:r>
              </a:p>
              <a:p>
                <a:pPr lvl="1"/>
                <a:r>
                  <a:rPr lang="en-US" dirty="0"/>
                  <a:t>Roll two dice and observe the sum of the two resulting numbers.</a:t>
                </a:r>
              </a:p>
              <a:p>
                <a:pPr lvl="1"/>
                <a:r>
                  <a:rPr lang="en-US" dirty="0"/>
                  <a:t>All countries with a population less than 50 million</a:t>
                </a:r>
              </a:p>
              <a:p>
                <a:pPr lvl="1"/>
                <a:r>
                  <a:rPr lang="en-US" dirty="0"/>
                  <a:t>All points on the interior of the unit circle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r="-2074"/>
                </a:stretch>
              </a:blipFill>
            </p:spPr>
            <p:txBody>
              <a:bodyPr/>
              <a:lstStyle/>
              <a:p>
                <a:r>
                  <a:rPr lang="en-US">
                    <a:noFill/>
                  </a:rPr>
                  <a:t> </a:t>
                </a:r>
              </a:p>
            </p:txBody>
          </p:sp>
        </mc:Fallback>
      </mc:AlternateContent>
    </p:spTree>
    <p:extLst>
      <p:ext uri="{BB962C8B-B14F-4D97-AF65-F5344CB8AC3E}">
        <p14:creationId xmlns:p14="http://schemas.microsoft.com/office/powerpoint/2010/main" val="2315627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14:m>
                  <m:oMath xmlns:m="http://schemas.openxmlformats.org/officeDocument/2006/math">
                    <m:r>
                      <a:rPr lang="en-US" b="0" i="1" smtClean="0">
                        <a:latin typeface="Cambria Math"/>
                      </a:rPr>
                      <m:t>𝑆</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 </m:t>
                        </m:r>
                      </m:e>
                    </m:d>
                    <m:r>
                      <a:rPr lang="en-US" b="0" i="1" smtClean="0">
                        <a:latin typeface="Cambria Math"/>
                      </a:rPr>
                      <m:t> </m:t>
                    </m:r>
                    <m:r>
                      <a:rPr lang="en-US" b="0" i="1" smtClean="0">
                        <a:latin typeface="Cambria Math"/>
                      </a:rPr>
                      <m:t>𝑥</m:t>
                    </m:r>
                    <m:r>
                      <a:rPr lang="en-US" b="0" i="1" smtClean="0">
                        <a:latin typeface="Cambria Math"/>
                      </a:rPr>
                      <m:t> </m:t>
                    </m:r>
                    <m:r>
                      <m:rPr>
                        <m:sty m:val="p"/>
                      </m:rPr>
                      <a:rPr lang="en-US" b="0" i="0" smtClean="0">
                        <a:latin typeface="Cambria Math"/>
                      </a:rPr>
                      <m:t>is</m:t>
                    </m:r>
                    <m:r>
                      <a:rPr lang="en-US" b="0" i="0" smtClean="0">
                        <a:latin typeface="Cambria Math"/>
                      </a:rPr>
                      <m:t> </m:t>
                    </m:r>
                    <m:r>
                      <m:rPr>
                        <m:sty m:val="p"/>
                      </m:rPr>
                      <a:rPr lang="en-US" b="0" i="0" smtClean="0">
                        <a:latin typeface="Cambria Math"/>
                      </a:rPr>
                      <m:t>an</m:t>
                    </m:r>
                    <m:r>
                      <a:rPr lang="en-US" b="0" i="0" smtClean="0">
                        <a:latin typeface="Cambria Math"/>
                      </a:rPr>
                      <m:t> </m:t>
                    </m:r>
                    <m:r>
                      <m:rPr>
                        <m:sty m:val="p"/>
                      </m:rPr>
                      <a:rPr lang="en-US" b="0" i="0" smtClean="0">
                        <a:latin typeface="Cambria Math"/>
                      </a:rPr>
                      <m:t>integer</m:t>
                    </m:r>
                    <m:r>
                      <a:rPr lang="en-US" b="0" i="0" smtClean="0">
                        <a:latin typeface="Cambria Math"/>
                      </a:rPr>
                      <m:t> </m:t>
                    </m:r>
                    <m:r>
                      <m:rPr>
                        <m:sty m:val="p"/>
                      </m:rPr>
                      <a:rPr lang="en-US" b="0" i="0" smtClean="0">
                        <a:latin typeface="Cambria Math"/>
                      </a:rPr>
                      <m:t>between</m:t>
                    </m:r>
                    <m:r>
                      <a:rPr lang="en-US" b="0" i="0" smtClean="0">
                        <a:latin typeface="Cambria Math"/>
                      </a:rPr>
                      <m:t> </m:t>
                    </m:r>
                    <m:r>
                      <a:rPr lang="en-US" b="0" i="1" smtClean="0">
                        <a:latin typeface="Cambria Math"/>
                      </a:rPr>
                      <m:t>2 </m:t>
                    </m:r>
                    <m:r>
                      <m:rPr>
                        <m:sty m:val="p"/>
                      </m:rPr>
                      <a:rPr lang="en-US" b="0" i="0" smtClean="0">
                        <a:latin typeface="Cambria Math"/>
                      </a:rPr>
                      <m:t>and</m:t>
                    </m:r>
                    <m:r>
                      <a:rPr lang="en-US" b="0" i="0" smtClean="0">
                        <a:latin typeface="Cambria Math"/>
                      </a:rPr>
                      <m:t> 12 </m:t>
                    </m:r>
                    <m:r>
                      <m:rPr>
                        <m:sty m:val="p"/>
                      </m:rPr>
                      <a:rPr lang="en-US" b="0" i="0" smtClean="0">
                        <a:latin typeface="Cambria Math"/>
                      </a:rPr>
                      <m:t>inclusive</m:t>
                    </m:r>
                    <m:r>
                      <a:rPr lang="en-US" b="0" i="1" smtClean="0">
                        <a:latin typeface="Cambria Math"/>
                      </a:rPr>
                      <m:t>}</m:t>
                    </m:r>
                  </m:oMath>
                </a14:m>
                <a:endParaRPr lang="en-US" b="0" i="1" dirty="0">
                  <a:latin typeface="Cambria Math"/>
                </a:endParaRPr>
              </a:p>
              <a:p>
                <a14:m>
                  <m:oMath xmlns:m="http://schemas.openxmlformats.org/officeDocument/2006/math">
                    <m:r>
                      <a:rPr lang="en-US" b="0" i="1" smtClean="0">
                        <a:latin typeface="Cambria Math"/>
                      </a:rPr>
                      <m:t>𝑆</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 </m:t>
                        </m:r>
                      </m:e>
                    </m:d>
                    <m:r>
                      <a:rPr lang="en-US" b="0" i="1" smtClean="0">
                        <a:latin typeface="Cambria Math"/>
                      </a:rPr>
                      <m:t> </m:t>
                    </m:r>
                    <m:r>
                      <a:rPr lang="en-US" b="0" i="1" smtClean="0">
                        <a:latin typeface="Cambria Math"/>
                      </a:rPr>
                      <m:t>𝑥</m:t>
                    </m:r>
                    <m:r>
                      <a:rPr lang="en-US" b="0" i="1" smtClean="0">
                        <a:latin typeface="Cambria Math"/>
                      </a:rPr>
                      <m:t> </m:t>
                    </m:r>
                    <m:r>
                      <m:rPr>
                        <m:sty m:val="p"/>
                      </m:rPr>
                      <a:rPr lang="en-US" b="0" i="0" smtClean="0">
                        <a:latin typeface="Cambria Math"/>
                      </a:rPr>
                      <m:t>is</m:t>
                    </m:r>
                    <m:r>
                      <a:rPr lang="en-US" b="0" i="0" smtClean="0">
                        <a:latin typeface="Cambria Math"/>
                      </a:rPr>
                      <m:t> </m:t>
                    </m:r>
                    <m:r>
                      <m:rPr>
                        <m:sty m:val="p"/>
                      </m:rPr>
                      <a:rPr lang="en-US" b="0" i="0" smtClean="0">
                        <a:latin typeface="Cambria Math"/>
                      </a:rPr>
                      <m:t>a</m:t>
                    </m:r>
                    <m:r>
                      <a:rPr lang="en-US" b="0" i="0" smtClean="0">
                        <a:latin typeface="Cambria Math"/>
                      </a:rPr>
                      <m:t> </m:t>
                    </m:r>
                    <m:r>
                      <m:rPr>
                        <m:sty m:val="p"/>
                      </m:rPr>
                      <a:rPr lang="en-US" b="0" i="0" smtClean="0">
                        <a:latin typeface="Cambria Math"/>
                      </a:rPr>
                      <m:t>country</m:t>
                    </m:r>
                    <m:r>
                      <a:rPr lang="en-US" b="0" i="0" smtClean="0">
                        <a:latin typeface="Cambria Math"/>
                      </a:rPr>
                      <m:t> </m:t>
                    </m:r>
                    <m:r>
                      <m:rPr>
                        <m:sty m:val="p"/>
                      </m:rPr>
                      <a:rPr lang="en-US" b="0" i="0" smtClean="0">
                        <a:latin typeface="Cambria Math"/>
                      </a:rPr>
                      <m:t>with</m:t>
                    </m:r>
                    <m:r>
                      <a:rPr lang="en-US" b="0" i="0" smtClean="0">
                        <a:latin typeface="Cambria Math"/>
                      </a:rPr>
                      <m:t> </m:t>
                    </m:r>
                    <m:r>
                      <m:rPr>
                        <m:sty m:val="p"/>
                      </m:rPr>
                      <a:rPr lang="en-US" b="0" i="0" smtClean="0">
                        <a:latin typeface="Cambria Math"/>
                      </a:rPr>
                      <m:t>population</m:t>
                    </m:r>
                    <m:r>
                      <a:rPr lang="en-US" b="0" i="0" smtClean="0">
                        <a:latin typeface="Cambria Math"/>
                      </a:rPr>
                      <m:t> </m:t>
                    </m:r>
                    <m:r>
                      <m:rPr>
                        <m:sty m:val="p"/>
                      </m:rPr>
                      <a:rPr lang="en-US" b="0" i="0" smtClean="0">
                        <a:latin typeface="Cambria Math"/>
                      </a:rPr>
                      <m:t>less</m:t>
                    </m:r>
                    <m:r>
                      <a:rPr lang="en-US" b="0" i="0" smtClean="0">
                        <a:latin typeface="Cambria Math"/>
                      </a:rPr>
                      <m:t> </m:t>
                    </m:r>
                    <m:r>
                      <m:rPr>
                        <m:sty m:val="p"/>
                      </m:rPr>
                      <a:rPr lang="en-US" b="0" i="0" smtClean="0">
                        <a:latin typeface="Cambria Math"/>
                      </a:rPr>
                      <m:t>than</m:t>
                    </m:r>
                    <m:r>
                      <a:rPr lang="en-US" b="0" i="0" smtClean="0">
                        <a:latin typeface="Cambria Math"/>
                      </a:rPr>
                      <m:t> 50 </m:t>
                    </m:r>
                    <m:r>
                      <m:rPr>
                        <m:sty m:val="p"/>
                      </m:rPr>
                      <a:rPr lang="en-US" b="0" i="0" smtClean="0">
                        <a:latin typeface="Cambria Math"/>
                      </a:rPr>
                      <m:t>million</m:t>
                    </m:r>
                    <m:r>
                      <a:rPr lang="en-US" b="0" i="1" smtClean="0">
                        <a:latin typeface="Cambria Math"/>
                      </a:rPr>
                      <m:t>}</m:t>
                    </m:r>
                  </m:oMath>
                </a14:m>
                <a:endParaRPr lang="en-US" b="0" i="1" dirty="0">
                  <a:latin typeface="Cambria Math"/>
                </a:endParaRPr>
              </a:p>
              <a:p>
                <a14:m>
                  <m:oMath xmlns:m="http://schemas.openxmlformats.org/officeDocument/2006/math">
                    <m:r>
                      <a:rPr lang="en-US" b="0" i="1" smtClean="0">
                        <a:latin typeface="Cambria Math"/>
                      </a:rPr>
                      <m:t>𝑆</m:t>
                    </m:r>
                    <m:r>
                      <a:rPr lang="en-US" b="0" i="1" smtClean="0">
                        <a:latin typeface="Cambria Math"/>
                      </a:rPr>
                      <m:t>=</m:t>
                    </m:r>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 </m:t>
                        </m:r>
                      </m:e>
                    </m:d>
                    <m:r>
                      <a:rPr lang="en-US" b="0" i="1" smtClean="0">
                        <a:latin typeface="Cambria Math"/>
                      </a:rPr>
                      <m:t> </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𝑦</m:t>
                        </m:r>
                      </m:e>
                      <m:sup>
                        <m:r>
                          <a:rPr lang="en-US" b="0" i="1" smtClean="0">
                            <a:latin typeface="Cambria Math"/>
                          </a:rPr>
                          <m:t>2</m:t>
                        </m:r>
                      </m:sup>
                    </m:sSup>
                    <m:r>
                      <a:rPr lang="en-US" b="0" i="1" smtClean="0">
                        <a:latin typeface="Cambria Math"/>
                      </a:rPr>
                      <m:t>&lt;1} </m:t>
                    </m:r>
                  </m:oMath>
                </a14:m>
                <a:endParaRPr lang="en-US" dirty="0"/>
              </a:p>
              <a:p>
                <a:endParaRPr lang="en-US" dirty="0"/>
              </a:p>
              <a:p>
                <a:r>
                  <a:rPr lang="en-US" dirty="0"/>
                  <a:t>Note that for the third example, it’s actually impossible to list out all the elements of the sample space. In cases like this, the rule method is necessary.</a:t>
                </a:r>
              </a:p>
              <a:p>
                <a:endParaRPr lang="en-US" dirty="0"/>
              </a:p>
              <a:p>
                <a:r>
                  <a:rPr lang="en-US" dirty="0"/>
                  <a:t>Also be aware that you can have more than one condition in your statement. For instance, maybe we only want the interior unit circle points in the second quadrant.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222"/>
                </a:stretch>
              </a:blipFill>
            </p:spPr>
            <p:txBody>
              <a:bodyPr/>
              <a:lstStyle/>
              <a:p>
                <a:r>
                  <a:rPr lang="en-US">
                    <a:noFill/>
                  </a:rPr>
                  <a:t> </a:t>
                </a:r>
              </a:p>
            </p:txBody>
          </p:sp>
        </mc:Fallback>
      </mc:AlternateContent>
    </p:spTree>
    <p:extLst>
      <p:ext uri="{BB962C8B-B14F-4D97-AF65-F5344CB8AC3E}">
        <p14:creationId xmlns:p14="http://schemas.microsoft.com/office/powerpoint/2010/main" val="1782682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p:sp>
        <p:nvSpPr>
          <p:cNvPr id="3" name="Content Placeholder 2"/>
          <p:cNvSpPr>
            <a:spLocks noGrp="1"/>
          </p:cNvSpPr>
          <p:nvPr>
            <p:ph idx="1"/>
          </p:nvPr>
        </p:nvSpPr>
        <p:spPr/>
        <p:txBody>
          <a:bodyPr>
            <a:normAutofit fontScale="92500" lnSpcReduction="10000"/>
          </a:bodyPr>
          <a:lstStyle/>
          <a:p>
            <a:r>
              <a:rPr lang="en-US" dirty="0"/>
              <a:t>The last important idea from this section is that of a tree diagram. These are very useful for multistep experiments.</a:t>
            </a:r>
          </a:p>
          <a:p>
            <a:endParaRPr lang="en-US" dirty="0"/>
          </a:p>
          <a:p>
            <a:r>
              <a:rPr lang="en-US" dirty="0"/>
              <a:t>For example, say we have an experiment where we flip a coin. If the coin comes up heads, flip it again. If it comes up tails, draw a card and observe the color of the card. One way to ensure we have all the possible elements is to use a tree diagram (as we’ll do on the board).</a:t>
            </a:r>
          </a:p>
        </p:txBody>
      </p:sp>
    </p:spTree>
    <p:extLst>
      <p:ext uri="{BB962C8B-B14F-4D97-AF65-F5344CB8AC3E}">
        <p14:creationId xmlns:p14="http://schemas.microsoft.com/office/powerpoint/2010/main" val="491191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 Sample Space</a:t>
            </a:r>
          </a:p>
        </p:txBody>
      </p:sp>
      <p:sp>
        <p:nvSpPr>
          <p:cNvPr id="3" name="Content Placeholder 2"/>
          <p:cNvSpPr>
            <a:spLocks noGrp="1"/>
          </p:cNvSpPr>
          <p:nvPr>
            <p:ph idx="1"/>
          </p:nvPr>
        </p:nvSpPr>
        <p:spPr/>
        <p:txBody>
          <a:bodyPr>
            <a:normAutofit/>
          </a:bodyPr>
          <a:lstStyle/>
          <a:p>
            <a:r>
              <a:rPr lang="en-US" dirty="0"/>
              <a:t>Exercise: Construct a tree diagram for the following experiment: </a:t>
            </a:r>
          </a:p>
          <a:p>
            <a:pPr lvl="1"/>
            <a:r>
              <a:rPr lang="en-US" dirty="0"/>
              <a:t>Roll a die. If the number is even, draw a card and observe the suit. If the number is odd, flip a coin and observe the outcome.</a:t>
            </a:r>
          </a:p>
        </p:txBody>
      </p:sp>
    </p:spTree>
    <p:extLst>
      <p:ext uri="{BB962C8B-B14F-4D97-AF65-F5344CB8AC3E}">
        <p14:creationId xmlns:p14="http://schemas.microsoft.com/office/powerpoint/2010/main" val="2071702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p:sp>
        <p:nvSpPr>
          <p:cNvPr id="3" name="Content Placeholder 2"/>
          <p:cNvSpPr>
            <a:spLocks noGrp="1"/>
          </p:cNvSpPr>
          <p:nvPr>
            <p:ph idx="1"/>
          </p:nvPr>
        </p:nvSpPr>
        <p:spPr/>
        <p:txBody>
          <a:bodyPr/>
          <a:lstStyle/>
          <a:p>
            <a:r>
              <a:rPr lang="en-US" dirty="0"/>
              <a:t>In this section we will discuss some set theory as it relates to sample spaces.</a:t>
            </a:r>
          </a:p>
          <a:p>
            <a:endParaRPr lang="en-US" dirty="0"/>
          </a:p>
          <a:p>
            <a:r>
              <a:rPr lang="en-US" dirty="0"/>
              <a:t>When it comes to sample spaces, we are usually interested in particular </a:t>
            </a:r>
            <a:r>
              <a:rPr lang="en-US" i="1" dirty="0"/>
              <a:t>events</a:t>
            </a:r>
            <a:r>
              <a:rPr lang="en-US" dirty="0"/>
              <a:t>. These events may be specific elements in a sample space or they may include several elements.</a:t>
            </a:r>
          </a:p>
        </p:txBody>
      </p:sp>
    </p:spTree>
    <p:extLst>
      <p:ext uri="{BB962C8B-B14F-4D97-AF65-F5344CB8AC3E}">
        <p14:creationId xmlns:p14="http://schemas.microsoft.com/office/powerpoint/2010/main" val="3872789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An event </a:t>
                </a:r>
                <a:r>
                  <a:rPr lang="en-US" b="1" dirty="0"/>
                  <a:t>is a subset of a sample space</a:t>
                </a:r>
                <a:r>
                  <a:rPr lang="en-US" dirty="0"/>
                  <a:t>. For instance, if we take </a:t>
                </a:r>
                <a14:m>
                  <m:oMath xmlns:m="http://schemas.openxmlformats.org/officeDocument/2006/math">
                    <m:r>
                      <a:rPr lang="en-US" b="0" i="1" smtClean="0">
                        <a:latin typeface="Cambria Math"/>
                      </a:rPr>
                      <m:t>𝑆</m:t>
                    </m:r>
                  </m:oMath>
                </a14:m>
                <a:r>
                  <a:rPr lang="en-US" dirty="0"/>
                  <a:t> as the sample space of the experiment of rolling one die, we can define an event, </a:t>
                </a:r>
                <a14:m>
                  <m:oMath xmlns:m="http://schemas.openxmlformats.org/officeDocument/2006/math">
                    <m:r>
                      <a:rPr lang="en-US" b="0" i="1" smtClean="0">
                        <a:latin typeface="Cambria Math"/>
                      </a:rPr>
                      <m:t>𝐴</m:t>
                    </m:r>
                  </m:oMath>
                </a14:m>
                <a:r>
                  <a:rPr lang="en-US" dirty="0"/>
                  <a:t>, that the die lands on an even number. In this case, </a:t>
                </a:r>
                <a14:m>
                  <m:oMath xmlns:m="http://schemas.openxmlformats.org/officeDocument/2006/math">
                    <m:r>
                      <a:rPr lang="en-US" b="0" i="0" smtClean="0">
                        <a:latin typeface="Cambria Math"/>
                      </a:rPr>
                      <m:t> </m:t>
                    </m:r>
                    <m:r>
                      <a:rPr lang="en-US" b="0" i="1" smtClean="0">
                        <a:latin typeface="Cambria Math"/>
                      </a:rPr>
                      <m:t>𝐴</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2, 4, 6</m:t>
                        </m:r>
                      </m:e>
                    </m:d>
                    <m:r>
                      <a:rPr lang="en-US" b="0" i="0" smtClean="0">
                        <a:latin typeface="Cambria Math"/>
                      </a:rPr>
                      <m:t>.</m:t>
                    </m:r>
                  </m:oMath>
                </a14:m>
                <a:endParaRPr lang="en-US" b="0" dirty="0"/>
              </a:p>
              <a:p>
                <a:endParaRPr lang="en-US" dirty="0"/>
              </a:p>
              <a:p>
                <a:r>
                  <a:rPr lang="en-US" dirty="0"/>
                  <a:t>Important: from set theory, all elements of a subset are also in the set. By definition </a:t>
                </a:r>
                <a14:m>
                  <m:oMath xmlns:m="http://schemas.openxmlformats.org/officeDocument/2006/math">
                    <m:r>
                      <a:rPr lang="en-US" b="0" i="1" smtClean="0">
                        <a:latin typeface="Cambria Math"/>
                      </a:rPr>
                      <m:t>𝑆</m:t>
                    </m:r>
                  </m:oMath>
                </a14:m>
                <a:r>
                  <a:rPr lang="en-US" dirty="0"/>
                  <a:t> is a subset of </a:t>
                </a:r>
                <a14:m>
                  <m:oMath xmlns:m="http://schemas.openxmlformats.org/officeDocument/2006/math">
                    <m:r>
                      <a:rPr lang="en-US" b="0" i="1" smtClean="0">
                        <a:latin typeface="Cambria Math"/>
                      </a:rPr>
                      <m:t>𝑆</m:t>
                    </m:r>
                  </m:oMath>
                </a14:m>
                <a:r>
                  <a:rPr lang="en-US" dirty="0"/>
                  <a:t>. Also, the empty set, </a:t>
                </a:r>
                <a14:m>
                  <m:oMath xmlns:m="http://schemas.openxmlformats.org/officeDocument/2006/math">
                    <m:r>
                      <a:rPr lang="en-US" b="0" i="1" smtClean="0">
                        <a:latin typeface="Cambria Math"/>
                      </a:rPr>
                      <m:t>∅</m:t>
                    </m:r>
                  </m:oMath>
                </a14:m>
                <a:r>
                  <a:rPr lang="en-US" dirty="0"/>
                  <a:t>, is a subset of </a:t>
                </a:r>
                <a14:m>
                  <m:oMath xmlns:m="http://schemas.openxmlformats.org/officeDocument/2006/math">
                    <m:r>
                      <a:rPr lang="en-US" b="0" i="1" smtClean="0">
                        <a:latin typeface="Cambria Math"/>
                      </a:rPr>
                      <m:t>𝑆</m:t>
                    </m:r>
                  </m:oMath>
                </a14:m>
                <a:r>
                  <a:rPr lang="en-US" dirty="0"/>
                  <a:t>. So we </a:t>
                </a:r>
                <a:r>
                  <a:rPr lang="en-US" i="1" dirty="0"/>
                  <a:t>can</a:t>
                </a:r>
                <a:r>
                  <a:rPr lang="en-US" dirty="0"/>
                  <a:t> define an event where the die comes up 7. In this case, </a:t>
                </a:r>
                <a14:m>
                  <m:oMath xmlns:m="http://schemas.openxmlformats.org/officeDocument/2006/math">
                    <m:r>
                      <a:rPr lang="en-US" b="0" i="0" smtClean="0">
                        <a:latin typeface="Cambria Math"/>
                      </a:rPr>
                      <m:t> </m:t>
                    </m:r>
                    <m:r>
                      <a:rPr lang="en-US" b="0" i="1" smtClean="0">
                        <a:latin typeface="Cambria Math"/>
                      </a:rPr>
                      <m:t>𝐵</m:t>
                    </m:r>
                    <m:r>
                      <a:rPr lang="en-US" b="0" i="1" smtClean="0">
                        <a:latin typeface="Cambria Math"/>
                      </a:rPr>
                      <m:t>=∅</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2372" r="-1037"/>
                </a:stretch>
              </a:blipFill>
            </p:spPr>
            <p:txBody>
              <a:bodyPr/>
              <a:lstStyle/>
              <a:p>
                <a:r>
                  <a:rPr lang="en-US">
                    <a:noFill/>
                  </a:rPr>
                  <a:t> </a:t>
                </a:r>
              </a:p>
            </p:txBody>
          </p:sp>
        </mc:Fallback>
      </mc:AlternateContent>
    </p:spTree>
    <p:extLst>
      <p:ext uri="{BB962C8B-B14F-4D97-AF65-F5344CB8AC3E}">
        <p14:creationId xmlns:p14="http://schemas.microsoft.com/office/powerpoint/2010/main" val="2118718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In defining events, it is often useful to use the </a:t>
                </a:r>
                <a:r>
                  <a:rPr lang="en-US" i="1" dirty="0"/>
                  <a:t>complement</a:t>
                </a:r>
                <a:r>
                  <a:rPr lang="en-US" dirty="0"/>
                  <a:t>.</a:t>
                </a:r>
              </a:p>
              <a:p>
                <a:endParaRPr lang="en-US" dirty="0"/>
              </a:p>
              <a:p>
                <a:r>
                  <a:rPr lang="en-US" dirty="0"/>
                  <a:t>Given an event, </a:t>
                </a:r>
                <a14:m>
                  <m:oMath xmlns:m="http://schemas.openxmlformats.org/officeDocument/2006/math">
                    <m:r>
                      <a:rPr lang="en-US" b="0" i="1" smtClean="0">
                        <a:latin typeface="Cambria Math"/>
                      </a:rPr>
                      <m:t>𝐴</m:t>
                    </m:r>
                  </m:oMath>
                </a14:m>
                <a:r>
                  <a:rPr lang="en-US" dirty="0"/>
                  <a:t>, the complement of </a:t>
                </a:r>
                <a14:m>
                  <m:oMath xmlns:m="http://schemas.openxmlformats.org/officeDocument/2006/math">
                    <m:r>
                      <a:rPr lang="en-US" b="0" i="1" smtClean="0">
                        <a:latin typeface="Cambria Math"/>
                      </a:rPr>
                      <m:t>𝐴</m:t>
                    </m:r>
                  </m:oMath>
                </a14:m>
                <a:r>
                  <a:rPr lang="en-US" dirty="0"/>
                  <a:t> with respect to </a:t>
                </a:r>
                <a14:m>
                  <m:oMath xmlns:m="http://schemas.openxmlformats.org/officeDocument/2006/math">
                    <m:r>
                      <a:rPr lang="en-US" b="0" i="1" smtClean="0">
                        <a:latin typeface="Cambria Math"/>
                      </a:rPr>
                      <m:t>𝑆</m:t>
                    </m:r>
                  </m:oMath>
                </a14:m>
                <a:r>
                  <a:rPr lang="en-US" dirty="0"/>
                  <a:t> is </a:t>
                </a:r>
                <a:r>
                  <a:rPr lang="en-US" b="1" dirty="0"/>
                  <a:t>the subset of all elements of </a:t>
                </a:r>
                <a14:m>
                  <m:oMath xmlns:m="http://schemas.openxmlformats.org/officeDocument/2006/math">
                    <m:r>
                      <a:rPr lang="en-US" b="1" i="1" smtClean="0">
                        <a:latin typeface="Cambria Math"/>
                      </a:rPr>
                      <m:t>𝑺</m:t>
                    </m:r>
                  </m:oMath>
                </a14:m>
                <a:r>
                  <a:rPr lang="en-US" dirty="0"/>
                  <a:t> </a:t>
                </a:r>
                <a:r>
                  <a:rPr lang="en-US" b="1" dirty="0"/>
                  <a:t>that are not in </a:t>
                </a:r>
                <a14:m>
                  <m:oMath xmlns:m="http://schemas.openxmlformats.org/officeDocument/2006/math">
                    <m:r>
                      <a:rPr lang="en-US" b="1" i="1" smtClean="0">
                        <a:latin typeface="Cambria Math"/>
                      </a:rPr>
                      <m:t>𝑨</m:t>
                    </m:r>
                  </m:oMath>
                </a14:m>
                <a:r>
                  <a:rPr lang="en-US" dirty="0"/>
                  <a:t>. The complement of </a:t>
                </a:r>
                <a14:m>
                  <m:oMath xmlns:m="http://schemas.openxmlformats.org/officeDocument/2006/math">
                    <m:r>
                      <a:rPr lang="en-US" b="0" i="1" smtClean="0">
                        <a:latin typeface="Cambria Math"/>
                      </a:rPr>
                      <m:t>𝐴</m:t>
                    </m:r>
                  </m:oMath>
                </a14:m>
                <a:r>
                  <a:rPr lang="en-US" dirty="0"/>
                  <a:t> is denoted by </a:t>
                </a:r>
                <a14:m>
                  <m:oMath xmlns:m="http://schemas.openxmlformats.org/officeDocument/2006/math">
                    <m:r>
                      <a:rPr lang="en-US" b="0" i="1" smtClean="0">
                        <a:latin typeface="Cambria Math"/>
                      </a:rPr>
                      <m:t>𝐴</m:t>
                    </m:r>
                    <m:r>
                      <a:rPr lang="en-US" b="0" i="1" smtClean="0">
                        <a:latin typeface="Cambria Math"/>
                      </a:rPr>
                      <m:t>′</m:t>
                    </m:r>
                  </m:oMath>
                </a14:m>
                <a:r>
                  <a:rPr lang="en-US" dirty="0"/>
                  <a:t>.</a:t>
                </a:r>
              </a:p>
              <a:p>
                <a:pPr marL="109728"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1630"/>
                </a:stretch>
              </a:blipFill>
            </p:spPr>
            <p:txBody>
              <a:bodyPr/>
              <a:lstStyle/>
              <a:p>
                <a:r>
                  <a:rPr lang="en-US">
                    <a:noFill/>
                  </a:rPr>
                  <a:t> </a:t>
                </a:r>
              </a:p>
            </p:txBody>
          </p:sp>
        </mc:Fallback>
      </mc:AlternateContent>
    </p:spTree>
    <p:extLst>
      <p:ext uri="{BB962C8B-B14F-4D97-AF65-F5344CB8AC3E}">
        <p14:creationId xmlns:p14="http://schemas.microsoft.com/office/powerpoint/2010/main" val="1712207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For example, suppose </a:t>
                </a:r>
                <a14:m>
                  <m:oMath xmlns:m="http://schemas.openxmlformats.org/officeDocument/2006/math">
                    <m:r>
                      <a:rPr lang="en-US" b="0" i="1" smtClean="0">
                        <a:latin typeface="Cambria Math"/>
                      </a:rPr>
                      <m:t>𝐴</m:t>
                    </m:r>
                  </m:oMath>
                </a14:m>
                <a:r>
                  <a:rPr lang="en-US" dirty="0"/>
                  <a:t> is the event that the die we roll comes up even. As given before, </a:t>
                </a:r>
                <a14:m>
                  <m:oMath xmlns:m="http://schemas.openxmlformats.org/officeDocument/2006/math">
                    <m:r>
                      <a:rPr lang="en-US" b="0" i="1" smtClean="0">
                        <a:latin typeface="Cambria Math"/>
                      </a:rPr>
                      <m:t>𝐴</m:t>
                    </m:r>
                    <m:r>
                      <a:rPr lang="en-US" b="0" i="1" smtClean="0">
                        <a:latin typeface="Cambria Math"/>
                      </a:rPr>
                      <m:t>={2, 4, 6}</m:t>
                    </m:r>
                  </m:oMath>
                </a14:m>
                <a:r>
                  <a:rPr lang="en-US" dirty="0"/>
                  <a:t>. Then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1, 3, 5</m:t>
                        </m:r>
                      </m:e>
                    </m:d>
                    <m:r>
                      <a:rPr lang="en-US" b="0" i="0" smtClean="0">
                        <a:latin typeface="Cambria Math"/>
                      </a:rPr>
                      <m:t> </m:t>
                    </m:r>
                  </m:oMath>
                </a14:m>
                <a:r>
                  <a:rPr lang="en-US" dirty="0"/>
                  <a:t>(here </a:t>
                </a:r>
                <a14:m>
                  <m:oMath xmlns:m="http://schemas.openxmlformats.org/officeDocument/2006/math">
                    <m:r>
                      <a:rPr lang="en-US" b="0" i="1" smtClean="0">
                        <a:latin typeface="Cambria Math"/>
                      </a:rPr>
                      <m:t>𝐴</m:t>
                    </m:r>
                    <m:r>
                      <a:rPr lang="en-US" b="0" i="1" smtClean="0">
                        <a:latin typeface="Cambria Math"/>
                      </a:rPr>
                      <m:t>′</m:t>
                    </m:r>
                  </m:oMath>
                </a14:m>
                <a:r>
                  <a:rPr lang="en-US" dirty="0"/>
                  <a:t> is the event that the die comes up odd).</a:t>
                </a:r>
              </a:p>
              <a:p>
                <a:endParaRPr lang="en-US" dirty="0"/>
              </a:p>
              <a:p>
                <a:r>
                  <a:rPr lang="en-US" dirty="0"/>
                  <a:t>Example: If </a:t>
                </a:r>
                <a14:m>
                  <m:oMath xmlns:m="http://schemas.openxmlformats.org/officeDocument/2006/math">
                    <m:r>
                      <a:rPr lang="en-US" b="0" i="1" smtClean="0">
                        <a:latin typeface="Cambria Math"/>
                      </a:rPr>
                      <m:t>𝑆</m:t>
                    </m:r>
                  </m:oMath>
                </a14:m>
                <a:r>
                  <a:rPr lang="en-US" dirty="0"/>
                  <a:t> contains the four playing card suits and </a:t>
                </a:r>
                <a14:m>
                  <m:oMath xmlns:m="http://schemas.openxmlformats.org/officeDocument/2006/math">
                    <m:r>
                      <a:rPr lang="en-US" b="0" i="1" smtClean="0">
                        <a:latin typeface="Cambria Math"/>
                      </a:rPr>
                      <m:t>𝐴</m:t>
                    </m:r>
                  </m:oMath>
                </a14:m>
                <a:r>
                  <a:rPr lang="en-US" dirty="0"/>
                  <a:t> is the event that the drawn card is red, list both the elements of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𝐴</m:t>
                    </m:r>
                    <m:r>
                      <a:rPr lang="en-US" b="0" i="1" smtClean="0">
                        <a:latin typeface="Cambria Math"/>
                      </a:rPr>
                      <m:t>′</m:t>
                    </m:r>
                  </m:oMath>
                </a14:m>
                <a:r>
                  <a:rPr lang="en-US" dirty="0"/>
                  <a:t>.</a:t>
                </a:r>
              </a:p>
              <a:p>
                <a:pPr marL="109728"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r="-1556"/>
                </a:stretch>
              </a:blipFill>
            </p:spPr>
            <p:txBody>
              <a:bodyPr/>
              <a:lstStyle/>
              <a:p>
                <a:r>
                  <a:rPr lang="en-US">
                    <a:noFill/>
                  </a:rPr>
                  <a:t> </a:t>
                </a:r>
              </a:p>
            </p:txBody>
          </p:sp>
        </mc:Fallback>
      </mc:AlternateContent>
    </p:spTree>
    <p:extLst>
      <p:ext uri="{BB962C8B-B14F-4D97-AF65-F5344CB8AC3E}">
        <p14:creationId xmlns:p14="http://schemas.microsoft.com/office/powerpoint/2010/main" val="3990598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For this example, </a:t>
                </a:r>
                <a14:m>
                  <m:oMath xmlns:m="http://schemas.openxmlformats.org/officeDocument/2006/math">
                    <m:r>
                      <a:rPr lang="en-US" b="0" i="1" smtClean="0">
                        <a:latin typeface="Cambria Math"/>
                      </a:rPr>
                      <m:t>𝐴</m:t>
                    </m:r>
                    <m:r>
                      <a:rPr lang="en-US" b="0" i="1" smtClean="0">
                        <a:latin typeface="Cambria Math"/>
                      </a:rPr>
                      <m:t>={</m:t>
                    </m:r>
                    <m:r>
                      <m:rPr>
                        <m:sty m:val="p"/>
                      </m:rPr>
                      <a:rPr lang="en-US" b="0" i="0" smtClean="0">
                        <a:latin typeface="Cambria Math"/>
                      </a:rPr>
                      <m:t>heart</m:t>
                    </m:r>
                    <m:r>
                      <a:rPr lang="en-US" b="0" i="0" smtClean="0">
                        <a:latin typeface="Cambria Math"/>
                      </a:rPr>
                      <m:t>, </m:t>
                    </m:r>
                    <m:r>
                      <m:rPr>
                        <m:sty m:val="p"/>
                      </m:rPr>
                      <a:rPr lang="en-US" b="0" i="0" smtClean="0">
                        <a:latin typeface="Cambria Math"/>
                      </a:rPr>
                      <m:t>diamond</m:t>
                    </m:r>
                    <m:r>
                      <a:rPr lang="en-US" b="0" i="1" smtClean="0">
                        <a:latin typeface="Cambria Math"/>
                      </a:rPr>
                      <m:t>}</m:t>
                    </m:r>
                  </m:oMath>
                </a14:m>
                <a:r>
                  <a:rPr lang="en-US"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r>
                      <m:rPr>
                        <m:sty m:val="p"/>
                      </m:rPr>
                      <a:rPr lang="en-US" b="0" i="0" smtClean="0">
                        <a:latin typeface="Cambria Math"/>
                      </a:rPr>
                      <m:t>spade</m:t>
                    </m:r>
                    <m:r>
                      <a:rPr lang="en-US" b="0" i="0" smtClean="0">
                        <a:latin typeface="Cambria Math"/>
                      </a:rPr>
                      <m:t>, </m:t>
                    </m:r>
                    <m:r>
                      <m:rPr>
                        <m:sty m:val="p"/>
                      </m:rPr>
                      <a:rPr lang="en-US" b="0" i="0" smtClean="0">
                        <a:latin typeface="Cambria Math"/>
                      </a:rPr>
                      <m:t>club</m:t>
                    </m:r>
                    <m:r>
                      <a:rPr lang="en-US" b="0" i="1" smtClean="0">
                        <a:latin typeface="Cambria Math"/>
                      </a:rPr>
                      <m:t>}</m:t>
                    </m:r>
                  </m:oMath>
                </a14:m>
                <a:r>
                  <a:rPr lang="en-US" dirty="0"/>
                  <a:t>.</a:t>
                </a:r>
              </a:p>
              <a:p>
                <a:endParaRPr lang="en-US" dirty="0"/>
              </a:p>
              <a:p>
                <a:r>
                  <a:rPr lang="en-US" dirty="0"/>
                  <a:t>The next operator we are interested in is called the </a:t>
                </a:r>
                <a:r>
                  <a:rPr lang="en-US" i="1" dirty="0"/>
                  <a:t>intersection</a:t>
                </a:r>
                <a:r>
                  <a:rPr lang="en-US" dirty="0"/>
                  <a:t>. The intersection operates on two events.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r="-1111"/>
                </a:stretch>
              </a:blipFill>
            </p:spPr>
            <p:txBody>
              <a:bodyPr/>
              <a:lstStyle/>
              <a:p>
                <a:r>
                  <a:rPr lang="en-US">
                    <a:noFill/>
                  </a:rPr>
                  <a:t> </a:t>
                </a:r>
              </a:p>
            </p:txBody>
          </p:sp>
        </mc:Fallback>
      </mc:AlternateContent>
    </p:spTree>
    <p:extLst>
      <p:ext uri="{BB962C8B-B14F-4D97-AF65-F5344CB8AC3E}">
        <p14:creationId xmlns:p14="http://schemas.microsoft.com/office/powerpoint/2010/main" val="2223247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Given two events,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the intersection of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r>
                      <a:rPr lang="en-US" b="0" i="1" smtClean="0">
                        <a:latin typeface="Cambria Math"/>
                      </a:rPr>
                      <m:t>,</m:t>
                    </m:r>
                  </m:oMath>
                </a14:m>
                <a:r>
                  <a:rPr lang="en-US" dirty="0"/>
                  <a:t> denoted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oMath>
                </a14:m>
                <a:r>
                  <a:rPr lang="en-US" dirty="0"/>
                  <a:t>, </a:t>
                </a:r>
                <a:r>
                  <a:rPr lang="en-US" b="1" dirty="0"/>
                  <a:t>is the event containing all elements that are common to </a:t>
                </a:r>
                <a14:m>
                  <m:oMath xmlns:m="http://schemas.openxmlformats.org/officeDocument/2006/math">
                    <m:r>
                      <a:rPr lang="en-US" b="1" i="1" smtClean="0">
                        <a:latin typeface="Cambria Math"/>
                      </a:rPr>
                      <m:t>𝑨</m:t>
                    </m:r>
                  </m:oMath>
                </a14:m>
                <a:r>
                  <a:rPr lang="en-US" b="1" dirty="0"/>
                  <a:t> and </a:t>
                </a:r>
                <a14:m>
                  <m:oMath xmlns:m="http://schemas.openxmlformats.org/officeDocument/2006/math">
                    <m:r>
                      <a:rPr lang="en-US" b="1" i="1" smtClean="0">
                        <a:latin typeface="Cambria Math"/>
                      </a:rPr>
                      <m:t>𝑩</m:t>
                    </m:r>
                  </m:oMath>
                </a14:m>
                <a:r>
                  <a:rPr lang="en-US" b="1" dirty="0"/>
                  <a:t>.</a:t>
                </a:r>
                <a:endParaRPr lang="en-US" dirty="0"/>
              </a:p>
              <a:p>
                <a:endParaRPr lang="en-US" b="1" dirty="0"/>
              </a:p>
              <a:p>
                <a:r>
                  <a:rPr lang="en-US" dirty="0"/>
                  <a:t>Suppose we flip a coin two times. Let </a:t>
                </a:r>
                <a14:m>
                  <m:oMath xmlns:m="http://schemas.openxmlformats.org/officeDocument/2006/math">
                    <m:r>
                      <a:rPr lang="en-US" b="0" i="1" smtClean="0">
                        <a:latin typeface="Cambria Math"/>
                      </a:rPr>
                      <m:t>𝐴</m:t>
                    </m:r>
                  </m:oMath>
                </a14:m>
                <a:r>
                  <a:rPr lang="en-US" dirty="0"/>
                  <a:t> be the event that we observe at least one head and </a:t>
                </a:r>
                <a14:m>
                  <m:oMath xmlns:m="http://schemas.openxmlformats.org/officeDocument/2006/math">
                    <m:r>
                      <a:rPr lang="en-US" b="0" i="1" smtClean="0">
                        <a:latin typeface="Cambria Math"/>
                      </a:rPr>
                      <m:t>𝐵</m:t>
                    </m:r>
                  </m:oMath>
                </a14:m>
                <a:r>
                  <a:rPr lang="en-US" dirty="0"/>
                  <a:t> the event that we observe at least one tail. Then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𝐻𝐻</m:t>
                    </m:r>
                    <m:r>
                      <a:rPr lang="en-US" b="0" i="1" smtClean="0">
                        <a:latin typeface="Cambria Math"/>
                      </a:rPr>
                      <m:t>, </m:t>
                    </m:r>
                    <m:r>
                      <a:rPr lang="en-US" b="0" i="1" smtClean="0">
                        <a:latin typeface="Cambria Math"/>
                      </a:rPr>
                      <m:t>𝐻𝑇</m:t>
                    </m:r>
                    <m:r>
                      <a:rPr lang="en-US" b="0" i="1" smtClean="0">
                        <a:latin typeface="Cambria Math"/>
                      </a:rPr>
                      <m:t>, </m:t>
                    </m:r>
                    <m:r>
                      <a:rPr lang="en-US" b="0" i="1" smtClean="0">
                        <a:latin typeface="Cambria Math"/>
                      </a:rPr>
                      <m:t>𝑇𝐻</m:t>
                    </m:r>
                  </m:oMath>
                </a14:m>
                <a:r>
                  <a:rPr lang="en-US" dirty="0"/>
                  <a:t>} and </a:t>
                </a:r>
                <a14:m>
                  <m:oMath xmlns:m="http://schemas.openxmlformats.org/officeDocument/2006/math">
                    <m:r>
                      <a:rPr lang="en-US" b="0" i="1" smtClean="0">
                        <a:latin typeface="Cambria Math"/>
                      </a:rPr>
                      <m:t>𝐵</m:t>
                    </m:r>
                    <m:r>
                      <a:rPr lang="en-US" b="0" i="1" smtClean="0">
                        <a:latin typeface="Cambria Math"/>
                      </a:rPr>
                      <m:t>={</m:t>
                    </m:r>
                    <m:r>
                      <a:rPr lang="en-US" b="0" i="1" smtClean="0">
                        <a:latin typeface="Cambria Math"/>
                      </a:rPr>
                      <m:t>𝐻𝑇</m:t>
                    </m:r>
                    <m:r>
                      <a:rPr lang="en-US" b="0" i="1" smtClean="0">
                        <a:latin typeface="Cambria Math"/>
                      </a:rPr>
                      <m:t>, </m:t>
                    </m:r>
                    <m:r>
                      <a:rPr lang="en-US" b="0" i="1" smtClean="0">
                        <a:latin typeface="Cambria Math"/>
                      </a:rPr>
                      <m:t>𝑇𝐻</m:t>
                    </m:r>
                    <m:r>
                      <a:rPr lang="en-US" b="0" i="1" smtClean="0">
                        <a:latin typeface="Cambria Math"/>
                      </a:rPr>
                      <m:t>, </m:t>
                    </m:r>
                    <m:r>
                      <a:rPr lang="en-US" b="0" i="1" smtClean="0">
                        <a:latin typeface="Cambria Math"/>
                      </a:rPr>
                      <m:t>𝑇𝑇</m:t>
                    </m:r>
                    <m:r>
                      <a:rPr lang="en-US" b="0" i="1" smtClean="0">
                        <a:latin typeface="Cambria Math"/>
                      </a:rPr>
                      <m:t>}</m:t>
                    </m:r>
                  </m:oMath>
                </a14:m>
                <a:r>
                  <a:rPr lang="en-US" dirty="0"/>
                  <a:t>. Here,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𝐻𝑇</m:t>
                    </m:r>
                    <m:r>
                      <a:rPr lang="en-US" b="0" i="1" smtClean="0">
                        <a:latin typeface="Cambria Math"/>
                      </a:rPr>
                      <m:t>, </m:t>
                    </m:r>
                    <m:r>
                      <a:rPr lang="en-US" b="0" i="1" smtClean="0">
                        <a:latin typeface="Cambria Math"/>
                      </a:rPr>
                      <m:t>𝑇𝐻</m:t>
                    </m:r>
                    <m:r>
                      <a:rPr lang="en-US" b="0" i="1" smtClean="0">
                        <a:latin typeface="Cambria Math"/>
                      </a:rPr>
                      <m:t>}</m:t>
                    </m:r>
                  </m:oMath>
                </a14:m>
                <a:r>
                  <a:rPr lang="en-US" dirty="0"/>
                  <a:t> because both of these elements appear in both events.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r="-815"/>
                </a:stretch>
              </a:blipFill>
            </p:spPr>
            <p:txBody>
              <a:bodyPr/>
              <a:lstStyle/>
              <a:p>
                <a:r>
                  <a:rPr lang="en-US">
                    <a:noFill/>
                  </a:rPr>
                  <a:t> </a:t>
                </a:r>
              </a:p>
            </p:txBody>
          </p:sp>
        </mc:Fallback>
      </mc:AlternateContent>
    </p:spTree>
    <p:extLst>
      <p:ext uri="{BB962C8B-B14F-4D97-AF65-F5344CB8AC3E}">
        <p14:creationId xmlns:p14="http://schemas.microsoft.com/office/powerpoint/2010/main" val="3617317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If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oMath>
                </a14:m>
                <a:r>
                  <a:rPr lang="en-US" dirty="0"/>
                  <a:t>, we say that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are </a:t>
                </a:r>
                <a:r>
                  <a:rPr lang="en-US" i="1" dirty="0"/>
                  <a:t>mutually exclusive </a:t>
                </a:r>
                <a:r>
                  <a:rPr lang="en-US" dirty="0"/>
                  <a:t>(</a:t>
                </a:r>
                <a:r>
                  <a:rPr lang="en-US" i="1" dirty="0"/>
                  <a:t>disjoint</a:t>
                </a:r>
                <a:r>
                  <a:rPr lang="en-US" dirty="0"/>
                  <a:t>) events. That is,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have no elements in common.</a:t>
                </a:r>
              </a:p>
              <a:p>
                <a:endParaRPr lang="en-US" dirty="0"/>
              </a:p>
              <a:p>
                <a:r>
                  <a:rPr lang="en-US" dirty="0"/>
                  <a:t>The final operator we need to discuss is the </a:t>
                </a:r>
                <a:r>
                  <a:rPr lang="en-US" i="1" dirty="0"/>
                  <a:t>union</a:t>
                </a:r>
                <a:r>
                  <a:rPr lang="en-US" dirty="0"/>
                  <a:t> of two events. </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a:stretch>
              </a:blipFill>
            </p:spPr>
            <p:txBody>
              <a:bodyPr/>
              <a:lstStyle/>
              <a:p>
                <a:r>
                  <a:rPr lang="en-US">
                    <a:noFill/>
                  </a:rPr>
                  <a:t> </a:t>
                </a:r>
              </a:p>
            </p:txBody>
          </p:sp>
        </mc:Fallback>
      </mc:AlternateContent>
    </p:spTree>
    <p:extLst>
      <p:ext uri="{BB962C8B-B14F-4D97-AF65-F5344CB8AC3E}">
        <p14:creationId xmlns:p14="http://schemas.microsoft.com/office/powerpoint/2010/main" val="2076608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The union of two events, denoted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oMath>
                </a14:m>
                <a:r>
                  <a:rPr lang="en-US" dirty="0"/>
                  <a:t>, is the event containing all the elements that belong to </a:t>
                </a:r>
                <a14:m>
                  <m:oMath xmlns:m="http://schemas.openxmlformats.org/officeDocument/2006/math">
                    <m:r>
                      <a:rPr lang="en-US" b="0" i="1" smtClean="0">
                        <a:latin typeface="Cambria Math"/>
                      </a:rPr>
                      <m:t>𝐴</m:t>
                    </m:r>
                  </m:oMath>
                </a14:m>
                <a:r>
                  <a:rPr lang="en-US" dirty="0"/>
                  <a:t> or </a:t>
                </a:r>
                <a14:m>
                  <m:oMath xmlns:m="http://schemas.openxmlformats.org/officeDocument/2006/math">
                    <m:r>
                      <a:rPr lang="en-US" b="0" i="1" smtClean="0">
                        <a:latin typeface="Cambria Math"/>
                      </a:rPr>
                      <m:t>𝐵</m:t>
                    </m:r>
                  </m:oMath>
                </a14:m>
                <a:r>
                  <a:rPr lang="en-US" dirty="0"/>
                  <a:t> or both. </a:t>
                </a:r>
              </a:p>
              <a:p>
                <a:endParaRPr lang="en-US" dirty="0"/>
              </a:p>
              <a:p>
                <a:r>
                  <a:rPr lang="en-US" dirty="0"/>
                  <a:t>Using the same events as the previous example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𝐻𝐻</m:t>
                    </m:r>
                    <m:r>
                      <a:rPr lang="en-US" b="0" i="1" smtClean="0">
                        <a:latin typeface="Cambria Math"/>
                      </a:rPr>
                      <m:t>, </m:t>
                    </m:r>
                    <m:r>
                      <a:rPr lang="en-US" b="0" i="1" smtClean="0">
                        <a:latin typeface="Cambria Math"/>
                      </a:rPr>
                      <m:t>𝐻𝑇</m:t>
                    </m:r>
                    <m:r>
                      <a:rPr lang="en-US" b="0" i="1" smtClean="0">
                        <a:latin typeface="Cambria Math"/>
                      </a:rPr>
                      <m:t>, </m:t>
                    </m:r>
                    <m:r>
                      <a:rPr lang="en-US" b="0" i="1" smtClean="0">
                        <a:latin typeface="Cambria Math"/>
                      </a:rPr>
                      <m:t>𝑇𝐻</m:t>
                    </m:r>
                    <m:r>
                      <a:rPr lang="en-US" b="0" i="1" smtClean="0">
                        <a:latin typeface="Cambria Math"/>
                      </a:rPr>
                      <m:t>}</m:t>
                    </m:r>
                  </m:oMath>
                </a14:m>
                <a:r>
                  <a:rPr lang="en-US" dirty="0"/>
                  <a:t> and </a:t>
                </a:r>
                <a14:m>
                  <m:oMath xmlns:m="http://schemas.openxmlformats.org/officeDocument/2006/math">
                    <m:r>
                      <a:rPr lang="en-US" b="0" i="1" smtClean="0">
                        <a:latin typeface="Cambria Math"/>
                      </a:rPr>
                      <m:t>𝐵</m:t>
                    </m:r>
                    <m:r>
                      <a:rPr lang="en-US" b="0" i="1" smtClean="0">
                        <a:latin typeface="Cambria Math"/>
                      </a:rPr>
                      <m:t>={</m:t>
                    </m:r>
                    <m:r>
                      <a:rPr lang="en-US" b="0" i="1" smtClean="0">
                        <a:latin typeface="Cambria Math"/>
                      </a:rPr>
                      <m:t>𝐻𝑇</m:t>
                    </m:r>
                    <m:r>
                      <a:rPr lang="en-US" b="0" i="1" smtClean="0">
                        <a:latin typeface="Cambria Math"/>
                      </a:rPr>
                      <m:t>, </m:t>
                    </m:r>
                    <m:r>
                      <a:rPr lang="en-US" b="0" i="1" smtClean="0">
                        <a:latin typeface="Cambria Math"/>
                      </a:rPr>
                      <m:t>𝑇𝐻</m:t>
                    </m:r>
                    <m:r>
                      <a:rPr lang="en-US" b="0" i="1" smtClean="0">
                        <a:latin typeface="Cambria Math"/>
                      </a:rPr>
                      <m:t>, </m:t>
                    </m:r>
                    <m:r>
                      <a:rPr lang="en-US" b="0" i="1" smtClean="0">
                        <a:latin typeface="Cambria Math"/>
                      </a:rPr>
                      <m:t>𝑇𝑇</m:t>
                    </m:r>
                    <m:r>
                      <a:rPr lang="en-US" b="0" i="1" smtClean="0">
                        <a:latin typeface="Cambria Math"/>
                      </a:rPr>
                      <m:t>}</m:t>
                    </m:r>
                  </m:oMath>
                </a14:m>
                <a:r>
                  <a:rPr lang="en-US" dirty="0"/>
                  <a:t>), we have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𝐻𝐻</m:t>
                    </m:r>
                    <m:r>
                      <a:rPr lang="en-US" b="0" i="1" smtClean="0">
                        <a:latin typeface="Cambria Math"/>
                      </a:rPr>
                      <m:t>, </m:t>
                    </m:r>
                    <m:r>
                      <a:rPr lang="en-US" b="0" i="1" smtClean="0">
                        <a:latin typeface="Cambria Math"/>
                      </a:rPr>
                      <m:t>𝐻𝑇</m:t>
                    </m:r>
                    <m:r>
                      <a:rPr lang="en-US" b="0" i="1" smtClean="0">
                        <a:latin typeface="Cambria Math"/>
                      </a:rPr>
                      <m:t>, </m:t>
                    </m:r>
                    <m:r>
                      <a:rPr lang="en-US" b="0" i="1" smtClean="0">
                        <a:latin typeface="Cambria Math"/>
                      </a:rPr>
                      <m:t>𝑇𝐻</m:t>
                    </m:r>
                    <m:r>
                      <a:rPr lang="en-US" b="0" i="1" smtClean="0">
                        <a:latin typeface="Cambria Math"/>
                      </a:rPr>
                      <m:t>, </m:t>
                    </m:r>
                    <m:r>
                      <a:rPr lang="en-US" b="0" i="1" smtClean="0">
                        <a:latin typeface="Cambria Math"/>
                      </a:rPr>
                      <m:t>𝑇𝑇</m:t>
                    </m:r>
                    <m:r>
                      <a:rPr lang="en-US" b="0" i="1" smtClean="0">
                        <a:latin typeface="Cambria Math"/>
                      </a:rPr>
                      <m:t>}</m:t>
                    </m:r>
                  </m:oMath>
                </a14:m>
                <a:r>
                  <a:rPr lang="en-US" dirty="0"/>
                  <a:t>. Note that the union of two events will not always give us the whole sample space. This is just a very simple example.</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r="-1111"/>
                </a:stretch>
              </a:blipFill>
            </p:spPr>
            <p:txBody>
              <a:bodyPr/>
              <a:lstStyle/>
              <a:p>
                <a:r>
                  <a:rPr lang="en-US">
                    <a:noFill/>
                  </a:rPr>
                  <a:t> </a:t>
                </a:r>
              </a:p>
            </p:txBody>
          </p:sp>
        </mc:Fallback>
      </mc:AlternateContent>
    </p:spTree>
    <p:extLst>
      <p:ext uri="{BB962C8B-B14F-4D97-AF65-F5344CB8AC3E}">
        <p14:creationId xmlns:p14="http://schemas.microsoft.com/office/powerpoint/2010/main" val="1520425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Before trying some exercises, note that if you are trying to evaluate something like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𝐶</m:t>
                    </m:r>
                  </m:oMath>
                </a14:m>
                <a:r>
                  <a:rPr lang="en-US" dirty="0"/>
                  <a:t>, the rule is to work left to right. This notation is actually somewhat ambiguous, and I wouldn’t give it to you (at least on purpose…) </a:t>
                </a:r>
              </a:p>
              <a:p>
                <a:endParaRPr lang="en-US" dirty="0"/>
              </a:p>
              <a:p>
                <a:r>
                  <a:rPr lang="en-US" dirty="0"/>
                  <a:t>Maybe you’d see something like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r>
                      <a:rPr lang="en-US" b="0" i="1" smtClean="0">
                        <a:latin typeface="Cambria Math"/>
                      </a:rPr>
                      <m:t>∩</m:t>
                    </m:r>
                    <m:r>
                      <a:rPr lang="en-US" b="0" i="1" smtClean="0">
                        <a:latin typeface="Cambria Math"/>
                      </a:rPr>
                      <m:t>𝐶</m:t>
                    </m:r>
                  </m:oMath>
                </a14:m>
                <a:r>
                  <a:rPr lang="en-US" dirty="0"/>
                  <a:t> or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𝐶</m:t>
                    </m:r>
                    <m:r>
                      <a:rPr lang="en-US" b="0" i="1" smtClean="0">
                        <a:latin typeface="Cambria Math"/>
                      </a:rPr>
                      <m:t>)</m:t>
                    </m:r>
                  </m:oMath>
                </a14:m>
                <a:r>
                  <a:rPr lang="en-US" dirty="0"/>
                  <a:t>. In this case, do what’s inside the parentheses first. If no parentheses, work left to right.</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81" r="-1037"/>
                </a:stretch>
              </a:blipFill>
            </p:spPr>
            <p:txBody>
              <a:bodyPr/>
              <a:lstStyle/>
              <a:p>
                <a:r>
                  <a:rPr lang="en-US">
                    <a:noFill/>
                  </a:rPr>
                  <a:t> </a:t>
                </a:r>
              </a:p>
            </p:txBody>
          </p:sp>
        </mc:Fallback>
      </mc:AlternateContent>
    </p:spTree>
    <p:extLst>
      <p:ext uri="{BB962C8B-B14F-4D97-AF65-F5344CB8AC3E}">
        <p14:creationId xmlns:p14="http://schemas.microsoft.com/office/powerpoint/2010/main" val="95749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Exercise (2.14 in book): Given </a:t>
                </a:r>
                <a14:m>
                  <m:oMath xmlns:m="http://schemas.openxmlformats.org/officeDocument/2006/math">
                    <m:r>
                      <a:rPr lang="en-US" b="0" i="1" smtClean="0">
                        <a:latin typeface="Cambria Math"/>
                      </a:rPr>
                      <m:t>𝑆</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0,1,2,3,4,5,6,7,8,9</m:t>
                        </m:r>
                      </m:e>
                    </m:d>
                    <m:r>
                      <a:rPr lang="en-US" b="0" i="1" smtClean="0">
                        <a:latin typeface="Cambria Math"/>
                      </a:rPr>
                      <m:t>, </m:t>
                    </m:r>
                    <m:r>
                      <a:rPr lang="en-US" b="0" i="1" smtClean="0">
                        <a:latin typeface="Cambria Math"/>
                      </a:rPr>
                      <m:t>𝐴</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0,2,4,6,8</m:t>
                        </m:r>
                      </m:e>
                    </m:d>
                    <m:r>
                      <a:rPr lang="en-US" b="0" i="1" smtClean="0">
                        <a:latin typeface="Cambria Math"/>
                      </a:rPr>
                      <m:t>, </m:t>
                    </m:r>
                    <m:r>
                      <a:rPr lang="en-US" b="0" i="1" smtClean="0">
                        <a:latin typeface="Cambria Math"/>
                      </a:rPr>
                      <m:t>𝐵</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1,3,5,7,9</m:t>
                        </m:r>
                      </m:e>
                    </m:d>
                    <m:r>
                      <a:rPr lang="en-US" b="0" i="1" smtClean="0">
                        <a:latin typeface="Cambria Math"/>
                      </a:rPr>
                      <m:t>, </m:t>
                    </m:r>
                    <m:r>
                      <a:rPr lang="en-US" b="0" i="1" smtClean="0">
                        <a:latin typeface="Cambria Math"/>
                      </a:rPr>
                      <m:t>𝐶</m:t>
                    </m:r>
                    <m:r>
                      <a:rPr lang="en-US" b="0" i="1" smtClean="0">
                        <a:latin typeface="Cambria Math"/>
                      </a:rPr>
                      <m:t>={2,3,4,5}</m:t>
                    </m:r>
                  </m:oMath>
                </a14:m>
                <a:r>
                  <a:rPr lang="en-US" dirty="0"/>
                  <a:t>, and </a:t>
                </a:r>
                <a14:m>
                  <m:oMath xmlns:m="http://schemas.openxmlformats.org/officeDocument/2006/math">
                    <m:r>
                      <a:rPr lang="en-US" b="0" i="1" smtClean="0">
                        <a:latin typeface="Cambria Math"/>
                      </a:rPr>
                      <m:t>𝐷</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1,6,7</m:t>
                        </m:r>
                      </m:e>
                    </m:d>
                    <m:r>
                      <a:rPr lang="en-US" b="0" i="1" smtClean="0">
                        <a:latin typeface="Cambria Math"/>
                      </a:rPr>
                      <m:t>,</m:t>
                    </m:r>
                  </m:oMath>
                </a14:m>
                <a:r>
                  <a:rPr lang="en-US" dirty="0"/>
                  <a:t> list the elements in the following events:</a:t>
                </a:r>
              </a:p>
              <a:p>
                <a:pPr lvl="1"/>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𝐶</m:t>
                    </m:r>
                  </m:oMath>
                </a14:m>
                <a:endParaRPr lang="en-US" b="0" dirty="0"/>
              </a:p>
              <a:p>
                <a:pPr lvl="1"/>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oMath>
                </a14:m>
                <a:endParaRPr lang="en-US" b="0"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𝐶</m:t>
                        </m:r>
                      </m:e>
                      <m:sup>
                        <m:r>
                          <a:rPr lang="en-US" b="0" i="1" smtClean="0">
                            <a:latin typeface="Cambria Math"/>
                          </a:rPr>
                          <m:t>′</m:t>
                        </m:r>
                      </m:sup>
                    </m:sSup>
                  </m:oMath>
                </a14:m>
                <a:endParaRPr lang="en-US" b="0" dirty="0"/>
              </a:p>
              <a:p>
                <a:pPr lvl="1"/>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𝐶</m:t>
                            </m:r>
                          </m:e>
                          <m:sup>
                            <m:r>
                              <a:rPr lang="en-US" b="0" i="1" smtClean="0">
                                <a:latin typeface="Cambria Math"/>
                              </a:rPr>
                              <m:t>′</m:t>
                            </m:r>
                          </m:sup>
                        </m:sSup>
                        <m:r>
                          <a:rPr lang="en-US" b="0" i="1" smtClean="0">
                            <a:latin typeface="Cambria Math"/>
                          </a:rPr>
                          <m:t>∩</m:t>
                        </m:r>
                        <m:r>
                          <a:rPr lang="en-US" b="0" i="1" smtClean="0">
                            <a:latin typeface="Cambria Math"/>
                          </a:rPr>
                          <m:t>𝐷</m:t>
                        </m:r>
                      </m:e>
                    </m:d>
                    <m:r>
                      <a:rPr lang="en-US" b="0" i="1" smtClean="0">
                        <a:latin typeface="Cambria Math"/>
                      </a:rPr>
                      <m:t>∪</m:t>
                    </m:r>
                    <m:r>
                      <a:rPr lang="en-US" b="0" i="1" smtClean="0">
                        <a:latin typeface="Cambria Math"/>
                      </a:rPr>
                      <m:t>𝐵</m:t>
                    </m:r>
                  </m:oMath>
                </a14:m>
                <a:endParaRPr lang="en-US" b="0" dirty="0"/>
              </a:p>
              <a:p>
                <a:pPr lvl="1"/>
                <a14:m>
                  <m:oMath xmlns:m="http://schemas.openxmlformats.org/officeDocument/2006/math">
                    <m:r>
                      <a:rPr lang="en-US" b="0" i="1" smtClean="0">
                        <a:latin typeface="Cambria Math"/>
                      </a:rPr>
                      <m:t>(</m:t>
                    </m:r>
                    <m:r>
                      <a:rPr lang="en-US" b="0" i="1" smtClean="0">
                        <a:latin typeface="Cambria Math"/>
                      </a:rPr>
                      <m:t>𝑆</m:t>
                    </m:r>
                    <m:r>
                      <a:rPr lang="en-US" b="0" i="1" smtClean="0">
                        <a:latin typeface="Cambria Math"/>
                      </a:rPr>
                      <m:t>∩</m:t>
                    </m:r>
                    <m:r>
                      <a:rPr lang="en-US" b="0" i="1" smtClean="0">
                        <a:latin typeface="Cambria Math"/>
                      </a:rPr>
                      <m:t>𝐶</m:t>
                    </m:r>
                    <m:r>
                      <a:rPr lang="en-US" b="0" i="1" smtClean="0">
                        <a:latin typeface="Cambria Math"/>
                      </a:rPr>
                      <m:t>)′</m:t>
                    </m:r>
                  </m:oMath>
                </a14:m>
                <a:endParaRPr lang="en-US" dirty="0"/>
              </a:p>
              <a:p>
                <a:pPr lvl="1"/>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𝐶</m:t>
                    </m:r>
                    <m:r>
                      <a:rPr lang="en-US" b="0" i="1" smtClean="0">
                        <a:latin typeface="Cambria Math"/>
                      </a:rPr>
                      <m:t>∩</m:t>
                    </m:r>
                    <m:r>
                      <a:rPr lang="en-US" b="0" i="1" smtClean="0">
                        <a:latin typeface="Cambria Math"/>
                      </a:rPr>
                      <m:t>𝐷</m:t>
                    </m:r>
                  </m:oMath>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2372"/>
                </a:stretch>
              </a:blipFill>
            </p:spPr>
            <p:txBody>
              <a:bodyPr/>
              <a:lstStyle/>
              <a:p>
                <a:r>
                  <a:rPr lang="en-US">
                    <a:noFill/>
                  </a:rPr>
                  <a:t> </a:t>
                </a:r>
              </a:p>
            </p:txBody>
          </p:sp>
        </mc:Fallback>
      </mc:AlternateContent>
    </p:spTree>
    <p:extLst>
      <p:ext uri="{BB962C8B-B14F-4D97-AF65-F5344CB8AC3E}">
        <p14:creationId xmlns:p14="http://schemas.microsoft.com/office/powerpoint/2010/main" val="2782748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𝐶</m:t>
                    </m:r>
                    <m:r>
                      <a:rPr lang="en-US" b="0" i="1" smtClean="0">
                        <a:latin typeface="Cambria Math"/>
                      </a:rPr>
                      <m:t>={0,2,3,4,5,6,8}</m:t>
                    </m:r>
                  </m:oMath>
                </a14:m>
                <a:endParaRPr lang="en-US" b="0" dirty="0"/>
              </a:p>
              <a:p>
                <a:pPr lvl="1"/>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𝐵</m:t>
                    </m:r>
                    <m:r>
                      <a:rPr lang="en-US" i="1">
                        <a:latin typeface="Cambria Math"/>
                      </a:rPr>
                      <m:t>=</m:t>
                    </m:r>
                    <m:r>
                      <a:rPr lang="en-US" b="0" i="1" smtClean="0">
                        <a:latin typeface="Cambria Math"/>
                      </a:rPr>
                      <m:t>∅</m:t>
                    </m:r>
                  </m:oMath>
                </a14:m>
                <a:endParaRPr lang="en-US" b="0"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𝐶</m:t>
                        </m:r>
                      </m:e>
                      <m:sup>
                        <m:r>
                          <a:rPr lang="en-US" b="0" i="1" smtClean="0">
                            <a:latin typeface="Cambria Math"/>
                          </a:rPr>
                          <m:t>′</m:t>
                        </m:r>
                      </m:sup>
                    </m:sSup>
                    <m:r>
                      <a:rPr lang="en-US" i="1">
                        <a:latin typeface="Cambria Math"/>
                      </a:rPr>
                      <m:t>={0,</m:t>
                    </m:r>
                    <m:r>
                      <a:rPr lang="en-US" b="0" i="1" smtClean="0">
                        <a:latin typeface="Cambria Math"/>
                      </a:rPr>
                      <m:t>1,6,7,8,9</m:t>
                    </m:r>
                    <m:r>
                      <a:rPr lang="en-US" i="1">
                        <a:latin typeface="Cambria Math"/>
                      </a:rPr>
                      <m:t>}</m:t>
                    </m:r>
                  </m:oMath>
                </a14:m>
                <a:endParaRPr lang="en-US" dirty="0"/>
              </a:p>
              <a:p>
                <a:pPr lvl="1"/>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𝐶</m:t>
                            </m:r>
                          </m:e>
                          <m:sup>
                            <m:r>
                              <a:rPr lang="en-US" b="0" i="1" smtClean="0">
                                <a:latin typeface="Cambria Math"/>
                              </a:rPr>
                              <m:t>′</m:t>
                            </m:r>
                          </m:sup>
                        </m:sSup>
                        <m:r>
                          <a:rPr lang="en-US" b="0" i="1" smtClean="0">
                            <a:latin typeface="Cambria Math"/>
                          </a:rPr>
                          <m:t>∩</m:t>
                        </m:r>
                        <m:r>
                          <a:rPr lang="en-US" b="0" i="1" smtClean="0">
                            <a:latin typeface="Cambria Math"/>
                          </a:rPr>
                          <m:t>𝐷</m:t>
                        </m:r>
                      </m:e>
                    </m:d>
                    <m:r>
                      <a:rPr lang="en-US" b="0" i="1" smtClean="0">
                        <a:latin typeface="Cambria Math"/>
                      </a:rPr>
                      <m:t>∪</m:t>
                    </m:r>
                    <m:r>
                      <a:rPr lang="en-US" b="0" i="1" smtClean="0">
                        <a:latin typeface="Cambria Math"/>
                      </a:rPr>
                      <m:t>𝐵</m:t>
                    </m:r>
                    <m:r>
                      <a:rPr lang="en-US" i="1">
                        <a:latin typeface="Cambria Math"/>
                      </a:rPr>
                      <m:t>={</m:t>
                    </m:r>
                    <m:r>
                      <a:rPr lang="en-US" b="0" i="1" smtClean="0">
                        <a:latin typeface="Cambria Math"/>
                      </a:rPr>
                      <m:t>1,3,5,6,7,9</m:t>
                    </m:r>
                    <m:r>
                      <a:rPr lang="en-US" i="1">
                        <a:latin typeface="Cambria Math"/>
                      </a:rPr>
                      <m:t>}</m:t>
                    </m:r>
                  </m:oMath>
                </a14:m>
                <a:endParaRPr lang="en-US" dirty="0"/>
              </a:p>
              <a:p>
                <a:pPr lvl="1"/>
                <a14:m>
                  <m:oMath xmlns:m="http://schemas.openxmlformats.org/officeDocument/2006/math">
                    <m:r>
                      <a:rPr lang="en-US" b="0" i="1" smtClean="0">
                        <a:latin typeface="Cambria Math"/>
                      </a:rPr>
                      <m:t>(</m:t>
                    </m:r>
                    <m:r>
                      <a:rPr lang="en-US" b="0" i="1" smtClean="0">
                        <a:latin typeface="Cambria Math"/>
                      </a:rPr>
                      <m:t>𝑆</m:t>
                    </m:r>
                    <m:r>
                      <a:rPr lang="en-US" b="0" i="1" smtClean="0">
                        <a:latin typeface="Cambria Math"/>
                      </a:rPr>
                      <m:t>∩</m:t>
                    </m:r>
                    <m:r>
                      <a:rPr lang="en-US" b="0" i="1" smtClean="0">
                        <a:latin typeface="Cambria Math"/>
                      </a:rPr>
                      <m:t>𝐶</m:t>
                    </m:r>
                    <m:r>
                      <a:rPr lang="en-US" b="0" i="1" smtClean="0">
                        <a:latin typeface="Cambria Math"/>
                      </a:rPr>
                      <m:t>)′=</m:t>
                    </m:r>
                    <m:r>
                      <a:rPr lang="en-US" b="0" i="1" smtClean="0">
                        <a:latin typeface="Cambria Math"/>
                      </a:rPr>
                      <m:t>𝐶</m:t>
                    </m:r>
                    <m:r>
                      <a:rPr lang="en-US" b="0" i="1" smtClean="0">
                        <a:latin typeface="Cambria Math"/>
                      </a:rPr>
                      <m:t>′</m:t>
                    </m:r>
                  </m:oMath>
                </a14:m>
                <a:endParaRPr lang="en-US" dirty="0"/>
              </a:p>
              <a:p>
                <a:pPr lvl="1"/>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𝐶</m:t>
                    </m:r>
                    <m:r>
                      <a:rPr lang="en-US" b="0" i="1" smtClean="0">
                        <a:latin typeface="Cambria Math"/>
                      </a:rPr>
                      <m:t>∩</m:t>
                    </m:r>
                    <m:r>
                      <a:rPr lang="en-US" b="0" i="1" smtClean="0">
                        <a:latin typeface="Cambria Math"/>
                      </a:rPr>
                      <m:t>𝐷</m:t>
                    </m:r>
                    <m:r>
                      <a:rPr lang="en-US" i="1">
                        <a:latin typeface="Cambria Math"/>
                      </a:rPr>
                      <m:t>={}</m:t>
                    </m:r>
                  </m:oMath>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666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p:sp>
        <p:nvSpPr>
          <p:cNvPr id="3" name="Content Placeholder 2"/>
          <p:cNvSpPr>
            <a:spLocks noGrp="1"/>
          </p:cNvSpPr>
          <p:nvPr>
            <p:ph idx="1"/>
          </p:nvPr>
        </p:nvSpPr>
        <p:spPr/>
        <p:txBody>
          <a:bodyPr>
            <a:normAutofit/>
          </a:bodyPr>
          <a:lstStyle/>
          <a:p>
            <a:r>
              <a:rPr lang="en-US" dirty="0"/>
              <a:t>In order to visualize events, we often use Venn diagrams. In a Venn diagram, we draw a rectangle to represent the sample space. The events inside the sample space are drawn with circles (as we’ll show on the board).</a:t>
            </a:r>
          </a:p>
          <a:p>
            <a:endParaRPr lang="en-US" dirty="0"/>
          </a:p>
          <a:p>
            <a:endParaRPr lang="en-US" dirty="0"/>
          </a:p>
        </p:txBody>
      </p:sp>
    </p:spTree>
    <p:extLst>
      <p:ext uri="{BB962C8B-B14F-4D97-AF65-F5344CB8AC3E}">
        <p14:creationId xmlns:p14="http://schemas.microsoft.com/office/powerpoint/2010/main" val="410627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p:sp>
        <p:nvSpPr>
          <p:cNvPr id="3" name="Content Placeholder 2"/>
          <p:cNvSpPr>
            <a:spLocks noGrp="1"/>
          </p:cNvSpPr>
          <p:nvPr>
            <p:ph idx="1"/>
          </p:nvPr>
        </p:nvSpPr>
        <p:spPr/>
        <p:txBody>
          <a:bodyPr>
            <a:normAutofit/>
          </a:bodyPr>
          <a:lstStyle/>
          <a:p>
            <a:r>
              <a:rPr lang="en-US" dirty="0"/>
              <a:t>To finish this section, there are eight properties that are important to know. You should be able to demonstrate to yourself with a Venn diagram that they are all true.</a:t>
            </a:r>
          </a:p>
          <a:p>
            <a:endParaRPr lang="en-US" dirty="0"/>
          </a:p>
          <a:p>
            <a:endParaRPr lang="en-US" dirty="0"/>
          </a:p>
        </p:txBody>
      </p:sp>
    </p:spTree>
    <p:extLst>
      <p:ext uri="{BB962C8B-B14F-4D97-AF65-F5344CB8AC3E}">
        <p14:creationId xmlns:p14="http://schemas.microsoft.com/office/powerpoint/2010/main" val="3694890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dirty="0"/>
                  <a:t>Properties:</a:t>
                </a:r>
              </a:p>
              <a:p>
                <a:pPr lvl="1"/>
                <a14:m>
                  <m:oMath xmlns:m="http://schemas.openxmlformats.org/officeDocument/2006/math">
                    <m:r>
                      <a:rPr lang="en-US" b="0" i="1" smtClean="0">
                        <a:latin typeface="Cambria Math"/>
                      </a:rPr>
                      <m:t>𝐴</m:t>
                    </m:r>
                    <m:r>
                      <a:rPr lang="en-US" b="0" i="1" smtClean="0">
                        <a:latin typeface="Cambria Math"/>
                      </a:rPr>
                      <m:t>∩∅=∅</m:t>
                    </m:r>
                  </m:oMath>
                </a14:m>
                <a:endParaRPr lang="en-US" b="0" dirty="0"/>
              </a:p>
              <a:p>
                <a:pPr lvl="1"/>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𝐴</m:t>
                    </m:r>
                  </m:oMath>
                </a14:m>
                <a:endParaRPr lang="en-US" b="0" dirty="0"/>
              </a:p>
              <a:p>
                <a:pPr lvl="1"/>
                <a14:m>
                  <m:oMath xmlns:m="http://schemas.openxmlformats.org/officeDocument/2006/math">
                    <m:r>
                      <a:rPr lang="en-US" b="0" i="1" smtClean="0">
                        <a:latin typeface="Cambria Math"/>
                      </a:rPr>
                      <m:t>𝐴</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oMath>
                </a14:m>
                <a:endParaRPr lang="en-US" b="0" dirty="0"/>
              </a:p>
              <a:p>
                <a:pPr lvl="1"/>
                <a14:m>
                  <m:oMath xmlns:m="http://schemas.openxmlformats.org/officeDocument/2006/math">
                    <m:r>
                      <a:rPr lang="en-US" b="0" i="1" smtClean="0">
                        <a:latin typeface="Cambria Math"/>
                      </a:rPr>
                      <m:t>𝐴</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r>
                      <a:rPr lang="en-US" b="0" i="1" smtClean="0">
                        <a:latin typeface="Cambria Math"/>
                      </a:rPr>
                      <m:t>𝑆</m:t>
                    </m:r>
                  </m:oMath>
                </a14:m>
                <a:endParaRPr lang="en-US" b="0"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m:t>
                        </m:r>
                      </m:sup>
                    </m:sSup>
                    <m:r>
                      <a:rPr lang="en-US" b="0" i="1" smtClean="0">
                        <a:latin typeface="Cambria Math"/>
                      </a:rPr>
                      <m:t>=∅</m:t>
                    </m:r>
                  </m:oMath>
                </a14:m>
                <a:endParaRPr lang="en-US" b="0"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m:t>
                        </m:r>
                      </m:e>
                      <m:sup>
                        <m:r>
                          <a:rPr lang="en-US" b="0" i="1" smtClean="0">
                            <a:latin typeface="Cambria Math"/>
                          </a:rPr>
                          <m:t>′</m:t>
                        </m:r>
                      </m:sup>
                    </m:sSup>
                    <m:r>
                      <a:rPr lang="en-US" b="0" i="1" smtClean="0">
                        <a:latin typeface="Cambria Math"/>
                      </a:rPr>
                      <m:t>=</m:t>
                    </m:r>
                    <m:r>
                      <a:rPr lang="en-US" b="0" i="1" smtClean="0">
                        <a:latin typeface="Cambria Math"/>
                      </a:rPr>
                      <m:t>𝑆</m:t>
                    </m:r>
                  </m:oMath>
                </a14:m>
                <a:endParaRPr lang="en-US" b="0" dirty="0"/>
              </a:p>
              <a:p>
                <a:pPr lvl="1"/>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e>
                        </m:d>
                      </m:e>
                      <m:sup>
                        <m:r>
                          <a:rPr lang="en-US" b="0" i="1" smtClean="0">
                            <a:latin typeface="Cambria Math"/>
                          </a:rPr>
                          <m:t>′</m:t>
                        </m:r>
                      </m:sup>
                    </m:sSup>
                    <m:r>
                      <a:rPr lang="en-US" b="0" i="1" smtClean="0">
                        <a:latin typeface="Cambria Math"/>
                      </a:rPr>
                      <m:t>=</m:t>
                    </m:r>
                    <m:r>
                      <a:rPr lang="en-US" b="0" i="1" smtClean="0">
                        <a:latin typeface="Cambria Math"/>
                      </a:rPr>
                      <m:t>𝐴</m:t>
                    </m:r>
                  </m:oMath>
                </a14:m>
                <a:endParaRPr lang="en-US" b="0" dirty="0"/>
              </a:p>
              <a:p>
                <a:pPr lvl="1"/>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e>
                      <m:sup>
                        <m:r>
                          <a:rPr lang="en-US" b="0" i="1" smtClean="0">
                            <a:latin typeface="Cambria Math"/>
                          </a:rPr>
                          <m:t>′</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𝐵</m:t>
                        </m:r>
                      </m:e>
                      <m:sup>
                        <m:r>
                          <a:rPr lang="en-US" b="0" i="1" smtClean="0">
                            <a:latin typeface="Cambria Math"/>
                          </a:rPr>
                          <m:t>′</m:t>
                        </m:r>
                      </m:sup>
                    </m:sSup>
                  </m:oMath>
                </a14:m>
                <a:endParaRPr lang="en-US" b="0" dirty="0"/>
              </a:p>
              <a:p>
                <a:pPr lvl="1"/>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e>
                      <m:sup>
                        <m:r>
                          <a:rPr lang="en-US" b="0" i="1" smtClean="0">
                            <a:latin typeface="Cambria Math"/>
                          </a:rPr>
                          <m:t>′</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r>
                      <a:rPr lang="en-US" b="0" i="1" smtClean="0">
                        <a:latin typeface="Cambria Math"/>
                      </a:rPr>
                      <m:t>𝐵</m:t>
                    </m:r>
                    <m:r>
                      <a:rPr lang="en-US" b="0" i="1" smtClean="0">
                        <a:latin typeface="Cambria Math"/>
                      </a:rPr>
                      <m:t>′</m:t>
                    </m:r>
                  </m:oMath>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922"/>
                </a:stretch>
              </a:blipFill>
            </p:spPr>
            <p:txBody>
              <a:bodyPr/>
              <a:lstStyle/>
              <a:p>
                <a:r>
                  <a:rPr lang="en-US">
                    <a:noFill/>
                  </a:rPr>
                  <a:t> </a:t>
                </a:r>
              </a:p>
            </p:txBody>
          </p:sp>
        </mc:Fallback>
      </mc:AlternateContent>
    </p:spTree>
    <p:extLst>
      <p:ext uri="{BB962C8B-B14F-4D97-AF65-F5344CB8AC3E}">
        <p14:creationId xmlns:p14="http://schemas.microsoft.com/office/powerpoint/2010/main" val="971879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p:sp>
        <p:nvSpPr>
          <p:cNvPr id="3" name="Content Placeholder 2"/>
          <p:cNvSpPr>
            <a:spLocks noGrp="1"/>
          </p:cNvSpPr>
          <p:nvPr>
            <p:ph idx="1"/>
          </p:nvPr>
        </p:nvSpPr>
        <p:spPr/>
        <p:txBody>
          <a:bodyPr>
            <a:normAutofit fontScale="92500" lnSpcReduction="10000"/>
          </a:bodyPr>
          <a:lstStyle/>
          <a:p>
            <a:r>
              <a:rPr lang="en-US" dirty="0"/>
              <a:t>We are now going to shift gears a little bit from set theory to a little bit of combinatorics. </a:t>
            </a:r>
          </a:p>
          <a:p>
            <a:endParaRPr lang="en-US" dirty="0"/>
          </a:p>
          <a:p>
            <a:r>
              <a:rPr lang="en-US" dirty="0"/>
              <a:t>In many experiments, such as many of the examples we’ll look at in this section, it is not feasible to list all possible elements in a sample space or an event. Yet to compute probabilities, we need to know how many elements there are. The rules in this section will help us count the number of elements in a sample space.</a:t>
            </a:r>
          </a:p>
        </p:txBody>
      </p:sp>
    </p:spTree>
    <p:extLst>
      <p:ext uri="{BB962C8B-B14F-4D97-AF65-F5344CB8AC3E}">
        <p14:creationId xmlns:p14="http://schemas.microsoft.com/office/powerpoint/2010/main" val="3097958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fundamental principle we start at is called the </a:t>
                </a:r>
                <a:r>
                  <a:rPr lang="en-US" i="1" dirty="0"/>
                  <a:t>multiplication rule</a:t>
                </a:r>
                <a:r>
                  <a:rPr lang="en-US" dirty="0"/>
                  <a:t>. This states:</a:t>
                </a:r>
              </a:p>
              <a:p>
                <a:pPr lvl="1"/>
                <a:r>
                  <a:rPr lang="en-US" dirty="0"/>
                  <a:t>If an operation can be performed 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oMath>
                </a14:m>
                <a:r>
                  <a:rPr lang="en-US" dirty="0"/>
                  <a:t> ways, and if for each of these ways a second operation can be performed 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oMath>
                </a14:m>
                <a:r>
                  <a:rPr lang="en-US" dirty="0"/>
                  <a:t> ways, then the two operations can be performed together 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oMath>
                </a14:m>
                <a:r>
                  <a:rPr lang="en-US" dirty="0"/>
                  <a:t> ways.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1556"/>
                </a:stretch>
              </a:blipFill>
            </p:spPr>
            <p:txBody>
              <a:bodyPr/>
              <a:lstStyle/>
              <a:p>
                <a:r>
                  <a:rPr lang="en-US">
                    <a:noFill/>
                  </a:rPr>
                  <a:t> </a:t>
                </a:r>
              </a:p>
            </p:txBody>
          </p:sp>
        </mc:Fallback>
      </mc:AlternateContent>
    </p:spTree>
    <p:extLst>
      <p:ext uri="{BB962C8B-B14F-4D97-AF65-F5344CB8AC3E}">
        <p14:creationId xmlns:p14="http://schemas.microsoft.com/office/powerpoint/2010/main" val="39411053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Examples:</a:t>
                </a:r>
              </a:p>
              <a:p>
                <a:pPr lvl="1"/>
                <a:r>
                  <a:rPr lang="en-US" dirty="0"/>
                  <a:t>Rolling two dice: The first die can land on any of 6 numbers. Same for the second. This means there are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6</m:t>
                        </m:r>
                      </m:e>
                    </m:d>
                    <m:d>
                      <m:dPr>
                        <m:ctrlPr>
                          <a:rPr lang="en-US" b="0" i="1" smtClean="0">
                            <a:latin typeface="Cambria Math" panose="02040503050406030204" pitchFamily="18" charset="0"/>
                          </a:rPr>
                        </m:ctrlPr>
                      </m:dPr>
                      <m:e>
                        <m:r>
                          <a:rPr lang="en-US" b="0" i="1" smtClean="0">
                            <a:latin typeface="Cambria Math"/>
                          </a:rPr>
                          <m:t>6</m:t>
                        </m:r>
                      </m:e>
                    </m:d>
                    <m:r>
                      <a:rPr lang="en-US" b="0" i="1" smtClean="0">
                        <a:latin typeface="Cambria Math"/>
                      </a:rPr>
                      <m:t>=36</m:t>
                    </m:r>
                  </m:oMath>
                </a14:m>
                <a:r>
                  <a:rPr lang="en-US" dirty="0"/>
                  <a:t> possible outcomes in the sample space (this implies that a pair like (2,3) is counted separately from (3,2))</a:t>
                </a:r>
              </a:p>
              <a:p>
                <a:pPr lvl="1"/>
                <a:r>
                  <a:rPr lang="en-US" dirty="0"/>
                  <a:t>Ice cream: Say you have 3 flavors to choose from and 12 toppings (of which you can choose just one). Then there are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3</m:t>
                        </m:r>
                      </m:e>
                    </m:d>
                    <m:d>
                      <m:dPr>
                        <m:ctrlPr>
                          <a:rPr lang="en-US" b="0" i="1" smtClean="0">
                            <a:latin typeface="Cambria Math" panose="02040503050406030204" pitchFamily="18" charset="0"/>
                          </a:rPr>
                        </m:ctrlPr>
                      </m:dPr>
                      <m:e>
                        <m:r>
                          <a:rPr lang="en-US" b="0" i="1" smtClean="0">
                            <a:latin typeface="Cambria Math"/>
                          </a:rPr>
                          <m:t>12</m:t>
                        </m:r>
                      </m:e>
                    </m:d>
                    <m:r>
                      <a:rPr lang="en-US" b="0" i="1" smtClean="0">
                        <a:latin typeface="Cambria Math"/>
                      </a:rPr>
                      <m:t>=36</m:t>
                    </m:r>
                  </m:oMath>
                </a14:m>
                <a:r>
                  <a:rPr lang="en-US" dirty="0"/>
                  <a:t> possible flavor/topping combinations to choose from.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713" r="-667"/>
                </a:stretch>
              </a:blipFill>
            </p:spPr>
            <p:txBody>
              <a:bodyPr/>
              <a:lstStyle/>
              <a:p>
                <a:r>
                  <a:rPr lang="en-US">
                    <a:noFill/>
                  </a:rPr>
                  <a:t> </a:t>
                </a:r>
              </a:p>
            </p:txBody>
          </p:sp>
        </mc:Fallback>
      </mc:AlternateContent>
    </p:spTree>
    <p:extLst>
      <p:ext uri="{BB962C8B-B14F-4D97-AF65-F5344CB8AC3E}">
        <p14:creationId xmlns:p14="http://schemas.microsoft.com/office/powerpoint/2010/main" val="3593191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This rule generalizes to the case when there are more than two operations. Say there are </a:t>
                </a:r>
                <a14:m>
                  <m:oMath xmlns:m="http://schemas.openxmlformats.org/officeDocument/2006/math">
                    <m:r>
                      <a:rPr lang="en-US" b="0" i="1" smtClean="0">
                        <a:latin typeface="Cambria Math"/>
                      </a:rPr>
                      <m:t>𝑘</m:t>
                    </m:r>
                  </m:oMath>
                </a14:m>
                <a:r>
                  <a:rPr lang="en-US" dirty="0"/>
                  <a:t> operations,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oMath>
                </a14:m>
                <a:r>
                  <a:rPr lang="en-US" dirty="0"/>
                  <a:t> ways to perform the first,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oMath>
                </a14:m>
                <a:r>
                  <a:rPr lang="en-US" dirty="0"/>
                  <a:t> ways to perform the second for each of the ways of the first operation,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3</m:t>
                        </m:r>
                      </m:sub>
                    </m:sSub>
                  </m:oMath>
                </a14:m>
                <a:r>
                  <a:rPr lang="en-US" dirty="0"/>
                  <a:t> to perform the third for each of the first and second operations, and so on up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𝑘</m:t>
                        </m:r>
                      </m:sub>
                    </m:sSub>
                    <m:r>
                      <a:rPr lang="en-US" b="0" i="0" smtClean="0">
                        <a:latin typeface="Cambria Math"/>
                      </a:rPr>
                      <m:t>.</m:t>
                    </m:r>
                  </m:oMath>
                </a14:m>
                <a:r>
                  <a:rPr lang="en-US" dirty="0"/>
                  <a:t> Then there are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𝑘</m:t>
                        </m:r>
                      </m:sub>
                    </m:sSub>
                  </m:oMath>
                </a14:m>
                <a:r>
                  <a:rPr lang="en-US" dirty="0"/>
                  <a:t> total ways to perform the sequence of </a:t>
                </a:r>
                <a14:m>
                  <m:oMath xmlns:m="http://schemas.openxmlformats.org/officeDocument/2006/math">
                    <m:r>
                      <a:rPr lang="en-US" b="0" i="1" smtClean="0">
                        <a:latin typeface="Cambria Math"/>
                      </a:rPr>
                      <m:t>𝑘</m:t>
                    </m:r>
                  </m:oMath>
                </a14:m>
                <a:r>
                  <a:rPr lang="en-US" dirty="0"/>
                  <a:t> operations.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1333" b="-2372"/>
                </a:stretch>
              </a:blipFill>
            </p:spPr>
            <p:txBody>
              <a:bodyPr/>
              <a:lstStyle/>
              <a:p>
                <a:r>
                  <a:rPr lang="en-US">
                    <a:noFill/>
                  </a:rPr>
                  <a:t> </a:t>
                </a:r>
              </a:p>
            </p:txBody>
          </p:sp>
        </mc:Fallback>
      </mc:AlternateContent>
    </p:spTree>
    <p:extLst>
      <p:ext uri="{BB962C8B-B14F-4D97-AF65-F5344CB8AC3E}">
        <p14:creationId xmlns:p14="http://schemas.microsoft.com/office/powerpoint/2010/main" val="2761199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Flip a coin, roll a die, draw a card (52 options), roll another die, and flip a coin two more times. Then there are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2</m:t>
                        </m:r>
                      </m:e>
                    </m:d>
                    <m:d>
                      <m:dPr>
                        <m:ctrlPr>
                          <a:rPr lang="en-US" b="0" i="1" smtClean="0">
                            <a:latin typeface="Cambria Math" panose="02040503050406030204" pitchFamily="18" charset="0"/>
                          </a:rPr>
                        </m:ctrlPr>
                      </m:dPr>
                      <m:e>
                        <m:r>
                          <a:rPr lang="en-US" b="0" i="1" smtClean="0">
                            <a:latin typeface="Cambria Math"/>
                          </a:rPr>
                          <m:t>6</m:t>
                        </m:r>
                      </m:e>
                    </m:d>
                    <m:d>
                      <m:dPr>
                        <m:ctrlPr>
                          <a:rPr lang="en-US" b="0" i="1" smtClean="0">
                            <a:latin typeface="Cambria Math" panose="02040503050406030204" pitchFamily="18" charset="0"/>
                          </a:rPr>
                        </m:ctrlPr>
                      </m:dPr>
                      <m:e>
                        <m:r>
                          <a:rPr lang="en-US" b="0" i="1" smtClean="0">
                            <a:latin typeface="Cambria Math"/>
                          </a:rPr>
                          <m:t>52</m:t>
                        </m:r>
                      </m:e>
                    </m:d>
                    <m:d>
                      <m:dPr>
                        <m:ctrlPr>
                          <a:rPr lang="en-US" b="0" i="1" smtClean="0">
                            <a:latin typeface="Cambria Math" panose="02040503050406030204" pitchFamily="18" charset="0"/>
                          </a:rPr>
                        </m:ctrlPr>
                      </m:dPr>
                      <m:e>
                        <m:r>
                          <a:rPr lang="en-US" b="0" i="1" smtClean="0">
                            <a:latin typeface="Cambria Math"/>
                          </a:rPr>
                          <m:t>6</m:t>
                        </m:r>
                      </m:e>
                    </m:d>
                    <m:d>
                      <m:dPr>
                        <m:ctrlPr>
                          <a:rPr lang="en-US" b="0" i="1" smtClean="0">
                            <a:latin typeface="Cambria Math" panose="02040503050406030204" pitchFamily="18" charset="0"/>
                          </a:rPr>
                        </m:ctrlPr>
                      </m:dPr>
                      <m:e>
                        <m:r>
                          <a:rPr lang="en-US" b="0" i="1" smtClean="0">
                            <a:latin typeface="Cambria Math"/>
                          </a:rPr>
                          <m:t>2</m:t>
                        </m:r>
                      </m:e>
                    </m:d>
                    <m:d>
                      <m:dPr>
                        <m:ctrlPr>
                          <a:rPr lang="en-US" b="0" i="1" smtClean="0">
                            <a:latin typeface="Cambria Math" panose="02040503050406030204" pitchFamily="18" charset="0"/>
                          </a:rPr>
                        </m:ctrlPr>
                      </m:dPr>
                      <m:e>
                        <m:r>
                          <a:rPr lang="en-US" b="0" i="1" smtClean="0">
                            <a:latin typeface="Cambria Math"/>
                          </a:rPr>
                          <m:t>2</m:t>
                        </m:r>
                      </m:e>
                    </m:d>
                    <m:r>
                      <a:rPr lang="en-US" b="0" i="1" smtClean="0">
                        <a:latin typeface="Cambria Math"/>
                      </a:rPr>
                      <m:t>=14976</m:t>
                    </m:r>
                  </m:oMath>
                </a14:m>
                <a:r>
                  <a:rPr lang="en-US" dirty="0"/>
                  <a:t> outcomes in the sample space.</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a:stretch>
              </a:blipFill>
            </p:spPr>
            <p:txBody>
              <a:bodyPr/>
              <a:lstStyle/>
              <a:p>
                <a:r>
                  <a:rPr lang="en-US">
                    <a:noFill/>
                  </a:rPr>
                  <a:t> </a:t>
                </a:r>
              </a:p>
            </p:txBody>
          </p:sp>
        </mc:Fallback>
      </mc:AlternateContent>
    </p:spTree>
    <p:extLst>
      <p:ext uri="{BB962C8B-B14F-4D97-AF65-F5344CB8AC3E}">
        <p14:creationId xmlns:p14="http://schemas.microsoft.com/office/powerpoint/2010/main" val="2122954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p:sp>
        <p:nvSpPr>
          <p:cNvPr id="3" name="Content Placeholder 2"/>
          <p:cNvSpPr>
            <a:spLocks noGrp="1"/>
          </p:cNvSpPr>
          <p:nvPr>
            <p:ph idx="1"/>
          </p:nvPr>
        </p:nvSpPr>
        <p:spPr/>
        <p:txBody>
          <a:bodyPr>
            <a:normAutofit/>
          </a:bodyPr>
          <a:lstStyle/>
          <a:p>
            <a:r>
              <a:rPr lang="en-US" dirty="0"/>
              <a:t>Exercise</a:t>
            </a:r>
          </a:p>
          <a:p>
            <a:r>
              <a:rPr lang="en-US" dirty="0"/>
              <a:t>Using the numbers 0, 1, 2, 5, 6, and 9:</a:t>
            </a:r>
          </a:p>
          <a:p>
            <a:pPr lvl="1"/>
            <a:r>
              <a:rPr lang="en-US" dirty="0"/>
              <a:t>How many four digit numbers can be formed if each digit can be used only once?</a:t>
            </a:r>
          </a:p>
          <a:p>
            <a:pPr lvl="1"/>
            <a:r>
              <a:rPr lang="en-US" dirty="0"/>
              <a:t>How many four digit even numbers can be formed using the same rule?</a:t>
            </a:r>
          </a:p>
          <a:p>
            <a:endParaRPr lang="en-US" dirty="0"/>
          </a:p>
        </p:txBody>
      </p:sp>
    </p:spTree>
    <p:extLst>
      <p:ext uri="{BB962C8B-B14F-4D97-AF65-F5344CB8AC3E}">
        <p14:creationId xmlns:p14="http://schemas.microsoft.com/office/powerpoint/2010/main" val="6173504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p:sp>
        <p:nvSpPr>
          <p:cNvPr id="3" name="Content Placeholder 2"/>
          <p:cNvSpPr>
            <a:spLocks noGrp="1"/>
          </p:cNvSpPr>
          <p:nvPr>
            <p:ph idx="1"/>
          </p:nvPr>
        </p:nvSpPr>
        <p:spPr/>
        <p:txBody>
          <a:bodyPr>
            <a:normAutofit lnSpcReduction="10000"/>
          </a:bodyPr>
          <a:lstStyle/>
          <a:p>
            <a:r>
              <a:rPr lang="en-US" dirty="0"/>
              <a:t>We are often interested in how many ways we can arrange (order) a group of objects. For instance:</a:t>
            </a:r>
          </a:p>
          <a:p>
            <a:pPr lvl="1"/>
            <a:r>
              <a:rPr lang="en-US" dirty="0"/>
              <a:t>How many ways can we arrange 6 people in a line?</a:t>
            </a:r>
          </a:p>
          <a:p>
            <a:pPr lvl="1"/>
            <a:r>
              <a:rPr lang="en-US" dirty="0"/>
              <a:t>How many ways can we select 3 people as prize winners from a group of 10000?</a:t>
            </a:r>
          </a:p>
          <a:p>
            <a:pPr lvl="1"/>
            <a:endParaRPr lang="en-US" dirty="0"/>
          </a:p>
          <a:p>
            <a:r>
              <a:rPr lang="en-US" dirty="0"/>
              <a:t>A </a:t>
            </a:r>
            <a:r>
              <a:rPr lang="en-US" i="1" dirty="0"/>
              <a:t>permutation</a:t>
            </a:r>
            <a:r>
              <a:rPr lang="en-US" dirty="0"/>
              <a:t> is an arrangement of all or part of a set of objects.</a:t>
            </a:r>
          </a:p>
          <a:p>
            <a:endParaRPr lang="en-US" dirty="0"/>
          </a:p>
        </p:txBody>
      </p:sp>
    </p:spTree>
    <p:extLst>
      <p:ext uri="{BB962C8B-B14F-4D97-AF65-F5344CB8AC3E}">
        <p14:creationId xmlns:p14="http://schemas.microsoft.com/office/powerpoint/2010/main" val="1367723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Let’s use the multiplication rule to try to answer the questions on the preceding slide (on the board).</a:t>
                </a:r>
              </a:p>
              <a:p>
                <a:endParaRPr lang="en-US" dirty="0"/>
              </a:p>
              <a:p>
                <a:r>
                  <a:rPr lang="en-US" dirty="0"/>
                  <a:t>We have some important rules relating to permutations. First, the number of permutations of </a:t>
                </a:r>
                <a14:m>
                  <m:oMath xmlns:m="http://schemas.openxmlformats.org/officeDocument/2006/math">
                    <m:r>
                      <a:rPr lang="en-US" b="0" i="1" smtClean="0">
                        <a:latin typeface="Cambria Math"/>
                      </a:rPr>
                      <m:t>𝑛</m:t>
                    </m:r>
                  </m:oMath>
                </a14:m>
                <a:r>
                  <a:rPr lang="en-US" dirty="0"/>
                  <a:t> objects is </a:t>
                </a:r>
                <a14:m>
                  <m:oMath xmlns:m="http://schemas.openxmlformats.org/officeDocument/2006/math">
                    <m:r>
                      <a:rPr lang="en-US" b="0" i="1" smtClean="0">
                        <a:latin typeface="Cambria Math"/>
                      </a:rPr>
                      <m:t>𝑛</m:t>
                    </m:r>
                    <m:r>
                      <a:rPr lang="en-US" b="0" i="1" smtClean="0">
                        <a:latin typeface="Cambria Math"/>
                      </a:rPr>
                      <m:t>!</m:t>
                    </m:r>
                  </m:oMath>
                </a14:m>
                <a:r>
                  <a:rPr lang="en-US" dirty="0"/>
                  <a:t> (where </a:t>
                </a:r>
                <a14:m>
                  <m:oMath xmlns:m="http://schemas.openxmlformats.org/officeDocument/2006/math">
                    <m:r>
                      <a:rPr lang="en-US" b="0" i="1" smtClean="0">
                        <a:latin typeface="Cambria Math"/>
                      </a:rPr>
                      <m:t>𝑛</m:t>
                    </m:r>
                    <m:r>
                      <a:rPr lang="en-US" b="0" i="1" smtClean="0">
                        <a:latin typeface="Cambria Math"/>
                      </a:rPr>
                      <m:t>!=</m:t>
                    </m:r>
                    <m:r>
                      <a:rPr lang="en-US" b="0" i="1" smtClean="0">
                        <a:latin typeface="Cambria Math"/>
                      </a:rPr>
                      <m:t>𝑛</m:t>
                    </m:r>
                    <m:d>
                      <m:dPr>
                        <m:ctrlPr>
                          <a:rPr lang="en-US" b="0" i="1" smtClean="0">
                            <a:latin typeface="Cambria Math" panose="02040503050406030204" pitchFamily="18" charset="0"/>
                          </a:rPr>
                        </m:ctrlPr>
                      </m:dPr>
                      <m:e>
                        <m:r>
                          <a:rPr lang="en-US" b="0" i="1" smtClean="0">
                            <a:latin typeface="Cambria Math"/>
                          </a:rPr>
                          <m:t>𝑛</m:t>
                        </m:r>
                        <m:r>
                          <a:rPr lang="en-US" b="0" i="1" smtClean="0">
                            <a:latin typeface="Cambria Math"/>
                          </a:rPr>
                          <m:t>−1</m:t>
                        </m:r>
                      </m:e>
                    </m:d>
                    <m:r>
                      <a:rPr lang="en-US" b="0" i="1" smtClean="0">
                        <a:latin typeface="Cambria Math"/>
                      </a:rPr>
                      <m:t>…(2)(1)</m:t>
                    </m:r>
                  </m:oMath>
                </a14:m>
                <a:r>
                  <a:rPr lang="en-US" dirty="0"/>
                  <a:t> and </a:t>
                </a:r>
                <a14:m>
                  <m:oMath xmlns:m="http://schemas.openxmlformats.org/officeDocument/2006/math">
                    <m:r>
                      <a:rPr lang="en-US" b="0" i="1" smtClean="0">
                        <a:latin typeface="Cambria Math"/>
                      </a:rPr>
                      <m:t>0!</m:t>
                    </m:r>
                    <m:r>
                      <a:rPr lang="en-US" b="0" i="0" smtClean="0">
                        <a:latin typeface="Cambria Math"/>
                      </a:rPr>
                      <m:t>=1</m:t>
                    </m:r>
                  </m:oMath>
                </a14:m>
                <a:r>
                  <a:rPr lang="en-US" dirty="0"/>
                  <a:t> by convention).</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b="-2240"/>
                </a:stretch>
              </a:blipFill>
            </p:spPr>
            <p:txBody>
              <a:bodyPr/>
              <a:lstStyle/>
              <a:p>
                <a:r>
                  <a:rPr lang="en-US">
                    <a:noFill/>
                  </a:rPr>
                  <a:t> </a:t>
                </a:r>
              </a:p>
            </p:txBody>
          </p:sp>
        </mc:Fallback>
      </mc:AlternateContent>
    </p:spTree>
    <p:extLst>
      <p:ext uri="{BB962C8B-B14F-4D97-AF65-F5344CB8AC3E}">
        <p14:creationId xmlns:p14="http://schemas.microsoft.com/office/powerpoint/2010/main" val="35106232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dirty="0"/>
                  <a:t>The second rule is that the number of permutations of </a:t>
                </a:r>
                <a14:m>
                  <m:oMath xmlns:m="http://schemas.openxmlformats.org/officeDocument/2006/math">
                    <m:r>
                      <a:rPr lang="en-US" b="0" i="1" smtClean="0">
                        <a:latin typeface="Cambria Math"/>
                      </a:rPr>
                      <m:t>𝑛</m:t>
                    </m:r>
                  </m:oMath>
                </a14:m>
                <a:r>
                  <a:rPr lang="en-US" dirty="0"/>
                  <a:t> objects taken </a:t>
                </a:r>
                <a14:m>
                  <m:oMath xmlns:m="http://schemas.openxmlformats.org/officeDocument/2006/math">
                    <m:r>
                      <a:rPr lang="en-US" b="0" i="1" smtClean="0">
                        <a:latin typeface="Cambria Math"/>
                      </a:rPr>
                      <m:t>𝑟</m:t>
                    </m:r>
                  </m:oMath>
                </a14:m>
                <a:r>
                  <a:rPr lang="en-US" dirty="0"/>
                  <a:t> at a time is </a:t>
                </a:r>
                <a14:m>
                  <m:oMath xmlns:m="http://schemas.openxmlformats.org/officeDocument/2006/math">
                    <m:sSub>
                      <m:sSubPr>
                        <m:ctrlPr>
                          <a:rPr lang="en-US" b="0" i="1" smtClean="0">
                            <a:latin typeface="Cambria Math" panose="02040503050406030204" pitchFamily="18" charset="0"/>
                          </a:rPr>
                        </m:ctrlPr>
                      </m:sSubPr>
                      <m:e>
                        <m:sPre>
                          <m:sPrePr>
                            <m:ctrlPr>
                              <a:rPr lang="en-US" i="1" smtClean="0">
                                <a:latin typeface="Cambria Math" panose="02040503050406030204" pitchFamily="18" charset="0"/>
                              </a:rPr>
                            </m:ctrlPr>
                          </m:sPrePr>
                          <m:sub>
                            <m:r>
                              <a:rPr lang="en-US" b="0" i="1" smtClean="0">
                                <a:latin typeface="Cambria Math"/>
                              </a:rPr>
                              <m:t>𝑛</m:t>
                            </m:r>
                          </m:sub>
                          <m:sup/>
                          <m:e>
                            <m:r>
                              <a:rPr lang="en-US" b="0" i="1" smtClean="0">
                                <a:latin typeface="Cambria Math"/>
                              </a:rPr>
                              <m:t>𝑃</m:t>
                            </m:r>
                          </m:e>
                        </m:sPre>
                      </m:e>
                      <m:sub>
                        <m:r>
                          <a:rPr lang="en-US" b="0" i="1" smtClean="0">
                            <a:latin typeface="Cambria Math"/>
                          </a:rPr>
                          <m:t>𝑟</m:t>
                        </m:r>
                      </m:sub>
                    </m:sSub>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𝑛</m:t>
                        </m:r>
                        <m:r>
                          <a:rPr lang="en-US" b="0" i="1" smtClean="0">
                            <a:latin typeface="Cambria Math"/>
                          </a:rPr>
                          <m:t>!</m:t>
                        </m:r>
                      </m:num>
                      <m:den>
                        <m:d>
                          <m:dPr>
                            <m:ctrlPr>
                              <a:rPr lang="en-US" b="0" i="1" smtClean="0">
                                <a:latin typeface="Cambria Math" panose="02040503050406030204" pitchFamily="18" charset="0"/>
                              </a:rPr>
                            </m:ctrlPr>
                          </m:dPr>
                          <m:e>
                            <m:r>
                              <a:rPr lang="en-US" b="0" i="1" smtClean="0">
                                <a:latin typeface="Cambria Math"/>
                              </a:rPr>
                              <m:t>𝑛</m:t>
                            </m:r>
                            <m:r>
                              <a:rPr lang="en-US" b="0" i="1" smtClean="0">
                                <a:latin typeface="Cambria Math"/>
                              </a:rPr>
                              <m:t>−</m:t>
                            </m:r>
                            <m:r>
                              <a:rPr lang="en-US" b="0" i="1" smtClean="0">
                                <a:latin typeface="Cambria Math"/>
                              </a:rPr>
                              <m:t>𝑟</m:t>
                            </m:r>
                          </m:e>
                        </m:d>
                        <m:r>
                          <a:rPr lang="en-US" b="0" i="1" smtClean="0">
                            <a:latin typeface="Cambria Math"/>
                          </a:rPr>
                          <m:t>!</m:t>
                        </m:r>
                      </m:den>
                    </m:f>
                  </m:oMath>
                </a14:m>
                <a:endParaRPr lang="en-US" dirty="0"/>
              </a:p>
              <a:p>
                <a:endParaRPr lang="en-US" dirty="0"/>
              </a:p>
              <a:p>
                <a:r>
                  <a:rPr lang="en-US" dirty="0"/>
                  <a:t>Exercise (2.19 in book): A president and treasurer are to be chosen from a student club with 50 members. How many choices are possible if:</a:t>
                </a:r>
              </a:p>
              <a:p>
                <a:pPr lvl="1"/>
                <a:r>
                  <a:rPr lang="en-US" dirty="0"/>
                  <a:t>There are no restrictions</a:t>
                </a:r>
              </a:p>
              <a:p>
                <a:pPr lvl="1"/>
                <a:r>
                  <a:rPr lang="en-US" dirty="0"/>
                  <a:t>A says he will be president but not treasurer</a:t>
                </a:r>
              </a:p>
              <a:p>
                <a:pPr lvl="1"/>
                <a:r>
                  <a:rPr lang="en-US" dirty="0"/>
                  <a:t>B and C will serve together or not at all</a:t>
                </a:r>
              </a:p>
              <a:p>
                <a:pPr lvl="1"/>
                <a:r>
                  <a:rPr lang="en-US" dirty="0"/>
                  <a:t>D and E refuse to serve together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t="-922" r="-1630"/>
                </a:stretch>
              </a:blipFill>
            </p:spPr>
            <p:txBody>
              <a:bodyPr/>
              <a:lstStyle/>
              <a:p>
                <a:r>
                  <a:rPr lang="en-US">
                    <a:noFill/>
                  </a:rPr>
                  <a:t> </a:t>
                </a:r>
              </a:p>
            </p:txBody>
          </p:sp>
        </mc:Fallback>
      </mc:AlternateContent>
    </p:spTree>
    <p:extLst>
      <p:ext uri="{BB962C8B-B14F-4D97-AF65-F5344CB8AC3E}">
        <p14:creationId xmlns:p14="http://schemas.microsoft.com/office/powerpoint/2010/main" val="33836043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p:sp>
        <p:nvSpPr>
          <p:cNvPr id="3" name="Content Placeholder 2"/>
          <p:cNvSpPr>
            <a:spLocks noGrp="1"/>
          </p:cNvSpPr>
          <p:nvPr>
            <p:ph idx="1"/>
          </p:nvPr>
        </p:nvSpPr>
        <p:spPr/>
        <p:txBody>
          <a:bodyPr>
            <a:normAutofit lnSpcReduction="10000"/>
          </a:bodyPr>
          <a:lstStyle/>
          <a:p>
            <a:r>
              <a:rPr lang="en-US" dirty="0"/>
              <a:t>The third rule deals with how to find distinct permutations when we don’t distinguish between some objects in a group.</a:t>
            </a:r>
          </a:p>
          <a:p>
            <a:endParaRPr lang="en-US" dirty="0"/>
          </a:p>
          <a:p>
            <a:r>
              <a:rPr lang="en-US" dirty="0"/>
              <a:t>For instance, let’s say in a group of 25 students, there are 10 freshmen, 6 sophomores, 3 juniors, and 6 seniors. How many permutations are there if we only distinguish among the students based on class level?</a:t>
            </a:r>
          </a:p>
        </p:txBody>
      </p:sp>
    </p:spTree>
    <p:extLst>
      <p:ext uri="{BB962C8B-B14F-4D97-AF65-F5344CB8AC3E}">
        <p14:creationId xmlns:p14="http://schemas.microsoft.com/office/powerpoint/2010/main" val="18331650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The rule states that the number of distinct permutations of </a:t>
                </a:r>
                <a14:m>
                  <m:oMath xmlns:m="http://schemas.openxmlformats.org/officeDocument/2006/math">
                    <m:r>
                      <a:rPr lang="en-US" b="0" i="1" smtClean="0">
                        <a:latin typeface="Cambria Math"/>
                      </a:rPr>
                      <m:t>𝑛</m:t>
                    </m:r>
                  </m:oMath>
                </a14:m>
                <a:r>
                  <a:rPr lang="en-US" dirty="0"/>
                  <a:t> things of which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oMath>
                </a14:m>
                <a:r>
                  <a:rPr lang="en-US" dirty="0"/>
                  <a:t> are of one kind,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oMath>
                </a14:m>
                <a:r>
                  <a:rPr lang="en-US" dirty="0"/>
                  <a:t> of a second kind, up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𝑘</m:t>
                        </m:r>
                      </m:sub>
                    </m:sSub>
                  </m:oMath>
                </a14:m>
                <a:r>
                  <a:rPr lang="en-US" dirty="0"/>
                  <a:t> of a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𝑘</m:t>
                        </m:r>
                      </m:e>
                      <m:sup>
                        <m:r>
                          <a:rPr lang="en-US" b="0" i="1" smtClean="0">
                            <a:latin typeface="Cambria Math"/>
                          </a:rPr>
                          <m:t>𝑡h</m:t>
                        </m:r>
                      </m:sup>
                    </m:sSup>
                  </m:oMath>
                </a14:m>
                <a:r>
                  <a:rPr lang="en-US" dirty="0"/>
                  <a:t> kind is:</a:t>
                </a:r>
              </a:p>
              <a:p>
                <a:pPr marL="118872"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𝑛</m:t>
                          </m:r>
                          <m:r>
                            <a:rPr lang="en-US" b="0" i="1" smtClean="0">
                              <a:latin typeface="Cambria Math"/>
                            </a:rPr>
                            <m:t>!</m:t>
                          </m:r>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𝑘</m:t>
                              </m:r>
                            </m:sub>
                          </m:sSub>
                          <m:r>
                            <a:rPr lang="en-US" b="0" i="1" smtClean="0">
                              <a:latin typeface="Cambria Math"/>
                            </a:rPr>
                            <m:t>!</m:t>
                          </m:r>
                        </m:den>
                      </m:f>
                    </m:oMath>
                  </m:oMathPara>
                </a14:m>
                <a:endParaRPr lang="en-US" b="0" dirty="0"/>
              </a:p>
              <a:p>
                <a:endParaRPr lang="en-US" dirty="0"/>
              </a:p>
              <a:p>
                <a:r>
                  <a:rPr lang="en-US" dirty="0"/>
                  <a:t>So for the previous example, there are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25!</m:t>
                        </m:r>
                      </m:num>
                      <m:den>
                        <m:r>
                          <a:rPr lang="en-US" b="0" i="1" smtClean="0">
                            <a:latin typeface="Cambria Math"/>
                          </a:rPr>
                          <m:t>10!6!3!6!</m:t>
                        </m:r>
                      </m:den>
                    </m:f>
                    <m:r>
                      <a:rPr lang="en-US" b="0" i="1" smtClean="0">
                        <a:latin typeface="Cambria Math"/>
                      </a:rPr>
                      <m:t>=1374252079200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713"/>
                </a:stretch>
              </a:blipFill>
            </p:spPr>
            <p:txBody>
              <a:bodyPr/>
              <a:lstStyle/>
              <a:p>
                <a:r>
                  <a:rPr lang="en-US">
                    <a:noFill/>
                  </a:rPr>
                  <a:t> </a:t>
                </a:r>
              </a:p>
            </p:txBody>
          </p:sp>
        </mc:Fallback>
      </mc:AlternateContent>
    </p:spTree>
    <p:extLst>
      <p:ext uri="{BB962C8B-B14F-4D97-AF65-F5344CB8AC3E}">
        <p14:creationId xmlns:p14="http://schemas.microsoft.com/office/powerpoint/2010/main" val="1081778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p:sp>
        <p:nvSpPr>
          <p:cNvPr id="3" name="Content Placeholder 2"/>
          <p:cNvSpPr>
            <a:spLocks noGrp="1"/>
          </p:cNvSpPr>
          <p:nvPr>
            <p:ph idx="1"/>
          </p:nvPr>
        </p:nvSpPr>
        <p:spPr/>
        <p:txBody>
          <a:bodyPr>
            <a:normAutofit/>
          </a:bodyPr>
          <a:lstStyle/>
          <a:p>
            <a:r>
              <a:rPr lang="en-US" dirty="0"/>
              <a:t>In all problems relating to permutations, we are concerned about the ordering of the objects. In applications, we don’t always care about how the objects are ordered. </a:t>
            </a:r>
          </a:p>
          <a:p>
            <a:endParaRPr lang="en-US" dirty="0"/>
          </a:p>
          <a:p>
            <a:r>
              <a:rPr lang="en-US" dirty="0"/>
              <a:t>Such is the case with many lotteries: A ticket with the numbers 4, 5, 22, 17, 39 is the same as a ticket with the numbers 5, 17, 22, 4, 39. </a:t>
            </a:r>
          </a:p>
        </p:txBody>
      </p:sp>
    </p:spTree>
    <p:extLst>
      <p:ext uri="{BB962C8B-B14F-4D97-AF65-F5344CB8AC3E}">
        <p14:creationId xmlns:p14="http://schemas.microsoft.com/office/powerpoint/2010/main" val="3226571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When order is not important, selections of </a:t>
                </a:r>
                <a14:m>
                  <m:oMath xmlns:m="http://schemas.openxmlformats.org/officeDocument/2006/math">
                    <m:r>
                      <a:rPr lang="en-US" b="0" i="1" smtClean="0">
                        <a:latin typeface="Cambria Math"/>
                      </a:rPr>
                      <m:t>𝑟</m:t>
                    </m:r>
                  </m:oMath>
                </a14:m>
                <a:r>
                  <a:rPr lang="en-US" dirty="0"/>
                  <a:t> objects from </a:t>
                </a:r>
                <a14:m>
                  <m:oMath xmlns:m="http://schemas.openxmlformats.org/officeDocument/2006/math">
                    <m:r>
                      <a:rPr lang="en-US" b="0" i="1" smtClean="0">
                        <a:latin typeface="Cambria Math"/>
                      </a:rPr>
                      <m:t>𝑛</m:t>
                    </m:r>
                  </m:oMath>
                </a14:m>
                <a:r>
                  <a:rPr lang="en-US" dirty="0"/>
                  <a:t> total objects are called </a:t>
                </a:r>
                <a:r>
                  <a:rPr lang="en-US" i="1" dirty="0"/>
                  <a:t>combinations.</a:t>
                </a:r>
                <a:r>
                  <a:rPr lang="en-US" dirty="0"/>
                  <a:t> </a:t>
                </a:r>
              </a:p>
              <a:p>
                <a:endParaRPr lang="en-US" dirty="0"/>
              </a:p>
              <a:p>
                <a:r>
                  <a:rPr lang="en-US" dirty="0"/>
                  <a:t>The number of combinations of </a:t>
                </a:r>
                <a14:m>
                  <m:oMath xmlns:m="http://schemas.openxmlformats.org/officeDocument/2006/math">
                    <m:r>
                      <a:rPr lang="en-US" b="0" i="1" smtClean="0">
                        <a:latin typeface="Cambria Math"/>
                      </a:rPr>
                      <m:t>𝑛</m:t>
                    </m:r>
                  </m:oMath>
                </a14:m>
                <a:r>
                  <a:rPr lang="en-US" dirty="0"/>
                  <a:t> distinct objects taken </a:t>
                </a:r>
                <a14:m>
                  <m:oMath xmlns:m="http://schemas.openxmlformats.org/officeDocument/2006/math">
                    <m:r>
                      <a:rPr lang="en-US" b="0" i="1" smtClean="0">
                        <a:latin typeface="Cambria Math"/>
                      </a:rPr>
                      <m:t>𝑟</m:t>
                    </m:r>
                  </m:oMath>
                </a14:m>
                <a:r>
                  <a:rPr lang="en-US" dirty="0"/>
                  <a:t> at a time is </a:t>
                </a:r>
                <a14:m>
                  <m:oMath xmlns:m="http://schemas.openxmlformats.org/officeDocument/2006/math">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𝑛</m:t>
                            </m:r>
                          </m:num>
                          <m:den>
                            <m:r>
                              <a:rPr lang="en-US" b="0" i="1" smtClean="0">
                                <a:latin typeface="Cambria Math"/>
                              </a:rPr>
                              <m:t>𝑟</m:t>
                            </m:r>
                          </m:den>
                        </m:f>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𝑛</m:t>
                        </m:r>
                        <m:r>
                          <a:rPr lang="en-US" b="0" i="1" smtClean="0">
                            <a:latin typeface="Cambria Math"/>
                          </a:rPr>
                          <m:t>!</m:t>
                        </m:r>
                      </m:num>
                      <m:den>
                        <m:r>
                          <a:rPr lang="en-US" b="0" i="1" smtClean="0">
                            <a:latin typeface="Cambria Math"/>
                          </a:rPr>
                          <m:t>𝑟</m:t>
                        </m:r>
                        <m:r>
                          <a:rPr lang="en-US" b="0" i="1" smtClean="0">
                            <a:latin typeface="Cambria Math"/>
                          </a:rPr>
                          <m:t>!</m:t>
                        </m:r>
                        <m:d>
                          <m:dPr>
                            <m:ctrlPr>
                              <a:rPr lang="en-US" b="0" i="1" smtClean="0">
                                <a:latin typeface="Cambria Math" panose="02040503050406030204" pitchFamily="18" charset="0"/>
                              </a:rPr>
                            </m:ctrlPr>
                          </m:dPr>
                          <m:e>
                            <m:r>
                              <a:rPr lang="en-US" b="0" i="1" smtClean="0">
                                <a:latin typeface="Cambria Math"/>
                              </a:rPr>
                              <m:t>𝑛</m:t>
                            </m:r>
                            <m:r>
                              <a:rPr lang="en-US" b="0" i="1" smtClean="0">
                                <a:latin typeface="Cambria Math"/>
                              </a:rPr>
                              <m:t>−</m:t>
                            </m:r>
                            <m:r>
                              <a:rPr lang="en-US" b="0" i="1" smtClean="0">
                                <a:latin typeface="Cambria Math"/>
                              </a:rPr>
                              <m:t>𝑟</m:t>
                            </m:r>
                          </m:e>
                        </m:d>
                        <m:r>
                          <a:rPr lang="en-US" b="0" i="1" smtClean="0">
                            <a:latin typeface="Cambria Math"/>
                          </a:rPr>
                          <m:t>!</m:t>
                        </m:r>
                      </m:den>
                    </m:f>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a:stretch>
              </a:blipFill>
            </p:spPr>
            <p:txBody>
              <a:bodyPr/>
              <a:lstStyle/>
              <a:p>
                <a:r>
                  <a:rPr lang="en-US">
                    <a:noFill/>
                  </a:rPr>
                  <a:t> </a:t>
                </a:r>
              </a:p>
            </p:txBody>
          </p:sp>
        </mc:Fallback>
      </mc:AlternateContent>
    </p:spTree>
    <p:extLst>
      <p:ext uri="{BB962C8B-B14F-4D97-AF65-F5344CB8AC3E}">
        <p14:creationId xmlns:p14="http://schemas.microsoft.com/office/powerpoint/2010/main" val="26300453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 Counting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Given 8 candidates for a job, how many ways are there to select 3 of them for interviews if we are not ranking the three candidates until after the interviews?</a:t>
                </a:r>
              </a:p>
              <a:p>
                <a:endParaRPr lang="en-US" dirty="0"/>
              </a:p>
              <a:p>
                <a:r>
                  <a:rPr lang="en-US" dirty="0"/>
                  <a:t>Since order (rank) is not important, we simply use the formula </a:t>
                </a:r>
                <a14:m>
                  <m:oMath xmlns:m="http://schemas.openxmlformats.org/officeDocument/2006/math">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8</m:t>
                            </m:r>
                          </m:num>
                          <m:den>
                            <m:r>
                              <a:rPr lang="en-US" b="0" i="1" smtClean="0">
                                <a:latin typeface="Cambria Math"/>
                              </a:rPr>
                              <m:t>3</m:t>
                            </m:r>
                          </m:den>
                        </m:f>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8!</m:t>
                        </m:r>
                      </m:num>
                      <m:den>
                        <m:r>
                          <a:rPr lang="en-US" b="0" i="1" smtClean="0">
                            <a:latin typeface="Cambria Math"/>
                          </a:rPr>
                          <m:t>3!5!</m:t>
                        </m:r>
                      </m:den>
                    </m:f>
                    <m:r>
                      <a:rPr lang="en-US" b="0" i="1" smtClean="0">
                        <a:latin typeface="Cambria Math"/>
                      </a:rPr>
                      <m:t>=56</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2370"/>
                </a:stretch>
              </a:blipFill>
            </p:spPr>
            <p:txBody>
              <a:bodyPr/>
              <a:lstStyle/>
              <a:p>
                <a:r>
                  <a:rPr lang="en-US">
                    <a:noFill/>
                  </a:rPr>
                  <a:t> </a:t>
                </a:r>
              </a:p>
            </p:txBody>
          </p:sp>
        </mc:Fallback>
      </mc:AlternateContent>
    </p:spTree>
    <p:extLst>
      <p:ext uri="{BB962C8B-B14F-4D97-AF65-F5344CB8AC3E}">
        <p14:creationId xmlns:p14="http://schemas.microsoft.com/office/powerpoint/2010/main" val="13404883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p:sp>
        <p:nvSpPr>
          <p:cNvPr id="3" name="Content Placeholder 2"/>
          <p:cNvSpPr>
            <a:spLocks noGrp="1"/>
          </p:cNvSpPr>
          <p:nvPr>
            <p:ph idx="1"/>
          </p:nvPr>
        </p:nvSpPr>
        <p:spPr/>
        <p:txBody>
          <a:bodyPr>
            <a:normAutofit fontScale="92500" lnSpcReduction="10000"/>
          </a:bodyPr>
          <a:lstStyle/>
          <a:p>
            <a:r>
              <a:rPr lang="en-US" dirty="0"/>
              <a:t>The transition from counting sample points to calculating the probability of an event should be pretty painless. With the foundation we have set in the preceding three sections, 2.4 and 2.5 follow fairly naturally.</a:t>
            </a:r>
          </a:p>
          <a:p>
            <a:endParaRPr lang="en-US" dirty="0"/>
          </a:p>
          <a:p>
            <a:r>
              <a:rPr lang="en-US" dirty="0"/>
              <a:t>Through the rest of the chapter, we will only discuss experiments where the sample space contains a finite number of elements. We will explore other possibilities in future chapters.</a:t>
            </a:r>
          </a:p>
        </p:txBody>
      </p:sp>
    </p:spTree>
    <p:extLst>
      <p:ext uri="{BB962C8B-B14F-4D97-AF65-F5344CB8AC3E}">
        <p14:creationId xmlns:p14="http://schemas.microsoft.com/office/powerpoint/2010/main" val="29225432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define the </a:t>
                </a:r>
                <a:r>
                  <a:rPr lang="en-US" i="1" dirty="0"/>
                  <a:t>probability of an event</a:t>
                </a:r>
                <a:r>
                  <a:rPr lang="en-US" dirty="0"/>
                  <a:t> </a:t>
                </a:r>
                <a14:m>
                  <m:oMath xmlns:m="http://schemas.openxmlformats.org/officeDocument/2006/math">
                    <m:r>
                      <a:rPr lang="en-US" b="0" i="1" smtClean="0">
                        <a:latin typeface="Cambria Math"/>
                      </a:rPr>
                      <m:t>𝐴</m:t>
                    </m:r>
                  </m:oMath>
                </a14:m>
                <a:r>
                  <a:rPr lang="en-US" dirty="0"/>
                  <a:t> to be the sum of the weights (probabilities) of all sample points in </a:t>
                </a:r>
                <a14:m>
                  <m:oMath xmlns:m="http://schemas.openxmlformats.org/officeDocument/2006/math">
                    <m:r>
                      <a:rPr lang="en-US" b="0" i="1" smtClean="0">
                        <a:latin typeface="Cambria Math"/>
                      </a:rPr>
                      <m:t>𝐴</m:t>
                    </m:r>
                  </m:oMath>
                </a14:m>
                <a:r>
                  <a:rPr lang="en-US" dirty="0"/>
                  <a:t>. </a:t>
                </a:r>
              </a:p>
              <a:p>
                <a:endParaRPr lang="en-US" dirty="0"/>
              </a:p>
              <a:p>
                <a:r>
                  <a:rPr lang="en-US" dirty="0"/>
                  <a:t>We have three essential properties of probability:</a:t>
                </a:r>
              </a:p>
              <a:p>
                <a:pPr lvl="1"/>
                <a14:m>
                  <m:oMath xmlns:m="http://schemas.openxmlformats.org/officeDocument/2006/math">
                    <m:r>
                      <a:rPr lang="en-US" b="0" i="1" smtClean="0">
                        <a:latin typeface="Cambria Math"/>
                      </a:rPr>
                      <m:t>0≤</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≤1</m:t>
                    </m:r>
                  </m:oMath>
                </a14:m>
                <a:endParaRPr lang="en-US" b="0"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m:t>
                        </m:r>
                      </m:e>
                    </m:d>
                    <m:r>
                      <a:rPr lang="en-US" b="0" i="1" smtClean="0">
                        <a:latin typeface="Cambria Math"/>
                      </a:rPr>
                      <m:t>=0</m:t>
                    </m:r>
                  </m:oMath>
                </a14:m>
                <a:endParaRPr lang="en-US" b="0"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𝑆</m:t>
                        </m:r>
                      </m:e>
                    </m:d>
                    <m:r>
                      <a:rPr lang="en-US" b="0" i="1" smtClean="0">
                        <a:latin typeface="Cambria Math"/>
                      </a:rPr>
                      <m:t>=1</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a:stretch>
              </a:blipFill>
            </p:spPr>
            <p:txBody>
              <a:bodyPr/>
              <a:lstStyle/>
              <a:p>
                <a:r>
                  <a:rPr lang="en-US">
                    <a:noFill/>
                  </a:rPr>
                  <a:t> </a:t>
                </a:r>
              </a:p>
            </p:txBody>
          </p:sp>
        </mc:Fallback>
      </mc:AlternateContent>
    </p:spTree>
    <p:extLst>
      <p:ext uri="{BB962C8B-B14F-4D97-AF65-F5344CB8AC3E}">
        <p14:creationId xmlns:p14="http://schemas.microsoft.com/office/powerpoint/2010/main" val="2314895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also have for a sequence of </a:t>
                </a:r>
                <a:r>
                  <a:rPr lang="en-US" i="1" dirty="0"/>
                  <a:t>mutually exclusive</a:t>
                </a:r>
                <a:r>
                  <a:rPr lang="en-US" dirty="0"/>
                  <a:t> events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2</m:t>
                        </m:r>
                      </m:sub>
                    </m:sSub>
                    <m:r>
                      <a:rPr lang="en-US" b="0" i="1" smtClean="0">
                        <a:latin typeface="Cambria Math"/>
                      </a:rPr>
                      <m:t>, …</m:t>
                    </m:r>
                  </m:oMath>
                </a14:m>
                <a:r>
                  <a:rPr lang="en-US" dirty="0"/>
                  <a:t>,  </a:t>
                </a:r>
                <a14:m>
                  <m:oMath xmlns:m="http://schemas.openxmlformats.org/officeDocument/2006/math">
                    <m:r>
                      <a:rPr lang="en-US" b="0" i="1" dirty="0" smtClean="0">
                        <a:latin typeface="Cambria Math"/>
                      </a:rPr>
                      <m:t>𝑃</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a:rPr>
                              <m:t>𝐴</m:t>
                            </m:r>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𝐴</m:t>
                            </m:r>
                          </m:e>
                          <m:sub>
                            <m:r>
                              <a:rPr lang="en-US" b="0" i="1" dirty="0" smtClean="0">
                                <a:latin typeface="Cambria Math"/>
                              </a:rPr>
                              <m:t>2</m:t>
                            </m:r>
                          </m:sub>
                        </m:sSub>
                        <m:r>
                          <a:rPr lang="en-US" b="0" i="1" dirty="0" smtClean="0">
                            <a:latin typeface="Cambria Math"/>
                          </a:rPr>
                          <m:t>∪…</m:t>
                        </m:r>
                      </m:e>
                    </m:d>
                    <m:r>
                      <a:rPr lang="en-US" b="0" i="1" dirty="0" smtClean="0">
                        <a:latin typeface="Cambria Math"/>
                      </a:rPr>
                      <m:t>=</m:t>
                    </m:r>
                    <m:r>
                      <a:rPr lang="en-US" b="0" i="1" dirty="0" smtClean="0">
                        <a:latin typeface="Cambria Math"/>
                      </a:rPr>
                      <m:t>𝑃</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a:rPr>
                              <m:t>𝐴</m:t>
                            </m:r>
                          </m:e>
                          <m:sub>
                            <m:r>
                              <a:rPr lang="en-US" b="0" i="1" dirty="0" smtClean="0">
                                <a:latin typeface="Cambria Math"/>
                              </a:rPr>
                              <m:t>1</m:t>
                            </m:r>
                          </m:sub>
                        </m:sSub>
                      </m:e>
                    </m:d>
                    <m:r>
                      <a:rPr lang="en-US" b="0" i="1" dirty="0" smtClean="0">
                        <a:latin typeface="Cambria Math"/>
                      </a:rPr>
                      <m:t>+</m:t>
                    </m:r>
                    <m:r>
                      <a:rPr lang="en-US" b="0" i="1" dirty="0" smtClean="0">
                        <a:latin typeface="Cambria Math"/>
                      </a:rPr>
                      <m:t>𝑃</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a:rPr>
                              <m:t>𝐴</m:t>
                            </m:r>
                          </m:e>
                          <m:sub>
                            <m:r>
                              <a:rPr lang="en-US" b="0" i="1" dirty="0" smtClean="0">
                                <a:latin typeface="Cambria Math"/>
                              </a:rPr>
                              <m:t>2</m:t>
                            </m:r>
                          </m:sub>
                        </m:sSub>
                      </m:e>
                    </m:d>
                    <m:r>
                      <a:rPr lang="en-US" b="0" i="1" dirty="0" smtClean="0">
                        <a:latin typeface="Cambria Math"/>
                      </a:rPr>
                      <m:t>+…</m:t>
                    </m:r>
                  </m:oMath>
                </a14:m>
                <a:r>
                  <a:rPr lang="en-US" dirty="0"/>
                  <a:t>. </a:t>
                </a:r>
              </a:p>
              <a:p>
                <a:endParaRPr lang="en-US" dirty="0"/>
              </a:p>
              <a:p>
                <a:r>
                  <a:rPr lang="en-US" dirty="0"/>
                  <a:t>Example: Find the probability that at least one tail will occur in two tosses of a coin.</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a:stretch>
              </a:blipFill>
            </p:spPr>
            <p:txBody>
              <a:bodyPr/>
              <a:lstStyle/>
              <a:p>
                <a:r>
                  <a:rPr lang="en-US">
                    <a:noFill/>
                  </a:rPr>
                  <a:t> </a:t>
                </a:r>
              </a:p>
            </p:txBody>
          </p:sp>
        </mc:Fallback>
      </mc:AlternateContent>
    </p:spTree>
    <p:extLst>
      <p:ext uri="{BB962C8B-B14F-4D97-AF65-F5344CB8AC3E}">
        <p14:creationId xmlns:p14="http://schemas.microsoft.com/office/powerpoint/2010/main" val="2079634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endParaRPr lang="en-US" dirty="0"/>
              </a:p>
              <a:p>
                <a:r>
                  <a:rPr lang="en-US" dirty="0"/>
                  <a:t>We know that </a:t>
                </a:r>
                <a14:m>
                  <m:oMath xmlns:m="http://schemas.openxmlformats.org/officeDocument/2006/math">
                    <m:r>
                      <a:rPr lang="en-US" b="0" i="1" smtClean="0">
                        <a:latin typeface="Cambria Math"/>
                      </a:rPr>
                      <m:t>𝑆</m:t>
                    </m:r>
                    <m:r>
                      <a:rPr lang="en-US" b="0" i="1" smtClean="0">
                        <a:latin typeface="Cambria Math"/>
                      </a:rPr>
                      <m:t>={</m:t>
                    </m:r>
                    <m:r>
                      <a:rPr lang="en-US" b="0" i="1" smtClean="0">
                        <a:latin typeface="Cambria Math"/>
                      </a:rPr>
                      <m:t>𝐻𝐻</m:t>
                    </m:r>
                    <m:r>
                      <a:rPr lang="en-US" b="0" i="1" smtClean="0">
                        <a:latin typeface="Cambria Math"/>
                      </a:rPr>
                      <m:t>, </m:t>
                    </m:r>
                    <m:r>
                      <a:rPr lang="en-US" b="0" i="1" smtClean="0">
                        <a:latin typeface="Cambria Math"/>
                      </a:rPr>
                      <m:t>𝐻𝑇</m:t>
                    </m:r>
                    <m:r>
                      <a:rPr lang="en-US" b="0" i="1" smtClean="0">
                        <a:latin typeface="Cambria Math"/>
                      </a:rPr>
                      <m:t>, </m:t>
                    </m:r>
                    <m:r>
                      <a:rPr lang="en-US" b="0" i="1" smtClean="0">
                        <a:latin typeface="Cambria Math"/>
                      </a:rPr>
                      <m:t>𝑇𝐻</m:t>
                    </m:r>
                    <m:r>
                      <a:rPr lang="en-US" b="0" i="1" smtClean="0">
                        <a:latin typeface="Cambria Math"/>
                      </a:rPr>
                      <m:t>, </m:t>
                    </m:r>
                    <m:r>
                      <a:rPr lang="en-US" b="0" i="1" smtClean="0">
                        <a:latin typeface="Cambria Math"/>
                      </a:rPr>
                      <m:t>𝑇𝑇</m:t>
                    </m:r>
                    <m:r>
                      <a:rPr lang="en-US" b="0" i="1" smtClean="0">
                        <a:latin typeface="Cambria Math"/>
                      </a:rPr>
                      <m:t>}</m:t>
                    </m:r>
                  </m:oMath>
                </a14:m>
                <a:r>
                  <a:rPr lang="en-US" dirty="0"/>
                  <a:t> and </a:t>
                </a:r>
                <a14:m>
                  <m:oMath xmlns:m="http://schemas.openxmlformats.org/officeDocument/2006/math">
                    <m:r>
                      <a:rPr lang="en-US" b="0" i="1" smtClean="0">
                        <a:latin typeface="Cambria Math"/>
                      </a:rPr>
                      <m:t>𝐴</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𝐻𝑇</m:t>
                        </m:r>
                        <m:r>
                          <a:rPr lang="en-US" b="0" i="1" smtClean="0">
                            <a:latin typeface="Cambria Math"/>
                          </a:rPr>
                          <m:t>, </m:t>
                        </m:r>
                        <m:r>
                          <a:rPr lang="en-US" b="0" i="1" smtClean="0">
                            <a:latin typeface="Cambria Math"/>
                          </a:rPr>
                          <m:t>𝑇𝐻</m:t>
                        </m:r>
                        <m:r>
                          <a:rPr lang="en-US" b="0" i="1" smtClean="0">
                            <a:latin typeface="Cambria Math"/>
                          </a:rPr>
                          <m:t>, </m:t>
                        </m:r>
                        <m:r>
                          <a:rPr lang="en-US" b="0" i="1" smtClean="0">
                            <a:latin typeface="Cambria Math"/>
                          </a:rPr>
                          <m:t>𝑇𝑇</m:t>
                        </m:r>
                      </m:e>
                    </m:d>
                    <m:r>
                      <a:rPr lang="en-US" b="0" i="1" smtClean="0">
                        <a:latin typeface="Cambria Math"/>
                      </a:rPr>
                      <m:t>.</m:t>
                    </m:r>
                  </m:oMath>
                </a14:m>
                <a:r>
                  <a:rPr lang="en-US" dirty="0"/>
                  <a:t> Assuming that the coin is fair, each of these outcomes is equally likely to occur. Assigning a probability of </a:t>
                </a:r>
                <a14:m>
                  <m:oMath xmlns:m="http://schemas.openxmlformats.org/officeDocument/2006/math">
                    <m:r>
                      <a:rPr lang="en-US" b="0" i="1" smtClean="0">
                        <a:latin typeface="Cambria Math"/>
                      </a:rPr>
                      <m:t>𝜔</m:t>
                    </m:r>
                  </m:oMath>
                </a14:m>
                <a:r>
                  <a:rPr lang="en-US" dirty="0"/>
                  <a:t> to each sample point in </a:t>
                </a:r>
                <a14:m>
                  <m:oMath xmlns:m="http://schemas.openxmlformats.org/officeDocument/2006/math">
                    <m:r>
                      <a:rPr lang="en-US" b="0" i="1" smtClean="0">
                        <a:latin typeface="Cambria Math"/>
                      </a:rPr>
                      <m:t>𝑆</m:t>
                    </m:r>
                  </m:oMath>
                </a14:m>
                <a:r>
                  <a:rPr lang="en-US" dirty="0"/>
                  <a:t>, we know that </a:t>
                </a:r>
                <a14:m>
                  <m:oMath xmlns:m="http://schemas.openxmlformats.org/officeDocument/2006/math">
                    <m:r>
                      <a:rPr lang="en-US" b="0" i="1" smtClean="0">
                        <a:latin typeface="Cambria Math"/>
                      </a:rPr>
                      <m:t>𝜔</m:t>
                    </m:r>
                    <m:r>
                      <a:rPr lang="en-US" b="0" i="1" smtClean="0">
                        <a:latin typeface="Cambria Math"/>
                      </a:rPr>
                      <m:t>+</m:t>
                    </m:r>
                    <m:r>
                      <a:rPr lang="en-US" b="0" i="1" smtClean="0">
                        <a:latin typeface="Cambria Math"/>
                      </a:rPr>
                      <m:t>𝜔</m:t>
                    </m:r>
                    <m:r>
                      <a:rPr lang="en-US" b="0" i="1" smtClean="0">
                        <a:latin typeface="Cambria Math"/>
                      </a:rPr>
                      <m:t>+</m:t>
                    </m:r>
                    <m:r>
                      <a:rPr lang="en-US" b="0" i="1" smtClean="0">
                        <a:latin typeface="Cambria Math"/>
                      </a:rPr>
                      <m:t>𝜔</m:t>
                    </m:r>
                    <m:r>
                      <a:rPr lang="en-US" b="0" i="1" smtClean="0">
                        <a:latin typeface="Cambria Math"/>
                      </a:rPr>
                      <m:t>+</m:t>
                    </m:r>
                    <m:r>
                      <a:rPr lang="en-US" b="0" i="1" smtClean="0">
                        <a:latin typeface="Cambria Math"/>
                      </a:rPr>
                      <m:t>𝜔</m:t>
                    </m:r>
                    <m:r>
                      <a:rPr lang="en-US" b="0" i="1" smtClean="0">
                        <a:latin typeface="Cambria Math"/>
                      </a:rPr>
                      <m:t>=4</m:t>
                    </m:r>
                    <m:r>
                      <a:rPr lang="en-US" b="0" i="1" smtClean="0">
                        <a:latin typeface="Cambria Math"/>
                      </a:rPr>
                      <m:t>𝜔</m:t>
                    </m:r>
                    <m:r>
                      <a:rPr lang="en-US" b="0" i="1" smtClean="0">
                        <a:latin typeface="Cambria Math"/>
                      </a:rPr>
                      <m:t>=1⇒</m:t>
                    </m:r>
                    <m:r>
                      <a:rPr lang="en-US" b="0" i="1" smtClean="0">
                        <a:latin typeface="Cambria Math"/>
                      </a:rPr>
                      <m:t>𝜔</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oMath>
                </a14:m>
                <a:r>
                  <a:rPr lang="en-US" dirty="0"/>
                  <a:t>. </a:t>
                </a:r>
              </a:p>
              <a:p>
                <a:endParaRPr lang="en-US" dirty="0"/>
              </a:p>
              <a:p>
                <a:r>
                  <a:rPr lang="en-US" dirty="0"/>
                  <a:t>Thus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3</m:t>
                        </m:r>
                      </m:num>
                      <m:den>
                        <m:r>
                          <a:rPr lang="en-US" b="0" i="1" smtClean="0">
                            <a:latin typeface="Cambria Math"/>
                          </a:rPr>
                          <m:t>4</m:t>
                        </m:r>
                      </m:den>
                    </m:f>
                    <m:r>
                      <a:rPr lang="en-US" b="0" i="1" smtClean="0">
                        <a:latin typeface="Cambria Math"/>
                      </a:rPr>
                      <m:t>.</m:t>
                    </m:r>
                  </m:oMath>
                </a14:m>
                <a:r>
                  <a:rPr lang="en-US" dirty="0"/>
                  <a:t> This demonstrates the idea that the probability of </a:t>
                </a:r>
                <a14:m>
                  <m:oMath xmlns:m="http://schemas.openxmlformats.org/officeDocument/2006/math">
                    <m:r>
                      <a:rPr lang="en-US" b="0" i="1" smtClean="0">
                        <a:latin typeface="Cambria Math"/>
                      </a:rPr>
                      <m:t>𝐴</m:t>
                    </m:r>
                  </m:oMath>
                </a14:m>
                <a:r>
                  <a:rPr lang="en-US" dirty="0"/>
                  <a:t> is the sum of the weights of all sample points in </a:t>
                </a:r>
                <a14:m>
                  <m:oMath xmlns:m="http://schemas.openxmlformats.org/officeDocument/2006/math">
                    <m:r>
                      <a:rPr lang="en-US" b="0" i="1" smtClean="0">
                        <a:latin typeface="Cambria Math"/>
                      </a:rPr>
                      <m:t>𝐴</m:t>
                    </m:r>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1704" b="-922"/>
                </a:stretch>
              </a:blipFill>
            </p:spPr>
            <p:txBody>
              <a:bodyPr/>
              <a:lstStyle/>
              <a:p>
                <a:r>
                  <a:rPr lang="en-US">
                    <a:noFill/>
                  </a:rPr>
                  <a:t> </a:t>
                </a:r>
              </a:p>
            </p:txBody>
          </p:sp>
        </mc:Fallback>
      </mc:AlternateContent>
    </p:spTree>
    <p:extLst>
      <p:ext uri="{BB962C8B-B14F-4D97-AF65-F5344CB8AC3E}">
        <p14:creationId xmlns:p14="http://schemas.microsoft.com/office/powerpoint/2010/main" val="20955083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Suppose a die is loaded so that even numbers are twice as likely to show up as odd numbers. If </a:t>
                </a:r>
                <a14:m>
                  <m:oMath xmlns:m="http://schemas.openxmlformats.org/officeDocument/2006/math">
                    <m:r>
                      <a:rPr lang="en-US" b="0" i="1" smtClean="0">
                        <a:latin typeface="Cambria Math"/>
                      </a:rPr>
                      <m:t>𝐵</m:t>
                    </m:r>
                  </m:oMath>
                </a14:m>
                <a:r>
                  <a:rPr lang="en-US" dirty="0"/>
                  <a:t> is the event that a 1, 2, or 3 is rolled, find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𝐵</m:t>
                    </m:r>
                    <m:r>
                      <a:rPr lang="en-US" b="0" i="1" smtClean="0">
                        <a:latin typeface="Cambria Math"/>
                      </a:rPr>
                      <m:t>)</m:t>
                    </m:r>
                  </m:oMath>
                </a14:m>
                <a:r>
                  <a:rPr lang="en-US" dirty="0"/>
                  <a:t>.</a:t>
                </a:r>
              </a:p>
              <a:p>
                <a:endParaRPr lang="en-US" dirty="0"/>
              </a:p>
              <a:p>
                <a:r>
                  <a:rPr lang="en-US" dirty="0"/>
                  <a:t>Since not all outcomes are equally likely, we have to be a little more careful now. Let’s have </a:t>
                </a:r>
                <a14:m>
                  <m:oMath xmlns:m="http://schemas.openxmlformats.org/officeDocument/2006/math">
                    <m:r>
                      <a:rPr lang="en-US" b="0" i="1" smtClean="0">
                        <a:latin typeface="Cambria Math"/>
                      </a:rPr>
                      <m:t>𝜔</m:t>
                    </m:r>
                  </m:oMath>
                </a14:m>
                <a:r>
                  <a:rPr lang="en-US" dirty="0"/>
                  <a:t> be the probability of rolling an odd so that </a:t>
                </a:r>
                <a14:m>
                  <m:oMath xmlns:m="http://schemas.openxmlformats.org/officeDocument/2006/math">
                    <m:r>
                      <a:rPr lang="en-US" b="0" i="1" smtClean="0">
                        <a:latin typeface="Cambria Math"/>
                      </a:rPr>
                      <m:t>2</m:t>
                    </m:r>
                    <m:r>
                      <a:rPr lang="en-US" b="0" i="1" smtClean="0">
                        <a:latin typeface="Cambria Math"/>
                      </a:rPr>
                      <m:t>𝜔</m:t>
                    </m:r>
                  </m:oMath>
                </a14:m>
                <a:r>
                  <a:rPr lang="en-US" dirty="0"/>
                  <a:t> is the probability of rolling an even.</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1037" b="-2372"/>
                </a:stretch>
              </a:blipFill>
            </p:spPr>
            <p:txBody>
              <a:bodyPr/>
              <a:lstStyle/>
              <a:p>
                <a:r>
                  <a:rPr lang="en-US">
                    <a:noFill/>
                  </a:rPr>
                  <a:t> </a:t>
                </a:r>
              </a:p>
            </p:txBody>
          </p:sp>
        </mc:Fallback>
      </mc:AlternateContent>
    </p:spTree>
    <p:extLst>
      <p:ext uri="{BB962C8B-B14F-4D97-AF65-F5344CB8AC3E}">
        <p14:creationId xmlns:p14="http://schemas.microsoft.com/office/powerpoint/2010/main" val="912701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As there are three evens and three odds in the sample space, we have </a:t>
                </a:r>
                <a14:m>
                  <m:oMath xmlns:m="http://schemas.openxmlformats.org/officeDocument/2006/math">
                    <m:r>
                      <a:rPr lang="en-US" b="0" i="1" smtClean="0">
                        <a:latin typeface="Cambria Math"/>
                      </a:rPr>
                      <m:t>𝜔</m:t>
                    </m:r>
                    <m:r>
                      <a:rPr lang="en-US" b="0" i="1" smtClean="0">
                        <a:latin typeface="Cambria Math"/>
                      </a:rPr>
                      <m:t>+2</m:t>
                    </m:r>
                    <m:r>
                      <a:rPr lang="en-US" b="0" i="1" smtClean="0">
                        <a:latin typeface="Cambria Math"/>
                      </a:rPr>
                      <m:t>𝜔</m:t>
                    </m:r>
                    <m:r>
                      <a:rPr lang="en-US" b="0" i="1" smtClean="0">
                        <a:latin typeface="Cambria Math"/>
                      </a:rPr>
                      <m:t>+</m:t>
                    </m:r>
                    <m:r>
                      <a:rPr lang="en-US" b="0" i="1" smtClean="0">
                        <a:latin typeface="Cambria Math"/>
                      </a:rPr>
                      <m:t>𝜔</m:t>
                    </m:r>
                    <m:r>
                      <a:rPr lang="en-US" b="0" i="1" smtClean="0">
                        <a:latin typeface="Cambria Math"/>
                      </a:rPr>
                      <m:t>+2</m:t>
                    </m:r>
                    <m:r>
                      <a:rPr lang="en-US" b="0" i="1" smtClean="0">
                        <a:latin typeface="Cambria Math"/>
                      </a:rPr>
                      <m:t>𝜔</m:t>
                    </m:r>
                    <m:r>
                      <a:rPr lang="en-US" b="0" i="1" smtClean="0">
                        <a:latin typeface="Cambria Math"/>
                      </a:rPr>
                      <m:t>+</m:t>
                    </m:r>
                    <m:r>
                      <a:rPr lang="en-US" b="0" i="1" smtClean="0">
                        <a:latin typeface="Cambria Math"/>
                      </a:rPr>
                      <m:t>𝜔</m:t>
                    </m:r>
                    <m:r>
                      <a:rPr lang="en-US" b="0" i="1" smtClean="0">
                        <a:latin typeface="Cambria Math"/>
                      </a:rPr>
                      <m:t>+2</m:t>
                    </m:r>
                    <m:r>
                      <a:rPr lang="en-US" b="0" i="1" smtClean="0">
                        <a:latin typeface="Cambria Math"/>
                      </a:rPr>
                      <m:t>𝜔</m:t>
                    </m:r>
                    <m:r>
                      <a:rPr lang="en-US" b="0" i="1" smtClean="0">
                        <a:latin typeface="Cambria Math"/>
                      </a:rPr>
                      <m:t>=1⇒9</m:t>
                    </m:r>
                    <m:r>
                      <a:rPr lang="en-US" b="0" i="1" smtClean="0">
                        <a:latin typeface="Cambria Math"/>
                      </a:rPr>
                      <m:t>𝜔</m:t>
                    </m:r>
                    <m:r>
                      <a:rPr lang="en-US" b="0" i="1" smtClean="0">
                        <a:latin typeface="Cambria Math"/>
                      </a:rPr>
                      <m:t>=1⇒</m:t>
                    </m:r>
                    <m:r>
                      <a:rPr lang="en-US" b="0" i="1" smtClean="0">
                        <a:latin typeface="Cambria Math"/>
                      </a:rPr>
                      <m:t>𝜔</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9</m:t>
                        </m:r>
                      </m:den>
                    </m:f>
                  </m:oMath>
                </a14:m>
                <a:r>
                  <a:rPr lang="en-US" dirty="0"/>
                  <a:t>.</a:t>
                </a:r>
              </a:p>
              <a:p>
                <a:endParaRPr lang="en-US" dirty="0"/>
              </a:p>
              <a:p>
                <a:r>
                  <a:rPr lang="en-US" dirty="0"/>
                  <a:t>Thus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9</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2</m:t>
                        </m:r>
                      </m:num>
                      <m:den>
                        <m:r>
                          <a:rPr lang="en-US" b="0" i="1" smtClean="0">
                            <a:latin typeface="Cambria Math"/>
                          </a:rPr>
                          <m:t>9</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9</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4</m:t>
                        </m:r>
                      </m:num>
                      <m:den>
                        <m:r>
                          <a:rPr lang="en-US" b="0" i="1" smtClean="0">
                            <a:latin typeface="Cambria Math"/>
                          </a:rPr>
                          <m:t>9</m:t>
                        </m:r>
                      </m:den>
                    </m:f>
                  </m:oMath>
                </a14:m>
                <a:r>
                  <a:rPr lang="en-US" dirty="0"/>
                  <a:t> (since there are two odd numbers and one even in the event).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593"/>
                </a:stretch>
              </a:blipFill>
            </p:spPr>
            <p:txBody>
              <a:bodyPr/>
              <a:lstStyle/>
              <a:p>
                <a:r>
                  <a:rPr lang="en-US">
                    <a:noFill/>
                  </a:rPr>
                  <a:t> </a:t>
                </a:r>
              </a:p>
            </p:txBody>
          </p:sp>
        </mc:Fallback>
      </mc:AlternateContent>
    </p:spTree>
    <p:extLst>
      <p:ext uri="{BB962C8B-B14F-4D97-AF65-F5344CB8AC3E}">
        <p14:creationId xmlns:p14="http://schemas.microsoft.com/office/powerpoint/2010/main" val="2386100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will focus mostly on cases where all outcomes in the sample space are equally likely to occur. In such cases, there is a simple rule for computing probabilities.</a:t>
                </a:r>
              </a:p>
              <a:p>
                <a:endParaRPr lang="en-US" dirty="0"/>
              </a:p>
              <a:p>
                <a:r>
                  <a:rPr lang="en-US" dirty="0"/>
                  <a:t>The idea is that we divide the number of outcomes in </a:t>
                </a:r>
                <a14:m>
                  <m:oMath xmlns:m="http://schemas.openxmlformats.org/officeDocument/2006/math">
                    <m:r>
                      <a:rPr lang="en-US" b="0" i="1" smtClean="0">
                        <a:latin typeface="Cambria Math"/>
                      </a:rPr>
                      <m:t>𝐴</m:t>
                    </m:r>
                  </m:oMath>
                </a14:m>
                <a:r>
                  <a:rPr lang="en-US" dirty="0"/>
                  <a:t> by the number of outcomes in </a:t>
                </a:r>
                <a14:m>
                  <m:oMath xmlns:m="http://schemas.openxmlformats.org/officeDocument/2006/math">
                    <m:r>
                      <a:rPr lang="en-US" b="0" i="1" smtClean="0">
                        <a:latin typeface="Cambria Math"/>
                      </a:rPr>
                      <m:t>𝑆</m:t>
                    </m:r>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1259"/>
                </a:stretch>
              </a:blipFill>
            </p:spPr>
            <p:txBody>
              <a:bodyPr/>
              <a:lstStyle/>
              <a:p>
                <a:r>
                  <a:rPr lang="en-US">
                    <a:noFill/>
                  </a:rPr>
                  <a:t> </a:t>
                </a:r>
              </a:p>
            </p:txBody>
          </p:sp>
        </mc:Fallback>
      </mc:AlternateContent>
    </p:spTree>
    <p:extLst>
      <p:ext uri="{BB962C8B-B14F-4D97-AF65-F5344CB8AC3E}">
        <p14:creationId xmlns:p14="http://schemas.microsoft.com/office/powerpoint/2010/main" val="32274812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Rule: If an experiment can result in any one of </a:t>
                </a:r>
                <a14:m>
                  <m:oMath xmlns:m="http://schemas.openxmlformats.org/officeDocument/2006/math">
                    <m:r>
                      <a:rPr lang="en-US" b="0" i="1" smtClean="0">
                        <a:latin typeface="Cambria Math"/>
                      </a:rPr>
                      <m:t>𝑁</m:t>
                    </m:r>
                  </m:oMath>
                </a14:m>
                <a:r>
                  <a:rPr lang="en-US" dirty="0"/>
                  <a:t> different equally likely outcomes, and if exactly </a:t>
                </a:r>
                <a14:m>
                  <m:oMath xmlns:m="http://schemas.openxmlformats.org/officeDocument/2006/math">
                    <m:r>
                      <a:rPr lang="en-US" b="0" i="1" smtClean="0">
                        <a:latin typeface="Cambria Math"/>
                      </a:rPr>
                      <m:t>𝑛</m:t>
                    </m:r>
                  </m:oMath>
                </a14:m>
                <a:r>
                  <a:rPr lang="en-US" dirty="0"/>
                  <a:t> of these outcomes correspond to event </a:t>
                </a:r>
                <a14:m>
                  <m:oMath xmlns:m="http://schemas.openxmlformats.org/officeDocument/2006/math">
                    <m:r>
                      <a:rPr lang="en-US" b="0" i="1" smtClean="0">
                        <a:latin typeface="Cambria Math"/>
                      </a:rPr>
                      <m:t>𝐴</m:t>
                    </m:r>
                  </m:oMath>
                </a14:m>
                <a:r>
                  <a:rPr lang="en-US" dirty="0"/>
                  <a:t>, then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𝑛</m:t>
                        </m:r>
                      </m:num>
                      <m:den>
                        <m:r>
                          <a:rPr lang="en-US" b="0" i="1" smtClean="0">
                            <a:latin typeface="Cambria Math"/>
                          </a:rPr>
                          <m:t>𝑁</m:t>
                        </m:r>
                      </m:den>
                    </m:f>
                  </m:oMath>
                </a14:m>
                <a:r>
                  <a:rPr lang="en-US" dirty="0"/>
                  <a:t>.</a:t>
                </a:r>
              </a:p>
              <a:p>
                <a:endParaRPr lang="en-US" dirty="0"/>
              </a:p>
              <a:p>
                <a:r>
                  <a:rPr lang="en-US" dirty="0"/>
                  <a:t>This is where the counting rules from 2.3 are really helpful.</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2074"/>
                </a:stretch>
              </a:blipFill>
            </p:spPr>
            <p:txBody>
              <a:bodyPr/>
              <a:lstStyle/>
              <a:p>
                <a:r>
                  <a:rPr lang="en-US">
                    <a:noFill/>
                  </a:rPr>
                  <a:t> </a:t>
                </a:r>
              </a:p>
            </p:txBody>
          </p:sp>
        </mc:Fallback>
      </mc:AlternateContent>
    </p:spTree>
    <p:extLst>
      <p:ext uri="{BB962C8B-B14F-4D97-AF65-F5344CB8AC3E}">
        <p14:creationId xmlns:p14="http://schemas.microsoft.com/office/powerpoint/2010/main" val="35516904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In a random draw of 5 cards, what is the probability of getting 3 aces?</a:t>
                </a:r>
              </a:p>
              <a:p>
                <a:endParaRPr lang="en-US" dirty="0"/>
              </a:p>
              <a:p>
                <a:r>
                  <a:rPr lang="en-US" dirty="0"/>
                  <a:t>There are </a:t>
                </a:r>
                <a14:m>
                  <m:oMath xmlns:m="http://schemas.openxmlformats.org/officeDocument/2006/math">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52</m:t>
                            </m:r>
                          </m:num>
                          <m:den>
                            <m:r>
                              <a:rPr lang="en-US" b="0" i="1" smtClean="0">
                                <a:latin typeface="Cambria Math"/>
                              </a:rPr>
                              <m:t>5</m:t>
                            </m:r>
                          </m:den>
                        </m:f>
                      </m:e>
                    </m:d>
                    <m:r>
                      <a:rPr lang="en-US" b="0" i="1" smtClean="0">
                        <a:latin typeface="Cambria Math"/>
                      </a:rPr>
                      <m:t>=2598960</m:t>
                    </m:r>
                  </m:oMath>
                </a14:m>
                <a:r>
                  <a:rPr lang="en-US" dirty="0"/>
                  <a:t> possible hands that can be drawn. As all of these are equally likely, so we just need to count the number of ways to get three aces.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2519"/>
                </a:stretch>
              </a:blipFill>
            </p:spPr>
            <p:txBody>
              <a:bodyPr/>
              <a:lstStyle/>
              <a:p>
                <a:r>
                  <a:rPr lang="en-US">
                    <a:noFill/>
                  </a:rPr>
                  <a:t> </a:t>
                </a:r>
              </a:p>
            </p:txBody>
          </p:sp>
        </mc:Fallback>
      </mc:AlternateContent>
    </p:spTree>
    <p:extLst>
      <p:ext uri="{BB962C8B-B14F-4D97-AF65-F5344CB8AC3E}">
        <p14:creationId xmlns:p14="http://schemas.microsoft.com/office/powerpoint/2010/main" val="23734204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Since there are 4 aces in a deck, there are </a:t>
                </a:r>
                <a14:m>
                  <m:oMath xmlns:m="http://schemas.openxmlformats.org/officeDocument/2006/math">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4</m:t>
                            </m:r>
                          </m:num>
                          <m:den>
                            <m:r>
                              <a:rPr lang="en-US" b="0" i="1" smtClean="0">
                                <a:latin typeface="Cambria Math"/>
                              </a:rPr>
                              <m:t>3</m:t>
                            </m:r>
                          </m:den>
                        </m:f>
                      </m:e>
                    </m:d>
                    <m:r>
                      <a:rPr lang="en-US" b="0" i="1" smtClean="0">
                        <a:latin typeface="Cambria Math"/>
                      </a:rPr>
                      <m:t>=4</m:t>
                    </m:r>
                  </m:oMath>
                </a14:m>
                <a:r>
                  <a:rPr lang="en-US" dirty="0"/>
                  <a:t> ways to have 3 of the 4 aces. For the other two cards in the hand, we can choose any of them from the remaining 48 cards. Thus there are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4</m:t>
                        </m:r>
                      </m:e>
                    </m:d>
                    <m:d>
                      <m:dPr>
                        <m:ctrlPr>
                          <a:rPr lang="en-US" b="0" i="1" smtClean="0">
                            <a:latin typeface="Cambria Math" panose="02040503050406030204" pitchFamily="18" charset="0"/>
                          </a:rPr>
                        </m:ctrlPr>
                      </m:dPr>
                      <m:e>
                        <m:f>
                          <m:fPr>
                            <m:type m:val="noBar"/>
                            <m:ctrlPr>
                              <a:rPr lang="en-US" b="0" i="1" smtClean="0">
                                <a:latin typeface="Cambria Math" panose="02040503050406030204" pitchFamily="18" charset="0"/>
                              </a:rPr>
                            </m:ctrlPr>
                          </m:fPr>
                          <m:num>
                            <m:r>
                              <a:rPr lang="en-US" b="0" i="1" smtClean="0">
                                <a:latin typeface="Cambria Math"/>
                              </a:rPr>
                              <m:t>48</m:t>
                            </m:r>
                          </m:num>
                          <m:den>
                            <m:r>
                              <a:rPr lang="en-US" b="0" i="1" smtClean="0">
                                <a:latin typeface="Cambria Math"/>
                              </a:rPr>
                              <m:t>2</m:t>
                            </m:r>
                          </m:den>
                        </m:f>
                      </m:e>
                    </m:d>
                    <m:r>
                      <a:rPr lang="en-US" b="0" i="1" smtClean="0">
                        <a:latin typeface="Cambria Math"/>
                      </a:rPr>
                      <m:t>=4512</m:t>
                    </m:r>
                  </m:oMath>
                </a14:m>
                <a:r>
                  <a:rPr lang="en-US" dirty="0"/>
                  <a:t> five-card hands with exactly 3 aces.</a:t>
                </a:r>
              </a:p>
              <a:p>
                <a:endParaRPr lang="en-US" dirty="0"/>
              </a:p>
              <a:p>
                <a:r>
                  <a:rPr lang="en-US" dirty="0"/>
                  <a:t>Then the probability we are looking for is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4512</m:t>
                        </m:r>
                      </m:num>
                      <m:den>
                        <m:r>
                          <a:rPr lang="en-US" b="0" i="1" smtClean="0">
                            <a:latin typeface="Cambria Math"/>
                          </a:rPr>
                          <m:t>2598960</m:t>
                        </m:r>
                      </m:den>
                    </m:f>
                    <m:r>
                      <a:rPr lang="en-US" b="0" i="1" smtClean="0">
                        <a:latin typeface="Cambria Math"/>
                      </a:rPr>
                      <m:t>=0.0017</m:t>
                    </m:r>
                  </m:oMath>
                </a14:m>
                <a:r>
                  <a:rPr lang="en-US" dirty="0"/>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713"/>
                </a:stretch>
              </a:blipFill>
            </p:spPr>
            <p:txBody>
              <a:bodyPr/>
              <a:lstStyle/>
              <a:p>
                <a:r>
                  <a:rPr lang="en-US">
                    <a:noFill/>
                  </a:rPr>
                  <a:t> </a:t>
                </a:r>
              </a:p>
            </p:txBody>
          </p:sp>
        </mc:Fallback>
      </mc:AlternateContent>
    </p:spTree>
    <p:extLst>
      <p:ext uri="{BB962C8B-B14F-4D97-AF65-F5344CB8AC3E}">
        <p14:creationId xmlns:p14="http://schemas.microsoft.com/office/powerpoint/2010/main" val="29057152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 Probability</a:t>
            </a:r>
          </a:p>
        </p:txBody>
      </p:sp>
      <p:sp>
        <p:nvSpPr>
          <p:cNvPr id="3" name="Content Placeholder 2"/>
          <p:cNvSpPr>
            <a:spLocks noGrp="1"/>
          </p:cNvSpPr>
          <p:nvPr>
            <p:ph idx="1"/>
          </p:nvPr>
        </p:nvSpPr>
        <p:spPr/>
        <p:txBody>
          <a:bodyPr>
            <a:normAutofit/>
          </a:bodyPr>
          <a:lstStyle/>
          <a:p>
            <a:r>
              <a:rPr lang="en-US" dirty="0"/>
              <a:t>Exercises:</a:t>
            </a:r>
          </a:p>
          <a:p>
            <a:pPr lvl="1"/>
            <a:r>
              <a:rPr lang="en-US" dirty="0"/>
              <a:t>From a random 5 card draw, what is the probability that none of the cards you hold have the same face value?</a:t>
            </a:r>
          </a:p>
          <a:p>
            <a:pPr lvl="1"/>
            <a:r>
              <a:rPr lang="en-US" dirty="0"/>
              <a:t>What is the probability of obtaining a sum between 2 and 5 inclusive when rolling two dice?</a:t>
            </a:r>
          </a:p>
          <a:p>
            <a:pPr lvl="1"/>
            <a:r>
              <a:rPr lang="en-US" dirty="0"/>
              <a:t>What is the probability of getting 2 or 3 heads in four flips of a coin?</a:t>
            </a:r>
          </a:p>
          <a:p>
            <a:pPr lvl="1"/>
            <a:endParaRPr lang="en-US" dirty="0"/>
          </a:p>
        </p:txBody>
      </p:sp>
    </p:spTree>
    <p:extLst>
      <p:ext uri="{BB962C8B-B14F-4D97-AF65-F5344CB8AC3E}">
        <p14:creationId xmlns:p14="http://schemas.microsoft.com/office/powerpoint/2010/main" val="9152728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2.5 – 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This section combines some of the set theory with some of the probability to give us some helpful rules in calculating probabilities.</a:t>
                </a:r>
              </a:p>
              <a:p>
                <a:endParaRPr lang="en-US" dirty="0"/>
              </a:p>
              <a:p>
                <a:r>
                  <a:rPr lang="en-US" dirty="0"/>
                  <a:t>The first is known as the </a:t>
                </a:r>
                <a:r>
                  <a:rPr lang="en-US" i="1" dirty="0"/>
                  <a:t>additive rule</a:t>
                </a:r>
                <a:r>
                  <a:rPr lang="en-US" dirty="0"/>
                  <a:t>. It gives us the formula for how to calculate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oMath>
                </a14:m>
                <a:r>
                  <a:rPr lang="en-US" dirty="0"/>
                  <a:t>.</a:t>
                </a:r>
              </a:p>
              <a:p>
                <a:endParaRPr lang="en-US" dirty="0"/>
              </a:p>
              <a:p>
                <a:r>
                  <a:rPr lang="en-US" dirty="0"/>
                  <a:t>Think about it with a Venn diagram. How should we calculate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1630" b="-2372"/>
                </a:stretch>
              </a:blipFill>
            </p:spPr>
            <p:txBody>
              <a:bodyPr/>
              <a:lstStyle/>
              <a:p>
                <a:r>
                  <a:rPr lang="en-US">
                    <a:noFill/>
                  </a:rPr>
                  <a:t> </a:t>
                </a:r>
              </a:p>
            </p:txBody>
          </p:sp>
        </mc:Fallback>
      </mc:AlternateContent>
    </p:spTree>
    <p:extLst>
      <p:ext uri="{BB962C8B-B14F-4D97-AF65-F5344CB8AC3E}">
        <p14:creationId xmlns:p14="http://schemas.microsoft.com/office/powerpoint/2010/main" val="25124031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2.5 – 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oMath>
                </a14:m>
                <a:endParaRPr lang="en-US" dirty="0"/>
              </a:p>
              <a:p>
                <a:endParaRPr lang="en-US" dirty="0"/>
              </a:p>
              <a:p>
                <a:r>
                  <a:rPr lang="en-US" dirty="0"/>
                  <a:t>Now assume that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are mutually exclusive. What is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oMath>
                </a14:m>
                <a:r>
                  <a:rPr lang="en-US" dirty="0"/>
                  <a:t>? Think about it with a Venn diagram or by recalling how we defined mutually exclusive.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248251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2.5 – 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For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𝐵</m:t>
                    </m:r>
                  </m:oMath>
                </a14:m>
                <a:r>
                  <a:rPr lang="en-US" dirty="0"/>
                  <a:t> mutually exclusive,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d>
                  </m:oMath>
                </a14:m>
                <a:r>
                  <a:rPr lang="en-US" dirty="0"/>
                  <a:t>. </a:t>
                </a:r>
              </a:p>
              <a:p>
                <a:endParaRPr lang="en-US" dirty="0"/>
              </a:p>
              <a:p>
                <a:r>
                  <a:rPr lang="en-US" dirty="0"/>
                  <a:t>This holds for any number of mutually exclusive events: the probability of the union of any number of mutually exclusive events is simply the sum of the probabilities of those events.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r="-1704"/>
                </a:stretch>
              </a:blipFill>
            </p:spPr>
            <p:txBody>
              <a:bodyPr/>
              <a:lstStyle/>
              <a:p>
                <a:r>
                  <a:rPr lang="en-US">
                    <a:noFill/>
                  </a:rPr>
                  <a:t> </a:t>
                </a:r>
              </a:p>
            </p:txBody>
          </p:sp>
        </mc:Fallback>
      </mc:AlternateContent>
    </p:spTree>
    <p:extLst>
      <p:ext uri="{BB962C8B-B14F-4D97-AF65-F5344CB8AC3E}">
        <p14:creationId xmlns:p14="http://schemas.microsoft.com/office/powerpoint/2010/main" val="10335876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2.5 – 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If we create a partition of the sample space (meaning we break it up into </a:t>
                </a:r>
                <a14:m>
                  <m:oMath xmlns:m="http://schemas.openxmlformats.org/officeDocument/2006/math">
                    <m:r>
                      <a:rPr lang="en-US" b="0" i="1" smtClean="0">
                        <a:latin typeface="Cambria Math"/>
                      </a:rPr>
                      <m:t>𝑛</m:t>
                    </m:r>
                  </m:oMath>
                </a14:m>
                <a:r>
                  <a:rPr lang="en-US" dirty="0"/>
                  <a:t> mutually exclusive events in which every possible outcome of the sample space appears in exactly one event), then the sum of the probabilities of those </a:t>
                </a:r>
                <a14:m>
                  <m:oMath xmlns:m="http://schemas.openxmlformats.org/officeDocument/2006/math">
                    <m:r>
                      <a:rPr lang="en-US" b="0" i="1" smtClean="0">
                        <a:latin typeface="Cambria Math"/>
                      </a:rPr>
                      <m:t>𝑛</m:t>
                    </m:r>
                  </m:oMath>
                </a14:m>
                <a:r>
                  <a:rPr lang="en-US" dirty="0"/>
                  <a:t> sets will be 1.</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a:stretch>
              </a:blipFill>
            </p:spPr>
            <p:txBody>
              <a:bodyPr/>
              <a:lstStyle/>
              <a:p>
                <a:r>
                  <a:rPr lang="en-US">
                    <a:noFill/>
                  </a:rPr>
                  <a:t> </a:t>
                </a:r>
              </a:p>
            </p:txBody>
          </p:sp>
        </mc:Fallback>
      </mc:AlternateContent>
    </p:spTree>
    <p:extLst>
      <p:ext uri="{BB962C8B-B14F-4D97-AF65-F5344CB8AC3E}">
        <p14:creationId xmlns:p14="http://schemas.microsoft.com/office/powerpoint/2010/main" val="23095158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2.5 – 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Now the additive rule extends to more than two sets even in cases where the sets are not mutually exclusive.</a:t>
                </a:r>
              </a:p>
              <a:p>
                <a:endParaRPr lang="en-US" dirty="0"/>
              </a:p>
              <a:p>
                <a:r>
                  <a:rPr lang="en-US" dirty="0"/>
                  <a:t>Looking at a Venn diagram again, how should we calculate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𝐶</m:t>
                        </m:r>
                      </m:e>
                    </m:d>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59" r="-2000"/>
                </a:stretch>
              </a:blipFill>
            </p:spPr>
            <p:txBody>
              <a:bodyPr/>
              <a:lstStyle/>
              <a:p>
                <a:r>
                  <a:rPr lang="en-US">
                    <a:noFill/>
                  </a:rPr>
                  <a:t> </a:t>
                </a:r>
              </a:p>
            </p:txBody>
          </p:sp>
        </mc:Fallback>
      </mc:AlternateContent>
    </p:spTree>
    <p:extLst>
      <p:ext uri="{BB962C8B-B14F-4D97-AF65-F5344CB8AC3E}">
        <p14:creationId xmlns:p14="http://schemas.microsoft.com/office/powerpoint/2010/main" val="8346042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2.5 – 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118872" indent="0">
                  <a:buNone/>
                </a:pP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𝐶</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𝐶</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r>
                          <a:rPr lang="en-US" b="0" i="1" smtClean="0">
                            <a:latin typeface="Cambria Math"/>
                          </a:rPr>
                          <m:t>∩</m:t>
                        </m:r>
                        <m:r>
                          <a:rPr lang="en-US" b="0" i="1" smtClean="0">
                            <a:latin typeface="Cambria Math"/>
                          </a:rPr>
                          <m:t>𝐶</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𝐶</m:t>
                        </m:r>
                      </m:e>
                    </m:d>
                    <m:r>
                      <a:rPr lang="en-US" b="0" i="1" smtClean="0">
                        <a:latin typeface="Cambria Math"/>
                      </a:rPr>
                      <m:t>+        </m:t>
                    </m:r>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𝐵</m:t>
                    </m:r>
                    <m:r>
                      <a:rPr lang="en-US" b="0" i="1" smtClean="0">
                        <a:latin typeface="Cambria Math"/>
                      </a:rPr>
                      <m:t>∩</m:t>
                    </m:r>
                    <m:r>
                      <a:rPr lang="en-US" b="0" i="1" smtClean="0">
                        <a:latin typeface="Cambria Math"/>
                      </a:rPr>
                      <m:t>𝐶</m:t>
                    </m:r>
                    <m:r>
                      <a:rPr lang="en-US" b="0" i="1" smtClean="0">
                        <a:latin typeface="Cambria Math"/>
                      </a:rPr>
                      <m:t>)</m:t>
                    </m:r>
                  </m:oMath>
                </a14:m>
                <a:r>
                  <a:rPr lang="en-US" dirty="0"/>
                  <a:t>.</a:t>
                </a:r>
              </a:p>
              <a:p>
                <a:endParaRPr lang="en-US" dirty="0"/>
              </a:p>
              <a:p>
                <a:r>
                  <a:rPr lang="en-US" dirty="0"/>
                  <a:t>There is one more formula from this section to know: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oMath>
                </a14:m>
                <a:r>
                  <a:rPr lang="en-US" dirty="0"/>
                  <a:t>. What should this one be?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1481"/>
                </a:stretch>
              </a:blipFill>
            </p:spPr>
            <p:txBody>
              <a:bodyPr/>
              <a:lstStyle/>
              <a:p>
                <a:r>
                  <a:rPr lang="en-US">
                    <a:noFill/>
                  </a:rPr>
                  <a:t> </a:t>
                </a:r>
              </a:p>
            </p:txBody>
          </p:sp>
        </mc:Fallback>
      </mc:AlternateContent>
    </p:spTree>
    <p:extLst>
      <p:ext uri="{BB962C8B-B14F-4D97-AF65-F5344CB8AC3E}">
        <p14:creationId xmlns:p14="http://schemas.microsoft.com/office/powerpoint/2010/main" val="20875518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2.5 – 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Since </a:t>
                </a:r>
                <a14:m>
                  <m:oMath xmlns:m="http://schemas.openxmlformats.org/officeDocument/2006/math">
                    <m:r>
                      <a:rPr lang="en-US" b="0" i="1" smtClean="0">
                        <a:latin typeface="Cambria Math"/>
                      </a:rPr>
                      <m:t>𝐴</m:t>
                    </m:r>
                  </m:oMath>
                </a14:m>
                <a:r>
                  <a:rPr lang="en-US" dirty="0"/>
                  <a:t> and </a:t>
                </a:r>
                <a14:m>
                  <m:oMath xmlns:m="http://schemas.openxmlformats.org/officeDocument/2006/math">
                    <m:r>
                      <a:rPr lang="en-US" b="0" i="1" smtClean="0">
                        <a:latin typeface="Cambria Math"/>
                      </a:rPr>
                      <m:t>𝐴</m:t>
                    </m:r>
                    <m:r>
                      <a:rPr lang="en-US" b="0" i="1" smtClean="0">
                        <a:latin typeface="Cambria Math"/>
                      </a:rPr>
                      <m:t>′</m:t>
                    </m:r>
                  </m:oMath>
                </a14:m>
                <a:r>
                  <a:rPr lang="en-US" dirty="0"/>
                  <a:t> are mutually exclusive,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r>
                      <a:rPr lang="en-US" b="0" i="1" smtClean="0">
                        <a:latin typeface="Cambria Math"/>
                      </a:rPr>
                      <m:t>𝑃</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oMath>
                </a14:m>
                <a:r>
                  <a:rPr lang="en-US" dirty="0"/>
                  <a:t>. Recall however, that </a:t>
                </a:r>
                <a14:m>
                  <m:oMath xmlns:m="http://schemas.openxmlformats.org/officeDocument/2006/math">
                    <m:r>
                      <a:rPr lang="en-US" b="0" i="1" smtClean="0">
                        <a:latin typeface="Cambria Math"/>
                      </a:rPr>
                      <m:t>𝐴</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r>
                      <a:rPr lang="en-US" b="0" i="1" smtClean="0">
                        <a:latin typeface="Cambria Math"/>
                      </a:rPr>
                      <m:t>𝑆</m:t>
                    </m:r>
                  </m:oMath>
                </a14:m>
                <a:r>
                  <a:rPr lang="en-US" dirty="0"/>
                  <a:t> and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𝑆</m:t>
                        </m:r>
                      </m:e>
                    </m:d>
                    <m:r>
                      <a:rPr lang="en-US" b="0" i="1" smtClean="0">
                        <a:latin typeface="Cambria Math"/>
                      </a:rPr>
                      <m:t>=1</m:t>
                    </m:r>
                  </m:oMath>
                </a14:m>
                <a:r>
                  <a:rPr lang="en-US" dirty="0"/>
                  <a:t>.</a:t>
                </a:r>
              </a:p>
              <a:p>
                <a:endParaRPr lang="en-US" dirty="0"/>
              </a:p>
              <a:p>
                <a:r>
                  <a:rPr lang="en-US" dirty="0"/>
                  <a:t>Thus we have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e>
                    </m:d>
                    <m:r>
                      <a:rPr lang="en-US" b="0" i="1" smtClean="0">
                        <a:latin typeface="Cambria Math"/>
                      </a:rPr>
                      <m:t>=1</m:t>
                    </m:r>
                  </m:oMath>
                </a14:m>
                <a:r>
                  <a:rPr lang="en-US" dirty="0"/>
                  <a:t>. This leads to the very useful identity: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=1−</m:t>
                    </m:r>
                    <m:r>
                      <a:rPr lang="en-US" b="0" i="1" smtClean="0">
                        <a:latin typeface="Cambria Math"/>
                      </a:rPr>
                      <m:t>𝑃</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m:t>
                        </m:r>
                      </m:sup>
                    </m:sSup>
                    <m:r>
                      <a:rPr lang="en-US" b="0" i="1" smtClean="0">
                        <a:latin typeface="Cambria Math"/>
                      </a:rPr>
                      <m:t>)</m:t>
                    </m:r>
                  </m:oMath>
                </a14:m>
                <a:r>
                  <a:rPr lang="en-US" dirty="0"/>
                  <a:t>. This rule is invaluable in calculating probabilities.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r="-2444"/>
                </a:stretch>
              </a:blipFill>
            </p:spPr>
            <p:txBody>
              <a:bodyPr/>
              <a:lstStyle/>
              <a:p>
                <a:r>
                  <a:rPr lang="en-US">
                    <a:noFill/>
                  </a:rPr>
                  <a:t> </a:t>
                </a:r>
              </a:p>
            </p:txBody>
          </p:sp>
        </mc:Fallback>
      </mc:AlternateContent>
    </p:spTree>
    <p:extLst>
      <p:ext uri="{BB962C8B-B14F-4D97-AF65-F5344CB8AC3E}">
        <p14:creationId xmlns:p14="http://schemas.microsoft.com/office/powerpoint/2010/main" val="16479366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2.5 – Additive Rules</a:t>
            </a:r>
          </a:p>
        </p:txBody>
      </p:sp>
      <p:sp>
        <p:nvSpPr>
          <p:cNvPr id="3" name="Content Placeholder 2"/>
          <p:cNvSpPr>
            <a:spLocks noGrp="1"/>
          </p:cNvSpPr>
          <p:nvPr>
            <p:ph idx="1"/>
          </p:nvPr>
        </p:nvSpPr>
        <p:spPr/>
        <p:txBody>
          <a:bodyPr>
            <a:normAutofit fontScale="92500" lnSpcReduction="10000"/>
          </a:bodyPr>
          <a:lstStyle/>
          <a:p>
            <a:r>
              <a:rPr lang="en-US" dirty="0"/>
              <a:t>Exercise (2.68 in book): This problem looks at six customers in a department store who are considering buying either a gas or an electric oven.</a:t>
            </a:r>
          </a:p>
          <a:p>
            <a:pPr lvl="1"/>
            <a:r>
              <a:rPr lang="en-US" dirty="0"/>
              <a:t>If the probability that at most two individuals buy an electric oven is 0.40, what is the probability that at least three purchase an electric oven?</a:t>
            </a:r>
          </a:p>
          <a:p>
            <a:pPr lvl="1"/>
            <a:r>
              <a:rPr lang="en-US" dirty="0"/>
              <a:t>Suppose the probability that all six purchase an electric oven is 0.007 while the probability that all six purchase the gas oven is 0.104. What is the probability that at least one of each type is purchased?</a:t>
            </a:r>
          </a:p>
        </p:txBody>
      </p:sp>
    </p:spTree>
    <p:extLst>
      <p:ext uri="{BB962C8B-B14F-4D97-AF65-F5344CB8AC3E}">
        <p14:creationId xmlns:p14="http://schemas.microsoft.com/office/powerpoint/2010/main" val="4198632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2.5 – 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Exercise (2.69 in book): For a certain kind of filling machine, </a:t>
                </a:r>
                <a14:m>
                  <m:oMath xmlns:m="http://schemas.openxmlformats.org/officeDocument/2006/math">
                    <m:r>
                      <a:rPr lang="en-US" b="0" i="1" smtClean="0">
                        <a:latin typeface="Cambria Math"/>
                      </a:rPr>
                      <m:t>𝐴</m:t>
                    </m:r>
                  </m:oMath>
                </a14:m>
                <a:r>
                  <a:rPr lang="en-US" dirty="0"/>
                  <a:t> is the event that the machine fills correctly, </a:t>
                </a:r>
                <a14:m>
                  <m:oMath xmlns:m="http://schemas.openxmlformats.org/officeDocument/2006/math">
                    <m:r>
                      <a:rPr lang="en-US" b="0" i="1" smtClean="0">
                        <a:latin typeface="Cambria Math"/>
                      </a:rPr>
                      <m:t>𝐵</m:t>
                    </m:r>
                  </m:oMath>
                </a14:m>
                <a:r>
                  <a:rPr lang="en-US" dirty="0"/>
                  <a:t> is the event that the machine </a:t>
                </a:r>
                <a:r>
                  <a:rPr lang="en-US" dirty="0" err="1"/>
                  <a:t>underfills</a:t>
                </a:r>
                <a:r>
                  <a:rPr lang="en-US" dirty="0"/>
                  <a:t>, and </a:t>
                </a:r>
                <a14:m>
                  <m:oMath xmlns:m="http://schemas.openxmlformats.org/officeDocument/2006/math">
                    <m:r>
                      <a:rPr lang="en-US" b="0" i="1" smtClean="0">
                        <a:latin typeface="Cambria Math"/>
                      </a:rPr>
                      <m:t>𝐶</m:t>
                    </m:r>
                  </m:oMath>
                </a14:m>
                <a:r>
                  <a:rPr lang="en-US" dirty="0"/>
                  <a:t> is the event that it overfills. We have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e>
                    </m:d>
                    <m:r>
                      <a:rPr lang="en-US" b="0" i="1" smtClean="0">
                        <a:latin typeface="Cambria Math"/>
                      </a:rPr>
                      <m:t>=0.99</m:t>
                    </m:r>
                  </m:oMath>
                </a14:m>
                <a:r>
                  <a:rPr lang="en-US" dirty="0"/>
                  <a:t> and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d>
                    <m:r>
                      <a:rPr lang="en-US" b="0" i="1" smtClean="0">
                        <a:latin typeface="Cambria Math"/>
                      </a:rPr>
                      <m:t>=0.001</m:t>
                    </m:r>
                  </m:oMath>
                </a14:m>
                <a:r>
                  <a:rPr lang="en-US" dirty="0"/>
                  <a:t>. Find:</a:t>
                </a:r>
              </a:p>
              <a:p>
                <a:pPr lvl="1"/>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𝐶</m:t>
                    </m:r>
                    <m:r>
                      <a:rPr lang="en-US" b="0" i="1" smtClean="0">
                        <a:latin typeface="Cambria Math"/>
                      </a:rPr>
                      <m:t>)</m:t>
                    </m:r>
                  </m:oMath>
                </a14:m>
                <a:endParaRPr lang="en-US" dirty="0"/>
              </a:p>
              <a:p>
                <a:pPr lvl="1"/>
                <a:r>
                  <a:rPr lang="en-US" dirty="0"/>
                  <a:t>The probability that the machine does not </a:t>
                </a:r>
                <a:r>
                  <a:rPr lang="en-US" dirty="0" err="1"/>
                  <a:t>underfill</a:t>
                </a:r>
                <a:endParaRPr lang="en-US" dirty="0"/>
              </a:p>
              <a:p>
                <a:pPr lvl="1"/>
                <a:r>
                  <a:rPr lang="en-US" dirty="0"/>
                  <a:t>The probability that the machine overfills or </a:t>
                </a:r>
                <a:r>
                  <a:rPr lang="en-US" dirty="0" err="1"/>
                  <a:t>underfills</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27" r="-519"/>
                </a:stretch>
              </a:blipFill>
            </p:spPr>
            <p:txBody>
              <a:bodyPr/>
              <a:lstStyle/>
              <a:p>
                <a:r>
                  <a:rPr lang="en-US">
                    <a:noFill/>
                  </a:rPr>
                  <a:t> </a:t>
                </a:r>
              </a:p>
            </p:txBody>
          </p:sp>
        </mc:Fallback>
      </mc:AlternateContent>
    </p:spTree>
    <p:extLst>
      <p:ext uri="{BB962C8B-B14F-4D97-AF65-F5344CB8AC3E}">
        <p14:creationId xmlns:p14="http://schemas.microsoft.com/office/powerpoint/2010/main" val="3820386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1101</TotalTime>
  <Words>4120</Words>
  <Application>Microsoft Office PowerPoint</Application>
  <PresentationFormat>On-screen Show (4:3)</PresentationFormat>
  <Paragraphs>283</Paragraphs>
  <Slides>63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Arial</vt:lpstr>
      <vt:lpstr>Calibri</vt:lpstr>
      <vt:lpstr>Cambria Math</vt:lpstr>
      <vt:lpstr>Corbel</vt:lpstr>
      <vt:lpstr>Wingdings</vt:lpstr>
      <vt:lpstr>Wingdings 2</vt:lpstr>
      <vt:lpstr>Wingdings 3</vt:lpstr>
      <vt:lpstr>Module</vt:lpstr>
      <vt:lpstr>Probability</vt:lpstr>
      <vt:lpstr>Probability</vt:lpstr>
      <vt:lpstr>2.1 – Sample Space</vt:lpstr>
      <vt:lpstr>2.1 – Sample Space</vt:lpstr>
      <vt:lpstr>2.1 – Sample Space</vt:lpstr>
      <vt:lpstr>2.1 – Sample Space</vt:lpstr>
      <vt:lpstr>2.1 – Sample Space</vt:lpstr>
      <vt:lpstr>2.1 – Sample Space</vt:lpstr>
      <vt:lpstr>2.1 – Sample Space</vt:lpstr>
      <vt:lpstr>2.1 – Sample Space</vt:lpstr>
      <vt:lpstr>2.1 – Sample Space</vt:lpstr>
      <vt:lpstr>2.1 – Sample Space</vt:lpstr>
      <vt:lpstr>2.1 – Sample Space</vt:lpstr>
      <vt:lpstr>2.1 – Sample Space</vt:lpstr>
      <vt:lpstr>2.1 – Sample Space</vt:lpstr>
      <vt:lpstr>2.2 – Events</vt:lpstr>
      <vt:lpstr>2.2 – Events</vt:lpstr>
      <vt:lpstr>2.2 – Events</vt:lpstr>
      <vt:lpstr>2.2 – Events</vt:lpstr>
      <vt:lpstr>2.2 – Events</vt:lpstr>
      <vt:lpstr>2.2 – Events</vt:lpstr>
      <vt:lpstr>2.2 – Events</vt:lpstr>
      <vt:lpstr>2.2 – Events</vt:lpstr>
      <vt:lpstr>2.2 – Events</vt:lpstr>
      <vt:lpstr>2.2 – Events</vt:lpstr>
      <vt:lpstr>2.2 – Events</vt:lpstr>
      <vt:lpstr>2.2 – Events</vt:lpstr>
      <vt:lpstr>2.2 – Events</vt:lpstr>
      <vt:lpstr>2.2 – Events</vt:lpstr>
      <vt:lpstr>2.3 – Counting</vt:lpstr>
      <vt:lpstr>2.3 – Counting</vt:lpstr>
      <vt:lpstr>2.3 – Counting</vt:lpstr>
      <vt:lpstr>2.3 – Counting</vt:lpstr>
      <vt:lpstr>2.3 – Counting</vt:lpstr>
      <vt:lpstr>2.3 – Counting</vt:lpstr>
      <vt:lpstr>2.3 – Counting</vt:lpstr>
      <vt:lpstr>2.3 – Counting</vt:lpstr>
      <vt:lpstr>2.3 – Counting</vt:lpstr>
      <vt:lpstr>2.3 – Counting</vt:lpstr>
      <vt:lpstr>2.3 – Counting</vt:lpstr>
      <vt:lpstr>2.3 – Counting</vt:lpstr>
      <vt:lpstr>2.3 – Counting</vt:lpstr>
      <vt:lpstr>2.3 – Counting</vt:lpstr>
      <vt:lpstr>2.4 – Probability</vt:lpstr>
      <vt:lpstr>2.4 – Probability</vt:lpstr>
      <vt:lpstr>2.4 – Probability</vt:lpstr>
      <vt:lpstr>2.4 – Probability</vt:lpstr>
      <vt:lpstr>2.4 – Probability</vt:lpstr>
      <vt:lpstr>2.4 – Probability</vt:lpstr>
      <vt:lpstr>2.4 – Probability</vt:lpstr>
      <vt:lpstr>2.4 – Probability</vt:lpstr>
      <vt:lpstr>2.4 – Probability</vt:lpstr>
      <vt:lpstr>2.4 – Probability</vt:lpstr>
      <vt:lpstr>2.4 – Probability</vt:lpstr>
      <vt:lpstr>2.5 – Additive Rules</vt:lpstr>
      <vt:lpstr>2.5 – Additive Rules</vt:lpstr>
      <vt:lpstr>2.5 – Additive Rules</vt:lpstr>
      <vt:lpstr>2.5 – Additive Rules</vt:lpstr>
      <vt:lpstr>2.5 – Additive Rules</vt:lpstr>
      <vt:lpstr>2.5 – Additive Rules</vt:lpstr>
      <vt:lpstr>2.5 – Additive Rules</vt:lpstr>
      <vt:lpstr>2.5 – Additive Rules</vt:lpstr>
      <vt:lpstr>2.5 – Additive Rules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Jason Adams</dc:creator>
  <cp:lastModifiedBy>Lizzie Reida</cp:lastModifiedBy>
  <cp:revision>51</cp:revision>
  <dcterms:created xsi:type="dcterms:W3CDTF">2017-07-06T16:30:57Z</dcterms:created>
  <dcterms:modified xsi:type="dcterms:W3CDTF">2021-01-14T15:32:32Z</dcterms:modified>
</cp:coreProperties>
</file>
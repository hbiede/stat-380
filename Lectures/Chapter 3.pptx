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0" r:id="rId15"/>
    <p:sldId id="271" r:id="rId16"/>
    <p:sldId id="280" r:id="rId17"/>
    <p:sldId id="273" r:id="rId18"/>
    <p:sldId id="275" r:id="rId19"/>
    <p:sldId id="277" r:id="rId20"/>
    <p:sldId id="279" r:id="rId21"/>
    <p:sldId id="281" r:id="rId22"/>
    <p:sldId id="284" r:id="rId23"/>
    <p:sldId id="285" r:id="rId24"/>
    <p:sldId id="286" r:id="rId25"/>
    <p:sldId id="287" r:id="rId26"/>
    <p:sldId id="288" r:id="rId27"/>
    <p:sldId id="289" r:id="rId28"/>
    <p:sldId id="290" r:id="rId29"/>
    <p:sldId id="292" r:id="rId30"/>
    <p:sldId id="294" r:id="rId31"/>
    <p:sldId id="295" r:id="rId32"/>
    <p:sldId id="296" r:id="rId33"/>
    <p:sldId id="298" r:id="rId34"/>
    <p:sldId id="299" r:id="rId35"/>
    <p:sldId id="300" r:id="rId36"/>
    <p:sldId id="302" r:id="rId37"/>
    <p:sldId id="303" r:id="rId38"/>
    <p:sldId id="304" r:id="rId39"/>
    <p:sldId id="305" r:id="rId40"/>
    <p:sldId id="306" r:id="rId41"/>
    <p:sldId id="307" r:id="rId42"/>
    <p:sldId id="308" r:id="rId43"/>
    <p:sldId id="310" r:id="rId44"/>
    <p:sldId id="311" r:id="rId45"/>
    <p:sldId id="312" r:id="rId46"/>
    <p:sldId id="313" r:id="rId47"/>
    <p:sldId id="314" r:id="rId48"/>
    <p:sldId id="315" r:id="rId49"/>
    <p:sldId id="316" r:id="rId5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3" d="100"/>
          <a:sy n="73" d="100"/>
        </p:scale>
        <p:origin x="60" y="61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603D395-3E33-497D-B472-046C2BAFA410}"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3D395-3E33-497D-B472-046C2BAFA410}"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603D395-3E33-497D-B472-046C2BAFA410}"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603D395-3E33-497D-B472-046C2BAFA410}"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603D395-3E33-497D-B472-046C2BAFA410}" type="datetimeFigureOut">
              <a:rPr lang="en-US" smtClean="0"/>
              <a:t>1/14/2021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603D395-3E33-497D-B472-046C2BAFA410}" type="datetimeFigureOut">
              <a:rPr lang="en-US" smtClean="0"/>
              <a:t>1/14/2021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603D395-3E33-497D-B472-046C2BAFA410}" type="datetimeFigureOut">
              <a:rPr lang="en-US" smtClean="0"/>
              <a:t>1/14/2021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603D395-3E33-497D-B472-046C2BAFA410}" type="datetimeFigureOut">
              <a:rPr lang="en-US" smtClean="0"/>
              <a:t>1/14/2021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7012AAE-AD97-470D-AFDF-6D8FBD9A9566}" type="slidenum">
              <a:rPr lang="en-US" smtClean="0"/>
              <a:t>‹#›</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2603D395-3E33-497D-B472-046C2BAFA410}" type="datetimeFigureOut">
              <a:rPr lang="en-US" smtClean="0"/>
              <a:t>1/14/2021</a:t>
            </a:fld>
            <a:endParaRPr lang="en-US"/>
          </a:p>
        </p:txBody>
      </p:sp>
      <p:sp>
        <p:nvSpPr>
          <p:cNvPr id="9" name="Slide Number Placeholder 8"/>
          <p:cNvSpPr>
            <a:spLocks noGrp="1"/>
          </p:cNvSpPr>
          <p:nvPr>
            <p:ph type="sldNum" sz="quarter" idx="11"/>
          </p:nvPr>
        </p:nvSpPr>
        <p:spPr/>
        <p:txBody>
          <a:bodyPr/>
          <a:lstStyle/>
          <a:p>
            <a:fld id="{E7012AAE-AD97-470D-AFDF-6D8FBD9A9566}"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3D395-3E33-497D-B472-046C2BAFA410}"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603D395-3E33-497D-B472-046C2BAFA410}" type="datetimeFigureOut">
              <a:rPr lang="en-US" smtClean="0"/>
              <a:t>1/14/2021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7012AAE-AD97-470D-AFDF-6D8FBD9A9566}"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E7012AAE-AD97-470D-AFDF-6D8FBD9A9566}" type="slidenum">
              <a:rPr lang="en-US" smtClean="0"/>
              <a:t>‹#›</a:t>
            </a:fld>
            <a:endParaRPr lang="en-US"/>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2603D395-3E33-497D-B472-046C2BAFA410}" type="datetimeFigureOut">
              <a:rPr lang="en-US" smtClean="0"/>
              <a:t>1/14/2021</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Random Variables and Probability Distributions</a:t>
            </a:r>
          </a:p>
        </p:txBody>
      </p:sp>
      <p:sp>
        <p:nvSpPr>
          <p:cNvPr id="3" name="Subtitle 2"/>
          <p:cNvSpPr>
            <a:spLocks noGrp="1"/>
          </p:cNvSpPr>
          <p:nvPr>
            <p:ph type="subTitle" idx="1"/>
          </p:nvPr>
        </p:nvSpPr>
        <p:spPr/>
        <p:txBody>
          <a:bodyPr>
            <a:normAutofit/>
          </a:bodyPr>
          <a:lstStyle/>
          <a:p>
            <a:r>
              <a:rPr lang="en-US" sz="2800" dirty="0"/>
              <a:t>Chapter 3</a:t>
            </a:r>
          </a:p>
        </p:txBody>
      </p:sp>
    </p:spTree>
    <p:extLst>
      <p:ext uri="{BB962C8B-B14F-4D97-AF65-F5344CB8AC3E}">
        <p14:creationId xmlns:p14="http://schemas.microsoft.com/office/powerpoint/2010/main" val="359805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Chapter 3</a:t>
            </a:r>
          </a:p>
        </p:txBody>
      </p:sp>
      <p:sp>
        <p:nvSpPr>
          <p:cNvPr id="3" name="Content Placeholder 2"/>
          <p:cNvSpPr>
            <a:spLocks noGrp="1"/>
          </p:cNvSpPr>
          <p:nvPr>
            <p:ph idx="1"/>
          </p:nvPr>
        </p:nvSpPr>
        <p:spPr/>
        <p:txBody>
          <a:bodyPr/>
          <a:lstStyle/>
          <a:p>
            <a:r>
              <a:rPr lang="en-US" dirty="0"/>
              <a:t>Chapter 3 moves on from the basics of probability to using what we learned in chapter 2 to lay the foundations for the theory we need for statistical inference. </a:t>
            </a:r>
          </a:p>
          <a:p>
            <a:endParaRPr lang="en-US" dirty="0"/>
          </a:p>
          <a:p>
            <a:r>
              <a:rPr lang="en-US" dirty="0"/>
              <a:t>We start by introducing the idea of a random variable in 3.1 and then spend sections 3.2-3.4 discussing probability distributions. Chapters 4, 5, and 6 cover these ideas in more detail, so understanding chapter 3 is critical moving forward in the class.</a:t>
            </a:r>
          </a:p>
        </p:txBody>
      </p:sp>
    </p:spTree>
    <p:extLst>
      <p:ext uri="{BB962C8B-B14F-4D97-AF65-F5344CB8AC3E}">
        <p14:creationId xmlns:p14="http://schemas.microsoft.com/office/powerpoint/2010/main" val="3716762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To understand the concept of a random variable, let’s consider an experiment where we flip a coin 3 times. The sample space for this experiment can be expressed as:</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a:rPr>
                        <m:t>𝑆</m:t>
                      </m:r>
                      <m:r>
                        <a:rPr lang="en-US" b="0" i="1" smtClean="0">
                          <a:latin typeface="Cambria Math"/>
                        </a:rPr>
                        <m:t>={</m:t>
                      </m:r>
                      <m:r>
                        <a:rPr lang="en-US" b="0" i="1" smtClean="0">
                          <a:latin typeface="Cambria Math"/>
                        </a:rPr>
                        <m:t>𝐻𝐻𝐻</m:t>
                      </m:r>
                      <m:r>
                        <a:rPr lang="en-US" b="0" i="1" smtClean="0">
                          <a:latin typeface="Cambria Math"/>
                        </a:rPr>
                        <m:t>, </m:t>
                      </m:r>
                      <m:r>
                        <a:rPr lang="en-US" b="0" i="1" smtClean="0">
                          <a:latin typeface="Cambria Math"/>
                        </a:rPr>
                        <m:t>𝐻𝐻𝑇</m:t>
                      </m:r>
                      <m:r>
                        <a:rPr lang="en-US" b="0" i="1" smtClean="0">
                          <a:latin typeface="Cambria Math"/>
                        </a:rPr>
                        <m:t>, </m:t>
                      </m:r>
                      <m:r>
                        <a:rPr lang="en-US" b="0" i="1" smtClean="0">
                          <a:latin typeface="Cambria Math"/>
                        </a:rPr>
                        <m:t>𝐻𝑇𝐻</m:t>
                      </m:r>
                      <m:r>
                        <a:rPr lang="en-US" b="0" i="1" smtClean="0">
                          <a:latin typeface="Cambria Math"/>
                        </a:rPr>
                        <m:t>, </m:t>
                      </m:r>
                      <m:r>
                        <a:rPr lang="en-US" b="0" i="1" smtClean="0">
                          <a:latin typeface="Cambria Math"/>
                        </a:rPr>
                        <m:t>𝑇𝐻𝐻</m:t>
                      </m:r>
                      <m:r>
                        <a:rPr lang="en-US" b="0" i="1" smtClean="0">
                          <a:latin typeface="Cambria Math"/>
                        </a:rPr>
                        <m:t>, </m:t>
                      </m:r>
                      <m:r>
                        <a:rPr lang="en-US" b="0" i="1" smtClean="0">
                          <a:latin typeface="Cambria Math"/>
                        </a:rPr>
                        <m:t>𝐻𝑇𝑇</m:t>
                      </m:r>
                      <m:r>
                        <a:rPr lang="en-US" b="0" i="1" smtClean="0">
                          <a:latin typeface="Cambria Math"/>
                        </a:rPr>
                        <m:t>, </m:t>
                      </m:r>
                      <m:r>
                        <a:rPr lang="en-US" b="0" i="1" smtClean="0">
                          <a:latin typeface="Cambria Math"/>
                        </a:rPr>
                        <m:t>𝑇𝑇𝐻</m:t>
                      </m:r>
                      <m:r>
                        <a:rPr lang="en-US" b="0" i="1" smtClean="0">
                          <a:latin typeface="Cambria Math"/>
                        </a:rPr>
                        <m:t>, </m:t>
                      </m:r>
                      <m:r>
                        <a:rPr lang="en-US" b="0" i="1" smtClean="0">
                          <a:latin typeface="Cambria Math"/>
                        </a:rPr>
                        <m:t>𝑇𝐻𝑇</m:t>
                      </m:r>
                      <m:r>
                        <a:rPr lang="en-US" b="0" i="1" smtClean="0">
                          <a:latin typeface="Cambria Math"/>
                        </a:rPr>
                        <m:t>, </m:t>
                      </m:r>
                      <m:r>
                        <a:rPr lang="en-US" b="0" i="1" smtClean="0">
                          <a:latin typeface="Cambria Math"/>
                        </a:rPr>
                        <m:t>𝑇𝑇𝑇</m:t>
                      </m:r>
                      <m:r>
                        <a:rPr lang="en-US" b="0" i="1" smtClean="0">
                          <a:latin typeface="Cambria Math"/>
                        </a:rPr>
                        <m:t>}</m:t>
                      </m:r>
                    </m:oMath>
                  </m:oMathPara>
                </a14:m>
                <a:endParaRPr lang="en-US" dirty="0"/>
              </a:p>
              <a:p>
                <a:endParaRPr lang="en-US" dirty="0"/>
              </a:p>
              <a:p>
                <a:r>
                  <a:rPr lang="en-US" dirty="0"/>
                  <a:t>Suppose that we are interested in the number of heads that occur in the coin flips. </a:t>
                </a:r>
                <a:r>
                  <a:rPr lang="en-US" i="1" dirty="0"/>
                  <a:t>To each element in the sample space, we can assign a number that represents the number of heads</a:t>
                </a:r>
                <a:r>
                  <a:rPr lang="en-US" dirty="0"/>
                  <a:t>. Clearly, each element will be assigned exactly one of the following: 0, 1, 2, or 3. The </a:t>
                </a:r>
                <a:r>
                  <a:rPr lang="en-US" i="1" dirty="0"/>
                  <a:t>assignment</a:t>
                </a:r>
                <a:r>
                  <a:rPr lang="en-US" dirty="0"/>
                  <a:t> of the values to the elements is the random variable.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440"/>
                </a:stretch>
              </a:blipFill>
            </p:spPr>
            <p:txBody>
              <a:bodyPr/>
              <a:lstStyle/>
              <a:p>
                <a:r>
                  <a:rPr lang="en-US">
                    <a:noFill/>
                  </a:rPr>
                  <a:t> </a:t>
                </a:r>
              </a:p>
            </p:txBody>
          </p:sp>
        </mc:Fallback>
      </mc:AlternateContent>
    </p:spTree>
    <p:extLst>
      <p:ext uri="{BB962C8B-B14F-4D97-AF65-F5344CB8AC3E}">
        <p14:creationId xmlns:p14="http://schemas.microsoft.com/office/powerpoint/2010/main" val="32813202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A </a:t>
                </a:r>
                <a:r>
                  <a:rPr lang="en-US" i="1" dirty="0"/>
                  <a:t>random variable</a:t>
                </a:r>
                <a:r>
                  <a:rPr lang="en-US" dirty="0"/>
                  <a:t> is a function that associates a real number with each element in the sample space.</a:t>
                </a:r>
              </a:p>
              <a:p>
                <a:endParaRPr lang="en-US" dirty="0"/>
              </a:p>
              <a:p>
                <a:r>
                  <a:rPr lang="en-US" dirty="0"/>
                  <a:t>We use capital letters to denote random variables and lower case letters to represent the resulting value. So, for instance, we can say </a:t>
                </a:r>
                <a14:m>
                  <m:oMath xmlns:m="http://schemas.openxmlformats.org/officeDocument/2006/math">
                    <m:r>
                      <a:rPr lang="en-US" b="0" i="1" smtClean="0">
                        <a:latin typeface="Cambria Math"/>
                      </a:rPr>
                      <m:t>𝑋</m:t>
                    </m:r>
                  </m:oMath>
                </a14:m>
                <a:r>
                  <a:rPr lang="en-US" dirty="0"/>
                  <a:t> is the random variable and </a:t>
                </a:r>
                <a14:m>
                  <m:oMath xmlns:m="http://schemas.openxmlformats.org/officeDocument/2006/math">
                    <m:r>
                      <a:rPr lang="en-US" b="0" i="1" smtClean="0">
                        <a:latin typeface="Cambria Math"/>
                      </a:rPr>
                      <m:t>𝑥</m:t>
                    </m:r>
                  </m:oMath>
                </a14:m>
                <a:r>
                  <a:rPr lang="en-US" dirty="0"/>
                  <a:t> is the resulting value.</a:t>
                </a:r>
              </a:p>
              <a:p>
                <a:endParaRPr lang="en-US" dirty="0"/>
              </a:p>
              <a:p>
                <a:r>
                  <a:rPr lang="en-US" dirty="0"/>
                  <a:t>Think of it like </a:t>
                </a:r>
                <a14:m>
                  <m:oMath xmlns:m="http://schemas.openxmlformats.org/officeDocument/2006/math">
                    <m:r>
                      <a:rPr lang="en-US" b="0" i="1" smtClean="0">
                        <a:latin typeface="Cambria Math"/>
                      </a:rPr>
                      <m:t>𝑋</m:t>
                    </m:r>
                  </m:oMath>
                </a14:m>
                <a:r>
                  <a:rPr lang="en-US" dirty="0"/>
                  <a:t> is the rule that assigns </a:t>
                </a:r>
                <a14:m>
                  <m:oMath xmlns:m="http://schemas.openxmlformats.org/officeDocument/2006/math">
                    <m:r>
                      <a:rPr lang="en-US" b="0" i="1" smtClean="0">
                        <a:latin typeface="Cambria Math"/>
                      </a:rPr>
                      <m:t>𝑥</m:t>
                    </m:r>
                  </m:oMath>
                </a14:m>
                <a:r>
                  <a:rPr lang="en-US" dirty="0"/>
                  <a:t> to an element of the sample space. In the case of the three coin flips, </a:t>
                </a:r>
                <a14:m>
                  <m:oMath xmlns:m="http://schemas.openxmlformats.org/officeDocument/2006/math">
                    <m:r>
                      <a:rPr lang="en-US" b="0" i="1" smtClean="0">
                        <a:latin typeface="Cambria Math"/>
                      </a:rPr>
                      <m:t>𝑋</m:t>
                    </m:r>
                  </m:oMath>
                </a14:m>
                <a:r>
                  <a:rPr lang="en-US" dirty="0"/>
                  <a:t> is the rule that says, “count the number of H’s in the outcome, then </a:t>
                </a:r>
                <a14:m>
                  <m:oMath xmlns:m="http://schemas.openxmlformats.org/officeDocument/2006/math">
                    <m:r>
                      <a:rPr lang="en-US" b="0" i="1" smtClean="0">
                        <a:latin typeface="Cambria Math"/>
                      </a:rPr>
                      <m:t>𝑥</m:t>
                    </m:r>
                  </m:oMath>
                </a14:m>
                <a:r>
                  <a:rPr lang="en-US" dirty="0"/>
                  <a:t> is that number.”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040"/>
                </a:stretch>
              </a:blipFill>
            </p:spPr>
            <p:txBody>
              <a:bodyPr/>
              <a:lstStyle/>
              <a:p>
                <a:r>
                  <a:rPr lang="en-US">
                    <a:noFill/>
                  </a:rPr>
                  <a:t> </a:t>
                </a:r>
              </a:p>
            </p:txBody>
          </p:sp>
        </mc:Fallback>
      </mc:AlternateContent>
    </p:spTree>
    <p:extLst>
      <p:ext uri="{BB962C8B-B14F-4D97-AF65-F5344CB8AC3E}">
        <p14:creationId xmlns:p14="http://schemas.microsoft.com/office/powerpoint/2010/main" val="3401308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 Random Variables</a:t>
            </a:r>
          </a:p>
        </p:txBody>
      </p:sp>
      <p:sp>
        <p:nvSpPr>
          <p:cNvPr id="3" name="Content Placeholder 2"/>
          <p:cNvSpPr>
            <a:spLocks noGrp="1"/>
          </p:cNvSpPr>
          <p:nvPr>
            <p:ph idx="1"/>
          </p:nvPr>
        </p:nvSpPr>
        <p:spPr/>
        <p:txBody>
          <a:bodyPr/>
          <a:lstStyle/>
          <a:p>
            <a:r>
              <a:rPr lang="en-US" dirty="0"/>
              <a:t>Example: For the three coin flips experiment, we can express the random variable as follows:</a:t>
            </a:r>
          </a:p>
          <a:p>
            <a:endParaRPr lang="en-US" dirty="0"/>
          </a:p>
          <a:p>
            <a:endParaRPr lang="en-US" dirty="0"/>
          </a:p>
          <a:p>
            <a:endParaRPr lang="en-US" dirty="0"/>
          </a:p>
          <a:p>
            <a:endParaRPr lang="en-US" dirty="0"/>
          </a:p>
          <a:p>
            <a:endParaRPr lang="en-US" dirty="0"/>
          </a:p>
          <a:p>
            <a:endParaRPr lang="en-US" dirty="0"/>
          </a:p>
          <a:p>
            <a:pPr marL="114300" indent="0">
              <a:buNone/>
            </a:pPr>
            <a:endParaRPr lang="en-US" dirty="0"/>
          </a:p>
        </p:txBody>
      </p:sp>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860393179"/>
                  </p:ext>
                </p:extLst>
              </p:nvPr>
            </p:nvGraphicFramePr>
            <p:xfrm>
              <a:off x="1219200" y="2514600"/>
              <a:ext cx="6096000" cy="3337560"/>
            </p:xfrm>
            <a:graphic>
              <a:graphicData uri="http://schemas.openxmlformats.org/drawingml/2006/table">
                <a:tbl>
                  <a:tblPr firstRow="1" bandRow="1">
                    <a:tableStyleId>{073A0DAA-6AF3-43AB-8588-CEC1D06C72B9}</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70840">
                    <a:tc>
                      <a:txBody>
                        <a:bodyPr/>
                        <a:lstStyle/>
                        <a:p>
                          <a:pPr algn="ctr"/>
                          <a:r>
                            <a:rPr lang="en-US" dirty="0"/>
                            <a:t>Sample Space</a:t>
                          </a:r>
                        </a:p>
                      </a:txBody>
                      <a:tcPr/>
                    </a:tc>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𝒙</m:t>
                                </m:r>
                              </m:oMath>
                            </m:oMathPara>
                          </a14:m>
                          <a:endParaRPr lang="en-US" dirty="0"/>
                        </a:p>
                      </a:txBody>
                      <a:tcPr/>
                    </a:tc>
                    <a:extLst>
                      <a:ext uri="{0D108BD9-81ED-4DB2-BD59-A6C34878D82A}">
                        <a16:rowId xmlns:a16="http://schemas.microsoft.com/office/drawing/2014/main" val="10000"/>
                      </a:ext>
                    </a:extLst>
                  </a:tr>
                  <a:tr h="370840">
                    <a:tc>
                      <a:txBody>
                        <a:bodyPr/>
                        <a:lstStyle/>
                        <a:p>
                          <a:pPr algn="ctr"/>
                          <a:r>
                            <a:rPr lang="en-US" dirty="0"/>
                            <a:t>HHH</a:t>
                          </a:r>
                        </a:p>
                      </a:txBody>
                      <a:tcPr/>
                    </a:tc>
                    <a:tc>
                      <a:txBody>
                        <a:bodyPr/>
                        <a:lstStyle/>
                        <a:p>
                          <a:pPr algn="ctr"/>
                          <a:r>
                            <a:rPr lang="en-US" dirty="0"/>
                            <a:t>3</a:t>
                          </a:r>
                        </a:p>
                      </a:txBody>
                      <a:tcPr/>
                    </a:tc>
                    <a:extLst>
                      <a:ext uri="{0D108BD9-81ED-4DB2-BD59-A6C34878D82A}">
                        <a16:rowId xmlns:a16="http://schemas.microsoft.com/office/drawing/2014/main" val="10001"/>
                      </a:ext>
                    </a:extLst>
                  </a:tr>
                  <a:tr h="370840">
                    <a:tc>
                      <a:txBody>
                        <a:bodyPr/>
                        <a:lstStyle/>
                        <a:p>
                          <a:pPr algn="ctr"/>
                          <a:r>
                            <a:rPr lang="en-US" dirty="0"/>
                            <a:t>HHT</a:t>
                          </a:r>
                        </a:p>
                      </a:txBody>
                      <a:tcPr/>
                    </a:tc>
                    <a:tc>
                      <a:txBody>
                        <a:bodyPr/>
                        <a:lstStyle/>
                        <a:p>
                          <a:pPr algn="ctr"/>
                          <a:r>
                            <a:rPr lang="en-US" dirty="0"/>
                            <a:t>2</a:t>
                          </a:r>
                        </a:p>
                      </a:txBody>
                      <a:tcPr/>
                    </a:tc>
                    <a:extLst>
                      <a:ext uri="{0D108BD9-81ED-4DB2-BD59-A6C34878D82A}">
                        <a16:rowId xmlns:a16="http://schemas.microsoft.com/office/drawing/2014/main" val="10002"/>
                      </a:ext>
                    </a:extLst>
                  </a:tr>
                  <a:tr h="370840">
                    <a:tc>
                      <a:txBody>
                        <a:bodyPr/>
                        <a:lstStyle/>
                        <a:p>
                          <a:pPr algn="ctr"/>
                          <a:r>
                            <a:rPr lang="en-US" dirty="0"/>
                            <a:t>HTH</a:t>
                          </a:r>
                        </a:p>
                      </a:txBody>
                      <a:tcPr/>
                    </a:tc>
                    <a:tc>
                      <a:txBody>
                        <a:bodyPr/>
                        <a:lstStyle/>
                        <a:p>
                          <a:pPr algn="ctr"/>
                          <a:r>
                            <a:rPr lang="en-US" dirty="0"/>
                            <a:t>2</a:t>
                          </a:r>
                        </a:p>
                      </a:txBody>
                      <a:tcPr/>
                    </a:tc>
                    <a:extLst>
                      <a:ext uri="{0D108BD9-81ED-4DB2-BD59-A6C34878D82A}">
                        <a16:rowId xmlns:a16="http://schemas.microsoft.com/office/drawing/2014/main" val="10003"/>
                      </a:ext>
                    </a:extLst>
                  </a:tr>
                  <a:tr h="370840">
                    <a:tc>
                      <a:txBody>
                        <a:bodyPr/>
                        <a:lstStyle/>
                        <a:p>
                          <a:pPr algn="ctr"/>
                          <a:r>
                            <a:rPr lang="en-US" dirty="0"/>
                            <a:t>THH</a:t>
                          </a:r>
                        </a:p>
                      </a:txBody>
                      <a:tcPr/>
                    </a:tc>
                    <a:tc>
                      <a:txBody>
                        <a:bodyPr/>
                        <a:lstStyle/>
                        <a:p>
                          <a:pPr algn="ctr"/>
                          <a:r>
                            <a:rPr lang="en-US" dirty="0"/>
                            <a:t>2</a:t>
                          </a:r>
                        </a:p>
                      </a:txBody>
                      <a:tcPr/>
                    </a:tc>
                    <a:extLst>
                      <a:ext uri="{0D108BD9-81ED-4DB2-BD59-A6C34878D82A}">
                        <a16:rowId xmlns:a16="http://schemas.microsoft.com/office/drawing/2014/main" val="10004"/>
                      </a:ext>
                    </a:extLst>
                  </a:tr>
                  <a:tr h="370840">
                    <a:tc>
                      <a:txBody>
                        <a:bodyPr/>
                        <a:lstStyle/>
                        <a:p>
                          <a:pPr algn="ctr"/>
                          <a:r>
                            <a:rPr lang="en-US" dirty="0"/>
                            <a:t>HTT</a:t>
                          </a:r>
                        </a:p>
                      </a:txBody>
                      <a:tcPr/>
                    </a:tc>
                    <a:tc>
                      <a:txBody>
                        <a:bodyPr/>
                        <a:lstStyle/>
                        <a:p>
                          <a:pPr algn="ctr"/>
                          <a:r>
                            <a:rPr lang="en-US" dirty="0"/>
                            <a:t>1</a:t>
                          </a:r>
                        </a:p>
                      </a:txBody>
                      <a:tcPr/>
                    </a:tc>
                    <a:extLst>
                      <a:ext uri="{0D108BD9-81ED-4DB2-BD59-A6C34878D82A}">
                        <a16:rowId xmlns:a16="http://schemas.microsoft.com/office/drawing/2014/main" val="10005"/>
                      </a:ext>
                    </a:extLst>
                  </a:tr>
                  <a:tr h="370840">
                    <a:tc>
                      <a:txBody>
                        <a:bodyPr/>
                        <a:lstStyle/>
                        <a:p>
                          <a:pPr algn="ctr"/>
                          <a:r>
                            <a:rPr lang="en-US" dirty="0"/>
                            <a:t>TTH</a:t>
                          </a:r>
                        </a:p>
                      </a:txBody>
                      <a:tcPr/>
                    </a:tc>
                    <a:tc>
                      <a:txBody>
                        <a:bodyPr/>
                        <a:lstStyle/>
                        <a:p>
                          <a:pPr algn="ctr"/>
                          <a:r>
                            <a:rPr lang="en-US" dirty="0"/>
                            <a:t>1</a:t>
                          </a:r>
                        </a:p>
                      </a:txBody>
                      <a:tcPr/>
                    </a:tc>
                    <a:extLst>
                      <a:ext uri="{0D108BD9-81ED-4DB2-BD59-A6C34878D82A}">
                        <a16:rowId xmlns:a16="http://schemas.microsoft.com/office/drawing/2014/main" val="10006"/>
                      </a:ext>
                    </a:extLst>
                  </a:tr>
                  <a:tr h="370840">
                    <a:tc>
                      <a:txBody>
                        <a:bodyPr/>
                        <a:lstStyle/>
                        <a:p>
                          <a:pPr algn="ctr"/>
                          <a:r>
                            <a:rPr lang="en-US" dirty="0"/>
                            <a:t>THT</a:t>
                          </a:r>
                        </a:p>
                      </a:txBody>
                      <a:tcPr/>
                    </a:tc>
                    <a:tc>
                      <a:txBody>
                        <a:bodyPr/>
                        <a:lstStyle/>
                        <a:p>
                          <a:pPr algn="ctr"/>
                          <a:r>
                            <a:rPr lang="en-US" dirty="0"/>
                            <a:t>1</a:t>
                          </a:r>
                        </a:p>
                      </a:txBody>
                      <a:tcPr/>
                    </a:tc>
                    <a:extLst>
                      <a:ext uri="{0D108BD9-81ED-4DB2-BD59-A6C34878D82A}">
                        <a16:rowId xmlns:a16="http://schemas.microsoft.com/office/drawing/2014/main" val="10007"/>
                      </a:ext>
                    </a:extLst>
                  </a:tr>
                  <a:tr h="370840">
                    <a:tc>
                      <a:txBody>
                        <a:bodyPr/>
                        <a:lstStyle/>
                        <a:p>
                          <a:pPr algn="ctr"/>
                          <a:r>
                            <a:rPr lang="en-US" dirty="0"/>
                            <a:t>TTT</a:t>
                          </a:r>
                        </a:p>
                      </a:txBody>
                      <a:tcPr/>
                    </a:tc>
                    <a:tc>
                      <a:txBody>
                        <a:bodyPr/>
                        <a:lstStyle/>
                        <a:p>
                          <a:pPr algn="ctr"/>
                          <a:r>
                            <a:rPr lang="en-US" dirty="0"/>
                            <a:t>0</a:t>
                          </a:r>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860393179"/>
                  </p:ext>
                </p:extLst>
              </p:nvPr>
            </p:nvGraphicFramePr>
            <p:xfrm>
              <a:off x="1219200" y="2514600"/>
              <a:ext cx="6096000" cy="3337560"/>
            </p:xfrm>
            <a:graphic>
              <a:graphicData uri="http://schemas.openxmlformats.org/drawingml/2006/table">
                <a:tbl>
                  <a:tblPr firstRow="1" bandRow="1">
                    <a:tableStyleId>{073A0DAA-6AF3-43AB-8588-CEC1D06C72B9}</a:tableStyleId>
                  </a:tblPr>
                  <a:tblGrid>
                    <a:gridCol w="3048000"/>
                    <a:gridCol w="3048000"/>
                  </a:tblGrid>
                  <a:tr h="370840">
                    <a:tc>
                      <a:txBody>
                        <a:bodyPr/>
                        <a:lstStyle/>
                        <a:p>
                          <a:pPr algn="ctr"/>
                          <a:r>
                            <a:rPr lang="en-US" dirty="0" smtClean="0"/>
                            <a:t>Sample Space</a:t>
                          </a:r>
                          <a:endParaRPr lang="en-US" dirty="0"/>
                        </a:p>
                      </a:txBody>
                      <a:tcPr/>
                    </a:tc>
                    <a:tc>
                      <a:txBody>
                        <a:bodyPr/>
                        <a:lstStyle/>
                        <a:p>
                          <a:endParaRPr lang="en-US"/>
                        </a:p>
                      </a:txBody>
                      <a:tcPr>
                        <a:blipFill rotWithShape="1">
                          <a:blip r:embed="rId2"/>
                          <a:stretch>
                            <a:fillRect l="-100000" t="-8197" b="-821311"/>
                          </a:stretch>
                        </a:blipFill>
                      </a:tcPr>
                    </a:tc>
                  </a:tr>
                  <a:tr h="370840">
                    <a:tc>
                      <a:txBody>
                        <a:bodyPr/>
                        <a:lstStyle/>
                        <a:p>
                          <a:pPr algn="ctr"/>
                          <a:r>
                            <a:rPr lang="en-US" dirty="0" smtClean="0"/>
                            <a:t>HHH</a:t>
                          </a:r>
                          <a:endParaRPr lang="en-US" dirty="0"/>
                        </a:p>
                      </a:txBody>
                      <a:tcPr/>
                    </a:tc>
                    <a:tc>
                      <a:txBody>
                        <a:bodyPr/>
                        <a:lstStyle/>
                        <a:p>
                          <a:pPr algn="ctr"/>
                          <a:r>
                            <a:rPr lang="en-US" dirty="0" smtClean="0"/>
                            <a:t>3</a:t>
                          </a:r>
                          <a:endParaRPr lang="en-US" dirty="0"/>
                        </a:p>
                      </a:txBody>
                      <a:tcPr/>
                    </a:tc>
                  </a:tr>
                  <a:tr h="370840">
                    <a:tc>
                      <a:txBody>
                        <a:bodyPr/>
                        <a:lstStyle/>
                        <a:p>
                          <a:pPr algn="ctr"/>
                          <a:r>
                            <a:rPr lang="en-US" dirty="0" smtClean="0"/>
                            <a:t>HHT</a:t>
                          </a:r>
                          <a:endParaRPr lang="en-US" dirty="0"/>
                        </a:p>
                      </a:txBody>
                      <a:tcPr/>
                    </a:tc>
                    <a:tc>
                      <a:txBody>
                        <a:bodyPr/>
                        <a:lstStyle/>
                        <a:p>
                          <a:pPr algn="ctr"/>
                          <a:r>
                            <a:rPr lang="en-US" dirty="0" smtClean="0"/>
                            <a:t>2</a:t>
                          </a:r>
                          <a:endParaRPr lang="en-US" dirty="0"/>
                        </a:p>
                      </a:txBody>
                      <a:tcPr/>
                    </a:tc>
                  </a:tr>
                  <a:tr h="370840">
                    <a:tc>
                      <a:txBody>
                        <a:bodyPr/>
                        <a:lstStyle/>
                        <a:p>
                          <a:pPr algn="ctr"/>
                          <a:r>
                            <a:rPr lang="en-US" dirty="0" smtClean="0"/>
                            <a:t>HTH</a:t>
                          </a:r>
                          <a:endParaRPr lang="en-US" dirty="0"/>
                        </a:p>
                      </a:txBody>
                      <a:tcPr/>
                    </a:tc>
                    <a:tc>
                      <a:txBody>
                        <a:bodyPr/>
                        <a:lstStyle/>
                        <a:p>
                          <a:pPr algn="ctr"/>
                          <a:r>
                            <a:rPr lang="en-US" dirty="0" smtClean="0"/>
                            <a:t>2</a:t>
                          </a:r>
                          <a:endParaRPr lang="en-US" dirty="0"/>
                        </a:p>
                      </a:txBody>
                      <a:tcPr/>
                    </a:tc>
                  </a:tr>
                  <a:tr h="370840">
                    <a:tc>
                      <a:txBody>
                        <a:bodyPr/>
                        <a:lstStyle/>
                        <a:p>
                          <a:pPr algn="ctr"/>
                          <a:r>
                            <a:rPr lang="en-US" dirty="0" smtClean="0"/>
                            <a:t>THH</a:t>
                          </a:r>
                          <a:endParaRPr lang="en-US" dirty="0"/>
                        </a:p>
                      </a:txBody>
                      <a:tcPr/>
                    </a:tc>
                    <a:tc>
                      <a:txBody>
                        <a:bodyPr/>
                        <a:lstStyle/>
                        <a:p>
                          <a:pPr algn="ctr"/>
                          <a:r>
                            <a:rPr lang="en-US" dirty="0" smtClean="0"/>
                            <a:t>2</a:t>
                          </a:r>
                          <a:endParaRPr lang="en-US" dirty="0"/>
                        </a:p>
                      </a:txBody>
                      <a:tcPr/>
                    </a:tc>
                  </a:tr>
                  <a:tr h="370840">
                    <a:tc>
                      <a:txBody>
                        <a:bodyPr/>
                        <a:lstStyle/>
                        <a:p>
                          <a:pPr algn="ctr"/>
                          <a:r>
                            <a:rPr lang="en-US" dirty="0" smtClean="0"/>
                            <a:t>HTT</a:t>
                          </a:r>
                          <a:endParaRPr lang="en-US" dirty="0"/>
                        </a:p>
                      </a:txBody>
                      <a:tcPr/>
                    </a:tc>
                    <a:tc>
                      <a:txBody>
                        <a:bodyPr/>
                        <a:lstStyle/>
                        <a:p>
                          <a:pPr algn="ctr"/>
                          <a:r>
                            <a:rPr lang="en-US" dirty="0" smtClean="0"/>
                            <a:t>1</a:t>
                          </a:r>
                          <a:endParaRPr lang="en-US" dirty="0"/>
                        </a:p>
                      </a:txBody>
                      <a:tcPr/>
                    </a:tc>
                  </a:tr>
                  <a:tr h="370840">
                    <a:tc>
                      <a:txBody>
                        <a:bodyPr/>
                        <a:lstStyle/>
                        <a:p>
                          <a:pPr algn="ctr"/>
                          <a:r>
                            <a:rPr lang="en-US" dirty="0" smtClean="0"/>
                            <a:t>TTH</a:t>
                          </a:r>
                          <a:endParaRPr lang="en-US" dirty="0"/>
                        </a:p>
                      </a:txBody>
                      <a:tcPr/>
                    </a:tc>
                    <a:tc>
                      <a:txBody>
                        <a:bodyPr/>
                        <a:lstStyle/>
                        <a:p>
                          <a:pPr algn="ctr"/>
                          <a:r>
                            <a:rPr lang="en-US" dirty="0" smtClean="0"/>
                            <a:t>1</a:t>
                          </a:r>
                          <a:endParaRPr lang="en-US" dirty="0"/>
                        </a:p>
                      </a:txBody>
                      <a:tcPr/>
                    </a:tc>
                  </a:tr>
                  <a:tr h="370840">
                    <a:tc>
                      <a:txBody>
                        <a:bodyPr/>
                        <a:lstStyle/>
                        <a:p>
                          <a:pPr algn="ctr"/>
                          <a:r>
                            <a:rPr lang="en-US" dirty="0" smtClean="0"/>
                            <a:t>THT</a:t>
                          </a:r>
                          <a:endParaRPr lang="en-US" dirty="0"/>
                        </a:p>
                      </a:txBody>
                      <a:tcPr/>
                    </a:tc>
                    <a:tc>
                      <a:txBody>
                        <a:bodyPr/>
                        <a:lstStyle/>
                        <a:p>
                          <a:pPr algn="ctr"/>
                          <a:r>
                            <a:rPr lang="en-US" dirty="0" smtClean="0"/>
                            <a:t>1</a:t>
                          </a:r>
                          <a:endParaRPr lang="en-US" dirty="0"/>
                        </a:p>
                      </a:txBody>
                      <a:tcPr/>
                    </a:tc>
                  </a:tr>
                  <a:tr h="370840">
                    <a:tc>
                      <a:txBody>
                        <a:bodyPr/>
                        <a:lstStyle/>
                        <a:p>
                          <a:pPr algn="ctr"/>
                          <a:r>
                            <a:rPr lang="en-US" dirty="0" smtClean="0"/>
                            <a:t>TTT</a:t>
                          </a:r>
                          <a:endParaRPr lang="en-US" dirty="0"/>
                        </a:p>
                      </a:txBody>
                      <a:tcPr/>
                    </a:tc>
                    <a:tc>
                      <a:txBody>
                        <a:bodyPr/>
                        <a:lstStyle/>
                        <a:p>
                          <a:pPr algn="ctr"/>
                          <a:r>
                            <a:rPr lang="en-US" dirty="0" smtClean="0"/>
                            <a:t>0</a:t>
                          </a:r>
                          <a:endParaRPr lang="en-US" dirty="0"/>
                        </a:p>
                      </a:txBody>
                      <a:tcPr/>
                    </a:tc>
                  </a:tr>
                </a:tbl>
              </a:graphicData>
            </a:graphic>
          </p:graphicFrame>
        </mc:Fallback>
      </mc:AlternateContent>
    </p:spTree>
    <p:extLst>
      <p:ext uri="{BB962C8B-B14F-4D97-AF65-F5344CB8AC3E}">
        <p14:creationId xmlns:p14="http://schemas.microsoft.com/office/powerpoint/2010/main" val="4277237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Exercises: For the following  random variables, construct a table listing the sample space and associated values of the random variable.</a:t>
                </a:r>
              </a:p>
              <a:p>
                <a:pPr lvl="1"/>
                <a:r>
                  <a:rPr lang="en-US" dirty="0"/>
                  <a:t>Flip a coin two times. </a:t>
                </a:r>
                <a14:m>
                  <m:oMath xmlns:m="http://schemas.openxmlformats.org/officeDocument/2006/math">
                    <m:r>
                      <a:rPr lang="en-US" b="0" i="1" smtClean="0">
                        <a:latin typeface="Cambria Math"/>
                      </a:rPr>
                      <m:t>𝑌</m:t>
                    </m:r>
                  </m:oMath>
                </a14:m>
                <a:r>
                  <a:rPr lang="en-US" dirty="0"/>
                  <a:t> is the number of heads minus the number of tails.</a:t>
                </a:r>
              </a:p>
              <a:p>
                <a:pPr lvl="1"/>
                <a:r>
                  <a:rPr lang="en-US" dirty="0"/>
                  <a:t>A jar contains 2 red and 2 black chips. Two chips are drawn without replacement from the jar. </a:t>
                </a:r>
                <a14:m>
                  <m:oMath xmlns:m="http://schemas.openxmlformats.org/officeDocument/2006/math">
                    <m:r>
                      <a:rPr lang="en-US" b="0" i="1" smtClean="0">
                        <a:latin typeface="Cambria Math"/>
                      </a:rPr>
                      <m:t>𝑊</m:t>
                    </m:r>
                  </m:oMath>
                </a14:m>
                <a:r>
                  <a:rPr lang="en-US" dirty="0"/>
                  <a:t> is the number of black chips.</a:t>
                </a:r>
              </a:p>
              <a:p>
                <a:pPr lvl="1"/>
                <a:r>
                  <a:rPr lang="en-US" dirty="0"/>
                  <a:t>From the same jar, three chips are drawn with replacement. </a:t>
                </a:r>
                <a14:m>
                  <m:oMath xmlns:m="http://schemas.openxmlformats.org/officeDocument/2006/math">
                    <m:r>
                      <a:rPr lang="en-US" b="0" i="1" smtClean="0">
                        <a:latin typeface="Cambria Math"/>
                      </a:rPr>
                      <m:t>𝑀</m:t>
                    </m:r>
                  </m:oMath>
                </a14:m>
                <a:r>
                  <a:rPr lang="en-US" dirty="0"/>
                  <a:t> is the number of red chips.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34153281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 Random Variables</a:t>
            </a:r>
          </a:p>
        </p:txBody>
      </p:sp>
      <p:sp>
        <p:nvSpPr>
          <p:cNvPr id="3" name="Content Placeholder 2"/>
          <p:cNvSpPr>
            <a:spLocks noGrp="1"/>
          </p:cNvSpPr>
          <p:nvPr>
            <p:ph idx="1"/>
          </p:nvPr>
        </p:nvSpPr>
        <p:spPr/>
        <p:txBody>
          <a:bodyPr/>
          <a:lstStyle/>
          <a:p>
            <a:r>
              <a:rPr lang="en-US" dirty="0"/>
              <a:t>There are two more important definitions from this section:</a:t>
            </a:r>
          </a:p>
          <a:p>
            <a:pPr lvl="1"/>
            <a:endParaRPr lang="en-US" dirty="0"/>
          </a:p>
          <a:p>
            <a:pPr lvl="1"/>
            <a:r>
              <a:rPr lang="en-US" dirty="0"/>
              <a:t>If a sample space contains a finite number of possibilities or an unending sequence with as many elements as there are whole numbers (countably infinite), it is called a </a:t>
            </a:r>
            <a:r>
              <a:rPr lang="en-US" i="1" dirty="0"/>
              <a:t>discrete sample space</a:t>
            </a:r>
            <a:r>
              <a:rPr lang="en-US" dirty="0"/>
              <a:t>.</a:t>
            </a:r>
          </a:p>
          <a:p>
            <a:pPr lvl="1"/>
            <a:endParaRPr lang="en-US" dirty="0"/>
          </a:p>
          <a:p>
            <a:pPr lvl="1"/>
            <a:r>
              <a:rPr lang="en-US" dirty="0"/>
              <a:t>If a sample space contains an infinite number of possibilities equal to the number of points on a line segment (</a:t>
            </a:r>
            <a:r>
              <a:rPr lang="en-US" dirty="0" err="1"/>
              <a:t>uncountably</a:t>
            </a:r>
            <a:r>
              <a:rPr lang="en-US" dirty="0"/>
              <a:t> infinite), it is called a </a:t>
            </a:r>
            <a:r>
              <a:rPr lang="en-US" i="1" dirty="0"/>
              <a:t>continuous sample space.</a:t>
            </a:r>
          </a:p>
        </p:txBody>
      </p:sp>
    </p:spTree>
    <p:extLst>
      <p:ext uri="{BB962C8B-B14F-4D97-AF65-F5344CB8AC3E}">
        <p14:creationId xmlns:p14="http://schemas.microsoft.com/office/powerpoint/2010/main" val="17522128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 Random Variables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All the examples we have done so far today have finite sample spaces. Thus they are discrete sample spaces. </a:t>
                </a:r>
              </a:p>
              <a:p>
                <a:endParaRPr lang="en-US" dirty="0"/>
              </a:p>
              <a:p>
                <a:r>
                  <a:rPr lang="en-US" dirty="0"/>
                  <a:t>An example of a (theoretically) countably infinite sample space is the number of customers that come into a Starbucks on a Friday morning. The sample space would be </a:t>
                </a:r>
                <a14:m>
                  <m:oMath xmlns:m="http://schemas.openxmlformats.org/officeDocument/2006/math">
                    <m:r>
                      <a:rPr lang="en-US" b="0" i="1" smtClean="0">
                        <a:latin typeface="Cambria Math"/>
                      </a:rPr>
                      <m:t>{0, 1, 2, 3, …}</m:t>
                    </m:r>
                  </m:oMath>
                </a14:m>
                <a:r>
                  <a:rPr lang="en-US" dirty="0"/>
                  <a:t>.</a:t>
                </a:r>
              </a:p>
              <a:p>
                <a:pPr lvl="1"/>
                <a:r>
                  <a:rPr lang="en-US" dirty="0"/>
                  <a:t>Note that a reasonable random variable here would associate each number with itself so that the function is simply the identity function.</a:t>
                </a:r>
              </a:p>
              <a:p>
                <a:endParaRPr lang="en-US" dirty="0"/>
              </a:p>
              <a:p>
                <a:r>
                  <a:rPr lang="en-US" dirty="0"/>
                  <a:t>An example of a continuous sample space is the time that a customer waits in line at Starbucks on a Friday morning. Here </a:t>
                </a:r>
                <a14:m>
                  <m:oMath xmlns:m="http://schemas.openxmlformats.org/officeDocument/2006/math">
                    <m:r>
                      <a:rPr lang="en-US" b="0" i="1" smtClean="0">
                        <a:latin typeface="Cambria Math"/>
                      </a:rPr>
                      <m:t>𝑆</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 </m:t>
                        </m:r>
                      </m:e>
                    </m:d>
                    <m:r>
                      <a:rPr lang="en-US" b="0" i="1" smtClean="0">
                        <a:latin typeface="Cambria Math"/>
                      </a:rPr>
                      <m:t> </m:t>
                    </m:r>
                    <m:r>
                      <a:rPr lang="en-US" b="0" i="1" smtClean="0">
                        <a:latin typeface="Cambria Math"/>
                      </a:rPr>
                      <m:t>𝑥</m:t>
                    </m:r>
                    <m:r>
                      <a:rPr lang="en-US" b="0" i="1" smtClean="0">
                        <a:latin typeface="Cambria Math"/>
                      </a:rPr>
                      <m:t>≥0}.</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25" r="-1120"/>
                </a:stretch>
              </a:blipFill>
            </p:spPr>
            <p:txBody>
              <a:bodyPr/>
              <a:lstStyle/>
              <a:p>
                <a:r>
                  <a:rPr lang="en-US">
                    <a:noFill/>
                  </a:rPr>
                  <a:t> </a:t>
                </a:r>
              </a:p>
            </p:txBody>
          </p:sp>
        </mc:Fallback>
      </mc:AlternateContent>
    </p:spTree>
    <p:extLst>
      <p:ext uri="{BB962C8B-B14F-4D97-AF65-F5344CB8AC3E}">
        <p14:creationId xmlns:p14="http://schemas.microsoft.com/office/powerpoint/2010/main" val="40460389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 Random Variables</a:t>
            </a:r>
          </a:p>
        </p:txBody>
      </p:sp>
      <p:sp>
        <p:nvSpPr>
          <p:cNvPr id="3" name="Content Placeholder 2"/>
          <p:cNvSpPr>
            <a:spLocks noGrp="1"/>
          </p:cNvSpPr>
          <p:nvPr>
            <p:ph idx="1"/>
          </p:nvPr>
        </p:nvSpPr>
        <p:spPr/>
        <p:txBody>
          <a:bodyPr>
            <a:normAutofit/>
          </a:bodyPr>
          <a:lstStyle/>
          <a:p>
            <a:r>
              <a:rPr lang="en-US" dirty="0"/>
              <a:t>Related to these ideas, a random variable is a </a:t>
            </a:r>
            <a:r>
              <a:rPr lang="en-US" i="1" dirty="0"/>
              <a:t>discrete random variable</a:t>
            </a:r>
            <a:r>
              <a:rPr lang="en-US" dirty="0"/>
              <a:t> if its set of possible outcomes is countable. If a random variable can take on values on a continuous scale, it is a </a:t>
            </a:r>
            <a:r>
              <a:rPr lang="en-US" i="1" dirty="0"/>
              <a:t>continuous random variable</a:t>
            </a:r>
            <a:r>
              <a:rPr lang="en-US" dirty="0"/>
              <a:t>.</a:t>
            </a:r>
          </a:p>
          <a:p>
            <a:endParaRPr lang="en-US" dirty="0"/>
          </a:p>
          <a:p>
            <a:r>
              <a:rPr lang="en-US" dirty="0"/>
              <a:t>Exercise: Decide whether each of the following random variables is continuous or discrete:</a:t>
            </a:r>
          </a:p>
          <a:p>
            <a:pPr lvl="1"/>
            <a:r>
              <a:rPr lang="en-US" dirty="0"/>
              <a:t>The number of violent crimes committed in a certain city in one month</a:t>
            </a:r>
          </a:p>
          <a:p>
            <a:pPr lvl="1"/>
            <a:r>
              <a:rPr lang="en-US" dirty="0"/>
              <a:t>The amount of gasoline sold at a certain gas station in one week</a:t>
            </a:r>
          </a:p>
          <a:p>
            <a:pPr lvl="1"/>
            <a:r>
              <a:rPr lang="en-US" dirty="0"/>
              <a:t>The length of a nail produced by a particular machine</a:t>
            </a:r>
          </a:p>
          <a:p>
            <a:pPr lvl="1"/>
            <a:r>
              <a:rPr lang="en-US" dirty="0"/>
              <a:t>The number of defective products in a shipment</a:t>
            </a:r>
          </a:p>
          <a:p>
            <a:pPr lvl="1"/>
            <a:endParaRPr lang="en-US" dirty="0"/>
          </a:p>
        </p:txBody>
      </p:sp>
    </p:spTree>
    <p:extLst>
      <p:ext uri="{BB962C8B-B14F-4D97-AF65-F5344CB8AC3E}">
        <p14:creationId xmlns:p14="http://schemas.microsoft.com/office/powerpoint/2010/main" val="1586241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3.2 – Discrete Probability Distributions</a:t>
            </a:r>
          </a:p>
        </p:txBody>
      </p:sp>
      <p:sp>
        <p:nvSpPr>
          <p:cNvPr id="3" name="Content Placeholder 2"/>
          <p:cNvSpPr>
            <a:spLocks noGrp="1"/>
          </p:cNvSpPr>
          <p:nvPr>
            <p:ph idx="1"/>
          </p:nvPr>
        </p:nvSpPr>
        <p:spPr/>
        <p:txBody>
          <a:bodyPr/>
          <a:lstStyle/>
          <a:p>
            <a:r>
              <a:rPr lang="en-US" dirty="0"/>
              <a:t>We now use the idea of a random variable to introduce the concept of probability distributions. To understand the idea, let’s go back to the three coin flips example and add another column to the table that represents the probability of each element.</a:t>
            </a:r>
          </a:p>
        </p:txBody>
      </p:sp>
    </p:spTree>
    <p:extLst>
      <p:ext uri="{BB962C8B-B14F-4D97-AF65-F5344CB8AC3E}">
        <p14:creationId xmlns:p14="http://schemas.microsoft.com/office/powerpoint/2010/main" val="42948097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3.2 – Discrete Probability Distributions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This is done simply enough: </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Now instead of listing the probabilities for each element, let’s get the probabilities of each realized value of the random variable. That is, we want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𝑥</m:t>
                    </m:r>
                    <m:r>
                      <a:rPr lang="en-US" b="0" i="1" smtClean="0">
                        <a:latin typeface="Cambria Math"/>
                      </a:rPr>
                      <m:t>)</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25" r="-80" b="-12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11229785"/>
                  </p:ext>
                </p:extLst>
              </p:nvPr>
            </p:nvGraphicFramePr>
            <p:xfrm>
              <a:off x="4419600" y="1752600"/>
              <a:ext cx="3733800" cy="3566160"/>
            </p:xfrm>
            <a:graphic>
              <a:graphicData uri="http://schemas.openxmlformats.org/drawingml/2006/table">
                <a:tbl>
                  <a:tblPr firstRow="1" bandRow="1">
                    <a:tableStyleId>{073A0DAA-6AF3-43AB-8588-CEC1D06C72B9}</a:tableStyleId>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tblGrid>
                  <a:tr h="558018">
                    <a:tc>
                      <a:txBody>
                        <a:bodyPr/>
                        <a:lstStyle/>
                        <a:p>
                          <a:pPr algn="ctr"/>
                          <a:r>
                            <a:rPr lang="en-US" dirty="0"/>
                            <a:t>Sample Space</a:t>
                          </a:r>
                        </a:p>
                      </a:txBody>
                      <a:tcPr/>
                    </a:tc>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𝒙</m:t>
                                </m:r>
                              </m:oMath>
                            </m:oMathPara>
                          </a14:m>
                          <a:endParaRPr lang="en-US" dirty="0"/>
                        </a:p>
                      </a:txBody>
                      <a:tcPr/>
                    </a:tc>
                    <a:tc>
                      <a:txBody>
                        <a:bodyPr/>
                        <a:lstStyle/>
                        <a:p>
                          <a:pPr algn="ctr"/>
                          <a:r>
                            <a:rPr lang="en-US" dirty="0"/>
                            <a:t>Probability</a:t>
                          </a:r>
                        </a:p>
                      </a:txBody>
                      <a:tcPr/>
                    </a:tc>
                    <a:extLst>
                      <a:ext uri="{0D108BD9-81ED-4DB2-BD59-A6C34878D82A}">
                        <a16:rowId xmlns:a16="http://schemas.microsoft.com/office/drawing/2014/main" val="10000"/>
                      </a:ext>
                    </a:extLst>
                  </a:tr>
                  <a:tr h="318868">
                    <a:tc>
                      <a:txBody>
                        <a:bodyPr/>
                        <a:lstStyle/>
                        <a:p>
                          <a:pPr algn="ctr"/>
                          <a:r>
                            <a:rPr lang="en-US" dirty="0"/>
                            <a:t>HHH</a:t>
                          </a:r>
                        </a:p>
                      </a:txBody>
                      <a:tcPr/>
                    </a:tc>
                    <a:tc>
                      <a:txBody>
                        <a:bodyPr/>
                        <a:lstStyle/>
                        <a:p>
                          <a:pPr algn="ctr"/>
                          <a:r>
                            <a:rPr lang="en-US" dirty="0"/>
                            <a:t>3</a:t>
                          </a:r>
                        </a:p>
                      </a:txBody>
                      <a:tcPr/>
                    </a:tc>
                    <a:tc>
                      <a:txBody>
                        <a:bodyPr/>
                        <a:lstStyle/>
                        <a:p>
                          <a:pPr algn="ctr"/>
                          <a:r>
                            <a:rPr lang="en-US" dirty="0"/>
                            <a:t>1/8 </a:t>
                          </a:r>
                        </a:p>
                      </a:txBody>
                      <a:tcPr/>
                    </a:tc>
                    <a:extLst>
                      <a:ext uri="{0D108BD9-81ED-4DB2-BD59-A6C34878D82A}">
                        <a16:rowId xmlns:a16="http://schemas.microsoft.com/office/drawing/2014/main" val="10001"/>
                      </a:ext>
                    </a:extLst>
                  </a:tr>
                  <a:tr h="318868">
                    <a:tc>
                      <a:txBody>
                        <a:bodyPr/>
                        <a:lstStyle/>
                        <a:p>
                          <a:pPr algn="ctr"/>
                          <a:r>
                            <a:rPr lang="en-US" dirty="0"/>
                            <a:t>HHT</a:t>
                          </a:r>
                        </a:p>
                      </a:txBody>
                      <a:tcPr/>
                    </a:tc>
                    <a:tc>
                      <a:txBody>
                        <a:bodyPr/>
                        <a:lstStyle/>
                        <a:p>
                          <a:pPr algn="ctr"/>
                          <a:r>
                            <a:rPr lang="en-US"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2"/>
                      </a:ext>
                    </a:extLst>
                  </a:tr>
                  <a:tr h="318868">
                    <a:tc>
                      <a:txBody>
                        <a:bodyPr/>
                        <a:lstStyle/>
                        <a:p>
                          <a:pPr algn="ctr"/>
                          <a:r>
                            <a:rPr lang="en-US" dirty="0"/>
                            <a:t>HTH</a:t>
                          </a:r>
                        </a:p>
                      </a:txBody>
                      <a:tcPr/>
                    </a:tc>
                    <a:tc>
                      <a:txBody>
                        <a:bodyPr/>
                        <a:lstStyle/>
                        <a:p>
                          <a:pPr algn="ctr"/>
                          <a:r>
                            <a:rPr lang="en-US"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3"/>
                      </a:ext>
                    </a:extLst>
                  </a:tr>
                  <a:tr h="318868">
                    <a:tc>
                      <a:txBody>
                        <a:bodyPr/>
                        <a:lstStyle/>
                        <a:p>
                          <a:pPr algn="ctr"/>
                          <a:r>
                            <a:rPr lang="en-US" dirty="0"/>
                            <a:t>THH</a:t>
                          </a:r>
                        </a:p>
                      </a:txBody>
                      <a:tcPr/>
                    </a:tc>
                    <a:tc>
                      <a:txBody>
                        <a:bodyPr/>
                        <a:lstStyle/>
                        <a:p>
                          <a:pPr algn="ctr"/>
                          <a:r>
                            <a:rPr lang="en-US"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4"/>
                      </a:ext>
                    </a:extLst>
                  </a:tr>
                  <a:tr h="318868">
                    <a:tc>
                      <a:txBody>
                        <a:bodyPr/>
                        <a:lstStyle/>
                        <a:p>
                          <a:pPr algn="ctr"/>
                          <a:r>
                            <a:rPr lang="en-US" dirty="0"/>
                            <a:t>HTT</a:t>
                          </a:r>
                        </a:p>
                      </a:txBody>
                      <a:tcPr/>
                    </a:tc>
                    <a:tc>
                      <a:txBody>
                        <a:bodyPr/>
                        <a:lstStyle/>
                        <a:p>
                          <a:pPr algn="ctr"/>
                          <a:r>
                            <a:rPr lang="en-US"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5"/>
                      </a:ext>
                    </a:extLst>
                  </a:tr>
                  <a:tr h="318868">
                    <a:tc>
                      <a:txBody>
                        <a:bodyPr/>
                        <a:lstStyle/>
                        <a:p>
                          <a:pPr algn="ctr"/>
                          <a:r>
                            <a:rPr lang="en-US" dirty="0"/>
                            <a:t>TTH</a:t>
                          </a:r>
                        </a:p>
                      </a:txBody>
                      <a:tcPr/>
                    </a:tc>
                    <a:tc>
                      <a:txBody>
                        <a:bodyPr/>
                        <a:lstStyle/>
                        <a:p>
                          <a:pPr algn="ctr"/>
                          <a:r>
                            <a:rPr lang="en-US"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6"/>
                      </a:ext>
                    </a:extLst>
                  </a:tr>
                  <a:tr h="318868">
                    <a:tc>
                      <a:txBody>
                        <a:bodyPr/>
                        <a:lstStyle/>
                        <a:p>
                          <a:pPr algn="ctr"/>
                          <a:r>
                            <a:rPr lang="en-US" dirty="0"/>
                            <a:t>THT</a:t>
                          </a:r>
                        </a:p>
                      </a:txBody>
                      <a:tcPr/>
                    </a:tc>
                    <a:tc>
                      <a:txBody>
                        <a:bodyPr/>
                        <a:lstStyle/>
                        <a:p>
                          <a:pPr algn="ctr"/>
                          <a:r>
                            <a:rPr lang="en-US"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7"/>
                      </a:ext>
                    </a:extLst>
                  </a:tr>
                  <a:tr h="318868">
                    <a:tc>
                      <a:txBody>
                        <a:bodyPr/>
                        <a:lstStyle/>
                        <a:p>
                          <a:pPr algn="ctr"/>
                          <a:r>
                            <a:rPr lang="en-US" dirty="0"/>
                            <a:t>TTT</a:t>
                          </a:r>
                        </a:p>
                      </a:txBody>
                      <a:tcPr/>
                    </a:tc>
                    <a:tc>
                      <a:txBody>
                        <a:bodyPr/>
                        <a:lstStyle/>
                        <a:p>
                          <a:pPr algn="ctr"/>
                          <a:r>
                            <a:rPr lang="en-US"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11229785"/>
                  </p:ext>
                </p:extLst>
              </p:nvPr>
            </p:nvGraphicFramePr>
            <p:xfrm>
              <a:off x="4419600" y="1752600"/>
              <a:ext cx="3733800" cy="3566160"/>
            </p:xfrm>
            <a:graphic>
              <a:graphicData uri="http://schemas.openxmlformats.org/drawingml/2006/table">
                <a:tbl>
                  <a:tblPr firstRow="1" bandRow="1">
                    <a:tableStyleId>{073A0DAA-6AF3-43AB-8588-CEC1D06C72B9}</a:tableStyleId>
                  </a:tblPr>
                  <a:tblGrid>
                    <a:gridCol w="1244600"/>
                    <a:gridCol w="1244600"/>
                    <a:gridCol w="1244600"/>
                  </a:tblGrid>
                  <a:tr h="640080">
                    <a:tc>
                      <a:txBody>
                        <a:bodyPr/>
                        <a:lstStyle/>
                        <a:p>
                          <a:pPr algn="ctr"/>
                          <a:r>
                            <a:rPr lang="en-US" dirty="0" smtClean="0"/>
                            <a:t>Sample Space</a:t>
                          </a:r>
                          <a:endParaRPr lang="en-US" dirty="0"/>
                        </a:p>
                      </a:txBody>
                      <a:tcPr/>
                    </a:tc>
                    <a:tc>
                      <a:txBody>
                        <a:bodyPr/>
                        <a:lstStyle/>
                        <a:p>
                          <a:endParaRPr lang="en-US"/>
                        </a:p>
                      </a:txBody>
                      <a:tcPr>
                        <a:blipFill rotWithShape="1">
                          <a:blip r:embed="rId3"/>
                          <a:stretch>
                            <a:fillRect l="-99512" t="-4762" r="-99512" b="-471429"/>
                          </a:stretch>
                        </a:blipFill>
                      </a:tcPr>
                    </a:tc>
                    <a:tc>
                      <a:txBody>
                        <a:bodyPr/>
                        <a:lstStyle/>
                        <a:p>
                          <a:pPr algn="ctr"/>
                          <a:r>
                            <a:rPr lang="en-US" dirty="0" smtClean="0"/>
                            <a:t>Probability</a:t>
                          </a:r>
                          <a:endParaRPr lang="en-US" dirty="0"/>
                        </a:p>
                      </a:txBody>
                      <a:tcPr/>
                    </a:tc>
                  </a:tr>
                  <a:tr h="365760">
                    <a:tc>
                      <a:txBody>
                        <a:bodyPr/>
                        <a:lstStyle/>
                        <a:p>
                          <a:pPr algn="ctr"/>
                          <a:r>
                            <a:rPr lang="en-US" dirty="0" smtClean="0"/>
                            <a:t>HHH</a:t>
                          </a:r>
                          <a:endParaRPr lang="en-US" dirty="0"/>
                        </a:p>
                      </a:txBody>
                      <a:tcPr/>
                    </a:tc>
                    <a:tc>
                      <a:txBody>
                        <a:bodyPr/>
                        <a:lstStyle/>
                        <a:p>
                          <a:pPr algn="ctr"/>
                          <a:r>
                            <a:rPr lang="en-US" dirty="0" smtClean="0"/>
                            <a:t>3</a:t>
                          </a:r>
                          <a:endParaRPr lang="en-US" dirty="0"/>
                        </a:p>
                      </a:txBody>
                      <a:tcPr/>
                    </a:tc>
                    <a:tc>
                      <a:txBody>
                        <a:bodyPr/>
                        <a:lstStyle/>
                        <a:p>
                          <a:pPr algn="ctr"/>
                          <a:r>
                            <a:rPr lang="en-US" dirty="0" smtClean="0"/>
                            <a:t>1/8 </a:t>
                          </a:r>
                          <a:endParaRPr lang="en-US" dirty="0"/>
                        </a:p>
                      </a:txBody>
                      <a:tcPr/>
                    </a:tc>
                  </a:tr>
                  <a:tr h="365760">
                    <a:tc>
                      <a:txBody>
                        <a:bodyPr/>
                        <a:lstStyle/>
                        <a:p>
                          <a:pPr algn="ctr"/>
                          <a:r>
                            <a:rPr lang="en-US" dirty="0" smtClean="0"/>
                            <a:t>HHT</a:t>
                          </a:r>
                          <a:endParaRPr lang="en-US" dirty="0"/>
                        </a:p>
                      </a:txBody>
                      <a:tcPr/>
                    </a:tc>
                    <a:tc>
                      <a:txBody>
                        <a:bodyPr/>
                        <a:lstStyle/>
                        <a:p>
                          <a:pPr algn="ctr"/>
                          <a:r>
                            <a:rPr lang="en-US" dirty="0" smtClean="0"/>
                            <a:t>2</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HTH</a:t>
                          </a:r>
                          <a:endParaRPr lang="en-US" dirty="0"/>
                        </a:p>
                      </a:txBody>
                      <a:tcPr/>
                    </a:tc>
                    <a:tc>
                      <a:txBody>
                        <a:bodyPr/>
                        <a:lstStyle/>
                        <a:p>
                          <a:pPr algn="ctr"/>
                          <a:r>
                            <a:rPr lang="en-US" dirty="0" smtClean="0"/>
                            <a:t>2</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THH</a:t>
                          </a:r>
                          <a:endParaRPr lang="en-US" dirty="0"/>
                        </a:p>
                      </a:txBody>
                      <a:tcPr/>
                    </a:tc>
                    <a:tc>
                      <a:txBody>
                        <a:bodyPr/>
                        <a:lstStyle/>
                        <a:p>
                          <a:pPr algn="ctr"/>
                          <a:r>
                            <a:rPr lang="en-US" dirty="0" smtClean="0"/>
                            <a:t>2</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HTT</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TTH</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THT</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TTT</a:t>
                          </a:r>
                          <a:endParaRPr lang="en-US" dirty="0"/>
                        </a:p>
                      </a:txBody>
                      <a:tcPr/>
                    </a:tc>
                    <a:tc>
                      <a:txBody>
                        <a:bodyPr/>
                        <a:lstStyle/>
                        <a:p>
                          <a:pPr algn="ctr"/>
                          <a:r>
                            <a:rPr lang="en-US" dirty="0" smtClean="0"/>
                            <a:t>0</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bl>
              </a:graphicData>
            </a:graphic>
          </p:graphicFrame>
        </mc:Fallback>
      </mc:AlternateContent>
    </p:spTree>
    <p:extLst>
      <p:ext uri="{BB962C8B-B14F-4D97-AF65-F5344CB8AC3E}">
        <p14:creationId xmlns:p14="http://schemas.microsoft.com/office/powerpoint/2010/main" val="2482959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3.2 – Discrete Probability Distributions</a:t>
            </a:r>
          </a:p>
        </p:txBody>
      </p:sp>
      <mc:AlternateContent xmlns:mc="http://schemas.openxmlformats.org/markup-compatibility/2006" xmlns:a14="http://schemas.microsoft.com/office/drawing/2010/main">
        <mc:Choice Requires="a14">
          <p:graphicFrame>
            <p:nvGraphicFramePr>
              <p:cNvPr id="5" name="Content Placeholder 4"/>
              <p:cNvGraphicFramePr>
                <a:graphicFrameLocks noGrp="1"/>
              </p:cNvGraphicFramePr>
              <p:nvPr>
                <p:ph idx="1"/>
                <p:extLst>
                  <p:ext uri="{D42A27DB-BD31-4B8C-83A1-F6EECF244321}">
                    <p14:modId xmlns:p14="http://schemas.microsoft.com/office/powerpoint/2010/main" val="1601419010"/>
                  </p:ext>
                </p:extLst>
              </p:nvPr>
            </p:nvGraphicFramePr>
            <p:xfrm>
              <a:off x="457200" y="1600200"/>
              <a:ext cx="7620000" cy="741680"/>
            </p:xfrm>
            <a:graphic>
              <a:graphicData uri="http://schemas.openxmlformats.org/drawingml/2006/table">
                <a:tbl>
                  <a:tblPr firstRow="1" firstCol="1" bandRow="1">
                    <a:tableStyleId>{073A0DAA-6AF3-43AB-8588-CEC1D06C72B9}</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𝑷</m:t>
                                </m:r>
                                <m:r>
                                  <a:rPr lang="en-US" b="1" i="1" smtClean="0">
                                    <a:latin typeface="Cambria Math"/>
                                  </a:rPr>
                                  <m:t>(</m:t>
                                </m:r>
                                <m:r>
                                  <a:rPr lang="en-US" b="1" i="1" smtClean="0">
                                    <a:latin typeface="Cambria Math"/>
                                  </a:rPr>
                                  <m:t>𝑿</m:t>
                                </m:r>
                                <m:r>
                                  <a:rPr lang="en-US" b="1" i="1" smtClean="0">
                                    <a:latin typeface="Cambria Math"/>
                                  </a:rPr>
                                  <m:t>=</m:t>
                                </m:r>
                                <m:r>
                                  <a:rPr lang="en-US" b="1" i="1" smtClean="0">
                                    <a:latin typeface="Cambria Math"/>
                                  </a:rPr>
                                  <m:t>𝒙</m:t>
                                </m:r>
                                <m:r>
                                  <a:rPr lang="en-US" b="1" i="1" smtClean="0">
                                    <a:latin typeface="Cambria Math"/>
                                  </a:rPr>
                                  <m:t>)</m:t>
                                </m:r>
                              </m:oMath>
                            </m:oMathPara>
                          </a14:m>
                          <a:endParaRPr lang="en-US" dirty="0"/>
                        </a:p>
                      </a:txBody>
                      <a:tcPr/>
                    </a:tc>
                    <a:tc>
                      <a:txBody>
                        <a:bodyPr/>
                        <a:lstStyle/>
                        <a:p>
                          <a:pPr algn="ctr"/>
                          <a:r>
                            <a:rPr lang="en-US" dirty="0"/>
                            <a:t>1/8</a:t>
                          </a:r>
                        </a:p>
                      </a:txBody>
                      <a:tcPr/>
                    </a:tc>
                    <a:tc>
                      <a:txBody>
                        <a:bodyPr/>
                        <a:lstStyle/>
                        <a:p>
                          <a:pPr algn="ctr"/>
                          <a:r>
                            <a:rPr lang="en-US" dirty="0"/>
                            <a:t>3/8</a:t>
                          </a:r>
                        </a:p>
                      </a:txBody>
                      <a:tcPr/>
                    </a:tc>
                    <a:tc>
                      <a:txBody>
                        <a:bodyPr/>
                        <a:lstStyle/>
                        <a:p>
                          <a:pPr algn="ctr"/>
                          <a:r>
                            <a:rPr lang="en-US" dirty="0"/>
                            <a:t>3/8</a:t>
                          </a:r>
                        </a:p>
                      </a:txBody>
                      <a:tcPr/>
                    </a:tc>
                    <a:tc>
                      <a:txBody>
                        <a:bodyPr/>
                        <a:lstStyle/>
                        <a:p>
                          <a:pPr algn="ctr"/>
                          <a:r>
                            <a:rPr lang="en-US" dirty="0"/>
                            <a:t>1/8</a:t>
                          </a:r>
                        </a:p>
                      </a:txBody>
                      <a:tcPr/>
                    </a:tc>
                    <a:extLst>
                      <a:ext uri="{0D108BD9-81ED-4DB2-BD59-A6C34878D82A}">
                        <a16:rowId xmlns:a16="http://schemas.microsoft.com/office/drawing/2014/main" val="10001"/>
                      </a:ext>
                    </a:extLst>
                  </a:tr>
                </a:tbl>
              </a:graphicData>
            </a:graphic>
          </p:graphicFrame>
        </mc:Choice>
        <mc:Fallback xmlns="">
          <p:graphicFrame>
            <p:nvGraphicFramePr>
              <p:cNvPr id="5" name="Content Placeholder 4"/>
              <p:cNvGraphicFramePr>
                <a:graphicFrameLocks noGrp="1"/>
              </p:cNvGraphicFramePr>
              <p:nvPr>
                <p:ph idx="1"/>
                <p:extLst>
                  <p:ext uri="{D42A27DB-BD31-4B8C-83A1-F6EECF244321}">
                    <p14:modId xmlns:p14="http://schemas.microsoft.com/office/powerpoint/2010/main" val="1601419010"/>
                  </p:ext>
                </p:extLst>
              </p:nvPr>
            </p:nvGraphicFramePr>
            <p:xfrm>
              <a:off x="457200" y="1600200"/>
              <a:ext cx="7620000" cy="741680"/>
            </p:xfrm>
            <a:graphic>
              <a:graphicData uri="http://schemas.openxmlformats.org/drawingml/2006/table">
                <a:tbl>
                  <a:tblPr firstRow="1" firstCol="1" bandRow="1">
                    <a:tableStyleId>{073A0DAA-6AF3-43AB-8588-CEC1D06C72B9}</a:tableStyleId>
                  </a:tblPr>
                  <a:tblGrid>
                    <a:gridCol w="1524000"/>
                    <a:gridCol w="1524000"/>
                    <a:gridCol w="1524000"/>
                    <a:gridCol w="1524000"/>
                    <a:gridCol w="1524000"/>
                  </a:tblGrid>
                  <a:tr h="370840">
                    <a:tc>
                      <a:txBody>
                        <a:bodyPr/>
                        <a:lstStyle/>
                        <a:p>
                          <a:endParaRPr lang="en-US"/>
                        </a:p>
                      </a:txBody>
                      <a:tcPr>
                        <a:blipFill rotWithShape="1">
                          <a:blip r:embed="rId2"/>
                          <a:stretch>
                            <a:fillRect t="-8197" r="-400000" b="-122951"/>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370840">
                    <a:tc>
                      <a:txBody>
                        <a:bodyPr/>
                        <a:lstStyle/>
                        <a:p>
                          <a:endParaRPr lang="en-US"/>
                        </a:p>
                      </a:txBody>
                      <a:tcPr>
                        <a:blipFill rotWithShape="1">
                          <a:blip r:embed="rId2"/>
                          <a:stretch>
                            <a:fillRect t="-110000" r="-400000" b="-25000"/>
                          </a:stretch>
                        </a:blipFill>
                      </a:tcPr>
                    </a:tc>
                    <a:tc>
                      <a:txBody>
                        <a:bodyPr/>
                        <a:lstStyle/>
                        <a:p>
                          <a:pPr algn="ctr"/>
                          <a:r>
                            <a:rPr lang="en-US" dirty="0" smtClean="0"/>
                            <a:t>1/8</a:t>
                          </a:r>
                          <a:endParaRPr lang="en-US" dirty="0"/>
                        </a:p>
                      </a:txBody>
                      <a:tcPr/>
                    </a:tc>
                    <a:tc>
                      <a:txBody>
                        <a:bodyPr/>
                        <a:lstStyle/>
                        <a:p>
                          <a:pPr algn="ctr"/>
                          <a:r>
                            <a:rPr lang="en-US" dirty="0" smtClean="0"/>
                            <a:t>3/8</a:t>
                          </a:r>
                          <a:endParaRPr lang="en-US" dirty="0"/>
                        </a:p>
                      </a:txBody>
                      <a:tcPr/>
                    </a:tc>
                    <a:tc>
                      <a:txBody>
                        <a:bodyPr/>
                        <a:lstStyle/>
                        <a:p>
                          <a:pPr algn="ctr"/>
                          <a:r>
                            <a:rPr lang="en-US" dirty="0" smtClean="0"/>
                            <a:t>3/8</a:t>
                          </a:r>
                          <a:endParaRPr lang="en-US" dirty="0"/>
                        </a:p>
                      </a:txBody>
                      <a:tcPr/>
                    </a:tc>
                    <a:tc>
                      <a:txBody>
                        <a:bodyPr/>
                        <a:lstStyle/>
                        <a:p>
                          <a:pPr algn="ctr"/>
                          <a:r>
                            <a:rPr lang="en-US" dirty="0" smtClean="0"/>
                            <a:t>1/8</a:t>
                          </a:r>
                          <a:endParaRPr lang="en-US"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4" name="Table 3"/>
              <p:cNvGraphicFramePr>
                <a:graphicFrameLocks noGrp="1"/>
              </p:cNvGraphicFramePr>
              <p:nvPr>
                <p:extLst>
                  <p:ext uri="{D42A27DB-BD31-4B8C-83A1-F6EECF244321}">
                    <p14:modId xmlns:p14="http://schemas.microsoft.com/office/powerpoint/2010/main" val="3783189446"/>
                  </p:ext>
                </p:extLst>
              </p:nvPr>
            </p:nvGraphicFramePr>
            <p:xfrm>
              <a:off x="2133600" y="3048000"/>
              <a:ext cx="3733800" cy="3566160"/>
            </p:xfrm>
            <a:graphic>
              <a:graphicData uri="http://schemas.openxmlformats.org/drawingml/2006/table">
                <a:tbl>
                  <a:tblPr firstRow="1" bandRow="1">
                    <a:tableStyleId>{073A0DAA-6AF3-43AB-8588-CEC1D06C72B9}</a:tableStyleId>
                  </a:tblPr>
                  <a:tblGrid>
                    <a:gridCol w="1244600">
                      <a:extLst>
                        <a:ext uri="{9D8B030D-6E8A-4147-A177-3AD203B41FA5}">
                          <a16:colId xmlns:a16="http://schemas.microsoft.com/office/drawing/2014/main" val="20000"/>
                        </a:ext>
                      </a:extLst>
                    </a:gridCol>
                    <a:gridCol w="1244600">
                      <a:extLst>
                        <a:ext uri="{9D8B030D-6E8A-4147-A177-3AD203B41FA5}">
                          <a16:colId xmlns:a16="http://schemas.microsoft.com/office/drawing/2014/main" val="20001"/>
                        </a:ext>
                      </a:extLst>
                    </a:gridCol>
                    <a:gridCol w="1244600">
                      <a:extLst>
                        <a:ext uri="{9D8B030D-6E8A-4147-A177-3AD203B41FA5}">
                          <a16:colId xmlns:a16="http://schemas.microsoft.com/office/drawing/2014/main" val="20002"/>
                        </a:ext>
                      </a:extLst>
                    </a:gridCol>
                  </a:tblGrid>
                  <a:tr h="558018">
                    <a:tc>
                      <a:txBody>
                        <a:bodyPr/>
                        <a:lstStyle/>
                        <a:p>
                          <a:pPr algn="ctr"/>
                          <a:r>
                            <a:rPr lang="en-US" dirty="0"/>
                            <a:t>Sample Space</a:t>
                          </a:r>
                        </a:p>
                      </a:txBody>
                      <a:tcPr/>
                    </a:tc>
                    <a:tc>
                      <a:txBody>
                        <a:bodyPr/>
                        <a:lstStyle/>
                        <a:p>
                          <a:pPr algn="ctr"/>
                          <a14:m>
                            <m:oMathPara xmlns:m="http://schemas.openxmlformats.org/officeDocument/2006/math">
                              <m:oMathParaPr>
                                <m:jc m:val="centerGroup"/>
                              </m:oMathParaPr>
                              <m:oMath xmlns:m="http://schemas.openxmlformats.org/officeDocument/2006/math">
                                <m:r>
                                  <a:rPr lang="en-US" smtClean="0">
                                    <a:latin typeface="Cambria Math"/>
                                  </a:rPr>
                                  <m:t>𝒙</m:t>
                                </m:r>
                              </m:oMath>
                            </m:oMathPara>
                          </a14:m>
                          <a:endParaRPr lang="en-US" dirty="0"/>
                        </a:p>
                      </a:txBody>
                      <a:tcPr/>
                    </a:tc>
                    <a:tc>
                      <a:txBody>
                        <a:bodyPr/>
                        <a:lstStyle/>
                        <a:p>
                          <a:pPr algn="ctr"/>
                          <a:r>
                            <a:rPr lang="en-US" dirty="0"/>
                            <a:t>Probability</a:t>
                          </a:r>
                        </a:p>
                      </a:txBody>
                      <a:tcPr/>
                    </a:tc>
                    <a:extLst>
                      <a:ext uri="{0D108BD9-81ED-4DB2-BD59-A6C34878D82A}">
                        <a16:rowId xmlns:a16="http://schemas.microsoft.com/office/drawing/2014/main" val="10000"/>
                      </a:ext>
                    </a:extLst>
                  </a:tr>
                  <a:tr h="318868">
                    <a:tc>
                      <a:txBody>
                        <a:bodyPr/>
                        <a:lstStyle/>
                        <a:p>
                          <a:pPr algn="ctr"/>
                          <a:r>
                            <a:rPr lang="en-US" dirty="0"/>
                            <a:t>HHH</a:t>
                          </a:r>
                        </a:p>
                      </a:txBody>
                      <a:tcPr/>
                    </a:tc>
                    <a:tc>
                      <a:txBody>
                        <a:bodyPr/>
                        <a:lstStyle/>
                        <a:p>
                          <a:pPr algn="ctr"/>
                          <a:r>
                            <a:rPr lang="en-US" dirty="0"/>
                            <a:t>3</a:t>
                          </a:r>
                        </a:p>
                      </a:txBody>
                      <a:tcPr/>
                    </a:tc>
                    <a:tc>
                      <a:txBody>
                        <a:bodyPr/>
                        <a:lstStyle/>
                        <a:p>
                          <a:pPr algn="ctr"/>
                          <a:r>
                            <a:rPr lang="en-US" dirty="0"/>
                            <a:t>1/8 </a:t>
                          </a:r>
                        </a:p>
                      </a:txBody>
                      <a:tcPr/>
                    </a:tc>
                    <a:extLst>
                      <a:ext uri="{0D108BD9-81ED-4DB2-BD59-A6C34878D82A}">
                        <a16:rowId xmlns:a16="http://schemas.microsoft.com/office/drawing/2014/main" val="10001"/>
                      </a:ext>
                    </a:extLst>
                  </a:tr>
                  <a:tr h="318868">
                    <a:tc>
                      <a:txBody>
                        <a:bodyPr/>
                        <a:lstStyle/>
                        <a:p>
                          <a:pPr algn="ctr"/>
                          <a:r>
                            <a:rPr lang="en-US" dirty="0"/>
                            <a:t>HHT</a:t>
                          </a:r>
                        </a:p>
                      </a:txBody>
                      <a:tcPr/>
                    </a:tc>
                    <a:tc>
                      <a:txBody>
                        <a:bodyPr/>
                        <a:lstStyle/>
                        <a:p>
                          <a:pPr algn="ctr"/>
                          <a:r>
                            <a:rPr lang="en-US"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2"/>
                      </a:ext>
                    </a:extLst>
                  </a:tr>
                  <a:tr h="318868">
                    <a:tc>
                      <a:txBody>
                        <a:bodyPr/>
                        <a:lstStyle/>
                        <a:p>
                          <a:pPr algn="ctr"/>
                          <a:r>
                            <a:rPr lang="en-US" dirty="0"/>
                            <a:t>HTH</a:t>
                          </a:r>
                        </a:p>
                      </a:txBody>
                      <a:tcPr/>
                    </a:tc>
                    <a:tc>
                      <a:txBody>
                        <a:bodyPr/>
                        <a:lstStyle/>
                        <a:p>
                          <a:pPr algn="ctr"/>
                          <a:r>
                            <a:rPr lang="en-US"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3"/>
                      </a:ext>
                    </a:extLst>
                  </a:tr>
                  <a:tr h="318868">
                    <a:tc>
                      <a:txBody>
                        <a:bodyPr/>
                        <a:lstStyle/>
                        <a:p>
                          <a:pPr algn="ctr"/>
                          <a:r>
                            <a:rPr lang="en-US" dirty="0"/>
                            <a:t>THH</a:t>
                          </a:r>
                        </a:p>
                      </a:txBody>
                      <a:tcPr/>
                    </a:tc>
                    <a:tc>
                      <a:txBody>
                        <a:bodyPr/>
                        <a:lstStyle/>
                        <a:p>
                          <a:pPr algn="ctr"/>
                          <a:r>
                            <a:rPr lang="en-US" dirty="0"/>
                            <a:t>2</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4"/>
                      </a:ext>
                    </a:extLst>
                  </a:tr>
                  <a:tr h="318868">
                    <a:tc>
                      <a:txBody>
                        <a:bodyPr/>
                        <a:lstStyle/>
                        <a:p>
                          <a:pPr algn="ctr"/>
                          <a:r>
                            <a:rPr lang="en-US" dirty="0"/>
                            <a:t>HTT</a:t>
                          </a:r>
                        </a:p>
                      </a:txBody>
                      <a:tcPr/>
                    </a:tc>
                    <a:tc>
                      <a:txBody>
                        <a:bodyPr/>
                        <a:lstStyle/>
                        <a:p>
                          <a:pPr algn="ctr"/>
                          <a:r>
                            <a:rPr lang="en-US"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5"/>
                      </a:ext>
                    </a:extLst>
                  </a:tr>
                  <a:tr h="318868">
                    <a:tc>
                      <a:txBody>
                        <a:bodyPr/>
                        <a:lstStyle/>
                        <a:p>
                          <a:pPr algn="ctr"/>
                          <a:r>
                            <a:rPr lang="en-US" dirty="0"/>
                            <a:t>TTH</a:t>
                          </a:r>
                        </a:p>
                      </a:txBody>
                      <a:tcPr/>
                    </a:tc>
                    <a:tc>
                      <a:txBody>
                        <a:bodyPr/>
                        <a:lstStyle/>
                        <a:p>
                          <a:pPr algn="ctr"/>
                          <a:r>
                            <a:rPr lang="en-US"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6"/>
                      </a:ext>
                    </a:extLst>
                  </a:tr>
                  <a:tr h="318868">
                    <a:tc>
                      <a:txBody>
                        <a:bodyPr/>
                        <a:lstStyle/>
                        <a:p>
                          <a:pPr algn="ctr"/>
                          <a:r>
                            <a:rPr lang="en-US" dirty="0"/>
                            <a:t>THT</a:t>
                          </a:r>
                        </a:p>
                      </a:txBody>
                      <a:tcPr/>
                    </a:tc>
                    <a:tc>
                      <a:txBody>
                        <a:bodyPr/>
                        <a:lstStyle/>
                        <a:p>
                          <a:pPr algn="ctr"/>
                          <a:r>
                            <a:rPr lang="en-US" dirty="0"/>
                            <a:t>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7"/>
                      </a:ext>
                    </a:extLst>
                  </a:tr>
                  <a:tr h="318868">
                    <a:tc>
                      <a:txBody>
                        <a:bodyPr/>
                        <a:lstStyle/>
                        <a:p>
                          <a:pPr algn="ctr"/>
                          <a:r>
                            <a:rPr lang="en-US" dirty="0"/>
                            <a:t>TTT</a:t>
                          </a:r>
                        </a:p>
                      </a:txBody>
                      <a:tcPr/>
                    </a:tc>
                    <a:tc>
                      <a:txBody>
                        <a:bodyPr/>
                        <a:lstStyle/>
                        <a:p>
                          <a:pPr algn="ctr"/>
                          <a:r>
                            <a:rPr lang="en-US" dirty="0"/>
                            <a:t>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1/8 </a:t>
                          </a:r>
                        </a:p>
                      </a:txBody>
                      <a:tcPr/>
                    </a:tc>
                    <a:extLst>
                      <a:ext uri="{0D108BD9-81ED-4DB2-BD59-A6C34878D82A}">
                        <a16:rowId xmlns:a16="http://schemas.microsoft.com/office/drawing/2014/main" val="10008"/>
                      </a:ext>
                    </a:extLst>
                  </a:tr>
                </a:tbl>
              </a:graphicData>
            </a:graphic>
          </p:graphicFrame>
        </mc:Choice>
        <mc:Fallback xmlns="">
          <p:graphicFrame>
            <p:nvGraphicFramePr>
              <p:cNvPr id="4" name="Table 3"/>
              <p:cNvGraphicFramePr>
                <a:graphicFrameLocks noGrp="1"/>
              </p:cNvGraphicFramePr>
              <p:nvPr>
                <p:extLst>
                  <p:ext uri="{D42A27DB-BD31-4B8C-83A1-F6EECF244321}">
                    <p14:modId xmlns:p14="http://schemas.microsoft.com/office/powerpoint/2010/main" val="3783189446"/>
                  </p:ext>
                </p:extLst>
              </p:nvPr>
            </p:nvGraphicFramePr>
            <p:xfrm>
              <a:off x="2133600" y="3048000"/>
              <a:ext cx="3733800" cy="3566160"/>
            </p:xfrm>
            <a:graphic>
              <a:graphicData uri="http://schemas.openxmlformats.org/drawingml/2006/table">
                <a:tbl>
                  <a:tblPr firstRow="1" bandRow="1">
                    <a:tableStyleId>{073A0DAA-6AF3-43AB-8588-CEC1D06C72B9}</a:tableStyleId>
                  </a:tblPr>
                  <a:tblGrid>
                    <a:gridCol w="1244600"/>
                    <a:gridCol w="1244600"/>
                    <a:gridCol w="1244600"/>
                  </a:tblGrid>
                  <a:tr h="640080">
                    <a:tc>
                      <a:txBody>
                        <a:bodyPr/>
                        <a:lstStyle/>
                        <a:p>
                          <a:pPr algn="ctr"/>
                          <a:r>
                            <a:rPr lang="en-US" dirty="0" smtClean="0"/>
                            <a:t>Sample Space</a:t>
                          </a:r>
                          <a:endParaRPr lang="en-US" dirty="0"/>
                        </a:p>
                      </a:txBody>
                      <a:tcPr/>
                    </a:tc>
                    <a:tc>
                      <a:txBody>
                        <a:bodyPr/>
                        <a:lstStyle/>
                        <a:p>
                          <a:endParaRPr lang="en-US"/>
                        </a:p>
                      </a:txBody>
                      <a:tcPr>
                        <a:blipFill rotWithShape="1">
                          <a:blip r:embed="rId3"/>
                          <a:stretch>
                            <a:fillRect l="-99512" t="-4762" r="-99512" b="-472381"/>
                          </a:stretch>
                        </a:blipFill>
                      </a:tcPr>
                    </a:tc>
                    <a:tc>
                      <a:txBody>
                        <a:bodyPr/>
                        <a:lstStyle/>
                        <a:p>
                          <a:pPr algn="ctr"/>
                          <a:r>
                            <a:rPr lang="en-US" dirty="0" smtClean="0"/>
                            <a:t>Probability</a:t>
                          </a:r>
                          <a:endParaRPr lang="en-US" dirty="0"/>
                        </a:p>
                      </a:txBody>
                      <a:tcPr/>
                    </a:tc>
                  </a:tr>
                  <a:tr h="365760">
                    <a:tc>
                      <a:txBody>
                        <a:bodyPr/>
                        <a:lstStyle/>
                        <a:p>
                          <a:pPr algn="ctr"/>
                          <a:r>
                            <a:rPr lang="en-US" dirty="0" smtClean="0"/>
                            <a:t>HHH</a:t>
                          </a:r>
                          <a:endParaRPr lang="en-US" dirty="0"/>
                        </a:p>
                      </a:txBody>
                      <a:tcPr/>
                    </a:tc>
                    <a:tc>
                      <a:txBody>
                        <a:bodyPr/>
                        <a:lstStyle/>
                        <a:p>
                          <a:pPr algn="ctr"/>
                          <a:r>
                            <a:rPr lang="en-US" dirty="0" smtClean="0"/>
                            <a:t>3</a:t>
                          </a:r>
                          <a:endParaRPr lang="en-US" dirty="0"/>
                        </a:p>
                      </a:txBody>
                      <a:tcPr/>
                    </a:tc>
                    <a:tc>
                      <a:txBody>
                        <a:bodyPr/>
                        <a:lstStyle/>
                        <a:p>
                          <a:pPr algn="ctr"/>
                          <a:r>
                            <a:rPr lang="en-US" dirty="0" smtClean="0"/>
                            <a:t>1/8 </a:t>
                          </a:r>
                          <a:endParaRPr lang="en-US" dirty="0"/>
                        </a:p>
                      </a:txBody>
                      <a:tcPr/>
                    </a:tc>
                  </a:tr>
                  <a:tr h="365760">
                    <a:tc>
                      <a:txBody>
                        <a:bodyPr/>
                        <a:lstStyle/>
                        <a:p>
                          <a:pPr algn="ctr"/>
                          <a:r>
                            <a:rPr lang="en-US" dirty="0" smtClean="0"/>
                            <a:t>HHT</a:t>
                          </a:r>
                          <a:endParaRPr lang="en-US" dirty="0"/>
                        </a:p>
                      </a:txBody>
                      <a:tcPr/>
                    </a:tc>
                    <a:tc>
                      <a:txBody>
                        <a:bodyPr/>
                        <a:lstStyle/>
                        <a:p>
                          <a:pPr algn="ctr"/>
                          <a:r>
                            <a:rPr lang="en-US" dirty="0" smtClean="0"/>
                            <a:t>2</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HTH</a:t>
                          </a:r>
                          <a:endParaRPr lang="en-US" dirty="0"/>
                        </a:p>
                      </a:txBody>
                      <a:tcPr/>
                    </a:tc>
                    <a:tc>
                      <a:txBody>
                        <a:bodyPr/>
                        <a:lstStyle/>
                        <a:p>
                          <a:pPr algn="ctr"/>
                          <a:r>
                            <a:rPr lang="en-US" dirty="0" smtClean="0"/>
                            <a:t>2</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THH</a:t>
                          </a:r>
                          <a:endParaRPr lang="en-US" dirty="0"/>
                        </a:p>
                      </a:txBody>
                      <a:tcPr/>
                    </a:tc>
                    <a:tc>
                      <a:txBody>
                        <a:bodyPr/>
                        <a:lstStyle/>
                        <a:p>
                          <a:pPr algn="ctr"/>
                          <a:r>
                            <a:rPr lang="en-US" dirty="0" smtClean="0"/>
                            <a:t>2</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HTT</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TTH</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THT</a:t>
                          </a:r>
                          <a:endParaRPr lang="en-US" dirty="0"/>
                        </a:p>
                      </a:txBody>
                      <a:tcPr/>
                    </a:tc>
                    <a:tc>
                      <a:txBody>
                        <a:bodyPr/>
                        <a:lstStyle/>
                        <a:p>
                          <a:pPr algn="ctr"/>
                          <a:r>
                            <a:rPr lang="en-US" dirty="0" smtClean="0"/>
                            <a:t>1</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r h="365760">
                    <a:tc>
                      <a:txBody>
                        <a:bodyPr/>
                        <a:lstStyle/>
                        <a:p>
                          <a:pPr algn="ctr"/>
                          <a:r>
                            <a:rPr lang="en-US" dirty="0" smtClean="0"/>
                            <a:t>TTT</a:t>
                          </a:r>
                          <a:endParaRPr lang="en-US" dirty="0"/>
                        </a:p>
                      </a:txBody>
                      <a:tcPr/>
                    </a:tc>
                    <a:tc>
                      <a:txBody>
                        <a:bodyPr/>
                        <a:lstStyle/>
                        <a:p>
                          <a:pPr algn="ctr"/>
                          <a:r>
                            <a:rPr lang="en-US" dirty="0" smtClean="0"/>
                            <a:t>0</a:t>
                          </a:r>
                          <a:endParaRPr 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1/8 </a:t>
                          </a:r>
                        </a:p>
                      </a:txBody>
                      <a:tcPr/>
                    </a:tc>
                  </a:tr>
                </a:tbl>
              </a:graphicData>
            </a:graphic>
          </p:graphicFrame>
        </mc:Fallback>
      </mc:AlternateContent>
    </p:spTree>
    <p:extLst>
      <p:ext uri="{BB962C8B-B14F-4D97-AF65-F5344CB8AC3E}">
        <p14:creationId xmlns:p14="http://schemas.microsoft.com/office/powerpoint/2010/main" val="3293799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This is the idea of a probability distribution. </a:t>
                </a:r>
              </a:p>
              <a:p>
                <a:endParaRPr lang="en-US" dirty="0"/>
              </a:p>
              <a:p>
                <a:endParaRPr lang="en-US" dirty="0"/>
              </a:p>
              <a:p>
                <a:endParaRPr lang="en-US" dirty="0"/>
              </a:p>
              <a:p>
                <a:r>
                  <a:rPr lang="en-US" dirty="0"/>
                  <a:t>To each possible value of the random variable, we assign the probability of obtaining that value.</a:t>
                </a:r>
              </a:p>
              <a:p>
                <a:endParaRPr lang="en-US" dirty="0"/>
              </a:p>
              <a:p>
                <a:r>
                  <a:rPr lang="en-US" dirty="0"/>
                  <a:t>Letting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𝑥</m:t>
                    </m:r>
                    <m:r>
                      <a:rPr lang="en-US" b="0" i="1" smtClean="0">
                        <a:latin typeface="Cambria Math"/>
                      </a:rPr>
                      <m:t>)</m:t>
                    </m:r>
                  </m:oMath>
                </a14:m>
                <a:r>
                  <a:rPr lang="en-US" dirty="0"/>
                  <a:t>, we say that the set of ordered pairs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 </m:t>
                        </m:r>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e>
                    </m:d>
                  </m:oMath>
                </a14:m>
                <a:r>
                  <a:rPr lang="en-US" dirty="0"/>
                  <a:t> is the </a:t>
                </a:r>
                <a:r>
                  <a:rPr lang="en-US" i="1" dirty="0"/>
                  <a:t>probability distribution</a:t>
                </a:r>
                <a:r>
                  <a:rPr lang="en-US" dirty="0"/>
                  <a:t> of the random variable </a:t>
                </a:r>
                <a14:m>
                  <m:oMath xmlns:m="http://schemas.openxmlformats.org/officeDocument/2006/math">
                    <m:r>
                      <a:rPr lang="en-US" b="0" i="1" smtClean="0">
                        <a:latin typeface="Cambria Math"/>
                      </a:rPr>
                      <m:t>𝑋</m:t>
                    </m:r>
                  </m:oMath>
                </a14:m>
                <a:r>
                  <a:rPr lang="en-US" dirty="0"/>
                  <a:t>.</a:t>
                </a:r>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12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Content Placeholder 4"/>
              <p:cNvGraphicFramePr>
                <a:graphicFrameLocks/>
              </p:cNvGraphicFramePr>
              <p:nvPr>
                <p:extLst>
                  <p:ext uri="{D42A27DB-BD31-4B8C-83A1-F6EECF244321}">
                    <p14:modId xmlns:p14="http://schemas.microsoft.com/office/powerpoint/2010/main" val="2013261066"/>
                  </p:ext>
                </p:extLst>
              </p:nvPr>
            </p:nvGraphicFramePr>
            <p:xfrm>
              <a:off x="685800" y="2286000"/>
              <a:ext cx="7620000" cy="741680"/>
            </p:xfrm>
            <a:graphic>
              <a:graphicData uri="http://schemas.openxmlformats.org/drawingml/2006/table">
                <a:tbl>
                  <a:tblPr firstRow="1" firstCol="1" bandRow="1">
                    <a:tableStyleId>{073A0DAA-6AF3-43AB-8588-CEC1D06C72B9}</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𝑷</m:t>
                                </m:r>
                                <m:r>
                                  <a:rPr lang="en-US" b="1" i="1" smtClean="0">
                                    <a:latin typeface="Cambria Math"/>
                                  </a:rPr>
                                  <m:t>(</m:t>
                                </m:r>
                                <m:r>
                                  <a:rPr lang="en-US" b="1" i="1" smtClean="0">
                                    <a:latin typeface="Cambria Math"/>
                                  </a:rPr>
                                  <m:t>𝑿</m:t>
                                </m:r>
                                <m:r>
                                  <a:rPr lang="en-US" b="1" i="1" smtClean="0">
                                    <a:latin typeface="Cambria Math"/>
                                  </a:rPr>
                                  <m:t>=</m:t>
                                </m:r>
                                <m:r>
                                  <a:rPr lang="en-US" b="1" i="1" smtClean="0">
                                    <a:latin typeface="Cambria Math"/>
                                  </a:rPr>
                                  <m:t>𝒙</m:t>
                                </m:r>
                                <m:r>
                                  <a:rPr lang="en-US" b="1" i="1" smtClean="0">
                                    <a:latin typeface="Cambria Math"/>
                                  </a:rPr>
                                  <m:t>)</m:t>
                                </m:r>
                              </m:oMath>
                            </m:oMathPara>
                          </a14:m>
                          <a:endParaRPr lang="en-US" dirty="0"/>
                        </a:p>
                      </a:txBody>
                      <a:tcPr/>
                    </a:tc>
                    <a:tc>
                      <a:txBody>
                        <a:bodyPr/>
                        <a:lstStyle/>
                        <a:p>
                          <a:pPr algn="ctr"/>
                          <a:r>
                            <a:rPr lang="en-US" dirty="0"/>
                            <a:t>1/8</a:t>
                          </a:r>
                        </a:p>
                      </a:txBody>
                      <a:tcPr/>
                    </a:tc>
                    <a:tc>
                      <a:txBody>
                        <a:bodyPr/>
                        <a:lstStyle/>
                        <a:p>
                          <a:pPr algn="ctr"/>
                          <a:r>
                            <a:rPr lang="en-US" dirty="0"/>
                            <a:t>3/8</a:t>
                          </a:r>
                        </a:p>
                      </a:txBody>
                      <a:tcPr/>
                    </a:tc>
                    <a:tc>
                      <a:txBody>
                        <a:bodyPr/>
                        <a:lstStyle/>
                        <a:p>
                          <a:pPr algn="ctr"/>
                          <a:r>
                            <a:rPr lang="en-US" dirty="0"/>
                            <a:t>3/8</a:t>
                          </a:r>
                        </a:p>
                      </a:txBody>
                      <a:tcPr/>
                    </a:tc>
                    <a:tc>
                      <a:txBody>
                        <a:bodyPr/>
                        <a:lstStyle/>
                        <a:p>
                          <a:pPr algn="ctr"/>
                          <a:r>
                            <a:rPr lang="en-US" dirty="0"/>
                            <a:t>1/8</a:t>
                          </a:r>
                        </a:p>
                      </a:txBody>
                      <a:tcPr/>
                    </a:tc>
                    <a:extLst>
                      <a:ext uri="{0D108BD9-81ED-4DB2-BD59-A6C34878D82A}">
                        <a16:rowId xmlns:a16="http://schemas.microsoft.com/office/drawing/2014/main" val="10001"/>
                      </a:ext>
                    </a:extLst>
                  </a:tr>
                </a:tbl>
              </a:graphicData>
            </a:graphic>
          </p:graphicFrame>
        </mc:Choice>
        <mc:Fallback xmlns="">
          <p:graphicFrame>
            <p:nvGraphicFramePr>
              <p:cNvPr id="4" name="Content Placeholder 4"/>
              <p:cNvGraphicFramePr>
                <a:graphicFrameLocks/>
              </p:cNvGraphicFramePr>
              <p:nvPr>
                <p:extLst>
                  <p:ext uri="{D42A27DB-BD31-4B8C-83A1-F6EECF244321}">
                    <p14:modId xmlns:p14="http://schemas.microsoft.com/office/powerpoint/2010/main" val="2013261066"/>
                  </p:ext>
                </p:extLst>
              </p:nvPr>
            </p:nvGraphicFramePr>
            <p:xfrm>
              <a:off x="685800" y="2286000"/>
              <a:ext cx="7620000" cy="741680"/>
            </p:xfrm>
            <a:graphic>
              <a:graphicData uri="http://schemas.openxmlformats.org/drawingml/2006/table">
                <a:tbl>
                  <a:tblPr firstRow="1" firstCol="1" bandRow="1">
                    <a:tableStyleId>{073A0DAA-6AF3-43AB-8588-CEC1D06C72B9}</a:tableStyleId>
                  </a:tblPr>
                  <a:tblGrid>
                    <a:gridCol w="1524000"/>
                    <a:gridCol w="1524000"/>
                    <a:gridCol w="1524000"/>
                    <a:gridCol w="1524000"/>
                    <a:gridCol w="1524000"/>
                  </a:tblGrid>
                  <a:tr h="370840">
                    <a:tc>
                      <a:txBody>
                        <a:bodyPr/>
                        <a:lstStyle/>
                        <a:p>
                          <a:endParaRPr lang="en-US"/>
                        </a:p>
                      </a:txBody>
                      <a:tcPr>
                        <a:blipFill rotWithShape="1">
                          <a:blip r:embed="rId3"/>
                          <a:stretch>
                            <a:fillRect l="-400" t="-8197" r="-400000" b="-124590"/>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370840">
                    <a:tc>
                      <a:txBody>
                        <a:bodyPr/>
                        <a:lstStyle/>
                        <a:p>
                          <a:endParaRPr lang="en-US"/>
                        </a:p>
                      </a:txBody>
                      <a:tcPr>
                        <a:blipFill rotWithShape="1">
                          <a:blip r:embed="rId3"/>
                          <a:stretch>
                            <a:fillRect l="-400" t="-108197" r="-400000" b="-24590"/>
                          </a:stretch>
                        </a:blipFill>
                      </a:tcPr>
                    </a:tc>
                    <a:tc>
                      <a:txBody>
                        <a:bodyPr/>
                        <a:lstStyle/>
                        <a:p>
                          <a:pPr algn="ctr"/>
                          <a:r>
                            <a:rPr lang="en-US" dirty="0" smtClean="0"/>
                            <a:t>1/8</a:t>
                          </a:r>
                          <a:endParaRPr lang="en-US" dirty="0"/>
                        </a:p>
                      </a:txBody>
                      <a:tcPr/>
                    </a:tc>
                    <a:tc>
                      <a:txBody>
                        <a:bodyPr/>
                        <a:lstStyle/>
                        <a:p>
                          <a:pPr algn="ctr"/>
                          <a:r>
                            <a:rPr lang="en-US" dirty="0" smtClean="0"/>
                            <a:t>3/8</a:t>
                          </a:r>
                          <a:endParaRPr lang="en-US" dirty="0"/>
                        </a:p>
                      </a:txBody>
                      <a:tcPr/>
                    </a:tc>
                    <a:tc>
                      <a:txBody>
                        <a:bodyPr/>
                        <a:lstStyle/>
                        <a:p>
                          <a:pPr algn="ctr"/>
                          <a:r>
                            <a:rPr lang="en-US" dirty="0" smtClean="0"/>
                            <a:t>3/8</a:t>
                          </a:r>
                          <a:endParaRPr lang="en-US" dirty="0"/>
                        </a:p>
                      </a:txBody>
                      <a:tcPr/>
                    </a:tc>
                    <a:tc>
                      <a:txBody>
                        <a:bodyPr/>
                        <a:lstStyle/>
                        <a:p>
                          <a:pPr algn="ctr"/>
                          <a:r>
                            <a:rPr lang="en-US" dirty="0" smtClean="0"/>
                            <a:t>1/8</a:t>
                          </a:r>
                          <a:endParaRPr lang="en-US" dirty="0"/>
                        </a:p>
                      </a:txBody>
                      <a:tcPr/>
                    </a:tc>
                  </a:tr>
                </a:tbl>
              </a:graphicData>
            </a:graphic>
          </p:graphicFrame>
        </mc:Fallback>
      </mc:AlternateContent>
    </p:spTree>
    <p:extLst>
      <p:ext uri="{BB962C8B-B14F-4D97-AF65-F5344CB8AC3E}">
        <p14:creationId xmlns:p14="http://schemas.microsoft.com/office/powerpoint/2010/main" val="5864435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While the definition of a probability distribution is the same for both discrete and continuous random variables, there are some differences in how we work with them. Because of this, we distinguish between them in the following way:</a:t>
                </a:r>
              </a:p>
              <a:p>
                <a:pPr lvl="1"/>
                <a:r>
                  <a:rPr lang="en-US" dirty="0"/>
                  <a:t>The probability distribution for a discrete random variable is called a </a:t>
                </a:r>
                <a:r>
                  <a:rPr lang="en-US" i="1" dirty="0"/>
                  <a:t>probability mass function</a:t>
                </a:r>
                <a:r>
                  <a:rPr lang="en-US" dirty="0"/>
                  <a:t>, or PMF.</a:t>
                </a:r>
              </a:p>
              <a:p>
                <a:pPr lvl="1"/>
                <a:r>
                  <a:rPr lang="en-US" dirty="0"/>
                  <a:t>The probability distribution for a continuous random variable is called a </a:t>
                </a:r>
                <a:r>
                  <a:rPr lang="en-US" i="1" dirty="0"/>
                  <a:t>probability density function</a:t>
                </a:r>
                <a:r>
                  <a:rPr lang="en-US" dirty="0"/>
                  <a:t>, or PDF.</a:t>
                </a:r>
              </a:p>
              <a:p>
                <a:endParaRPr lang="en-US" dirty="0"/>
              </a:p>
              <a:p>
                <a:r>
                  <a:rPr lang="en-US" dirty="0"/>
                  <a:t>Note that both of these are denoted by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r>
                  <a:rPr lang="en-US" dirty="0"/>
                  <a:t>. In this section we will focus on discrete distribution and work with continuous distributions in 3.3.</a:t>
                </a:r>
              </a:p>
              <a:p>
                <a:pPr lvl="1"/>
                <a:r>
                  <a:rPr lang="en-US" dirty="0"/>
                  <a:t>Also note that I’m not sure how consistent the book is with this terminology. They might use PMF and PDF interchangeably. We will use them as described above to avoid confusion.</a:t>
                </a:r>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25" b="-1017"/>
                </a:stretch>
              </a:blipFill>
            </p:spPr>
            <p:txBody>
              <a:bodyPr/>
              <a:lstStyle/>
              <a:p>
                <a:r>
                  <a:rPr lang="en-US">
                    <a:noFill/>
                  </a:rPr>
                  <a:t> </a:t>
                </a:r>
              </a:p>
            </p:txBody>
          </p:sp>
        </mc:Fallback>
      </mc:AlternateContent>
    </p:spTree>
    <p:extLst>
      <p:ext uri="{BB962C8B-B14F-4D97-AF65-F5344CB8AC3E}">
        <p14:creationId xmlns:p14="http://schemas.microsoft.com/office/powerpoint/2010/main" val="3944607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It is important to be aware that not all functions can be distribution functions. There are certain conditions that actually define a distribution function:</a:t>
                </a:r>
              </a:p>
              <a:p>
                <a:endParaRPr lang="en-US" dirty="0"/>
              </a:p>
              <a:p>
                <a:r>
                  <a:rPr lang="en-US" dirty="0"/>
                  <a:t>The set of ordered pairs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 </m:t>
                        </m:r>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e>
                    </m:d>
                  </m:oMath>
                </a14:m>
                <a:r>
                  <a:rPr lang="en-US" dirty="0"/>
                  <a:t> is a </a:t>
                </a:r>
                <a:r>
                  <a:rPr lang="en-US" i="1" dirty="0"/>
                  <a:t>probability mass function</a:t>
                </a:r>
                <a:r>
                  <a:rPr lang="en-US" dirty="0"/>
                  <a:t> or </a:t>
                </a:r>
                <a:r>
                  <a:rPr lang="en-US" i="1" dirty="0"/>
                  <a:t>probability distribution</a:t>
                </a:r>
                <a:r>
                  <a:rPr lang="en-US" dirty="0"/>
                  <a:t> of a discrete random variable if, for each </a:t>
                </a:r>
                <a14:m>
                  <m:oMath xmlns:m="http://schemas.openxmlformats.org/officeDocument/2006/math">
                    <m:r>
                      <a:rPr lang="en-US" b="0" i="1" smtClean="0">
                        <a:latin typeface="Cambria Math"/>
                      </a:rPr>
                      <m:t>𝑥</m:t>
                    </m:r>
                  </m:oMath>
                </a14:m>
                <a:r>
                  <a:rPr lang="en-US" dirty="0"/>
                  <a:t>:</a:t>
                </a:r>
              </a:p>
              <a:p>
                <a:pPr lvl="1"/>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≥0</m:t>
                    </m:r>
                  </m:oMath>
                </a14:m>
                <a:endParaRPr lang="en-US" dirty="0"/>
              </a:p>
              <a:p>
                <a:pPr lvl="1"/>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a:rPr>
                          <m:t>𝑥</m:t>
                        </m:r>
                      </m:sub>
                      <m:sup/>
                      <m:e>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e>
                    </m:nary>
                    <m:r>
                      <a:rPr lang="en-US" b="0" i="1" smtClean="0">
                        <a:latin typeface="Cambria Math"/>
                      </a:rPr>
                      <m:t>=1</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endParaRPr lang="en-US" dirty="0"/>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738951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p:sp>
        <p:nvSpPr>
          <p:cNvPr id="3" name="Content Placeholder 2"/>
          <p:cNvSpPr>
            <a:spLocks noGrp="1"/>
          </p:cNvSpPr>
          <p:nvPr>
            <p:ph idx="1"/>
          </p:nvPr>
        </p:nvSpPr>
        <p:spPr/>
        <p:txBody>
          <a:bodyPr>
            <a:normAutofit/>
          </a:bodyPr>
          <a:lstStyle/>
          <a:p>
            <a:r>
              <a:rPr lang="en-US" dirty="0"/>
              <a:t>The first two conditions are necessary for probabilities, as we defined in chapter two. The first means that we can’t have negative probability. The second condition requires that all the probabilities sum to 1 (which also implies that no probability can be larger than 1).</a:t>
            </a:r>
          </a:p>
          <a:p>
            <a:endParaRPr lang="en-US" dirty="0"/>
          </a:p>
          <a:p>
            <a:r>
              <a:rPr lang="en-US" dirty="0"/>
              <a:t>The final condition tells us how to calculate probability using the PMF. If we want to know the probability that the random variable takes on a particular value, we simply have to evaluate the PMF at that particular value.</a:t>
            </a:r>
          </a:p>
          <a:p>
            <a:endParaRPr lang="en-US" dirty="0"/>
          </a:p>
          <a:p>
            <a:pPr lvl="1"/>
            <a:endParaRPr lang="en-US" dirty="0"/>
          </a:p>
        </p:txBody>
      </p:sp>
    </p:spTree>
    <p:extLst>
      <p:ext uri="{BB962C8B-B14F-4D97-AF65-F5344CB8AC3E}">
        <p14:creationId xmlns:p14="http://schemas.microsoft.com/office/powerpoint/2010/main" val="2576242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Suppose we roll a die and consider the random variable </a:t>
                </a:r>
                <a14:m>
                  <m:oMath xmlns:m="http://schemas.openxmlformats.org/officeDocument/2006/math">
                    <m:r>
                      <a:rPr lang="en-US" b="0" i="1" smtClean="0">
                        <a:latin typeface="Cambria Math"/>
                      </a:rPr>
                      <m:t>𝑋</m:t>
                    </m:r>
                  </m:oMath>
                </a14:m>
                <a:r>
                  <a:rPr lang="en-US" dirty="0"/>
                  <a:t> such that </a:t>
                </a:r>
                <a14:m>
                  <m:oMath xmlns:m="http://schemas.openxmlformats.org/officeDocument/2006/math">
                    <m:r>
                      <a:rPr lang="en-US" b="0" i="1" smtClean="0">
                        <a:latin typeface="Cambria Math"/>
                      </a:rPr>
                      <m:t>𝑋</m:t>
                    </m:r>
                    <m:r>
                      <a:rPr lang="en-US" b="0" i="1" smtClean="0">
                        <a:latin typeface="Cambria Math"/>
                      </a:rPr>
                      <m:t>=0</m:t>
                    </m:r>
                  </m:oMath>
                </a14:m>
                <a:r>
                  <a:rPr lang="en-US" dirty="0"/>
                  <a:t> if the die lands on a perfect square, </a:t>
                </a:r>
                <a14:m>
                  <m:oMath xmlns:m="http://schemas.openxmlformats.org/officeDocument/2006/math">
                    <m:r>
                      <a:rPr lang="en-US" b="0" i="1" smtClean="0">
                        <a:latin typeface="Cambria Math"/>
                      </a:rPr>
                      <m:t>𝑋</m:t>
                    </m:r>
                    <m:r>
                      <a:rPr lang="en-US" b="0" i="1" smtClean="0">
                        <a:latin typeface="Cambria Math"/>
                      </a:rPr>
                      <m:t>=5</m:t>
                    </m:r>
                  </m:oMath>
                </a14:m>
                <a:r>
                  <a:rPr lang="en-US" dirty="0"/>
                  <a:t> if the die lands on a prime number, and </a:t>
                </a:r>
                <a14:m>
                  <m:oMath xmlns:m="http://schemas.openxmlformats.org/officeDocument/2006/math">
                    <m:r>
                      <a:rPr lang="en-US" b="0" i="1" smtClean="0">
                        <a:latin typeface="Cambria Math"/>
                      </a:rPr>
                      <m:t>𝑋</m:t>
                    </m:r>
                    <m:r>
                      <a:rPr lang="en-US" b="0" i="1" smtClean="0">
                        <a:latin typeface="Cambria Math"/>
                      </a:rPr>
                      <m:t>=7</m:t>
                    </m:r>
                  </m:oMath>
                </a14:m>
                <a:r>
                  <a:rPr lang="en-US" dirty="0"/>
                  <a:t> otherwise. Give the PMF for this distribution and verify that it is, in fact, a probability distribution.</a:t>
                </a:r>
              </a:p>
              <a:p>
                <a:pPr lvl="1"/>
                <a:r>
                  <a:rPr lang="en-US" dirty="0"/>
                  <a:t>To verify that the function you give is in fact a probability distribution, you really only need to verify the first two conditions.</a:t>
                </a:r>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840"/>
                </a:stretch>
              </a:blipFill>
            </p:spPr>
            <p:txBody>
              <a:bodyPr/>
              <a:lstStyle/>
              <a:p>
                <a:r>
                  <a:rPr lang="en-US">
                    <a:noFill/>
                  </a:rPr>
                  <a:t> </a:t>
                </a:r>
              </a:p>
            </p:txBody>
          </p:sp>
        </mc:Fallback>
      </mc:AlternateContent>
    </p:spTree>
    <p:extLst>
      <p:ext uri="{BB962C8B-B14F-4D97-AF65-F5344CB8AC3E}">
        <p14:creationId xmlns:p14="http://schemas.microsoft.com/office/powerpoint/2010/main" val="15964133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Table describing PMF:</a:t>
                </a:r>
              </a:p>
              <a:p>
                <a:endParaRPr lang="en-US" dirty="0"/>
              </a:p>
              <a:p>
                <a:endParaRPr lang="en-US" dirty="0"/>
              </a:p>
              <a:p>
                <a:endParaRPr lang="en-US" dirty="0"/>
              </a:p>
              <a:p>
                <a:r>
                  <a:rPr lang="en-US" dirty="0"/>
                  <a:t>Clearly,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≥0</m:t>
                    </m:r>
                  </m:oMath>
                </a14:m>
                <a:r>
                  <a:rPr lang="en-US" dirty="0"/>
                  <a:t> for all </a:t>
                </a:r>
                <a14:m>
                  <m:oMath xmlns:m="http://schemas.openxmlformats.org/officeDocument/2006/math">
                    <m:r>
                      <a:rPr lang="en-US" b="0" i="1" smtClean="0">
                        <a:latin typeface="Cambria Math"/>
                      </a:rPr>
                      <m:t>𝑥</m:t>
                    </m:r>
                  </m:oMath>
                </a14:m>
                <a:r>
                  <a:rPr lang="en-US" dirty="0"/>
                  <a:t>. Also, </a:t>
                </a:r>
                <a14:m>
                  <m:oMath xmlns:m="http://schemas.openxmlformats.org/officeDocument/2006/math">
                    <m:nary>
                      <m:naryPr>
                        <m:chr m:val="∑"/>
                        <m:supHide m:val="on"/>
                        <m:ctrlPr>
                          <a:rPr lang="en-US" i="1" smtClean="0">
                            <a:latin typeface="Cambria Math" panose="02040503050406030204" pitchFamily="18" charset="0"/>
                          </a:rPr>
                        </m:ctrlPr>
                      </m:naryPr>
                      <m:sub>
                        <m:r>
                          <m:rPr>
                            <m:brk m:alnAt="7"/>
                          </m:rPr>
                          <a:rPr lang="en-US" b="0" i="1" smtClean="0">
                            <a:latin typeface="Cambria Math"/>
                          </a:rPr>
                          <m:t>𝑥</m:t>
                        </m:r>
                      </m:sub>
                      <m:sup/>
                      <m:e>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e>
                    </m:nary>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3</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6</m:t>
                        </m:r>
                      </m:den>
                    </m:f>
                    <m:r>
                      <a:rPr lang="en-US" b="0" i="1" smtClean="0">
                        <a:latin typeface="Cambria Math"/>
                      </a:rPr>
                      <m:t>=1</m:t>
                    </m:r>
                  </m:oMath>
                </a14:m>
                <a:r>
                  <a:rPr lang="en-US" dirty="0"/>
                  <a:t>. Since these two conditions hold, we have verified that this is a probability distribution.</a:t>
                </a:r>
              </a:p>
              <a:p>
                <a:endParaRPr lang="en-US" dirty="0"/>
              </a:p>
              <a:p>
                <a:r>
                  <a:rPr lang="en-US" dirty="0"/>
                  <a:t>We don’t always have to use a table to describe a PMF. Often we can find a formula (a function of </a:t>
                </a:r>
                <a14:m>
                  <m:oMath xmlns:m="http://schemas.openxmlformats.org/officeDocument/2006/math">
                    <m:r>
                      <a:rPr lang="en-US" b="0" i="1" smtClean="0">
                        <a:latin typeface="Cambria Math"/>
                      </a:rPr>
                      <m:t>𝑥</m:t>
                    </m:r>
                  </m:oMath>
                </a14:m>
                <a:r>
                  <a:rPr lang="en-US" dirty="0"/>
                  <a:t>) that describes it.</a:t>
                </a:r>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9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Content Placeholder 4"/>
              <p:cNvGraphicFramePr>
                <a:graphicFrameLocks/>
              </p:cNvGraphicFramePr>
              <p:nvPr>
                <p:extLst>
                  <p:ext uri="{D42A27DB-BD31-4B8C-83A1-F6EECF244321}">
                    <p14:modId xmlns:p14="http://schemas.microsoft.com/office/powerpoint/2010/main" val="2900064436"/>
                  </p:ext>
                </p:extLst>
              </p:nvPr>
            </p:nvGraphicFramePr>
            <p:xfrm>
              <a:off x="685800" y="2286000"/>
              <a:ext cx="6096000" cy="741680"/>
            </p:xfrm>
            <a:graphic>
              <a:graphicData uri="http://schemas.openxmlformats.org/drawingml/2006/table">
                <a:tbl>
                  <a:tblPr firstRow="1" firstCol="1" bandRow="1">
                    <a:tableStyleId>{073A0DAA-6AF3-43AB-8588-CEC1D06C72B9}</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5</a:t>
                          </a:r>
                        </a:p>
                      </a:txBody>
                      <a:tcPr/>
                    </a:tc>
                    <a:tc>
                      <a:txBody>
                        <a:bodyPr/>
                        <a:lstStyle/>
                        <a:p>
                          <a:pPr algn="ctr"/>
                          <a:r>
                            <a:rPr lang="en-US" dirty="0"/>
                            <a:t>7</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𝑷</m:t>
                                </m:r>
                                <m:r>
                                  <a:rPr lang="en-US" b="1" i="1" smtClean="0">
                                    <a:latin typeface="Cambria Math"/>
                                  </a:rPr>
                                  <m:t>(</m:t>
                                </m:r>
                                <m:r>
                                  <a:rPr lang="en-US" b="1" i="1" smtClean="0">
                                    <a:latin typeface="Cambria Math"/>
                                  </a:rPr>
                                  <m:t>𝑿</m:t>
                                </m:r>
                                <m:r>
                                  <a:rPr lang="en-US" b="1" i="1" smtClean="0">
                                    <a:latin typeface="Cambria Math"/>
                                  </a:rPr>
                                  <m:t>=</m:t>
                                </m:r>
                                <m:r>
                                  <a:rPr lang="en-US" b="1" i="1" smtClean="0">
                                    <a:latin typeface="Cambria Math"/>
                                  </a:rPr>
                                  <m:t>𝒙</m:t>
                                </m:r>
                                <m:r>
                                  <a:rPr lang="en-US" b="1" i="1" smtClean="0">
                                    <a:latin typeface="Cambria Math"/>
                                  </a:rPr>
                                  <m:t>)</m:t>
                                </m:r>
                              </m:oMath>
                            </m:oMathPara>
                          </a14:m>
                          <a:endParaRPr lang="en-US" dirty="0"/>
                        </a:p>
                      </a:txBody>
                      <a:tcPr/>
                    </a:tc>
                    <a:tc>
                      <a:txBody>
                        <a:bodyPr/>
                        <a:lstStyle/>
                        <a:p>
                          <a:pPr algn="ctr"/>
                          <a:r>
                            <a:rPr lang="en-US" dirty="0"/>
                            <a:t>1/3</a:t>
                          </a:r>
                        </a:p>
                      </a:txBody>
                      <a:tcPr/>
                    </a:tc>
                    <a:tc>
                      <a:txBody>
                        <a:bodyPr/>
                        <a:lstStyle/>
                        <a:p>
                          <a:pPr algn="ctr"/>
                          <a:r>
                            <a:rPr lang="en-US" dirty="0"/>
                            <a:t>1/2</a:t>
                          </a:r>
                        </a:p>
                      </a:txBody>
                      <a:tcPr/>
                    </a:tc>
                    <a:tc>
                      <a:txBody>
                        <a:bodyPr/>
                        <a:lstStyle/>
                        <a:p>
                          <a:pPr algn="ctr"/>
                          <a:r>
                            <a:rPr lang="en-US" dirty="0"/>
                            <a:t>1/6</a:t>
                          </a:r>
                        </a:p>
                      </a:txBody>
                      <a:tcPr/>
                    </a:tc>
                    <a:extLst>
                      <a:ext uri="{0D108BD9-81ED-4DB2-BD59-A6C34878D82A}">
                        <a16:rowId xmlns:a16="http://schemas.microsoft.com/office/drawing/2014/main" val="10001"/>
                      </a:ext>
                    </a:extLst>
                  </a:tr>
                </a:tbl>
              </a:graphicData>
            </a:graphic>
          </p:graphicFrame>
        </mc:Choice>
        <mc:Fallback xmlns="">
          <p:graphicFrame>
            <p:nvGraphicFramePr>
              <p:cNvPr id="4" name="Content Placeholder 4"/>
              <p:cNvGraphicFramePr>
                <a:graphicFrameLocks/>
              </p:cNvGraphicFramePr>
              <p:nvPr>
                <p:extLst>
                  <p:ext uri="{D42A27DB-BD31-4B8C-83A1-F6EECF244321}">
                    <p14:modId xmlns:p14="http://schemas.microsoft.com/office/powerpoint/2010/main" val="2900064436"/>
                  </p:ext>
                </p:extLst>
              </p:nvPr>
            </p:nvGraphicFramePr>
            <p:xfrm>
              <a:off x="685800" y="2286000"/>
              <a:ext cx="6096000" cy="741680"/>
            </p:xfrm>
            <a:graphic>
              <a:graphicData uri="http://schemas.openxmlformats.org/drawingml/2006/table">
                <a:tbl>
                  <a:tblPr firstRow="1" firstCol="1" bandRow="1">
                    <a:tableStyleId>{073A0DAA-6AF3-43AB-8588-CEC1D06C72B9}</a:tableStyleId>
                  </a:tblPr>
                  <a:tblGrid>
                    <a:gridCol w="1524000"/>
                    <a:gridCol w="1524000"/>
                    <a:gridCol w="1524000"/>
                    <a:gridCol w="1524000"/>
                  </a:tblGrid>
                  <a:tr h="370840">
                    <a:tc>
                      <a:txBody>
                        <a:bodyPr/>
                        <a:lstStyle/>
                        <a:p>
                          <a:endParaRPr lang="en-US"/>
                        </a:p>
                      </a:txBody>
                      <a:tcPr>
                        <a:blipFill rotWithShape="1">
                          <a:blip r:embed="rId3"/>
                          <a:stretch>
                            <a:fillRect l="-400" t="-8197" r="-300000" b="-124590"/>
                          </a:stretch>
                        </a:blipFill>
                      </a:tcPr>
                    </a:tc>
                    <a:tc>
                      <a:txBody>
                        <a:bodyPr/>
                        <a:lstStyle/>
                        <a:p>
                          <a:pPr algn="ctr"/>
                          <a:r>
                            <a:rPr lang="en-US" dirty="0" smtClean="0"/>
                            <a:t>0</a:t>
                          </a:r>
                          <a:endParaRPr lang="en-US" dirty="0"/>
                        </a:p>
                      </a:txBody>
                      <a:tcPr/>
                    </a:tc>
                    <a:tc>
                      <a:txBody>
                        <a:bodyPr/>
                        <a:lstStyle/>
                        <a:p>
                          <a:pPr algn="ctr"/>
                          <a:r>
                            <a:rPr lang="en-US" dirty="0" smtClean="0"/>
                            <a:t>5</a:t>
                          </a:r>
                          <a:endParaRPr lang="en-US" dirty="0"/>
                        </a:p>
                      </a:txBody>
                      <a:tcPr/>
                    </a:tc>
                    <a:tc>
                      <a:txBody>
                        <a:bodyPr/>
                        <a:lstStyle/>
                        <a:p>
                          <a:pPr algn="ctr"/>
                          <a:r>
                            <a:rPr lang="en-US" dirty="0" smtClean="0"/>
                            <a:t>7</a:t>
                          </a:r>
                          <a:endParaRPr lang="en-US" dirty="0"/>
                        </a:p>
                      </a:txBody>
                      <a:tcPr/>
                    </a:tc>
                  </a:tr>
                  <a:tr h="370840">
                    <a:tc>
                      <a:txBody>
                        <a:bodyPr/>
                        <a:lstStyle/>
                        <a:p>
                          <a:endParaRPr lang="en-US"/>
                        </a:p>
                      </a:txBody>
                      <a:tcPr>
                        <a:blipFill rotWithShape="1">
                          <a:blip r:embed="rId3"/>
                          <a:stretch>
                            <a:fillRect l="-400" t="-108197" r="-300000" b="-24590"/>
                          </a:stretch>
                        </a:blipFill>
                      </a:tcPr>
                    </a:tc>
                    <a:tc>
                      <a:txBody>
                        <a:bodyPr/>
                        <a:lstStyle/>
                        <a:p>
                          <a:pPr algn="ctr"/>
                          <a:r>
                            <a:rPr lang="en-US" dirty="0" smtClean="0"/>
                            <a:t>1/3</a:t>
                          </a:r>
                          <a:endParaRPr lang="en-US" dirty="0"/>
                        </a:p>
                      </a:txBody>
                      <a:tcPr/>
                    </a:tc>
                    <a:tc>
                      <a:txBody>
                        <a:bodyPr/>
                        <a:lstStyle/>
                        <a:p>
                          <a:pPr algn="ctr"/>
                          <a:r>
                            <a:rPr lang="en-US" dirty="0" smtClean="0"/>
                            <a:t>1/2</a:t>
                          </a:r>
                          <a:endParaRPr lang="en-US" dirty="0"/>
                        </a:p>
                      </a:txBody>
                      <a:tcPr/>
                    </a:tc>
                    <a:tc>
                      <a:txBody>
                        <a:bodyPr/>
                        <a:lstStyle/>
                        <a:p>
                          <a:pPr algn="ctr"/>
                          <a:r>
                            <a:rPr lang="en-US" dirty="0" smtClean="0"/>
                            <a:t>1/6</a:t>
                          </a:r>
                          <a:endParaRPr lang="en-US" dirty="0"/>
                        </a:p>
                      </a:txBody>
                      <a:tcPr/>
                    </a:tc>
                  </a:tr>
                </a:tbl>
              </a:graphicData>
            </a:graphic>
          </p:graphicFrame>
        </mc:Fallback>
      </mc:AlternateContent>
    </p:spTree>
    <p:extLst>
      <p:ext uri="{BB962C8B-B14F-4D97-AF65-F5344CB8AC3E}">
        <p14:creationId xmlns:p14="http://schemas.microsoft.com/office/powerpoint/2010/main" val="35658479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Come up with a formula that describes the probability distribution for the random variable </a:t>
                </a:r>
                <a14:m>
                  <m:oMath xmlns:m="http://schemas.openxmlformats.org/officeDocument/2006/math">
                    <m:r>
                      <a:rPr lang="en-US" b="0" i="1" smtClean="0">
                        <a:latin typeface="Cambria Math"/>
                      </a:rPr>
                      <m:t>𝑌</m:t>
                    </m:r>
                  </m:oMath>
                </a14:m>
                <a:r>
                  <a:rPr lang="en-US" dirty="0"/>
                  <a:t> where </a:t>
                </a:r>
                <a14:m>
                  <m:oMath xmlns:m="http://schemas.openxmlformats.org/officeDocument/2006/math">
                    <m:r>
                      <a:rPr lang="en-US" b="0" i="1" smtClean="0">
                        <a:latin typeface="Cambria Math"/>
                      </a:rPr>
                      <m:t>𝑌</m:t>
                    </m:r>
                  </m:oMath>
                </a14:m>
                <a:r>
                  <a:rPr lang="en-US" dirty="0"/>
                  <a:t> is the number of heads in 2 flips of a coin. </a:t>
                </a:r>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a:stretch>
              </a:blipFill>
            </p:spPr>
            <p:txBody>
              <a:bodyPr/>
              <a:lstStyle/>
              <a:p>
                <a:r>
                  <a:rPr lang="en-US">
                    <a:noFill/>
                  </a:rPr>
                  <a:t> </a:t>
                </a:r>
              </a:p>
            </p:txBody>
          </p:sp>
        </mc:Fallback>
      </mc:AlternateContent>
    </p:spTree>
    <p:extLst>
      <p:ext uri="{BB962C8B-B14F-4D97-AF65-F5344CB8AC3E}">
        <p14:creationId xmlns:p14="http://schemas.microsoft.com/office/powerpoint/2010/main" val="9657783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 common type of problem that shows up is that you will see a formula for a probability distribution like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𝑐𝑥</m:t>
                        </m:r>
                      </m:num>
                      <m:den>
                        <m:r>
                          <a:rPr lang="en-US" b="0" i="1" smtClean="0">
                            <a:latin typeface="Cambria Math"/>
                          </a:rPr>
                          <m:t>6</m:t>
                        </m:r>
                      </m:den>
                    </m:f>
                    <m:r>
                      <a:rPr lang="en-US" b="0" i="1" smtClean="0">
                        <a:latin typeface="Cambria Math"/>
                      </a:rPr>
                      <m:t>, </m:t>
                    </m:r>
                    <m:r>
                      <a:rPr lang="en-US" b="0" i="1" smtClean="0">
                        <a:latin typeface="Cambria Math"/>
                      </a:rPr>
                      <m:t>𝑥</m:t>
                    </m:r>
                    <m:r>
                      <a:rPr lang="en-US" b="0" i="1" smtClean="0">
                        <a:latin typeface="Cambria Math"/>
                      </a:rPr>
                      <m:t>=1, 2, 3, 4</m:t>
                    </m:r>
                  </m:oMath>
                </a14:m>
                <a:r>
                  <a:rPr lang="en-US" dirty="0"/>
                  <a:t>. You are then asked to find </a:t>
                </a:r>
                <a14:m>
                  <m:oMath xmlns:m="http://schemas.openxmlformats.org/officeDocument/2006/math">
                    <m:r>
                      <a:rPr lang="en-US" b="0" i="1" smtClean="0">
                        <a:latin typeface="Cambria Math"/>
                      </a:rPr>
                      <m:t>𝑐</m:t>
                    </m:r>
                  </m:oMath>
                </a14:m>
                <a:r>
                  <a:rPr lang="en-US" dirty="0"/>
                  <a:t> so that this function is a valid PMF.</a:t>
                </a:r>
              </a:p>
              <a:p>
                <a:endParaRPr lang="en-US" dirty="0"/>
              </a:p>
              <a:p>
                <a:r>
                  <a:rPr lang="en-US" dirty="0"/>
                  <a:t>How do we find </a:t>
                </a:r>
                <a14:m>
                  <m:oMath xmlns:m="http://schemas.openxmlformats.org/officeDocument/2006/math">
                    <m:r>
                      <a:rPr lang="en-US" b="0" i="1" smtClean="0">
                        <a:latin typeface="Cambria Math"/>
                      </a:rPr>
                      <m:t>𝑐</m:t>
                    </m:r>
                  </m:oMath>
                </a14:m>
                <a:r>
                  <a:rPr lang="en-US" dirty="0"/>
                  <a:t>?</a:t>
                </a:r>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320"/>
                </a:stretch>
              </a:blipFill>
            </p:spPr>
            <p:txBody>
              <a:bodyPr/>
              <a:lstStyle/>
              <a:p>
                <a:r>
                  <a:rPr lang="en-US">
                    <a:noFill/>
                  </a:rPr>
                  <a:t> </a:t>
                </a:r>
              </a:p>
            </p:txBody>
          </p:sp>
        </mc:Fallback>
      </mc:AlternateContent>
    </p:spTree>
    <p:extLst>
      <p:ext uri="{BB962C8B-B14F-4D97-AF65-F5344CB8AC3E}">
        <p14:creationId xmlns:p14="http://schemas.microsoft.com/office/powerpoint/2010/main" val="8323213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A useful function related to the probability distribution is the </a:t>
                </a:r>
                <a:r>
                  <a:rPr lang="en-US" i="1" dirty="0"/>
                  <a:t>cumulative distribution function</a:t>
                </a:r>
                <a:r>
                  <a:rPr lang="en-US" dirty="0"/>
                  <a:t>, or CDF. The idea of a CDF is that it tells us the total amount of probability that has accumulated up to a certain point in the sample space. We denote the CDF with </a:t>
                </a:r>
                <a14:m>
                  <m:oMath xmlns:m="http://schemas.openxmlformats.org/officeDocument/2006/math">
                    <m:r>
                      <a:rPr lang="en-US" b="0" i="1" smtClean="0">
                        <a:latin typeface="Cambria Math"/>
                      </a:rPr>
                      <m:t>𝐹</m:t>
                    </m:r>
                    <m:r>
                      <a:rPr lang="en-US" b="0" i="1" smtClean="0">
                        <a:latin typeface="Cambria Math"/>
                      </a:rPr>
                      <m:t>(</m:t>
                    </m:r>
                    <m:r>
                      <a:rPr lang="en-US" b="0" i="1" smtClean="0">
                        <a:latin typeface="Cambria Math"/>
                      </a:rPr>
                      <m:t>𝑥</m:t>
                    </m:r>
                    <m:r>
                      <a:rPr lang="en-US" b="0" i="1" smtClean="0">
                        <a:latin typeface="Cambria Math"/>
                      </a:rPr>
                      <m:t>)</m:t>
                    </m:r>
                  </m:oMath>
                </a14:m>
                <a:r>
                  <a:rPr lang="en-US" dirty="0"/>
                  <a:t>.</a:t>
                </a:r>
              </a:p>
              <a:p>
                <a:endParaRPr lang="en-US" dirty="0"/>
              </a:p>
              <a:p>
                <a:r>
                  <a:rPr lang="en-US" dirty="0"/>
                  <a:t>The cumulative distribution function, </a:t>
                </a:r>
                <a14:m>
                  <m:oMath xmlns:m="http://schemas.openxmlformats.org/officeDocument/2006/math">
                    <m:r>
                      <a:rPr lang="en-US" b="0" i="1" smtClean="0">
                        <a:latin typeface="Cambria Math"/>
                      </a:rPr>
                      <m:t>𝐹</m:t>
                    </m:r>
                    <m:r>
                      <a:rPr lang="en-US" b="0" i="1" smtClean="0">
                        <a:latin typeface="Cambria Math"/>
                      </a:rPr>
                      <m:t>(</m:t>
                    </m:r>
                    <m:r>
                      <a:rPr lang="en-US" b="0" i="1" smtClean="0">
                        <a:latin typeface="Cambria Math"/>
                      </a:rPr>
                      <m:t>𝑥</m:t>
                    </m:r>
                    <m:r>
                      <a:rPr lang="en-US" b="0" i="1" smtClean="0">
                        <a:latin typeface="Cambria Math"/>
                      </a:rPr>
                      <m:t>)</m:t>
                    </m:r>
                  </m:oMath>
                </a14:m>
                <a:r>
                  <a:rPr lang="en-US" dirty="0"/>
                  <a:t>, of a discrete random variable </a:t>
                </a:r>
                <a14:m>
                  <m:oMath xmlns:m="http://schemas.openxmlformats.org/officeDocument/2006/math">
                    <m:r>
                      <a:rPr lang="en-US" b="0" i="1" smtClean="0">
                        <a:latin typeface="Cambria Math"/>
                      </a:rPr>
                      <m:t>𝑋</m:t>
                    </m:r>
                  </m:oMath>
                </a14:m>
                <a:r>
                  <a:rPr lang="en-US" dirty="0"/>
                  <a:t> with PMF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r>
                  <a:rPr lang="en-US" dirty="0"/>
                  <a:t> is </a:t>
                </a:r>
              </a:p>
              <a:p>
                <a:pPr marL="114300" indent="0">
                  <a:buNone/>
                </a:pPr>
                <a:endParaRPr lang="en-US" dirty="0"/>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a:rPr>
                        <m:t>𝐹</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a:rPr>
                            <m:t>𝑡</m:t>
                          </m:r>
                          <m:r>
                            <a:rPr lang="en-US" b="0" i="1" smtClean="0">
                              <a:latin typeface="Cambria Math"/>
                            </a:rPr>
                            <m:t>≤</m:t>
                          </m:r>
                          <m:r>
                            <a:rPr lang="en-US" b="0" i="1" smtClean="0">
                              <a:latin typeface="Cambria Math"/>
                            </a:rPr>
                            <m:t>𝑥</m:t>
                          </m:r>
                        </m:sub>
                        <m:sup/>
                        <m:e>
                          <m:r>
                            <a:rPr lang="en-US" b="0" i="1" smtClean="0">
                              <a:latin typeface="Cambria Math"/>
                            </a:rPr>
                            <m:t>𝑓</m:t>
                          </m:r>
                          <m:r>
                            <a:rPr lang="en-US" b="0" i="1" smtClean="0">
                              <a:latin typeface="Cambria Math"/>
                            </a:rPr>
                            <m:t>(</m:t>
                          </m:r>
                          <m:r>
                            <a:rPr lang="en-US" b="0" i="1" smtClean="0">
                              <a:latin typeface="Cambria Math"/>
                            </a:rPr>
                            <m:t>𝑡</m:t>
                          </m:r>
                          <m:r>
                            <a:rPr lang="en-US" b="0" i="1" smtClean="0">
                              <a:latin typeface="Cambria Math"/>
                            </a:rPr>
                            <m:t>)</m:t>
                          </m:r>
                        </m:e>
                      </m:nary>
                      <m:r>
                        <a:rPr lang="en-US" b="0" i="1" smtClean="0">
                          <a:latin typeface="Cambria Math"/>
                        </a:rPr>
                        <m:t> </m:t>
                      </m:r>
                      <m:r>
                        <m:rPr>
                          <m:sty m:val="p"/>
                        </m:rPr>
                        <a:rPr lang="en-US" b="0" i="0" smtClean="0">
                          <a:latin typeface="Cambria Math"/>
                        </a:rPr>
                        <m:t>for</m:t>
                      </m:r>
                      <m:r>
                        <a:rPr lang="en-US" b="0" i="1" smtClean="0">
                          <a:latin typeface="Cambria Math"/>
                        </a:rPr>
                        <m:t> −∞&lt;</m:t>
                      </m:r>
                      <m:r>
                        <a:rPr lang="en-US" b="0" i="1" smtClean="0">
                          <a:latin typeface="Cambria Math"/>
                        </a:rPr>
                        <m:t>𝑥</m:t>
                      </m:r>
                      <m:r>
                        <a:rPr lang="en-US" b="0" i="1" smtClean="0">
                          <a:latin typeface="Cambria Math"/>
                        </a:rPr>
                        <m:t>&lt;∞</m:t>
                      </m:r>
                    </m:oMath>
                  </m:oMathPara>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34308041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Let’s take the PMF for the random variable where we count the number of heads in 3 coin flips as an example. </a:t>
                </a:r>
              </a:p>
              <a:p>
                <a:endParaRPr lang="en-US" dirty="0"/>
              </a:p>
              <a:p>
                <a:endParaRPr lang="en-US" dirty="0"/>
              </a:p>
              <a:p>
                <a:endParaRPr lang="en-US" dirty="0"/>
              </a:p>
              <a:p>
                <a:r>
                  <a:rPr lang="en-US" dirty="0"/>
                  <a:t>We can calculate the value of the CDF at each </a:t>
                </a:r>
                <a14:m>
                  <m:oMath xmlns:m="http://schemas.openxmlformats.org/officeDocument/2006/math">
                    <m:r>
                      <a:rPr lang="en-US" b="0" i="1" smtClean="0">
                        <a:latin typeface="Cambria Math"/>
                      </a:rPr>
                      <m:t>𝑥</m:t>
                    </m:r>
                  </m:oMath>
                </a14:m>
                <a:r>
                  <a:rPr lang="en-US" dirty="0"/>
                  <a:t> value by simply summing the probabilities for that and all the smaller </a:t>
                </a:r>
                <a14:m>
                  <m:oMath xmlns:m="http://schemas.openxmlformats.org/officeDocument/2006/math">
                    <m:r>
                      <a:rPr lang="en-US" b="0" i="1" smtClean="0">
                        <a:latin typeface="Cambria Math"/>
                      </a:rPr>
                      <m:t>𝑥</m:t>
                    </m:r>
                  </m:oMath>
                </a14:m>
                <a:r>
                  <a:rPr lang="en-US" dirty="0"/>
                  <a:t> values:</a:t>
                </a:r>
              </a:p>
              <a:p>
                <a:pPr lvl="1"/>
                <a14:m>
                  <m:oMath xmlns:m="http://schemas.openxmlformats.org/officeDocument/2006/math">
                    <m:r>
                      <a:rPr lang="en-US" b="0" i="1" smtClean="0">
                        <a:latin typeface="Cambria Math"/>
                      </a:rPr>
                      <m:t>𝐹</m:t>
                    </m:r>
                    <m:d>
                      <m:dPr>
                        <m:ctrlPr>
                          <a:rPr lang="en-US" b="0" i="1" smtClean="0">
                            <a:latin typeface="Cambria Math" panose="02040503050406030204" pitchFamily="18" charset="0"/>
                          </a:rPr>
                        </m:ctrlPr>
                      </m:dPr>
                      <m:e>
                        <m:r>
                          <a:rPr lang="en-US" b="0" i="1" smtClean="0">
                            <a:latin typeface="Cambria Math"/>
                          </a:rPr>
                          <m:t>0</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≤0</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=0)=1/8</m:t>
                    </m:r>
                  </m:oMath>
                </a14:m>
                <a:endParaRPr lang="en-US" dirty="0"/>
              </a:p>
              <a:p>
                <a:pPr lvl="1"/>
                <a14:m>
                  <m:oMath xmlns:m="http://schemas.openxmlformats.org/officeDocument/2006/math">
                    <m:r>
                      <a:rPr lang="en-US" i="1">
                        <a:latin typeface="Cambria Math"/>
                      </a:rPr>
                      <m:t>𝐹</m:t>
                    </m:r>
                    <m:d>
                      <m:dPr>
                        <m:ctrlPr>
                          <a:rPr lang="en-US" i="1">
                            <a:latin typeface="Cambria Math" panose="02040503050406030204" pitchFamily="18" charset="0"/>
                          </a:rPr>
                        </m:ctrlPr>
                      </m:dPr>
                      <m:e>
                        <m:r>
                          <a:rPr lang="en-US" b="0" i="1" smtClean="0">
                            <a:latin typeface="Cambria Math"/>
                          </a:rPr>
                          <m:t>1</m:t>
                        </m:r>
                      </m:e>
                    </m:d>
                    <m:r>
                      <a:rPr lang="en-US" i="1">
                        <a:latin typeface="Cambria Math"/>
                      </a:rPr>
                      <m:t>=</m:t>
                    </m:r>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≤1</m:t>
                        </m:r>
                      </m:e>
                    </m:d>
                    <m:r>
                      <a:rPr lang="en-US" i="1">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=0</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=1)=4/8</m:t>
                    </m:r>
                  </m:oMath>
                </a14:m>
                <a:endParaRPr lang="en-US" dirty="0"/>
              </a:p>
              <a:p>
                <a:pPr lvl="1"/>
                <a14:m>
                  <m:oMath xmlns:m="http://schemas.openxmlformats.org/officeDocument/2006/math">
                    <m:r>
                      <a:rPr lang="en-US" i="1">
                        <a:latin typeface="Cambria Math"/>
                      </a:rPr>
                      <m:t>𝐹</m:t>
                    </m:r>
                    <m:d>
                      <m:dPr>
                        <m:ctrlPr>
                          <a:rPr lang="en-US" i="1">
                            <a:latin typeface="Cambria Math" panose="02040503050406030204" pitchFamily="18" charset="0"/>
                          </a:rPr>
                        </m:ctrlPr>
                      </m:dPr>
                      <m:e>
                        <m:r>
                          <a:rPr lang="en-US" b="0" i="1" smtClean="0">
                            <a:latin typeface="Cambria Math"/>
                          </a:rPr>
                          <m:t>2</m:t>
                        </m:r>
                      </m:e>
                    </m:d>
                    <m:r>
                      <a:rPr lang="en-US" i="1">
                        <a:latin typeface="Cambria Math"/>
                      </a:rPr>
                      <m:t>=</m:t>
                    </m:r>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≤2</m:t>
                        </m:r>
                      </m:e>
                    </m:d>
                    <m:r>
                      <a:rPr lang="en-US" i="1">
                        <a:latin typeface="Cambria Math"/>
                      </a:rPr>
                      <m:t>=</m:t>
                    </m:r>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=0</m:t>
                        </m:r>
                      </m:e>
                    </m:d>
                    <m:r>
                      <a:rPr lang="en-US" i="1">
                        <a:latin typeface="Cambria Math"/>
                      </a:rPr>
                      <m:t>+</m:t>
                    </m:r>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=1</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=2)=7/8</m:t>
                    </m:r>
                  </m:oMath>
                </a14:m>
                <a:endParaRPr lang="en-US" dirty="0"/>
              </a:p>
              <a:p>
                <a:pPr lvl="1"/>
                <a14:m>
                  <m:oMath xmlns:m="http://schemas.openxmlformats.org/officeDocument/2006/math">
                    <m:r>
                      <a:rPr lang="en-US" i="1">
                        <a:latin typeface="Cambria Math"/>
                      </a:rPr>
                      <m:t>𝐹</m:t>
                    </m:r>
                    <m:d>
                      <m:dPr>
                        <m:ctrlPr>
                          <a:rPr lang="en-US" i="1">
                            <a:latin typeface="Cambria Math" panose="02040503050406030204" pitchFamily="18" charset="0"/>
                          </a:rPr>
                        </m:ctrlPr>
                      </m:dPr>
                      <m:e>
                        <m:r>
                          <a:rPr lang="en-US" b="0" i="1" smtClean="0">
                            <a:latin typeface="Cambria Math"/>
                          </a:rPr>
                          <m:t>3</m:t>
                        </m:r>
                      </m:e>
                    </m:d>
                    <m:r>
                      <a:rPr lang="en-US" i="1">
                        <a:latin typeface="Cambria Math"/>
                      </a:rPr>
                      <m:t>=</m:t>
                    </m:r>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≤3</m:t>
                        </m:r>
                      </m:e>
                    </m:d>
                    <m:r>
                      <a:rPr lang="en-US" i="1">
                        <a:latin typeface="Cambria Math"/>
                      </a:rPr>
                      <m:t>=</m:t>
                    </m:r>
                    <m:r>
                      <a:rPr lang="en-US" b="0" i="1" smtClean="0">
                        <a:latin typeface="Cambria Math"/>
                      </a:rPr>
                      <m:t>1</m:t>
                    </m:r>
                  </m:oMath>
                </a14:m>
                <a:endParaRPr lang="en-US" dirty="0"/>
              </a:p>
              <a:p>
                <a:pPr lvl="1"/>
                <a:endParaRPr lang="en-US" dirty="0"/>
              </a:p>
              <a:p>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4" name="Content Placeholder 4"/>
              <p:cNvGraphicFramePr>
                <a:graphicFrameLocks/>
              </p:cNvGraphicFramePr>
              <p:nvPr>
                <p:extLst>
                  <p:ext uri="{D42A27DB-BD31-4B8C-83A1-F6EECF244321}">
                    <p14:modId xmlns:p14="http://schemas.microsoft.com/office/powerpoint/2010/main" val="971014014"/>
                  </p:ext>
                </p:extLst>
              </p:nvPr>
            </p:nvGraphicFramePr>
            <p:xfrm>
              <a:off x="685800" y="2286000"/>
              <a:ext cx="7620000" cy="741680"/>
            </p:xfrm>
            <a:graphic>
              <a:graphicData uri="http://schemas.openxmlformats.org/drawingml/2006/table">
                <a:tbl>
                  <a:tblPr firstRow="1" firstCol="1" bandRow="1">
                    <a:tableStyleId>{073A0DAA-6AF3-43AB-8588-CEC1D06C72B9}</a:tableStyleId>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1524000">
                      <a:extLst>
                        <a:ext uri="{9D8B030D-6E8A-4147-A177-3AD203B41FA5}">
                          <a16:colId xmlns:a16="http://schemas.microsoft.com/office/drawing/2014/main" val="20002"/>
                        </a:ext>
                      </a:extLst>
                    </a:gridCol>
                    <a:gridCol w="1524000">
                      <a:extLst>
                        <a:ext uri="{9D8B030D-6E8A-4147-A177-3AD203B41FA5}">
                          <a16:colId xmlns:a16="http://schemas.microsoft.com/office/drawing/2014/main" val="20003"/>
                        </a:ext>
                      </a:extLst>
                    </a:gridCol>
                    <a:gridCol w="1524000">
                      <a:extLst>
                        <a:ext uri="{9D8B030D-6E8A-4147-A177-3AD203B41FA5}">
                          <a16:colId xmlns:a16="http://schemas.microsoft.com/office/drawing/2014/main" val="20004"/>
                        </a:ext>
                      </a:extLst>
                    </a:gridCol>
                  </a:tblGrid>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𝒙</m:t>
                                </m:r>
                              </m:oMath>
                            </m:oMathPara>
                          </a14:m>
                          <a:endParaRPr lang="en-US" dirty="0"/>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0"/>
                      </a:ext>
                    </a:extLst>
                  </a:tr>
                  <a:tr h="370840">
                    <a:tc>
                      <a:txBody>
                        <a:bodyPr/>
                        <a:lstStyle/>
                        <a:p>
                          <a:pPr algn="ctr"/>
                          <a14:m>
                            <m:oMathPara xmlns:m="http://schemas.openxmlformats.org/officeDocument/2006/math">
                              <m:oMathParaPr>
                                <m:jc m:val="centerGroup"/>
                              </m:oMathParaPr>
                              <m:oMath xmlns:m="http://schemas.openxmlformats.org/officeDocument/2006/math">
                                <m:r>
                                  <a:rPr lang="en-US" b="1" i="1" smtClean="0">
                                    <a:latin typeface="Cambria Math"/>
                                  </a:rPr>
                                  <m:t>𝑷</m:t>
                                </m:r>
                                <m:r>
                                  <a:rPr lang="en-US" b="1" i="1" smtClean="0">
                                    <a:latin typeface="Cambria Math"/>
                                  </a:rPr>
                                  <m:t>(</m:t>
                                </m:r>
                                <m:r>
                                  <a:rPr lang="en-US" b="1" i="1" smtClean="0">
                                    <a:latin typeface="Cambria Math"/>
                                  </a:rPr>
                                  <m:t>𝑿</m:t>
                                </m:r>
                                <m:r>
                                  <a:rPr lang="en-US" b="1" i="1" smtClean="0">
                                    <a:latin typeface="Cambria Math"/>
                                  </a:rPr>
                                  <m:t>=</m:t>
                                </m:r>
                                <m:r>
                                  <a:rPr lang="en-US" b="1" i="1" smtClean="0">
                                    <a:latin typeface="Cambria Math"/>
                                  </a:rPr>
                                  <m:t>𝒙</m:t>
                                </m:r>
                                <m:r>
                                  <a:rPr lang="en-US" b="1" i="1" smtClean="0">
                                    <a:latin typeface="Cambria Math"/>
                                  </a:rPr>
                                  <m:t>)</m:t>
                                </m:r>
                              </m:oMath>
                            </m:oMathPara>
                          </a14:m>
                          <a:endParaRPr lang="en-US" dirty="0"/>
                        </a:p>
                      </a:txBody>
                      <a:tcPr/>
                    </a:tc>
                    <a:tc>
                      <a:txBody>
                        <a:bodyPr/>
                        <a:lstStyle/>
                        <a:p>
                          <a:pPr algn="ctr"/>
                          <a:r>
                            <a:rPr lang="en-US" dirty="0"/>
                            <a:t>1/8</a:t>
                          </a:r>
                        </a:p>
                      </a:txBody>
                      <a:tcPr/>
                    </a:tc>
                    <a:tc>
                      <a:txBody>
                        <a:bodyPr/>
                        <a:lstStyle/>
                        <a:p>
                          <a:pPr algn="ctr"/>
                          <a:r>
                            <a:rPr lang="en-US" dirty="0"/>
                            <a:t>3/8</a:t>
                          </a:r>
                        </a:p>
                      </a:txBody>
                      <a:tcPr/>
                    </a:tc>
                    <a:tc>
                      <a:txBody>
                        <a:bodyPr/>
                        <a:lstStyle/>
                        <a:p>
                          <a:pPr algn="ctr"/>
                          <a:r>
                            <a:rPr lang="en-US" dirty="0"/>
                            <a:t>3/8</a:t>
                          </a:r>
                        </a:p>
                      </a:txBody>
                      <a:tcPr/>
                    </a:tc>
                    <a:tc>
                      <a:txBody>
                        <a:bodyPr/>
                        <a:lstStyle/>
                        <a:p>
                          <a:pPr algn="ctr"/>
                          <a:r>
                            <a:rPr lang="en-US" dirty="0"/>
                            <a:t>1/8</a:t>
                          </a:r>
                        </a:p>
                      </a:txBody>
                      <a:tcPr/>
                    </a:tc>
                    <a:extLst>
                      <a:ext uri="{0D108BD9-81ED-4DB2-BD59-A6C34878D82A}">
                        <a16:rowId xmlns:a16="http://schemas.microsoft.com/office/drawing/2014/main" val="10001"/>
                      </a:ext>
                    </a:extLst>
                  </a:tr>
                </a:tbl>
              </a:graphicData>
            </a:graphic>
          </p:graphicFrame>
        </mc:Choice>
        <mc:Fallback xmlns="">
          <p:graphicFrame>
            <p:nvGraphicFramePr>
              <p:cNvPr id="4" name="Content Placeholder 4"/>
              <p:cNvGraphicFramePr>
                <a:graphicFrameLocks/>
              </p:cNvGraphicFramePr>
              <p:nvPr>
                <p:extLst>
                  <p:ext uri="{D42A27DB-BD31-4B8C-83A1-F6EECF244321}">
                    <p14:modId xmlns:p14="http://schemas.microsoft.com/office/powerpoint/2010/main" val="971014014"/>
                  </p:ext>
                </p:extLst>
              </p:nvPr>
            </p:nvGraphicFramePr>
            <p:xfrm>
              <a:off x="685800" y="2286000"/>
              <a:ext cx="7620000" cy="741680"/>
            </p:xfrm>
            <a:graphic>
              <a:graphicData uri="http://schemas.openxmlformats.org/drawingml/2006/table">
                <a:tbl>
                  <a:tblPr firstRow="1" firstCol="1" bandRow="1">
                    <a:tableStyleId>{073A0DAA-6AF3-43AB-8588-CEC1D06C72B9}</a:tableStyleId>
                  </a:tblPr>
                  <a:tblGrid>
                    <a:gridCol w="1524000"/>
                    <a:gridCol w="1524000"/>
                    <a:gridCol w="1524000"/>
                    <a:gridCol w="1524000"/>
                    <a:gridCol w="1524000"/>
                  </a:tblGrid>
                  <a:tr h="370840">
                    <a:tc>
                      <a:txBody>
                        <a:bodyPr/>
                        <a:lstStyle/>
                        <a:p>
                          <a:endParaRPr lang="en-US"/>
                        </a:p>
                      </a:txBody>
                      <a:tcPr>
                        <a:blipFill rotWithShape="1">
                          <a:blip r:embed="rId3"/>
                          <a:stretch>
                            <a:fillRect l="-400" t="-8197" r="-400000" b="-124590"/>
                          </a:stretch>
                        </a:blipFill>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370840">
                    <a:tc>
                      <a:txBody>
                        <a:bodyPr/>
                        <a:lstStyle/>
                        <a:p>
                          <a:endParaRPr lang="en-US"/>
                        </a:p>
                      </a:txBody>
                      <a:tcPr>
                        <a:blipFill rotWithShape="1">
                          <a:blip r:embed="rId3"/>
                          <a:stretch>
                            <a:fillRect l="-400" t="-108197" r="-400000" b="-24590"/>
                          </a:stretch>
                        </a:blipFill>
                      </a:tcPr>
                    </a:tc>
                    <a:tc>
                      <a:txBody>
                        <a:bodyPr/>
                        <a:lstStyle/>
                        <a:p>
                          <a:pPr algn="ctr"/>
                          <a:r>
                            <a:rPr lang="en-US" dirty="0" smtClean="0"/>
                            <a:t>1/8</a:t>
                          </a:r>
                          <a:endParaRPr lang="en-US" dirty="0"/>
                        </a:p>
                      </a:txBody>
                      <a:tcPr/>
                    </a:tc>
                    <a:tc>
                      <a:txBody>
                        <a:bodyPr/>
                        <a:lstStyle/>
                        <a:p>
                          <a:pPr algn="ctr"/>
                          <a:r>
                            <a:rPr lang="en-US" dirty="0" smtClean="0"/>
                            <a:t>3/8</a:t>
                          </a:r>
                          <a:endParaRPr lang="en-US" dirty="0"/>
                        </a:p>
                      </a:txBody>
                      <a:tcPr/>
                    </a:tc>
                    <a:tc>
                      <a:txBody>
                        <a:bodyPr/>
                        <a:lstStyle/>
                        <a:p>
                          <a:pPr algn="ctr"/>
                          <a:r>
                            <a:rPr lang="en-US" dirty="0" smtClean="0"/>
                            <a:t>3/8</a:t>
                          </a:r>
                          <a:endParaRPr lang="en-US" dirty="0"/>
                        </a:p>
                      </a:txBody>
                      <a:tcPr/>
                    </a:tc>
                    <a:tc>
                      <a:txBody>
                        <a:bodyPr/>
                        <a:lstStyle/>
                        <a:p>
                          <a:pPr algn="ctr"/>
                          <a:r>
                            <a:rPr lang="en-US" dirty="0" smtClean="0"/>
                            <a:t>1/8</a:t>
                          </a:r>
                          <a:endParaRPr lang="en-US" dirty="0"/>
                        </a:p>
                      </a:txBody>
                      <a:tcPr/>
                    </a:tc>
                  </a:tr>
                </a:tbl>
              </a:graphicData>
            </a:graphic>
          </p:graphicFrame>
        </mc:Fallback>
      </mc:AlternateContent>
    </p:spTree>
    <p:extLst>
      <p:ext uri="{BB962C8B-B14F-4D97-AF65-F5344CB8AC3E}">
        <p14:creationId xmlns:p14="http://schemas.microsoft.com/office/powerpoint/2010/main" val="4041716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Now consider rolling a die and the random variable </a:t>
                </a:r>
                <a14:m>
                  <m:oMath xmlns:m="http://schemas.openxmlformats.org/officeDocument/2006/math">
                    <m:r>
                      <a:rPr lang="en-US" b="0" i="1" smtClean="0">
                        <a:latin typeface="Cambria Math"/>
                      </a:rPr>
                      <m:t>𝑋</m:t>
                    </m:r>
                  </m:oMath>
                </a14:m>
                <a:r>
                  <a:rPr lang="en-US" dirty="0"/>
                  <a:t>, the number that comes up. A simple way to describe the CDF is with the expression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a:rPr>
                          <m:t>𝑥</m:t>
                        </m:r>
                      </m:num>
                      <m:den>
                        <m:r>
                          <a:rPr lang="en-US" b="0" i="1" smtClean="0">
                            <a:latin typeface="Cambria Math"/>
                          </a:rPr>
                          <m:t>6</m:t>
                        </m:r>
                      </m:den>
                    </m:f>
                  </m:oMath>
                </a14:m>
                <a:r>
                  <a:rPr lang="en-US" dirty="0"/>
                  <a:t> (you should be able to convince yourself that this is correct). </a:t>
                </a:r>
              </a:p>
              <a:p>
                <a:endParaRPr lang="en-US" dirty="0"/>
              </a:p>
              <a:p>
                <a:r>
                  <a:rPr lang="en-US" dirty="0"/>
                  <a:t>However, the CDF is defined for all real numbers. If we use this expression, we can’t plug just any real number in and get the correct value. So we need to be careful when defining a CDF and make sure to state all possible cases. While it may be a little tedious, it is an important part of defining a CDF.</a:t>
                </a:r>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680"/>
                </a:stretch>
              </a:blipFill>
            </p:spPr>
            <p:txBody>
              <a:bodyPr/>
              <a:lstStyle/>
              <a:p>
                <a:r>
                  <a:rPr lang="en-US">
                    <a:noFill/>
                  </a:rPr>
                  <a:t> </a:t>
                </a:r>
              </a:p>
            </p:txBody>
          </p:sp>
        </mc:Fallback>
      </mc:AlternateContent>
    </p:spTree>
    <p:extLst>
      <p:ext uri="{BB962C8B-B14F-4D97-AF65-F5344CB8AC3E}">
        <p14:creationId xmlns:p14="http://schemas.microsoft.com/office/powerpoint/2010/main" val="2702732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p:sp>
        <p:nvSpPr>
          <p:cNvPr id="3" name="Content Placeholder 2"/>
          <p:cNvSpPr>
            <a:spLocks noGrp="1"/>
          </p:cNvSpPr>
          <p:nvPr>
            <p:ph idx="1"/>
          </p:nvPr>
        </p:nvSpPr>
        <p:spPr/>
        <p:txBody>
          <a:bodyPr>
            <a:normAutofit/>
          </a:bodyPr>
          <a:lstStyle/>
          <a:p>
            <a:r>
              <a:rPr lang="en-US" dirty="0"/>
              <a:t>The CDF as defined on the board is almost correct. What’s wrong with it? Any ideas on how to fix it?</a:t>
            </a:r>
          </a:p>
          <a:p>
            <a:endParaRPr lang="en-US" dirty="0"/>
          </a:p>
          <a:p>
            <a:r>
              <a:rPr lang="en-US" dirty="0"/>
              <a:t>As a hint try drawing the CDF.</a:t>
            </a:r>
          </a:p>
          <a:p>
            <a:endParaRPr lang="en-US" dirty="0"/>
          </a:p>
          <a:p>
            <a:pPr lvl="1"/>
            <a:endParaRPr lang="en-US" dirty="0"/>
          </a:p>
        </p:txBody>
      </p:sp>
    </p:spTree>
    <p:extLst>
      <p:ext uri="{BB962C8B-B14F-4D97-AF65-F5344CB8AC3E}">
        <p14:creationId xmlns:p14="http://schemas.microsoft.com/office/powerpoint/2010/main" val="2032871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p:sp>
        <p:nvSpPr>
          <p:cNvPr id="3" name="Content Placeholder 2"/>
          <p:cNvSpPr>
            <a:spLocks noGrp="1"/>
          </p:cNvSpPr>
          <p:nvPr>
            <p:ph idx="1"/>
          </p:nvPr>
        </p:nvSpPr>
        <p:spPr/>
        <p:txBody>
          <a:bodyPr>
            <a:normAutofit/>
          </a:bodyPr>
          <a:lstStyle/>
          <a:p>
            <a:r>
              <a:rPr lang="en-US" dirty="0"/>
              <a:t>We have made a CDF for a continuous random variable. What should the picture look like instead?</a:t>
            </a:r>
          </a:p>
          <a:p>
            <a:endParaRPr lang="en-US" dirty="0"/>
          </a:p>
          <a:p>
            <a:r>
              <a:rPr lang="en-US" dirty="0"/>
              <a:t>How can we fix this in the definition of the CDF?</a:t>
            </a:r>
          </a:p>
          <a:p>
            <a:pPr marL="114300" indent="0">
              <a:buNone/>
            </a:pPr>
            <a:endParaRPr lang="en-US" dirty="0"/>
          </a:p>
          <a:p>
            <a:endParaRPr lang="en-US" dirty="0"/>
          </a:p>
          <a:p>
            <a:pPr lvl="1"/>
            <a:endParaRPr lang="en-US" dirty="0"/>
          </a:p>
        </p:txBody>
      </p:sp>
    </p:spTree>
    <p:extLst>
      <p:ext uri="{BB962C8B-B14F-4D97-AF65-F5344CB8AC3E}">
        <p14:creationId xmlns:p14="http://schemas.microsoft.com/office/powerpoint/2010/main" val="41192075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main takeaway here is that you need to be very careful and thorough when defining a cumulative distribution function.</a:t>
                </a:r>
              </a:p>
              <a:p>
                <a:endParaRPr lang="en-US" dirty="0"/>
              </a:p>
              <a:p>
                <a:r>
                  <a:rPr lang="en-US" dirty="0"/>
                  <a:t>To finish this section, we will talk a little about how to use CDF’s. There are two main ways to calculate probabilities:</a:t>
                </a:r>
              </a:p>
              <a:p>
                <a:pPr lvl="1"/>
                <a:r>
                  <a:rPr lang="en-US" dirty="0"/>
                  <a:t>Use the third condition of a PMF: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r>
                  <a:rPr lang="en-US" dirty="0"/>
                  <a:t> and simply evaluate the PMF at </a:t>
                </a:r>
                <a14:m>
                  <m:oMath xmlns:m="http://schemas.openxmlformats.org/officeDocument/2006/math">
                    <m:r>
                      <a:rPr lang="en-US" b="0" i="1" smtClean="0">
                        <a:latin typeface="Cambria Math"/>
                      </a:rPr>
                      <m:t>𝑥</m:t>
                    </m:r>
                  </m:oMath>
                </a14:m>
                <a:endParaRPr lang="en-US" dirty="0"/>
              </a:p>
              <a:p>
                <a:pPr lvl="1"/>
                <a:r>
                  <a:rPr lang="en-US" dirty="0"/>
                  <a:t>Use a CDF. How to do this is outlined on the next slide.</a:t>
                </a:r>
              </a:p>
              <a:p>
                <a:endParaRPr lang="en-US" dirty="0"/>
              </a:p>
              <a:p>
                <a:pPr marL="114300" indent="0">
                  <a:buNone/>
                </a:pPr>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a:stretch>
              </a:blipFill>
            </p:spPr>
            <p:txBody>
              <a:bodyPr/>
              <a:lstStyle/>
              <a:p>
                <a:r>
                  <a:rPr lang="en-US">
                    <a:noFill/>
                  </a:rPr>
                  <a:t> </a:t>
                </a:r>
              </a:p>
            </p:txBody>
          </p:sp>
        </mc:Fallback>
      </mc:AlternateContent>
    </p:spTree>
    <p:extLst>
      <p:ext uri="{BB962C8B-B14F-4D97-AF65-F5344CB8AC3E}">
        <p14:creationId xmlns:p14="http://schemas.microsoft.com/office/powerpoint/2010/main" val="3123287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a:bodyPr>
              <a:lstStyle/>
              <a:p>
                <a:r>
                  <a:rPr lang="en-US" dirty="0"/>
                  <a:t>Remember that </a:t>
                </a:r>
                <a14:m>
                  <m:oMath xmlns:m="http://schemas.openxmlformats.org/officeDocument/2006/math">
                    <m:r>
                      <a:rPr lang="en-US" b="0" i="1" smtClean="0">
                        <a:latin typeface="Cambria Math"/>
                      </a:rPr>
                      <m:t>𝐹</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r>
                      <a:rPr lang="en-US" b="0" i="1" smtClean="0">
                        <a:latin typeface="Cambria Math"/>
                      </a:rPr>
                      <m:t>𝑃</m:t>
                    </m:r>
                    <m:r>
                      <a:rPr lang="en-US" b="0" i="1" smtClean="0">
                        <a:latin typeface="Cambria Math"/>
                      </a:rPr>
                      <m:t>(</m:t>
                    </m:r>
                    <m:r>
                      <a:rPr lang="en-US" b="0" i="1" smtClean="0">
                        <a:latin typeface="Cambria Math"/>
                      </a:rPr>
                      <m:t>𝑋</m:t>
                    </m:r>
                    <m:r>
                      <a:rPr lang="en-US" b="0" i="1" smtClean="0">
                        <a:latin typeface="Cambria Math"/>
                      </a:rPr>
                      <m:t>≤</m:t>
                    </m:r>
                    <m:r>
                      <a:rPr lang="en-US" b="0" i="1" smtClean="0">
                        <a:latin typeface="Cambria Math"/>
                      </a:rPr>
                      <m:t>𝑥</m:t>
                    </m:r>
                    <m:r>
                      <a:rPr lang="en-US" b="0" i="1" smtClean="0">
                        <a:latin typeface="Cambria Math"/>
                      </a:rPr>
                      <m:t>)</m:t>
                    </m:r>
                  </m:oMath>
                </a14:m>
                <a:r>
                  <a:rPr lang="en-US" dirty="0"/>
                  <a:t>. This is the basis for finding probabilities using the CDF. While these “rules” will be even more helpful when working with continuous random variables, we can still use them with discrete random variables:</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r>
                      <a:rPr lang="en-US" b="0" i="1" smtClean="0">
                        <a:latin typeface="Cambria Math"/>
                      </a:rPr>
                      <m:t>𝐹</m:t>
                    </m:r>
                    <m:d>
                      <m:dPr>
                        <m:ctrlPr>
                          <a:rPr lang="en-US" b="0" i="1" smtClean="0">
                            <a:latin typeface="Cambria Math" panose="02040503050406030204" pitchFamily="18" charset="0"/>
                          </a:rPr>
                        </m:ctrlPr>
                      </m:dPr>
                      <m:e>
                        <m:r>
                          <a:rPr lang="en-US" b="0" i="1" smtClean="0">
                            <a:latin typeface="Cambria Math"/>
                          </a:rPr>
                          <m:t>𝑥</m:t>
                        </m:r>
                      </m:e>
                    </m:d>
                  </m:oMath>
                </a14:m>
                <a:endParaRPr lang="en-US" b="0"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m:t>
                        </m:r>
                        <m:r>
                          <a:rPr lang="en-US" b="0" i="1" smtClean="0">
                            <a:latin typeface="Cambria Math"/>
                          </a:rPr>
                          <m:t>𝑥</m:t>
                        </m:r>
                      </m:e>
                    </m:d>
                    <m:r>
                      <a:rPr lang="en-US" b="0" i="1" smtClean="0">
                        <a:latin typeface="Cambria Math"/>
                      </a:rPr>
                      <m:t>=1−</m:t>
                    </m:r>
                    <m:r>
                      <a:rPr lang="en-US" b="0" i="1" smtClean="0">
                        <a:latin typeface="Cambria Math"/>
                      </a:rPr>
                      <m:t>𝐹</m:t>
                    </m:r>
                    <m:d>
                      <m:dPr>
                        <m:ctrlPr>
                          <a:rPr lang="en-US" b="0" i="1" smtClean="0">
                            <a:latin typeface="Cambria Math" panose="02040503050406030204" pitchFamily="18" charset="0"/>
                          </a:rPr>
                        </m:ctrlPr>
                      </m:dPr>
                      <m:e>
                        <m:r>
                          <a:rPr lang="en-US" b="0" i="1" smtClean="0">
                            <a:latin typeface="Cambria Math"/>
                          </a:rPr>
                          <m:t>𝑥</m:t>
                        </m:r>
                      </m:e>
                    </m:d>
                  </m:oMath>
                </a14:m>
                <a:endParaRPr lang="en-US" b="0"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r>
                          <a:rPr lang="en-US" b="0" i="1" smtClean="0">
                            <a:latin typeface="Cambria Math"/>
                          </a:rPr>
                          <m:t>&lt;</m:t>
                        </m:r>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d>
                    <m:r>
                      <a:rPr lang="en-US" b="0" i="1" smtClean="0">
                        <a:latin typeface="Cambria Math"/>
                      </a:rPr>
                      <m:t>=</m:t>
                    </m:r>
                    <m:r>
                      <a:rPr lang="en-US" b="0" i="1" smtClean="0">
                        <a:latin typeface="Cambria Math"/>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d>
                    <m:r>
                      <a:rPr lang="en-US" b="0" i="1" smtClean="0">
                        <a:latin typeface="Cambria Math"/>
                      </a:rPr>
                      <m:t>−</m:t>
                    </m:r>
                    <m:r>
                      <a:rPr lang="en-US" b="0" i="1" smtClean="0">
                        <a:latin typeface="Cambria Math"/>
                      </a:rPr>
                      <m:t>𝐹</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r>
                      <a:rPr lang="en-US" b="0" i="1" smtClean="0">
                        <a:latin typeface="Cambria Math"/>
                      </a:rPr>
                      <m:t>)</m:t>
                    </m:r>
                  </m:oMath>
                </a14:m>
                <a:r>
                  <a:rPr lang="en-US" dirty="0"/>
                  <a:t> (should be able to prove this to yourself)</a:t>
                </a:r>
              </a:p>
              <a:p>
                <a:pPr lvl="1"/>
                <a14:m>
                  <m:oMath xmlns:m="http://schemas.openxmlformats.org/officeDocument/2006/math">
                    <m:r>
                      <a:rPr lang="en-US" b="0" i="1" smtClean="0">
                        <a:latin typeface="Cambria Math"/>
                      </a:rPr>
                      <m:t>𝑃</m:t>
                    </m:r>
                    <m:d>
                      <m:dPr>
                        <m:endChr m:val="|"/>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d>
                    <m:r>
                      <a:rPr lang="en-US" b="0" i="1" smtClean="0">
                        <a:latin typeface="Cambria Math"/>
                      </a:rPr>
                      <m:t>𝑋</m:t>
                    </m:r>
                    <m:r>
                      <a:rPr lang="en-US" b="0" i="1" smtClean="0">
                        <a:latin typeface="Cambria Math"/>
                      </a:rPr>
                      <m:t>&gt;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r>
                              <a:rPr lang="en-US" b="0" i="1" smtClean="0">
                                <a:latin typeface="Cambria Math"/>
                              </a:rPr>
                              <m:t>&lt;</m:t>
                            </m:r>
                            <m:r>
                              <a:rPr lang="en-US" b="0" i="1" smtClean="0">
                                <a:latin typeface="Cambria Math"/>
                              </a:rPr>
                              <m:t>𝑋</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d>
                      </m:num>
                      <m:den>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m:t>
                            </m:r>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e>
                        </m:d>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1</m:t>
                                </m:r>
                              </m:sub>
                            </m:sSub>
                          </m:e>
                        </m:d>
                        <m:r>
                          <a:rPr lang="en-US" b="0" i="1" smtClean="0">
                            <a:latin typeface="Cambria Math"/>
                          </a:rPr>
                          <m:t>−</m:t>
                        </m:r>
                        <m:r>
                          <a:rPr lang="en-US" b="0" i="1" smtClean="0">
                            <a:latin typeface="Cambria Math"/>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e>
                        </m:d>
                      </m:num>
                      <m:den>
                        <m:r>
                          <a:rPr lang="en-US" b="0" i="1" smtClean="0">
                            <a:latin typeface="Cambria Math"/>
                          </a:rPr>
                          <m:t>1−</m:t>
                        </m:r>
                        <m:r>
                          <a:rPr lang="en-US" b="0" i="1" smtClean="0">
                            <a:latin typeface="Cambria Math"/>
                          </a:rPr>
                          <m:t>𝐹</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a:rPr>
                                  <m:t>𝑥</m:t>
                                </m:r>
                              </m:e>
                              <m:sub>
                                <m:r>
                                  <a:rPr lang="en-US" b="0" i="1" smtClean="0">
                                    <a:latin typeface="Cambria Math"/>
                                  </a:rPr>
                                  <m:t>0</m:t>
                                </m:r>
                              </m:sub>
                            </m:sSub>
                          </m:e>
                        </m:d>
                      </m:den>
                    </m:f>
                  </m:oMath>
                </a14:m>
                <a:endParaRPr lang="en-US" dirty="0"/>
              </a:p>
              <a:p>
                <a:r>
                  <a:rPr lang="en-US" dirty="0"/>
                  <a:t>Note that I use the term rules loosely. You should be able to manipulate the definition to come up with all of these and more. Also, be sure to be very careful with the equals part of inequalities when working with discrete random variables.</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635" r="-1120"/>
                </a:stretch>
              </a:blipFill>
            </p:spPr>
            <p:txBody>
              <a:bodyPr/>
              <a:lstStyle/>
              <a:p>
                <a:r>
                  <a:rPr lang="en-US">
                    <a:noFill/>
                  </a:rPr>
                  <a:t> </a:t>
                </a:r>
              </a:p>
            </p:txBody>
          </p:sp>
        </mc:Fallback>
      </mc:AlternateContent>
    </p:spTree>
    <p:extLst>
      <p:ext uri="{BB962C8B-B14F-4D97-AF65-F5344CB8AC3E}">
        <p14:creationId xmlns:p14="http://schemas.microsoft.com/office/powerpoint/2010/main" val="24499650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solidFill>
                  <a:srgbClr val="675E47"/>
                </a:solidFill>
              </a:rPr>
              <a:t>3.2 – Discrete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Exercises: Let the random variable </a:t>
                </a:r>
                <a14:m>
                  <m:oMath xmlns:m="http://schemas.openxmlformats.org/officeDocument/2006/math">
                    <m:r>
                      <a:rPr lang="en-US" b="0" i="1" smtClean="0">
                        <a:latin typeface="Cambria Math"/>
                      </a:rPr>
                      <m:t>𝑊</m:t>
                    </m:r>
                  </m:oMath>
                </a14:m>
                <a:r>
                  <a:rPr lang="en-US" dirty="0"/>
                  <a:t> be the sum of the numbers on two dice.</a:t>
                </a:r>
              </a:p>
              <a:p>
                <a:pPr lvl="1"/>
                <a:r>
                  <a:rPr lang="en-US" dirty="0"/>
                  <a:t>Find the PMF (can give as a table or as a formula)</a:t>
                </a:r>
              </a:p>
              <a:p>
                <a:pPr lvl="1"/>
                <a:r>
                  <a:rPr lang="en-US" dirty="0"/>
                  <a:t>Find the CDF (make sure to define carefully)</a:t>
                </a:r>
              </a:p>
              <a:p>
                <a:pPr lvl="1"/>
                <a:r>
                  <a:rPr lang="en-US" dirty="0"/>
                  <a:t>Find P(</a:t>
                </a:r>
                <a14:m>
                  <m:oMath xmlns:m="http://schemas.openxmlformats.org/officeDocument/2006/math">
                    <m:r>
                      <a:rPr lang="en-US" b="0" i="1" smtClean="0">
                        <a:latin typeface="Cambria Math"/>
                      </a:rPr>
                      <m:t>𝑋</m:t>
                    </m:r>
                    <m:r>
                      <a:rPr lang="en-US" b="0" i="1" smtClean="0">
                        <a:latin typeface="Cambria Math"/>
                      </a:rPr>
                      <m:t>=7)</m:t>
                    </m:r>
                  </m:oMath>
                </a14:m>
                <a:r>
                  <a:rPr lang="en-US" dirty="0"/>
                  <a:t>, </a:t>
                </a:r>
                <a14:m>
                  <m:oMath xmlns:m="http://schemas.openxmlformats.org/officeDocument/2006/math">
                    <m:r>
                      <a:rPr lang="en-US" b="0" i="1" dirty="0" smtClean="0">
                        <a:latin typeface="Cambria Math"/>
                      </a:rPr>
                      <m:t>𝑃</m:t>
                    </m:r>
                    <m:r>
                      <a:rPr lang="en-US" b="0" i="1" dirty="0" smtClean="0">
                        <a:latin typeface="Cambria Math"/>
                      </a:rPr>
                      <m:t>(</m:t>
                    </m:r>
                    <m:r>
                      <a:rPr lang="en-US" b="0" i="1" dirty="0" smtClean="0">
                        <a:latin typeface="Cambria Math"/>
                      </a:rPr>
                      <m:t>𝑋</m:t>
                    </m:r>
                    <m:r>
                      <a:rPr lang="en-US" b="0" i="1" dirty="0" smtClean="0">
                        <a:latin typeface="Cambria Math"/>
                      </a:rPr>
                      <m:t>≥3)</m:t>
                    </m:r>
                  </m:oMath>
                </a14:m>
                <a:r>
                  <a:rPr lang="en-US" dirty="0"/>
                  <a:t>, </a:t>
                </a:r>
                <a14:m>
                  <m:oMath xmlns:m="http://schemas.openxmlformats.org/officeDocument/2006/math">
                    <m:r>
                      <a:rPr lang="en-US" b="0" i="1" dirty="0" smtClean="0">
                        <a:latin typeface="Cambria Math"/>
                      </a:rPr>
                      <m:t>𝑃</m:t>
                    </m:r>
                    <m:r>
                      <a:rPr lang="en-US" b="0" i="1" dirty="0" smtClean="0">
                        <a:latin typeface="Cambria Math"/>
                      </a:rPr>
                      <m:t>(5&lt; </m:t>
                    </m:r>
                    <m:r>
                      <a:rPr lang="en-US" b="0" i="1" dirty="0" smtClean="0">
                        <a:latin typeface="Cambria Math"/>
                      </a:rPr>
                      <m:t>𝑋</m:t>
                    </m:r>
                    <m:r>
                      <a:rPr lang="en-US" b="0" i="1" dirty="0" smtClean="0">
                        <a:latin typeface="Cambria Math"/>
                      </a:rPr>
                      <m:t>&lt;10)</m:t>
                    </m:r>
                  </m:oMath>
                </a14:m>
                <a:r>
                  <a:rPr lang="en-US" dirty="0"/>
                  <a:t>, and </a:t>
                </a:r>
                <a14:m>
                  <m:oMath xmlns:m="http://schemas.openxmlformats.org/officeDocument/2006/math">
                    <m:r>
                      <a:rPr lang="en-US" b="0" i="1" smtClean="0">
                        <a:latin typeface="Cambria Math"/>
                      </a:rPr>
                      <m:t>𝑃</m:t>
                    </m:r>
                    <m:d>
                      <m:dPr>
                        <m:endChr m:val="|"/>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≤8</m:t>
                        </m:r>
                      </m:e>
                    </m:d>
                    <m:r>
                      <a:rPr lang="en-US" b="0" i="1" smtClean="0">
                        <a:latin typeface="Cambria Math"/>
                      </a:rPr>
                      <m:t>𝑋</m:t>
                    </m:r>
                    <m:r>
                      <a:rPr lang="en-US" b="0" i="1" smtClean="0">
                        <a:latin typeface="Cambria Math"/>
                      </a:rPr>
                      <m:t>≥4)</m:t>
                    </m:r>
                  </m:oMath>
                </a14:m>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33191375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675E47"/>
                </a:solidFill>
              </a:rPr>
              <a:t>3.3 – Continuous Probability Distributions</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now discuss probability distributions and cumulative distribution functions for continuous random variables. As mentioned before, the idea of a probability distribution is the same for both discrete and continuous random variables. We just have to treat them a little differently. </a:t>
                </a:r>
              </a:p>
              <a:p>
                <a:endParaRPr lang="en-US" dirty="0"/>
              </a:p>
              <a:p>
                <a:r>
                  <a:rPr lang="en-US" dirty="0"/>
                  <a:t>The function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r>
                  <a:rPr lang="en-US" dirty="0"/>
                  <a:t> is a </a:t>
                </a:r>
                <a:r>
                  <a:rPr lang="en-US" i="1" dirty="0"/>
                  <a:t>probability density function</a:t>
                </a:r>
                <a:r>
                  <a:rPr lang="en-US" dirty="0"/>
                  <a:t> (probability distribution)  for the continuous random variable </a:t>
                </a:r>
                <a14:m>
                  <m:oMath xmlns:m="http://schemas.openxmlformats.org/officeDocument/2006/math">
                    <m:r>
                      <a:rPr lang="en-US" b="0" i="1" smtClean="0">
                        <a:latin typeface="Cambria Math"/>
                      </a:rPr>
                      <m:t>𝑋</m:t>
                    </m:r>
                  </m:oMath>
                </a14:m>
                <a:r>
                  <a:rPr lang="en-US" dirty="0"/>
                  <a:t>, defined over the set of real numbers, if:</a:t>
                </a:r>
              </a:p>
              <a:p>
                <a:pPr lvl="1"/>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≥0</m:t>
                    </m:r>
                  </m:oMath>
                </a14:m>
                <a:r>
                  <a:rPr lang="en-US" dirty="0"/>
                  <a:t> for all </a:t>
                </a:r>
                <a14:m>
                  <m:oMath xmlns:m="http://schemas.openxmlformats.org/officeDocument/2006/math">
                    <m:r>
                      <a:rPr lang="en-US" b="0" i="1" smtClean="0">
                        <a:latin typeface="Cambria Math"/>
                      </a:rPr>
                      <m:t>𝑥</m:t>
                    </m:r>
                    <m:r>
                      <a:rPr lang="en-US" b="0" i="1" smtClean="0">
                        <a:latin typeface="Cambria Math"/>
                      </a:rPr>
                      <m:t>∈</m:t>
                    </m:r>
                    <m:r>
                      <a:rPr lang="en-US" b="0" i="1" smtClean="0">
                        <a:latin typeface="Cambria Math"/>
                      </a:rPr>
                      <m:t>𝑅</m:t>
                    </m:r>
                  </m:oMath>
                </a14:m>
                <a:endParaRPr lang="en-US" dirty="0"/>
              </a:p>
              <a:p>
                <a:pPr lvl="1"/>
                <a14:m>
                  <m:oMath xmlns:m="http://schemas.openxmlformats.org/officeDocument/2006/math">
                    <m:nary>
                      <m:naryPr>
                        <m:limLoc m:val="undOvr"/>
                        <m:ctrlPr>
                          <a:rPr lang="en-US" i="1" smtClean="0">
                            <a:latin typeface="Cambria Math" panose="02040503050406030204" pitchFamily="18" charset="0"/>
                          </a:rPr>
                        </m:ctrlPr>
                      </m:naryPr>
                      <m:sub>
                        <m:r>
                          <m:rPr>
                            <m:brk m:alnAt="24"/>
                          </m:rPr>
                          <a:rPr lang="en-US" b="0" i="1" smtClean="0">
                            <a:latin typeface="Cambria Math"/>
                          </a:rPr>
                          <m:t>−</m:t>
                        </m:r>
                        <m:r>
                          <a:rPr lang="en-US" b="0" i="1" smtClean="0">
                            <a:latin typeface="Cambria Math"/>
                          </a:rPr>
                          <m:t>∞</m:t>
                        </m:r>
                      </m:sub>
                      <m:sup>
                        <m:r>
                          <a:rPr lang="en-US" b="0" i="1" smtClean="0">
                            <a:latin typeface="Cambria Math"/>
                          </a:rPr>
                          <m:t>∞</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𝑑𝑥</m:t>
                        </m:r>
                        <m:r>
                          <a:rPr lang="en-US" b="0" i="1" smtClean="0">
                            <a:latin typeface="Cambria Math"/>
                          </a:rPr>
                          <m:t>=1</m:t>
                        </m:r>
                      </m:e>
                    </m:nary>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𝑎</m:t>
                        </m:r>
                        <m:r>
                          <a:rPr lang="en-US" b="0" i="1" smtClean="0">
                            <a:latin typeface="Cambria Math"/>
                          </a:rPr>
                          <m:t>&lt;</m:t>
                        </m:r>
                        <m:r>
                          <a:rPr lang="en-US" b="0" i="1" smtClean="0">
                            <a:latin typeface="Cambria Math"/>
                          </a:rPr>
                          <m:t>𝑋</m:t>
                        </m:r>
                        <m:r>
                          <a:rPr lang="en-US" b="0" i="1" smtClean="0">
                            <a:latin typeface="Cambria Math"/>
                          </a:rPr>
                          <m:t>&lt;</m:t>
                        </m:r>
                        <m:r>
                          <a:rPr lang="en-US" b="0" i="1" smtClean="0">
                            <a:latin typeface="Cambria Math"/>
                          </a:rPr>
                          <m:t>𝑏</m:t>
                        </m:r>
                      </m:e>
                    </m:d>
                    <m:r>
                      <a:rPr lang="en-US" b="0" i="1" smtClean="0">
                        <a:latin typeface="Cambria Math"/>
                      </a:rPr>
                      <m:t>=</m:t>
                    </m:r>
                    <m:nary>
                      <m:naryPr>
                        <m:limLoc m:val="undOvr"/>
                        <m:ctrlPr>
                          <a:rPr lang="en-US" b="0" i="1" smtClean="0">
                            <a:latin typeface="Cambria Math" panose="02040503050406030204" pitchFamily="18" charset="0"/>
                          </a:rPr>
                        </m:ctrlPr>
                      </m:naryPr>
                      <m:sub>
                        <m:r>
                          <m:rPr>
                            <m:brk m:alnAt="24"/>
                          </m:rPr>
                          <a:rPr lang="en-US" b="0" i="1" smtClean="0">
                            <a:latin typeface="Cambria Math"/>
                          </a:rPr>
                          <m:t>𝑎</m:t>
                        </m:r>
                      </m:sub>
                      <m:sup>
                        <m:r>
                          <a:rPr lang="en-US" b="0" i="1" smtClean="0">
                            <a:latin typeface="Cambria Math"/>
                          </a:rPr>
                          <m:t>𝑏</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𝑑𝑥</m:t>
                        </m:r>
                      </m:e>
                    </m:nary>
                  </m:oMath>
                </a14:m>
                <a:r>
                  <a:rPr lang="en-US" dirty="0"/>
                  <a:t> </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560" b="-3431"/>
                </a:stretch>
              </a:blipFill>
            </p:spPr>
            <p:txBody>
              <a:bodyPr/>
              <a:lstStyle/>
              <a:p>
                <a:r>
                  <a:rPr lang="en-US">
                    <a:noFill/>
                  </a:rPr>
                  <a:t> </a:t>
                </a:r>
              </a:p>
            </p:txBody>
          </p:sp>
        </mc:Fallback>
      </mc:AlternateContent>
    </p:spTree>
    <p:extLst>
      <p:ext uri="{BB962C8B-B14F-4D97-AF65-F5344CB8AC3E}">
        <p14:creationId xmlns:p14="http://schemas.microsoft.com/office/powerpoint/2010/main" val="9925276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675E47"/>
                </a:solidFill>
              </a:rPr>
              <a:t>3.3 – Continuous Probability Distributions</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Notice how these conditions are related to the conditions for a PMF. The first two correspond directly. </a:t>
                </a:r>
              </a:p>
              <a:p>
                <a:endParaRPr lang="en-US" dirty="0"/>
              </a:p>
              <a:p>
                <a:r>
                  <a:rPr lang="en-US" dirty="0"/>
                  <a:t>Note, however, that calculating probabilities is a little bit different when working with a continuous random variable. By convention,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=0</m:t>
                    </m:r>
                  </m:oMath>
                </a14:m>
                <a:r>
                  <a:rPr lang="en-US" dirty="0"/>
                  <a:t>. </a:t>
                </a:r>
              </a:p>
              <a:p>
                <a:endParaRPr lang="en-US" dirty="0"/>
              </a:p>
              <a:p>
                <a:r>
                  <a:rPr lang="en-US" dirty="0"/>
                  <a:t>One way to understand this is to think of probability as “area under the curve” (here the curve is defined by the PDF). We cannot calculate area at just one </a:t>
                </a:r>
                <a14:m>
                  <m:oMath xmlns:m="http://schemas.openxmlformats.org/officeDocument/2006/math">
                    <m:r>
                      <a:rPr lang="en-US" b="0" i="1" smtClean="0">
                        <a:latin typeface="Cambria Math"/>
                      </a:rPr>
                      <m:t>𝑥</m:t>
                    </m:r>
                  </m:oMath>
                </a14:m>
                <a:r>
                  <a:rPr lang="en-US" dirty="0"/>
                  <a:t> value as there is no length. So probability can only be calculated for a range of points.</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360"/>
                </a:stretch>
              </a:blipFill>
            </p:spPr>
            <p:txBody>
              <a:bodyPr/>
              <a:lstStyle/>
              <a:p>
                <a:r>
                  <a:rPr lang="en-US">
                    <a:noFill/>
                  </a:rPr>
                  <a:t> </a:t>
                </a:r>
              </a:p>
            </p:txBody>
          </p:sp>
        </mc:Fallback>
      </mc:AlternateContent>
    </p:spTree>
    <p:extLst>
      <p:ext uri="{BB962C8B-B14F-4D97-AF65-F5344CB8AC3E}">
        <p14:creationId xmlns:p14="http://schemas.microsoft.com/office/powerpoint/2010/main" val="3896311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675E47"/>
                </a:solidFill>
              </a:rPr>
              <a:t>3.3 – Continuous Probability Distributions</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On your assignment, you will be asked several times to verify that a certain function is a PDF. To do this, you just need to verify that the first two conditions hold.</a:t>
                </a:r>
              </a:p>
              <a:p>
                <a:endParaRPr lang="en-US" dirty="0"/>
              </a:p>
              <a:p>
                <a:r>
                  <a:rPr lang="en-US" dirty="0"/>
                  <a:t>Example: Verify that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𝑥</m:t>
                            </m:r>
                          </m:num>
                          <m:den>
                            <m:r>
                              <a:rPr lang="en-US" b="0" i="1" smtClean="0">
                                <a:latin typeface="Cambria Math"/>
                              </a:rPr>
                              <m:t>4</m:t>
                            </m:r>
                          </m:den>
                        </m:f>
                      </m:sup>
                    </m:sSup>
                  </m:oMath>
                </a14:m>
                <a:r>
                  <a:rPr lang="en-US" dirty="0"/>
                  <a:t>, </a:t>
                </a:r>
                <a14:m>
                  <m:oMath xmlns:m="http://schemas.openxmlformats.org/officeDocument/2006/math">
                    <m:r>
                      <a:rPr lang="en-US" b="0" i="1" dirty="0" smtClean="0">
                        <a:latin typeface="Cambria Math"/>
                      </a:rPr>
                      <m:t>𝑥</m:t>
                    </m:r>
                    <m:r>
                      <a:rPr lang="en-US" b="0" i="1" dirty="0" smtClean="0">
                        <a:latin typeface="Cambria Math"/>
                      </a:rPr>
                      <m:t>≥0</m:t>
                    </m:r>
                  </m:oMath>
                </a14:m>
                <a:r>
                  <a:rPr lang="en-US" dirty="0"/>
                  <a:t> is a valid PDF. </a:t>
                </a:r>
              </a:p>
              <a:p>
                <a:pPr lvl="1"/>
                <a:r>
                  <a:rPr lang="en-US" dirty="0"/>
                  <a:t>When defining continuous PDFs, we need to be a little careful, just like with CDFs. A more complete definition of this PDF is </a:t>
                </a:r>
              </a:p>
              <a:p>
                <a:pPr marL="41148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f>
                                <m:fPr>
                                  <m:ctrlPr>
                                    <a:rPr lang="en-US" i="1">
                                      <a:latin typeface="Cambria Math" panose="02040503050406030204" pitchFamily="18" charset="0"/>
                                    </a:rPr>
                                  </m:ctrlPr>
                                </m:fPr>
                                <m:num>
                                  <m:r>
                                    <a:rPr lang="en-US" i="1">
                                      <a:latin typeface="Cambria Math"/>
                                    </a:rPr>
                                    <m:t>1</m:t>
                                  </m:r>
                                </m:num>
                                <m:den>
                                  <m:r>
                                    <a:rPr lang="en-US" i="1">
                                      <a:latin typeface="Cambria Math"/>
                                    </a:rPr>
                                    <m:t>4</m:t>
                                  </m:r>
                                </m:den>
                              </m:f>
                              <m:sSup>
                                <m:sSupPr>
                                  <m:ctrlPr>
                                    <a:rPr lang="en-US" i="1">
                                      <a:latin typeface="Cambria Math" panose="02040503050406030204" pitchFamily="18" charset="0"/>
                                    </a:rPr>
                                  </m:ctrlPr>
                                </m:sSupPr>
                                <m:e>
                                  <m:r>
                                    <a:rPr lang="en-US" i="1">
                                      <a:latin typeface="Cambria Math"/>
                                    </a:rPr>
                                    <m:t>𝑒</m:t>
                                  </m:r>
                                </m:e>
                                <m:sup>
                                  <m:r>
                                    <a:rPr lang="en-US" i="1">
                                      <a:latin typeface="Cambria Math"/>
                                    </a:rPr>
                                    <m:t>−</m:t>
                                  </m:r>
                                  <m:f>
                                    <m:fPr>
                                      <m:ctrlPr>
                                        <a:rPr lang="en-US" i="1">
                                          <a:latin typeface="Cambria Math" panose="02040503050406030204" pitchFamily="18" charset="0"/>
                                        </a:rPr>
                                      </m:ctrlPr>
                                    </m:fPr>
                                    <m:num>
                                      <m:r>
                                        <a:rPr lang="en-US" i="1">
                                          <a:latin typeface="Cambria Math"/>
                                        </a:rPr>
                                        <m:t>𝑥</m:t>
                                      </m:r>
                                    </m:num>
                                    <m:den>
                                      <m:r>
                                        <a:rPr lang="en-US" i="1">
                                          <a:latin typeface="Cambria Math"/>
                                        </a:rPr>
                                        <m:t>4</m:t>
                                      </m:r>
                                    </m:den>
                                  </m:f>
                                </m:sup>
                              </m:sSup>
                              <m:r>
                                <m:rPr>
                                  <m:nor/>
                                </m:rPr>
                                <a:rPr lang="en-US" dirty="0"/>
                                <m:t>,</m:t>
                              </m:r>
                              <m:r>
                                <a:rPr lang="en-US" b="0" i="1" dirty="0" smtClean="0">
                                  <a:latin typeface="Cambria Math"/>
                                </a:rPr>
                                <m:t>            </m:t>
                              </m:r>
                              <m:r>
                                <a:rPr lang="en-US" b="0" i="1" dirty="0" smtClean="0">
                                  <a:latin typeface="Cambria Math"/>
                                </a:rPr>
                                <m:t>𝑥</m:t>
                              </m:r>
                              <m:r>
                                <a:rPr lang="en-US" b="0" i="1" dirty="0" smtClean="0">
                                  <a:latin typeface="Cambria Math"/>
                                </a:rPr>
                                <m:t>≥0</m:t>
                              </m:r>
                            </m:e>
                            <m:e>
                              <m:r>
                                <a:rPr lang="en-US" b="0" i="1" smtClean="0">
                                  <a:latin typeface="Cambria Math"/>
                                </a:rPr>
                                <m:t>0,  </m:t>
                              </m:r>
                              <m:r>
                                <m:rPr>
                                  <m:sty m:val="p"/>
                                </m:rPr>
                                <a:rPr lang="en-US" b="0" i="0" smtClean="0">
                                  <a:latin typeface="Cambria Math"/>
                                </a:rPr>
                                <m:t>elsewhere</m:t>
                              </m:r>
                            </m:e>
                          </m:eqArr>
                        </m:e>
                      </m:d>
                    </m:oMath>
                  </m:oMathPara>
                </a14:m>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14903931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675E47"/>
                </a:solidFill>
              </a:rPr>
              <a:t>3.3 – Continuous Probability Distributions</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Just like we did with discrete distributions, we can also find values that will make a function a PDF. </a:t>
                </a:r>
              </a:p>
              <a:p>
                <a:endParaRPr lang="en-US" dirty="0"/>
              </a:p>
              <a:p>
                <a:r>
                  <a:rPr lang="en-US" dirty="0"/>
                  <a:t>Exercise: A function is defined by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r>
                      <a:rPr lang="en-US" b="0" i="1" smtClean="0">
                        <a:latin typeface="Cambria Math"/>
                      </a:rPr>
                      <m:t>𝑘</m:t>
                    </m:r>
                    <m:func>
                      <m:funcPr>
                        <m:ctrlPr>
                          <a:rPr lang="en-US" b="0" i="1" smtClean="0">
                            <a:latin typeface="Cambria Math" panose="02040503050406030204" pitchFamily="18" charset="0"/>
                          </a:rPr>
                        </m:ctrlPr>
                      </m:funcPr>
                      <m:fName>
                        <m:r>
                          <m:rPr>
                            <m:sty m:val="p"/>
                          </m:rPr>
                          <a:rPr lang="en-US" b="0" i="0" smtClean="0">
                            <a:latin typeface="Cambria Math"/>
                          </a:rPr>
                          <m:t>cos</m:t>
                        </m:r>
                      </m:fName>
                      <m:e>
                        <m:r>
                          <a:rPr lang="en-US" b="0" i="1" smtClean="0">
                            <a:latin typeface="Cambria Math"/>
                          </a:rPr>
                          <m:t>𝑥</m:t>
                        </m:r>
                      </m:e>
                    </m:func>
                  </m:oMath>
                </a14:m>
                <a:r>
                  <a:rPr lang="en-US" dirty="0"/>
                  <a:t> for </a:t>
                </a:r>
                <a14:m>
                  <m:oMath xmlns:m="http://schemas.openxmlformats.org/officeDocument/2006/math">
                    <m:r>
                      <a:rPr lang="en-US" b="0" i="1" smtClean="0">
                        <a:latin typeface="Cambria Math"/>
                      </a:rPr>
                      <m:t>𝑥</m:t>
                    </m:r>
                    <m:r>
                      <a:rPr lang="en-US" b="0" i="1" smtClean="0">
                        <a:latin typeface="Cambria Math"/>
                      </a:rPr>
                      <m:t>∈</m:t>
                    </m:r>
                    <m:d>
                      <m:dPr>
                        <m:begChr m:val="["/>
                        <m:endChr m:val="]"/>
                        <m:ctrlPr>
                          <a:rPr lang="en-US" b="0" i="1" smtClean="0">
                            <a:latin typeface="Cambria Math" panose="02040503050406030204" pitchFamily="18" charset="0"/>
                          </a:rPr>
                        </m:ctrlPr>
                      </m:dPr>
                      <m:e>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𝜋</m:t>
                            </m:r>
                          </m:num>
                          <m:den>
                            <m:r>
                              <a:rPr lang="en-US" b="0" i="1" smtClean="0">
                                <a:latin typeface="Cambria Math"/>
                              </a:rPr>
                              <m:t>2</m:t>
                            </m:r>
                          </m:den>
                        </m:f>
                        <m:r>
                          <a:rPr lang="en-US" b="0" i="1" smtClean="0">
                            <a:latin typeface="Cambria Math"/>
                          </a:rPr>
                          <m:t>,  </m:t>
                        </m:r>
                        <m:f>
                          <m:fPr>
                            <m:ctrlPr>
                              <a:rPr lang="en-US" b="0" i="1" smtClean="0">
                                <a:latin typeface="Cambria Math" panose="02040503050406030204" pitchFamily="18" charset="0"/>
                              </a:rPr>
                            </m:ctrlPr>
                          </m:fPr>
                          <m:num>
                            <m:r>
                              <a:rPr lang="en-US" b="0" i="1" smtClean="0">
                                <a:latin typeface="Cambria Math"/>
                              </a:rPr>
                              <m:t>𝜋</m:t>
                            </m:r>
                          </m:num>
                          <m:den>
                            <m:r>
                              <a:rPr lang="en-US" b="0" i="1" smtClean="0">
                                <a:latin typeface="Cambria Math"/>
                              </a:rPr>
                              <m:t>2</m:t>
                            </m:r>
                          </m:den>
                        </m:f>
                      </m:e>
                    </m:d>
                  </m:oMath>
                </a14:m>
                <a:r>
                  <a:rPr lang="en-US" dirty="0"/>
                  <a:t> and </a:t>
                </a:r>
                <a14:m>
                  <m:oMath xmlns:m="http://schemas.openxmlformats.org/officeDocument/2006/math">
                    <m:r>
                      <a:rPr lang="en-US" b="0" i="1" smtClean="0">
                        <a:latin typeface="Cambria Math"/>
                      </a:rPr>
                      <m:t>0</m:t>
                    </m:r>
                  </m:oMath>
                </a14:m>
                <a:r>
                  <a:rPr lang="en-US" dirty="0"/>
                  <a:t> elsewhere. Find </a:t>
                </a:r>
                <a14:m>
                  <m:oMath xmlns:m="http://schemas.openxmlformats.org/officeDocument/2006/math">
                    <m:r>
                      <a:rPr lang="en-US" b="0" i="1" smtClean="0">
                        <a:latin typeface="Cambria Math"/>
                      </a:rPr>
                      <m:t>𝑘</m:t>
                    </m:r>
                  </m:oMath>
                </a14:m>
                <a:r>
                  <a:rPr lang="en-US" dirty="0"/>
                  <a:t> such that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oMath>
                </a14:m>
                <a:r>
                  <a:rPr lang="en-US" dirty="0"/>
                  <a:t> is a valid PDF.</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640"/>
                </a:stretch>
              </a:blipFill>
            </p:spPr>
            <p:txBody>
              <a:bodyPr/>
              <a:lstStyle/>
              <a:p>
                <a:r>
                  <a:rPr lang="en-US">
                    <a:noFill/>
                  </a:rPr>
                  <a:t> </a:t>
                </a:r>
              </a:p>
            </p:txBody>
          </p:sp>
        </mc:Fallback>
      </mc:AlternateContent>
    </p:spTree>
    <p:extLst>
      <p:ext uri="{BB962C8B-B14F-4D97-AF65-F5344CB8AC3E}">
        <p14:creationId xmlns:p14="http://schemas.microsoft.com/office/powerpoint/2010/main" val="29226440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675E47"/>
                </a:solidFill>
              </a:rPr>
              <a:t>3.3 – Continuous Probability Distributions</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The CDF for a continuous random variable is still defined as </a:t>
                </a:r>
                <a14:m>
                  <m:oMath xmlns:m="http://schemas.openxmlformats.org/officeDocument/2006/math">
                    <m:r>
                      <a:rPr lang="en-US" b="0" i="1" smtClean="0">
                        <a:latin typeface="Cambria Math"/>
                      </a:rPr>
                      <m:t>𝐹</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oMath>
                </a14:m>
                <a:r>
                  <a:rPr lang="en-US" dirty="0"/>
                  <a:t>. The difference now is that we need to integrate rather than sum:</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a:rPr>
                        <m:t>𝐹</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𝑥</m:t>
                          </m:r>
                        </m:e>
                      </m:d>
                      <m:r>
                        <a:rPr lang="en-US" b="0" i="1" smtClean="0">
                          <a:latin typeface="Cambria Math"/>
                        </a:rPr>
                        <m:t>=</m:t>
                      </m:r>
                      <m:nary>
                        <m:naryPr>
                          <m:limLoc m:val="undOvr"/>
                          <m:ctrlPr>
                            <a:rPr lang="en-US" b="0" i="1" smtClean="0">
                              <a:latin typeface="Cambria Math" panose="02040503050406030204" pitchFamily="18" charset="0"/>
                            </a:rPr>
                          </m:ctrlPr>
                        </m:naryPr>
                        <m:sub>
                          <m:r>
                            <m:rPr>
                              <m:brk m:alnAt="24"/>
                            </m:rPr>
                            <a:rPr lang="en-US" b="0" i="1" smtClean="0">
                              <a:latin typeface="Cambria Math"/>
                            </a:rPr>
                            <m:t>−</m:t>
                          </m:r>
                          <m:r>
                            <a:rPr lang="en-US" b="0" i="1" smtClean="0">
                              <a:latin typeface="Cambria Math"/>
                            </a:rPr>
                            <m:t>∞</m:t>
                          </m:r>
                        </m:sub>
                        <m:sup>
                          <m:r>
                            <a:rPr lang="en-US" b="0" i="1" smtClean="0">
                              <a:latin typeface="Cambria Math"/>
                            </a:rPr>
                            <m:t>𝑥</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𝑡</m:t>
                              </m:r>
                            </m:e>
                          </m:d>
                          <m:r>
                            <a:rPr lang="en-US" b="0" i="1" smtClean="0">
                              <a:latin typeface="Cambria Math"/>
                            </a:rPr>
                            <m:t>𝑑𝑡</m:t>
                          </m:r>
                        </m:e>
                      </m:nary>
                      <m:r>
                        <a:rPr lang="en-US" b="0" i="1" smtClean="0">
                          <a:latin typeface="Cambria Math"/>
                        </a:rPr>
                        <m:t> </m:t>
                      </m:r>
                      <m:r>
                        <m:rPr>
                          <m:sty m:val="p"/>
                        </m:rPr>
                        <a:rPr lang="en-US" b="0" i="0" smtClean="0">
                          <a:latin typeface="Cambria Math"/>
                        </a:rPr>
                        <m:t>for</m:t>
                      </m:r>
                      <m:r>
                        <a:rPr lang="en-US" b="0" i="1" smtClean="0">
                          <a:latin typeface="Cambria Math"/>
                        </a:rPr>
                        <m:t> −∞&lt;</m:t>
                      </m:r>
                      <m:r>
                        <a:rPr lang="en-US" b="0" i="1" smtClean="0">
                          <a:latin typeface="Cambria Math"/>
                        </a:rPr>
                        <m:t>𝑥</m:t>
                      </m:r>
                      <m:r>
                        <a:rPr lang="en-US" b="0" i="1" smtClean="0">
                          <a:latin typeface="Cambria Math"/>
                        </a:rPr>
                        <m:t>&lt;∞</m:t>
                      </m:r>
                    </m:oMath>
                  </m:oMathPara>
                </a14:m>
                <a:endParaRPr lang="en-US" dirty="0"/>
              </a:p>
              <a:p>
                <a:pPr lvl="1"/>
                <a:r>
                  <a:rPr lang="en-US" dirty="0"/>
                  <a:t>Note that </a:t>
                </a:r>
                <a14:m>
                  <m:oMath xmlns:m="http://schemas.openxmlformats.org/officeDocument/2006/math">
                    <m:r>
                      <a:rPr lang="en-US" b="0" i="1" smtClean="0">
                        <a:latin typeface="Cambria Math"/>
                      </a:rPr>
                      <m:t>𝑡</m:t>
                    </m:r>
                    <m:r>
                      <a:rPr lang="en-US" b="0" i="1" smtClean="0">
                        <a:latin typeface="Cambria Math"/>
                      </a:rPr>
                      <m:t> </m:t>
                    </m:r>
                  </m:oMath>
                </a14:m>
                <a:r>
                  <a:rPr lang="en-US" dirty="0"/>
                  <a:t>is simply a placeholder so that when the integration is complete, it will be in terms of </a:t>
                </a:r>
                <a14:m>
                  <m:oMath xmlns:m="http://schemas.openxmlformats.org/officeDocument/2006/math">
                    <m:r>
                      <a:rPr lang="en-US" b="0" i="1" smtClean="0">
                        <a:latin typeface="Cambria Math"/>
                      </a:rPr>
                      <m:t>𝑥</m:t>
                    </m:r>
                  </m:oMath>
                </a14:m>
                <a:endParaRPr lang="en-US" dirty="0"/>
              </a:p>
              <a:p>
                <a:endParaRPr lang="en-US" dirty="0"/>
              </a:p>
              <a:p>
                <a:r>
                  <a:rPr lang="en-US" dirty="0"/>
                  <a:t>This implies an important relationship between the PDF and the CDF. If the derivative of the CDF exists, then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𝑑𝐹</m:t>
                        </m:r>
                        <m:r>
                          <a:rPr lang="en-US" b="0" i="1" smtClean="0">
                            <a:latin typeface="Cambria Math"/>
                          </a:rPr>
                          <m:t>(</m:t>
                        </m:r>
                        <m:r>
                          <a:rPr lang="en-US" b="0" i="1" smtClean="0">
                            <a:latin typeface="Cambria Math"/>
                          </a:rPr>
                          <m:t>𝑥</m:t>
                        </m:r>
                        <m:r>
                          <a:rPr lang="en-US" b="0" i="1" smtClean="0">
                            <a:latin typeface="Cambria Math"/>
                          </a:rPr>
                          <m:t>)</m:t>
                        </m:r>
                      </m:num>
                      <m:den>
                        <m:r>
                          <a:rPr lang="en-US" b="0" i="1" smtClean="0">
                            <a:latin typeface="Cambria Math"/>
                          </a:rPr>
                          <m:t>𝑑𝑥</m:t>
                        </m:r>
                      </m:den>
                    </m:f>
                  </m:oMath>
                </a14:m>
                <a:r>
                  <a:rPr lang="en-US" dirty="0"/>
                  <a:t>.</a:t>
                </a:r>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200"/>
                </a:stretch>
              </a:blipFill>
            </p:spPr>
            <p:txBody>
              <a:bodyPr/>
              <a:lstStyle/>
              <a:p>
                <a:r>
                  <a:rPr lang="en-US">
                    <a:noFill/>
                  </a:rPr>
                  <a:t> </a:t>
                </a:r>
              </a:p>
            </p:txBody>
          </p:sp>
        </mc:Fallback>
      </mc:AlternateContent>
    </p:spTree>
    <p:extLst>
      <p:ext uri="{BB962C8B-B14F-4D97-AF65-F5344CB8AC3E}">
        <p14:creationId xmlns:p14="http://schemas.microsoft.com/office/powerpoint/2010/main" val="1800703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675E47"/>
                </a:solidFill>
              </a:rPr>
              <a:t>3.3 – Continuous Probability Distributions</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Now when calculating probabilities for continuous random variables, we can use one of the following options:</a:t>
                </a:r>
              </a:p>
              <a:p>
                <a:pPr lvl="1"/>
                <a:r>
                  <a:rPr lang="en-US" dirty="0"/>
                  <a:t>Integrate the PDF over the range of </a:t>
                </a:r>
                <a14:m>
                  <m:oMath xmlns:m="http://schemas.openxmlformats.org/officeDocument/2006/math">
                    <m:r>
                      <a:rPr lang="en-US" b="0" i="1" smtClean="0">
                        <a:latin typeface="Cambria Math"/>
                      </a:rPr>
                      <m:t>𝑥</m:t>
                    </m:r>
                  </m:oMath>
                </a14:m>
                <a:r>
                  <a:rPr lang="en-US" dirty="0"/>
                  <a:t> values</a:t>
                </a:r>
              </a:p>
              <a:p>
                <a:pPr lvl="1"/>
                <a:r>
                  <a:rPr lang="en-US" dirty="0"/>
                  <a:t>Use the CDF, just like we did with discrete random variables</a:t>
                </a:r>
              </a:p>
              <a:p>
                <a:endParaRPr lang="en-US" dirty="0"/>
              </a:p>
              <a:p>
                <a:r>
                  <a:rPr lang="en-US" dirty="0"/>
                  <a:t>Rather than integrate over and over again, it is usually much easier to simply use the CDF.</a:t>
                </a:r>
              </a:p>
              <a:p>
                <a:pPr lvl="1"/>
                <a:r>
                  <a:rPr lang="en-US" dirty="0"/>
                  <a:t>Even if you aren’t given the CDF, it may be easiest to start by finding it. Then you only have to integrate once and can find all the relevant probabilities you need using it.</a:t>
                </a:r>
              </a:p>
              <a:p>
                <a:pPr lvl="1"/>
                <a:r>
                  <a:rPr lang="en-US" dirty="0"/>
                  <a:t>If you prefer integration however, feel free to use either method (unless otherwise stated in the problem).</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19975398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solidFill>
                  <a:srgbClr val="675E47"/>
                </a:solidFill>
              </a:rPr>
              <a:t>3.3 – Continuous Probability Distributions</a:t>
            </a:r>
            <a:endParaRPr lang="en-US" sz="4400"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Exercise: Find the CDF of the probability distribution defined by the PDF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sSup>
                      <m:sSupPr>
                        <m:ctrlPr>
                          <a:rPr lang="en-US" b="0" i="1" smtClean="0">
                            <a:latin typeface="Cambria Math" panose="02040503050406030204" pitchFamily="18" charset="0"/>
                          </a:rPr>
                        </m:ctrlPr>
                      </m:sSupPr>
                      <m:e>
                        <m:r>
                          <a:rPr lang="en-US" b="0" i="1" smtClean="0">
                            <a:latin typeface="Cambria Math"/>
                          </a:rPr>
                          <m:t>𝑒</m:t>
                        </m:r>
                      </m:e>
                      <m:sup>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𝑥</m:t>
                            </m:r>
                          </m:num>
                          <m:den>
                            <m:r>
                              <a:rPr lang="en-US" b="0" i="1" smtClean="0">
                                <a:latin typeface="Cambria Math"/>
                              </a:rPr>
                              <m:t>4</m:t>
                            </m:r>
                          </m:den>
                        </m:f>
                      </m:sup>
                    </m:sSup>
                  </m:oMath>
                </a14:m>
                <a:r>
                  <a:rPr lang="en-US" dirty="0"/>
                  <a:t> for </a:t>
                </a:r>
                <a14:m>
                  <m:oMath xmlns:m="http://schemas.openxmlformats.org/officeDocument/2006/math">
                    <m:r>
                      <a:rPr lang="en-US" b="0" i="1" smtClean="0">
                        <a:latin typeface="Cambria Math"/>
                      </a:rPr>
                      <m:t>𝑥</m:t>
                    </m:r>
                    <m:r>
                      <a:rPr lang="en-US" b="0" i="1" smtClean="0">
                        <a:latin typeface="Cambria Math"/>
                      </a:rPr>
                      <m:t>≥0</m:t>
                    </m:r>
                  </m:oMath>
                </a14:m>
                <a:r>
                  <a:rPr lang="en-US" dirty="0"/>
                  <a:t> and </a:t>
                </a:r>
                <a14:m>
                  <m:oMath xmlns:m="http://schemas.openxmlformats.org/officeDocument/2006/math">
                    <m:r>
                      <a:rPr lang="en-US" b="0" i="1" smtClean="0">
                        <a:latin typeface="Cambria Math"/>
                      </a:rPr>
                      <m:t>0</m:t>
                    </m:r>
                  </m:oMath>
                </a14:m>
                <a:r>
                  <a:rPr lang="en-US" dirty="0"/>
                  <a:t> elsewhere. Make sure to give a fully defined CDF (as we did in 3.2). Then find the following probabilities:</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≤1</m:t>
                        </m:r>
                      </m:e>
                    </m:d>
                  </m:oMath>
                </a14:m>
                <a:endParaRPr lang="en-US" b="0"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r>
                          <a:rPr lang="en-US" b="0" i="1" smtClean="0">
                            <a:latin typeface="Cambria Math"/>
                          </a:rPr>
                          <m:t>≤</m:t>
                        </m:r>
                        <m:r>
                          <a:rPr lang="en-US" b="0" i="1" smtClean="0">
                            <a:latin typeface="Cambria Math"/>
                          </a:rPr>
                          <m:t>𝑋</m:t>
                        </m:r>
                        <m:r>
                          <a:rPr lang="en-US" b="0" i="1" smtClean="0">
                            <a:latin typeface="Cambria Math"/>
                          </a:rPr>
                          <m:t>≤</m:t>
                        </m:r>
                        <m:rad>
                          <m:radPr>
                            <m:degHide m:val="on"/>
                            <m:ctrlPr>
                              <a:rPr lang="en-US" b="0" i="1" smtClean="0">
                                <a:latin typeface="Cambria Math" panose="02040503050406030204" pitchFamily="18" charset="0"/>
                              </a:rPr>
                            </m:ctrlPr>
                          </m:radPr>
                          <m:deg/>
                          <m:e>
                            <m:r>
                              <a:rPr lang="en-US" b="0" i="1" smtClean="0">
                                <a:latin typeface="Cambria Math"/>
                              </a:rPr>
                              <m:t>3</m:t>
                            </m:r>
                          </m:e>
                        </m:rad>
                      </m:e>
                    </m:d>
                  </m:oMath>
                </a14:m>
                <a:endParaRPr lang="en-US" dirty="0"/>
              </a:p>
              <a:p>
                <a:pPr lvl="1"/>
                <a14:m>
                  <m:oMath xmlns:m="http://schemas.openxmlformats.org/officeDocument/2006/math">
                    <m:r>
                      <a:rPr lang="en-US" b="0" i="1" smtClean="0">
                        <a:latin typeface="Cambria Math"/>
                      </a:rPr>
                      <m:t>𝑃</m:t>
                    </m:r>
                    <m:d>
                      <m:dPr>
                        <m:endChr m:val="|"/>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&gt;4</m:t>
                        </m:r>
                      </m:e>
                    </m:d>
                    <m:r>
                      <a:rPr lang="en-US" b="0" i="1" smtClean="0">
                        <a:latin typeface="Cambria Math"/>
                      </a:rPr>
                      <m:t>𝑋</m:t>
                    </m:r>
                    <m:r>
                      <a:rPr lang="en-US" b="0" i="1" smtClean="0">
                        <a:latin typeface="Cambria Math"/>
                      </a:rPr>
                      <m:t>≤8) </m:t>
                    </m:r>
                  </m:oMath>
                </a14:m>
                <a:endParaRPr lang="en-US" dirty="0"/>
              </a:p>
              <a:p>
                <a:pPr lvl="1"/>
                <a:r>
                  <a:rPr lang="en-US" dirty="0"/>
                  <a:t>Explain why this last probability is not the same as </a:t>
                </a:r>
                <a14:m>
                  <m:oMath xmlns:m="http://schemas.openxmlformats.org/officeDocument/2006/math">
                    <m:r>
                      <a:rPr lang="en-US" b="0" i="1" smtClean="0">
                        <a:latin typeface="Cambria Math"/>
                      </a:rPr>
                      <m:t>𝑃</m:t>
                    </m:r>
                    <m:r>
                      <a:rPr lang="en-US" b="0" i="1" smtClean="0">
                        <a:latin typeface="Cambria Math"/>
                      </a:rPr>
                      <m:t>(4&lt;</m:t>
                    </m:r>
                    <m:r>
                      <a:rPr lang="en-US" b="0" i="1" smtClean="0">
                        <a:latin typeface="Cambria Math"/>
                      </a:rPr>
                      <m:t>𝑋</m:t>
                    </m:r>
                    <m:r>
                      <a:rPr lang="en-US" b="0" i="1" smtClean="0">
                        <a:latin typeface="Cambria Math"/>
                      </a:rPr>
                      <m:t>≤8)</m:t>
                    </m:r>
                  </m:oMath>
                </a14:m>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560"/>
                </a:stretch>
              </a:blipFill>
            </p:spPr>
            <p:txBody>
              <a:bodyPr/>
              <a:lstStyle/>
              <a:p>
                <a:r>
                  <a:rPr lang="en-US">
                    <a:noFill/>
                  </a:rPr>
                  <a:t> </a:t>
                </a:r>
              </a:p>
            </p:txBody>
          </p:sp>
        </mc:Fallback>
      </mc:AlternateContent>
    </p:spTree>
    <p:extLst>
      <p:ext uri="{BB962C8B-B14F-4D97-AF65-F5344CB8AC3E}">
        <p14:creationId xmlns:p14="http://schemas.microsoft.com/office/powerpoint/2010/main" val="13985789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So far we have only considered distributions for one random variable at a time. Often, however, we are interested in the simultaneous outcomes of several random variables.</a:t>
                </a:r>
              </a:p>
              <a:p>
                <a:endParaRPr lang="en-US" dirty="0"/>
              </a:p>
              <a:p>
                <a:r>
                  <a:rPr lang="en-US" dirty="0"/>
                  <a:t>Examples:</a:t>
                </a:r>
              </a:p>
              <a:p>
                <a:pPr lvl="1"/>
                <a:r>
                  <a:rPr lang="en-US" dirty="0"/>
                  <a:t>For a certain kind of metal, we may be interested in both the hardness, </a:t>
                </a:r>
                <a14:m>
                  <m:oMath xmlns:m="http://schemas.openxmlformats.org/officeDocument/2006/math">
                    <m:r>
                      <a:rPr lang="en-US" b="0" i="1" smtClean="0">
                        <a:latin typeface="Cambria Math"/>
                      </a:rPr>
                      <m:t>𝐻</m:t>
                    </m:r>
                  </m:oMath>
                </a14:m>
                <a:r>
                  <a:rPr lang="en-US" dirty="0"/>
                  <a:t>, and the tensile strength, </a:t>
                </a:r>
                <a14:m>
                  <m:oMath xmlns:m="http://schemas.openxmlformats.org/officeDocument/2006/math">
                    <m:r>
                      <a:rPr lang="en-US" b="0" i="1" smtClean="0">
                        <a:latin typeface="Cambria Math"/>
                      </a:rPr>
                      <m:t>𝑇</m:t>
                    </m:r>
                    <m:r>
                      <a:rPr lang="en-US" b="0" i="0" smtClean="0">
                        <a:latin typeface="Cambria Math"/>
                      </a:rPr>
                      <m:t>.</m:t>
                    </m:r>
                  </m:oMath>
                </a14:m>
                <a:endParaRPr lang="en-US" dirty="0"/>
              </a:p>
              <a:p>
                <a:pPr lvl="1"/>
                <a:r>
                  <a:rPr lang="en-US" dirty="0"/>
                  <a:t>For heart patients, we might be interested in heart rate, blood pressure (this could be broken down into systolic and diastolic), and cholesterol (again, could break down to HDL and LDL).</a:t>
                </a:r>
              </a:p>
              <a:p>
                <a:pPr lvl="1"/>
                <a:r>
                  <a:rPr lang="en-US" dirty="0"/>
                  <a:t>For college applicants, we may want to look at high school GPA, class rank, and ACT/SAT score.</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38882324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p:sp>
        <p:nvSpPr>
          <p:cNvPr id="3" name="Content Placeholder 2"/>
          <p:cNvSpPr>
            <a:spLocks noGrp="1"/>
          </p:cNvSpPr>
          <p:nvPr>
            <p:ph idx="1"/>
          </p:nvPr>
        </p:nvSpPr>
        <p:spPr/>
        <p:txBody>
          <a:bodyPr/>
          <a:lstStyle/>
          <a:p>
            <a:r>
              <a:rPr lang="en-US" dirty="0"/>
              <a:t>In each of these examples, there are at least 2 random variables that we are interested in looking at. In order to work with more than one random variable at a time, we need to use a </a:t>
            </a:r>
            <a:r>
              <a:rPr lang="en-US" i="1" dirty="0"/>
              <a:t>joint probability distribution</a:t>
            </a:r>
            <a:r>
              <a:rPr lang="en-US" dirty="0"/>
              <a:t>. </a:t>
            </a:r>
          </a:p>
          <a:p>
            <a:endParaRPr lang="en-US" dirty="0"/>
          </a:p>
          <a:p>
            <a:r>
              <a:rPr lang="en-US" dirty="0"/>
              <a:t>The idea is that we can look at how both of the variables are distributed simultaneously. One benefit of joint distributions is that we can use them to understand  the relationship between two or more variables.</a:t>
            </a:r>
          </a:p>
          <a:p>
            <a:endParaRPr lang="en-US" dirty="0"/>
          </a:p>
          <a:p>
            <a:r>
              <a:rPr lang="en-US" dirty="0"/>
              <a:t>We start with the discrete case for two random variables. </a:t>
            </a:r>
          </a:p>
          <a:p>
            <a:pPr lvl="1"/>
            <a:endParaRPr lang="en-US" dirty="0"/>
          </a:p>
        </p:txBody>
      </p:sp>
    </p:spTree>
    <p:extLst>
      <p:ext uri="{BB962C8B-B14F-4D97-AF65-F5344CB8AC3E}">
        <p14:creationId xmlns:p14="http://schemas.microsoft.com/office/powerpoint/2010/main" val="187101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fontScale="92500" lnSpcReduction="10000"/>
              </a:bodyPr>
              <a:lstStyle/>
              <a:p>
                <a:r>
                  <a:rPr lang="en-US" dirty="0"/>
                  <a:t>The function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oMath>
                </a14:m>
                <a:r>
                  <a:rPr lang="en-US" dirty="0"/>
                  <a:t> is a </a:t>
                </a:r>
                <a:r>
                  <a:rPr lang="en-US" i="1" dirty="0"/>
                  <a:t>joint probability distribution</a:t>
                </a:r>
                <a:r>
                  <a:rPr lang="en-US" dirty="0"/>
                  <a:t> for the discrete random variables </a:t>
                </a:r>
                <a14:m>
                  <m:oMath xmlns:m="http://schemas.openxmlformats.org/officeDocument/2006/math">
                    <m:r>
                      <a:rPr lang="en-US" i="1">
                        <a:latin typeface="Cambria Math"/>
                      </a:rPr>
                      <m:t>𝑋</m:t>
                    </m:r>
                  </m:oMath>
                </a14:m>
                <a:r>
                  <a:rPr lang="en-US" dirty="0"/>
                  <a:t> and </a:t>
                </a:r>
                <a14:m>
                  <m:oMath xmlns:m="http://schemas.openxmlformats.org/officeDocument/2006/math">
                    <m:r>
                      <a:rPr lang="en-US" i="1">
                        <a:latin typeface="Cambria Math"/>
                      </a:rPr>
                      <m:t>𝑌</m:t>
                    </m:r>
                  </m:oMath>
                </a14:m>
                <a:r>
                  <a:rPr lang="en-US" dirty="0"/>
                  <a:t> if</a:t>
                </a:r>
              </a:p>
              <a:p>
                <a:pPr lvl="1"/>
                <a14:m>
                  <m:oMath xmlns:m="http://schemas.openxmlformats.org/officeDocument/2006/math">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r>
                      <a:rPr lang="en-US" i="1">
                        <a:latin typeface="Cambria Math"/>
                      </a:rPr>
                      <m:t>≥0</m:t>
                    </m:r>
                  </m:oMath>
                </a14:m>
                <a:r>
                  <a:rPr lang="en-US" dirty="0"/>
                  <a:t> for all </a:t>
                </a:r>
                <a14:m>
                  <m:oMath xmlns:m="http://schemas.openxmlformats.org/officeDocument/2006/math">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oMath>
                </a14:m>
                <a:endParaRPr lang="en-US" dirty="0"/>
              </a:p>
              <a:p>
                <a:pPr lvl="1"/>
                <a14:m>
                  <m:oMath xmlns:m="http://schemas.openxmlformats.org/officeDocument/2006/math">
                    <m:nary>
                      <m:naryPr>
                        <m:chr m:val="∑"/>
                        <m:limLoc m:val="subSup"/>
                        <m:supHide m:val="on"/>
                        <m:ctrlPr>
                          <a:rPr lang="en-US" i="1">
                            <a:latin typeface="Cambria Math" panose="02040503050406030204" pitchFamily="18" charset="0"/>
                          </a:rPr>
                        </m:ctrlPr>
                      </m:naryPr>
                      <m:sub>
                        <m:r>
                          <m:rPr>
                            <m:brk m:alnAt="9"/>
                          </m:rPr>
                          <a:rPr lang="en-US" i="1">
                            <a:latin typeface="Cambria Math"/>
                          </a:rPr>
                          <m:t>𝑥</m:t>
                        </m:r>
                      </m:sub>
                      <m:sup/>
                      <m:e>
                        <m:nary>
                          <m:naryPr>
                            <m:chr m:val="∑"/>
                            <m:limLoc m:val="subSup"/>
                            <m:supHide m:val="on"/>
                            <m:ctrlPr>
                              <a:rPr lang="en-US" i="1">
                                <a:latin typeface="Cambria Math" panose="02040503050406030204" pitchFamily="18" charset="0"/>
                              </a:rPr>
                            </m:ctrlPr>
                          </m:naryPr>
                          <m:sub>
                            <m:r>
                              <m:rPr>
                                <m:brk m:alnAt="9"/>
                              </m:rPr>
                              <a:rPr lang="en-US" i="1">
                                <a:latin typeface="Cambria Math"/>
                              </a:rPr>
                              <m:t>𝑦</m:t>
                            </m:r>
                          </m:sub>
                          <m:sup/>
                          <m:e>
                            <m:r>
                              <a:rPr lang="en-US" i="1">
                                <a:latin typeface="Cambria Math"/>
                              </a:rPr>
                              <m:t>𝑓</m:t>
                            </m:r>
                            <m:r>
                              <a:rPr lang="en-US" i="1">
                                <a:latin typeface="Cambria Math"/>
                              </a:rPr>
                              <m:t>(</m:t>
                            </m:r>
                            <m:r>
                              <a:rPr lang="en-US" i="1">
                                <a:latin typeface="Cambria Math"/>
                              </a:rPr>
                              <m:t>𝑥</m:t>
                            </m:r>
                            <m:r>
                              <a:rPr lang="en-US" i="1">
                                <a:latin typeface="Cambria Math"/>
                              </a:rPr>
                              <m:t>,</m:t>
                            </m:r>
                            <m:r>
                              <a:rPr lang="en-US" i="1">
                                <a:latin typeface="Cambria Math"/>
                              </a:rPr>
                              <m:t>𝑦</m:t>
                            </m:r>
                            <m:r>
                              <a:rPr lang="en-US" i="1">
                                <a:latin typeface="Cambria Math"/>
                              </a:rPr>
                              <m:t>)</m:t>
                            </m:r>
                          </m:e>
                        </m:nary>
                        <m:r>
                          <a:rPr lang="en-US" i="1">
                            <a:latin typeface="Cambria Math"/>
                          </a:rPr>
                          <m:t>=1</m:t>
                        </m:r>
                      </m:e>
                    </m:nary>
                  </m:oMath>
                </a14:m>
                <a:endParaRPr lang="en-US" dirty="0"/>
              </a:p>
              <a:p>
                <a:pPr lvl="1"/>
                <a14:m>
                  <m:oMath xmlns:m="http://schemas.openxmlformats.org/officeDocument/2006/math">
                    <m:r>
                      <a:rPr lang="en-US" i="1">
                        <a:latin typeface="Cambria Math"/>
                      </a:rPr>
                      <m:t>𝑃</m:t>
                    </m:r>
                    <m:d>
                      <m:dPr>
                        <m:ctrlPr>
                          <a:rPr lang="en-US" i="1">
                            <a:latin typeface="Cambria Math" panose="02040503050406030204" pitchFamily="18" charset="0"/>
                          </a:rPr>
                        </m:ctrlPr>
                      </m:dPr>
                      <m:e>
                        <m:r>
                          <a:rPr lang="en-US" i="1">
                            <a:latin typeface="Cambria Math"/>
                          </a:rPr>
                          <m:t>𝑋</m:t>
                        </m:r>
                        <m:r>
                          <a:rPr lang="en-US" i="1">
                            <a:latin typeface="Cambria Math"/>
                          </a:rPr>
                          <m:t>=</m:t>
                        </m:r>
                        <m:r>
                          <a:rPr lang="en-US" i="1">
                            <a:latin typeface="Cambria Math"/>
                          </a:rPr>
                          <m:t>𝑥</m:t>
                        </m:r>
                        <m:r>
                          <a:rPr lang="en-US" i="1">
                            <a:latin typeface="Cambria Math"/>
                          </a:rPr>
                          <m:t>,</m:t>
                        </m:r>
                        <m:r>
                          <a:rPr lang="en-US" i="1">
                            <a:latin typeface="Cambria Math"/>
                          </a:rPr>
                          <m:t>𝑌</m:t>
                        </m:r>
                        <m:r>
                          <a:rPr lang="en-US" i="1">
                            <a:latin typeface="Cambria Math"/>
                          </a:rPr>
                          <m:t>=</m:t>
                        </m:r>
                        <m:r>
                          <a:rPr lang="en-US" i="1">
                            <a:latin typeface="Cambria Math"/>
                          </a:rPr>
                          <m:t>𝑦</m:t>
                        </m:r>
                      </m:e>
                    </m:d>
                    <m:r>
                      <a:rPr lang="en-US" i="1">
                        <a:latin typeface="Cambria Math"/>
                      </a:rPr>
                      <m:t>=</m:t>
                    </m:r>
                    <m:r>
                      <a:rPr lang="en-US" i="1">
                        <a:latin typeface="Cambria Math"/>
                      </a:rPr>
                      <m:t>𝑓</m:t>
                    </m:r>
                    <m:r>
                      <a:rPr lang="en-US" i="1">
                        <a:latin typeface="Cambria Math"/>
                      </a:rPr>
                      <m:t>(</m:t>
                    </m:r>
                    <m:r>
                      <a:rPr lang="en-US" i="1">
                        <a:latin typeface="Cambria Math"/>
                      </a:rPr>
                      <m:t>𝑥</m:t>
                    </m:r>
                    <m:r>
                      <a:rPr lang="en-US" i="1">
                        <a:latin typeface="Cambria Math"/>
                      </a:rPr>
                      <m:t>,</m:t>
                    </m:r>
                    <m:r>
                      <a:rPr lang="en-US" i="1">
                        <a:latin typeface="Cambria Math"/>
                      </a:rPr>
                      <m:t>𝑦</m:t>
                    </m:r>
                    <m:r>
                      <a:rPr lang="en-US" i="1">
                        <a:latin typeface="Cambria Math"/>
                      </a:rPr>
                      <m:t>)</m:t>
                    </m:r>
                  </m:oMath>
                </a14:m>
                <a:endParaRPr lang="en-US" dirty="0"/>
              </a:p>
              <a:p>
                <a:endParaRPr lang="en-US" dirty="0"/>
              </a:p>
              <a:p>
                <a:r>
                  <a:rPr lang="en-US" dirty="0"/>
                  <a:t>These three conditions are analogous to what we saw with univariate distributions in the previous two sections. The first two are essential properties of probability and are what you would check if asked to verify that some function is a joint probability distribution. The final condition again just informs us how to calculate probabilities using the joint distribution.</a:t>
                </a:r>
              </a:p>
              <a:p>
                <a:endParaRPr lang="en-US" dirty="0"/>
              </a:p>
              <a:p>
                <a:r>
                  <a:rPr lang="en-US" dirty="0"/>
                  <a:t>As both random variables are discrete, we can also refer to this as a joint PMF.</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271" r="-1200"/>
                </a:stretch>
              </a:blipFill>
            </p:spPr>
            <p:txBody>
              <a:bodyPr/>
              <a:lstStyle/>
              <a:p>
                <a:r>
                  <a:rPr lang="en-US">
                    <a:noFill/>
                  </a:rPr>
                  <a:t> </a:t>
                </a:r>
              </a:p>
            </p:txBody>
          </p:sp>
        </mc:Fallback>
      </mc:AlternateContent>
    </p:spTree>
    <p:extLst>
      <p:ext uri="{BB962C8B-B14F-4D97-AF65-F5344CB8AC3E}">
        <p14:creationId xmlns:p14="http://schemas.microsoft.com/office/powerpoint/2010/main" val="37556108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A jar contains 3 red chips, 2 white chips, and 3 blue chips. Two chips are drawn at random without replacement. Let </a:t>
                </a:r>
                <a14:m>
                  <m:oMath xmlns:m="http://schemas.openxmlformats.org/officeDocument/2006/math">
                    <m:r>
                      <a:rPr lang="en-US" b="0" i="1" smtClean="0">
                        <a:latin typeface="Cambria Math"/>
                      </a:rPr>
                      <m:t>𝑋</m:t>
                    </m:r>
                  </m:oMath>
                </a14:m>
                <a:r>
                  <a:rPr lang="en-US" dirty="0"/>
                  <a:t> be the number of red chips drawn and </a:t>
                </a:r>
                <a14:m>
                  <m:oMath xmlns:m="http://schemas.openxmlformats.org/officeDocument/2006/math">
                    <m:r>
                      <a:rPr lang="en-US" b="0" i="1" smtClean="0">
                        <a:latin typeface="Cambria Math"/>
                      </a:rPr>
                      <m:t>𝑌</m:t>
                    </m:r>
                  </m:oMath>
                </a14:m>
                <a:r>
                  <a:rPr lang="en-US" dirty="0"/>
                  <a:t> be the number of white chips drawn. Find</a:t>
                </a:r>
              </a:p>
              <a:p>
                <a:pPr lvl="1"/>
                <a:r>
                  <a:rPr lang="en-US" dirty="0"/>
                  <a:t>The joint probability function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oMath>
                </a14:m>
                <a:endParaRPr lang="en-US" dirty="0"/>
              </a:p>
              <a:p>
                <a:pPr lvl="1"/>
                <a:r>
                  <a:rPr lang="en-US" dirty="0"/>
                  <a:t>Verify that this is a joint PMF</a:t>
                </a:r>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e>
                        </m:d>
                        <m:r>
                          <a:rPr lang="en-US" b="0" i="1" smtClean="0">
                            <a:latin typeface="Cambria Math"/>
                          </a:rPr>
                          <m:t>∈</m:t>
                        </m:r>
                        <m:r>
                          <a:rPr lang="en-US" b="0" i="1" smtClean="0">
                            <a:latin typeface="Cambria Math"/>
                          </a:rPr>
                          <m:t>𝐴</m:t>
                        </m:r>
                      </m:e>
                    </m:d>
                  </m:oMath>
                </a14:m>
                <a:r>
                  <a:rPr lang="en-US" dirty="0"/>
                  <a:t> where </a:t>
                </a:r>
                <a14:m>
                  <m:oMath xmlns:m="http://schemas.openxmlformats.org/officeDocument/2006/math">
                    <m:r>
                      <a:rPr lang="en-US" b="0" i="1" smtClean="0">
                        <a:latin typeface="Cambria Math"/>
                      </a:rPr>
                      <m:t>𝐴</m:t>
                    </m:r>
                  </m:oMath>
                </a14:m>
                <a:r>
                  <a:rPr lang="en-US" dirty="0"/>
                  <a:t> is the region </a:t>
                </a:r>
                <a14:m>
                  <m:oMath xmlns:m="http://schemas.openxmlformats.org/officeDocument/2006/math">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≤1}</m:t>
                    </m:r>
                  </m:oMath>
                </a14:m>
                <a:endParaRPr lang="en-US"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640"/>
                </a:stretch>
              </a:blipFill>
            </p:spPr>
            <p:txBody>
              <a:bodyPr/>
              <a:lstStyle/>
              <a:p>
                <a:r>
                  <a:rPr lang="en-US">
                    <a:noFill/>
                  </a:rPr>
                  <a:t> </a:t>
                </a:r>
              </a:p>
            </p:txBody>
          </p:sp>
        </mc:Fallback>
      </mc:AlternateContent>
    </p:spTree>
    <p:extLst>
      <p:ext uri="{BB962C8B-B14F-4D97-AF65-F5344CB8AC3E}">
        <p14:creationId xmlns:p14="http://schemas.microsoft.com/office/powerpoint/2010/main" val="21998103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We now consider the continuous case:</a:t>
                </a:r>
              </a:p>
              <a:p>
                <a:endParaRPr lang="en-US" dirty="0"/>
              </a:p>
              <a:p>
                <a:r>
                  <a:rPr lang="en-US" dirty="0"/>
                  <a:t>The function </a:t>
                </a:r>
                <a14:m>
                  <m:oMath xmlns:m="http://schemas.openxmlformats.org/officeDocument/2006/math">
                    <m:r>
                      <a:rPr lang="en-US" i="1">
                        <a:latin typeface="Cambria Math"/>
                      </a:rPr>
                      <m:t>𝑓</m:t>
                    </m:r>
                    <m:r>
                      <a:rPr lang="en-US" i="1">
                        <a:latin typeface="Cambria Math"/>
                      </a:rPr>
                      <m:t>(</m:t>
                    </m:r>
                    <m:r>
                      <a:rPr lang="en-US" i="1">
                        <a:latin typeface="Cambria Math"/>
                      </a:rPr>
                      <m:t>𝑥</m:t>
                    </m:r>
                    <m:r>
                      <a:rPr lang="en-US" i="1">
                        <a:latin typeface="Cambria Math"/>
                      </a:rPr>
                      <m:t>,</m:t>
                    </m:r>
                    <m:r>
                      <a:rPr lang="en-US" i="1">
                        <a:latin typeface="Cambria Math"/>
                      </a:rPr>
                      <m:t>𝑦</m:t>
                    </m:r>
                    <m:r>
                      <a:rPr lang="en-US" i="1">
                        <a:latin typeface="Cambria Math"/>
                      </a:rPr>
                      <m:t>)</m:t>
                    </m:r>
                  </m:oMath>
                </a14:m>
                <a:r>
                  <a:rPr lang="en-US" dirty="0"/>
                  <a:t> is a </a:t>
                </a:r>
                <a:r>
                  <a:rPr lang="en-US" i="1" dirty="0"/>
                  <a:t>joint probability distribution</a:t>
                </a:r>
                <a:r>
                  <a:rPr lang="en-US" dirty="0"/>
                  <a:t> for the continuous random variables </a:t>
                </a:r>
                <a14:m>
                  <m:oMath xmlns:m="http://schemas.openxmlformats.org/officeDocument/2006/math">
                    <m:r>
                      <a:rPr lang="en-US" i="1">
                        <a:latin typeface="Cambria Math"/>
                      </a:rPr>
                      <m:t>𝑋</m:t>
                    </m:r>
                  </m:oMath>
                </a14:m>
                <a:r>
                  <a:rPr lang="en-US" dirty="0"/>
                  <a:t> and </a:t>
                </a:r>
                <a14:m>
                  <m:oMath xmlns:m="http://schemas.openxmlformats.org/officeDocument/2006/math">
                    <m:r>
                      <a:rPr lang="en-US" i="1">
                        <a:latin typeface="Cambria Math"/>
                      </a:rPr>
                      <m:t>𝑌</m:t>
                    </m:r>
                  </m:oMath>
                </a14:m>
                <a:r>
                  <a:rPr lang="en-US" dirty="0"/>
                  <a:t> if</a:t>
                </a:r>
              </a:p>
              <a:p>
                <a:pPr lvl="1"/>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≥0</m:t>
                    </m:r>
                  </m:oMath>
                </a14:m>
                <a:r>
                  <a:rPr lang="en-US" dirty="0"/>
                  <a:t> for all </a:t>
                </a:r>
                <a14:m>
                  <m:oMath xmlns:m="http://schemas.openxmlformats.org/officeDocument/2006/math">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oMath>
                </a14:m>
                <a:endParaRPr lang="en-US" dirty="0"/>
              </a:p>
              <a:p>
                <a:pPr lvl="1"/>
                <a14:m>
                  <m:oMath xmlns:m="http://schemas.openxmlformats.org/officeDocument/2006/math">
                    <m:nary>
                      <m:naryPr>
                        <m:limLoc m:val="undOvr"/>
                        <m:ctrlPr>
                          <a:rPr lang="en-US" i="1" smtClean="0">
                            <a:latin typeface="Cambria Math" panose="02040503050406030204" pitchFamily="18" charset="0"/>
                          </a:rPr>
                        </m:ctrlPr>
                      </m:naryPr>
                      <m:sub>
                        <m:r>
                          <m:rPr>
                            <m:brk m:alnAt="24"/>
                          </m:rPr>
                          <a:rPr lang="en-US" b="0" i="1" smtClean="0">
                            <a:latin typeface="Cambria Math"/>
                          </a:rPr>
                          <m:t>−</m:t>
                        </m:r>
                        <m:r>
                          <a:rPr lang="en-US" b="0" i="1" smtClean="0">
                            <a:latin typeface="Cambria Math"/>
                          </a:rPr>
                          <m:t>∞</m:t>
                        </m:r>
                      </m:sub>
                      <m:sup>
                        <m:r>
                          <a:rPr lang="en-US" b="0" i="1" smtClean="0">
                            <a:latin typeface="Cambria Math"/>
                          </a:rPr>
                          <m:t>∞</m:t>
                        </m:r>
                      </m:sup>
                      <m:e>
                        <m:nary>
                          <m:naryPr>
                            <m:ctrlPr>
                              <a:rPr lang="en-US" i="1" smtClean="0">
                                <a:latin typeface="Cambria Math" panose="02040503050406030204" pitchFamily="18" charset="0"/>
                              </a:rPr>
                            </m:ctrlPr>
                          </m:naryPr>
                          <m:sub>
                            <m:r>
                              <m:rPr>
                                <m:brk m:alnAt="23"/>
                              </m:rPr>
                              <a:rPr lang="en-US" b="0" i="1" smtClean="0">
                                <a:latin typeface="Cambria Math"/>
                              </a:rPr>
                              <m:t>−</m:t>
                            </m:r>
                            <m:r>
                              <a:rPr lang="en-US" b="0" i="1" smtClean="0">
                                <a:latin typeface="Cambria Math"/>
                              </a:rPr>
                              <m:t>∞</m:t>
                            </m:r>
                          </m:sub>
                          <m:sup>
                            <m:r>
                              <a:rPr lang="en-US" b="0" i="1" smtClean="0">
                                <a:latin typeface="Cambria Math"/>
                              </a:rPr>
                              <m:t>∞</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𝑑𝑥𝑑𝑦</m:t>
                            </m:r>
                          </m:e>
                        </m:nary>
                      </m:e>
                    </m:nary>
                    <m:r>
                      <a:rPr lang="en-US" b="0" i="1" smtClean="0">
                        <a:latin typeface="Cambria Math"/>
                      </a:rPr>
                      <m:t>=1</m:t>
                    </m:r>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e>
                        </m:d>
                        <m:r>
                          <a:rPr lang="en-US" b="0" i="1" smtClean="0">
                            <a:latin typeface="Cambria Math"/>
                          </a:rPr>
                          <m:t>∈</m:t>
                        </m:r>
                        <m:r>
                          <a:rPr lang="en-US" b="0" i="1" smtClean="0">
                            <a:latin typeface="Cambria Math"/>
                          </a:rPr>
                          <m:t>𝐴</m:t>
                        </m:r>
                      </m:e>
                    </m:d>
                    <m:r>
                      <a:rPr lang="en-US" b="0" i="1" smtClean="0">
                        <a:latin typeface="Cambria Math"/>
                      </a:rPr>
                      <m:t>=</m:t>
                    </m:r>
                    <m:nary>
                      <m:naryPr>
                        <m:chr m:val="∬"/>
                        <m:ctrlPr>
                          <a:rPr lang="en-US" b="0" i="1" smtClean="0">
                            <a:latin typeface="Cambria Math" panose="02040503050406030204" pitchFamily="18" charset="0"/>
                          </a:rPr>
                        </m:ctrlPr>
                      </m:naryPr>
                      <m:sub>
                        <m:r>
                          <m:rPr>
                            <m:brk m:alnAt="23"/>
                          </m:rPr>
                          <a:rPr lang="en-US" b="0" i="1" smtClean="0">
                            <a:latin typeface="Cambria Math"/>
                          </a:rPr>
                          <m:t>𝐴</m:t>
                        </m:r>
                      </m:sub>
                      <m:sup>
                        <m:r>
                          <a:rPr lang="en-US" b="0" i="1" smtClean="0">
                            <a:latin typeface="Cambria Math"/>
                          </a:rPr>
                          <m:t> </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𝑑𝑥𝑑𝑦</m:t>
                        </m:r>
                      </m:e>
                    </m:nary>
                  </m:oMath>
                </a14:m>
                <a:r>
                  <a:rPr lang="en-US" dirty="0"/>
                  <a:t> for any region </a:t>
                </a:r>
                <a14:m>
                  <m:oMath xmlns:m="http://schemas.openxmlformats.org/officeDocument/2006/math">
                    <m:r>
                      <a:rPr lang="en-US" b="0" i="1" smtClean="0">
                        <a:latin typeface="Cambria Math"/>
                      </a:rPr>
                      <m:t>𝐴</m:t>
                    </m:r>
                  </m:oMath>
                </a14:m>
                <a:r>
                  <a:rPr lang="en-US" dirty="0"/>
                  <a:t> in the </a:t>
                </a:r>
                <a14:m>
                  <m:oMath xmlns:m="http://schemas.openxmlformats.org/officeDocument/2006/math">
                    <m:r>
                      <a:rPr lang="en-US" b="0" i="1" smtClean="0">
                        <a:latin typeface="Cambria Math"/>
                      </a:rPr>
                      <m:t>𝑥𝑦</m:t>
                    </m:r>
                  </m:oMath>
                </a14:m>
                <a:r>
                  <a:rPr lang="en-US" dirty="0"/>
                  <a:t> plane</a:t>
                </a:r>
              </a:p>
              <a:p>
                <a:endParaRPr lang="en-US" dirty="0"/>
              </a:p>
              <a:p>
                <a:r>
                  <a:rPr lang="en-US" dirty="0"/>
                  <a:t>We can refer to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oMath>
                </a14:m>
                <a:r>
                  <a:rPr lang="en-US" dirty="0"/>
                  <a:t> here as a joint PDF.</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42493772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Consider the following function</a:t>
                </a:r>
              </a:p>
              <a:p>
                <a:pPr marL="114300"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m:t>
                      </m:r>
                      <m:d>
                        <m:dPr>
                          <m:begChr m:val="{"/>
                          <m:endChr m:val=""/>
                          <m:ctrlPr>
                            <a:rPr lang="en-US" i="1" smtClean="0">
                              <a:latin typeface="Cambria Math" panose="02040503050406030204" pitchFamily="18" charset="0"/>
                            </a:rPr>
                          </m:ctrlPr>
                        </m:dPr>
                        <m:e>
                          <m:eqArr>
                            <m:eqArrPr>
                              <m:ctrlPr>
                                <a:rPr lang="en-US" i="1" smtClean="0">
                                  <a:latin typeface="Cambria Math" panose="02040503050406030204" pitchFamily="18" charset="0"/>
                                </a:rPr>
                              </m:ctrlPr>
                            </m:eqArrPr>
                            <m:e>
                              <m:f>
                                <m:fPr>
                                  <m:ctrlPr>
                                    <a:rPr lang="en-US" b="0" i="1" smtClean="0">
                                      <a:latin typeface="Cambria Math" panose="02040503050406030204" pitchFamily="18" charset="0"/>
                                    </a:rPr>
                                  </m:ctrlPr>
                                </m:fPr>
                                <m:num>
                                  <m:r>
                                    <a:rPr lang="en-US" b="0" i="1" smtClean="0">
                                      <a:latin typeface="Cambria Math"/>
                                    </a:rPr>
                                    <m:t>2</m:t>
                                  </m:r>
                                </m:num>
                                <m:den>
                                  <m:r>
                                    <a:rPr lang="en-US" b="0" i="1" smtClean="0">
                                      <a:latin typeface="Cambria Math"/>
                                    </a:rPr>
                                    <m:t>5</m:t>
                                  </m:r>
                                </m:den>
                              </m:f>
                              <m:d>
                                <m:dPr>
                                  <m:ctrlPr>
                                    <a:rPr lang="en-US" b="0" i="1" smtClean="0">
                                      <a:latin typeface="Cambria Math" panose="02040503050406030204" pitchFamily="18" charset="0"/>
                                    </a:rPr>
                                  </m:ctrlPr>
                                </m:dPr>
                                <m:e>
                                  <m:r>
                                    <a:rPr lang="en-US" b="0" i="1" smtClean="0">
                                      <a:latin typeface="Cambria Math"/>
                                    </a:rPr>
                                    <m:t>2</m:t>
                                  </m:r>
                                  <m:r>
                                    <a:rPr lang="en-US" b="0" i="1" smtClean="0">
                                      <a:latin typeface="Cambria Math"/>
                                    </a:rPr>
                                    <m:t>𝑥</m:t>
                                  </m:r>
                                  <m:r>
                                    <a:rPr lang="en-US" b="0" i="1" smtClean="0">
                                      <a:latin typeface="Cambria Math"/>
                                    </a:rPr>
                                    <m:t>+3</m:t>
                                  </m:r>
                                  <m:r>
                                    <a:rPr lang="en-US" b="0" i="1" smtClean="0">
                                      <a:latin typeface="Cambria Math"/>
                                    </a:rPr>
                                    <m:t>𝑦</m:t>
                                  </m:r>
                                </m:e>
                              </m:d>
                              <m:r>
                                <a:rPr lang="en-US" b="0" i="1" smtClean="0">
                                  <a:latin typeface="Cambria Math"/>
                                </a:rPr>
                                <m:t>,   0≤</m:t>
                              </m:r>
                              <m:r>
                                <a:rPr lang="en-US" b="0" i="1" smtClean="0">
                                  <a:latin typeface="Cambria Math"/>
                                </a:rPr>
                                <m:t>𝑥</m:t>
                              </m:r>
                              <m:r>
                                <a:rPr lang="en-US" b="0" i="1" smtClean="0">
                                  <a:latin typeface="Cambria Math"/>
                                </a:rPr>
                                <m:t>≤1, 0≤</m:t>
                              </m:r>
                              <m:r>
                                <a:rPr lang="en-US" b="0" i="1" smtClean="0">
                                  <a:latin typeface="Cambria Math"/>
                                </a:rPr>
                                <m:t>𝑦</m:t>
                              </m:r>
                              <m:r>
                                <a:rPr lang="en-US" b="0" i="1" smtClean="0">
                                  <a:latin typeface="Cambria Math"/>
                                </a:rPr>
                                <m:t>≤1</m:t>
                              </m:r>
                            </m:e>
                            <m:e>
                              <m:r>
                                <a:rPr lang="en-US" b="0" i="1" smtClean="0">
                                  <a:latin typeface="Cambria Math"/>
                                </a:rPr>
                                <m:t>0,  </m:t>
                              </m:r>
                              <m:r>
                                <a:rPr lang="en-US" b="0" i="0" smtClean="0">
                                  <a:latin typeface="Cambria Math"/>
                                </a:rPr>
                                <m:t>                                        </m:t>
                              </m:r>
                              <m:r>
                                <m:rPr>
                                  <m:sty m:val="p"/>
                                </m:rPr>
                                <a:rPr lang="en-US" b="0" i="0" smtClean="0">
                                  <a:latin typeface="Cambria Math"/>
                                </a:rPr>
                                <m:t>elsewhere</m:t>
                              </m:r>
                            </m:e>
                          </m:eqArr>
                          <m:r>
                            <a:rPr lang="en-US" b="0" i="1" smtClean="0">
                              <a:latin typeface="Cambria Math"/>
                            </a:rPr>
                            <m:t>  </m:t>
                          </m:r>
                        </m:e>
                      </m:d>
                    </m:oMath>
                  </m:oMathPara>
                </a14:m>
                <a:endParaRPr lang="en-US" dirty="0"/>
              </a:p>
              <a:p>
                <a:endParaRPr lang="en-US" dirty="0"/>
              </a:p>
              <a:p>
                <a:pPr lvl="1"/>
                <a:r>
                  <a:rPr lang="en-US" dirty="0"/>
                  <a:t>Verify that this is a joint PDF</a:t>
                </a:r>
              </a:p>
              <a:p>
                <a:pPr lvl="1"/>
                <a:r>
                  <a:rPr lang="en-US" dirty="0"/>
                  <a:t>For </a:t>
                </a:r>
                <a14:m>
                  <m:oMath xmlns:m="http://schemas.openxmlformats.org/officeDocument/2006/math">
                    <m:r>
                      <a:rPr lang="en-US" b="0" i="1" smtClean="0">
                        <a:latin typeface="Cambria Math"/>
                      </a:rPr>
                      <m:t>𝐴</m:t>
                    </m:r>
                    <m:r>
                      <a:rPr lang="en-US" b="0" i="1" smtClean="0">
                        <a:latin typeface="Cambria Math"/>
                      </a:rPr>
                      <m:t>=</m:t>
                    </m:r>
                    <m:d>
                      <m:dPr>
                        <m:begChr m:val="{"/>
                        <m:endChr m:val="|"/>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e>
                    </m:d>
                    <m:r>
                      <a:rPr lang="en-US" b="0" i="1" smtClean="0">
                        <a:latin typeface="Cambria Math"/>
                      </a:rPr>
                      <m:t>0&lt;</m:t>
                    </m:r>
                    <m:r>
                      <a:rPr lang="en-US" b="0" i="1" smtClean="0">
                        <a:latin typeface="Cambria Math"/>
                      </a:rPr>
                      <m:t>𝑥</m:t>
                    </m:r>
                    <m:r>
                      <a:rPr lang="en-US" b="0" i="1" smtClean="0">
                        <a:latin typeface="Cambria Math"/>
                      </a:rPr>
                      <m:t>&lt;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4</m:t>
                        </m:r>
                      </m:den>
                    </m:f>
                    <m:r>
                      <a:rPr lang="en-US" b="0" i="1" smtClean="0">
                        <a:latin typeface="Cambria Math"/>
                      </a:rPr>
                      <m:t>&lt;</m:t>
                    </m:r>
                    <m:r>
                      <a:rPr lang="en-US" b="0" i="1" smtClean="0">
                        <a:latin typeface="Cambria Math"/>
                      </a:rPr>
                      <m:t>𝑦</m:t>
                    </m:r>
                    <m:r>
                      <a:rPr lang="en-US" b="0" i="1" smtClean="0">
                        <a:latin typeface="Cambria Math"/>
                      </a:rPr>
                      <m:t>&lt;</m:t>
                    </m:r>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2</m:t>
                        </m:r>
                      </m:den>
                    </m:f>
                    <m:r>
                      <a:rPr lang="en-US" b="0" i="1" smtClean="0">
                        <a:latin typeface="Cambria Math"/>
                      </a:rPr>
                      <m:t>}</m:t>
                    </m:r>
                  </m:oMath>
                </a14:m>
                <a:r>
                  <a:rPr lang="en-US" dirty="0"/>
                  <a:t>, find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e>
                        </m:d>
                        <m:r>
                          <a:rPr lang="en-US" b="0" i="1" smtClean="0">
                            <a:latin typeface="Cambria Math"/>
                          </a:rPr>
                          <m:t>∈</m:t>
                        </m:r>
                        <m:r>
                          <a:rPr lang="en-US" b="0" i="1" smtClean="0">
                            <a:latin typeface="Cambria Math"/>
                          </a:rPr>
                          <m:t>𝐴</m:t>
                        </m:r>
                      </m:e>
                    </m:d>
                  </m:oMath>
                </a14:m>
                <a:endParaRPr lang="en-US"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16283734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Given a joint distribution,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oMath>
                </a14:m>
                <a:r>
                  <a:rPr lang="en-US" dirty="0"/>
                  <a:t>, we can find the individual distributions of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denoted </a:t>
                </a:r>
                <a14:m>
                  <m:oMath xmlns:m="http://schemas.openxmlformats.org/officeDocument/2006/math">
                    <m:r>
                      <a:rPr lang="en-US" b="0" i="1" smtClean="0">
                        <a:latin typeface="Cambria Math"/>
                      </a:rPr>
                      <m:t>𝑔</m:t>
                    </m:r>
                    <m:r>
                      <a:rPr lang="en-US" b="0" i="1" smtClean="0">
                        <a:latin typeface="Cambria Math"/>
                      </a:rPr>
                      <m:t>(</m:t>
                    </m:r>
                    <m:r>
                      <a:rPr lang="en-US" b="0" i="1" smtClean="0">
                        <a:latin typeface="Cambria Math"/>
                      </a:rPr>
                      <m:t>𝑥</m:t>
                    </m:r>
                    <m:r>
                      <a:rPr lang="en-US" b="0" i="1" smtClean="0">
                        <a:latin typeface="Cambria Math"/>
                      </a:rPr>
                      <m:t>)</m:t>
                    </m:r>
                  </m:oMath>
                </a14:m>
                <a:r>
                  <a:rPr lang="en-US" dirty="0"/>
                  <a:t> and </a:t>
                </a:r>
                <a14:m>
                  <m:oMath xmlns:m="http://schemas.openxmlformats.org/officeDocument/2006/math">
                    <m:r>
                      <a:rPr lang="en-US" b="0" i="1" smtClean="0">
                        <a:latin typeface="Cambria Math"/>
                      </a:rPr>
                      <m:t>h</m:t>
                    </m:r>
                    <m:r>
                      <a:rPr lang="en-US" b="0" i="1" smtClean="0">
                        <a:latin typeface="Cambria Math"/>
                      </a:rPr>
                      <m:t>(</m:t>
                    </m:r>
                    <m:r>
                      <a:rPr lang="en-US" b="0" i="1" smtClean="0">
                        <a:latin typeface="Cambria Math"/>
                      </a:rPr>
                      <m:t>𝑦</m:t>
                    </m:r>
                    <m:r>
                      <a:rPr lang="en-US" b="0" i="1" smtClean="0">
                        <a:latin typeface="Cambria Math"/>
                      </a:rPr>
                      <m:t>)</m:t>
                    </m:r>
                  </m:oMath>
                </a14:m>
                <a:r>
                  <a:rPr lang="en-US" dirty="0"/>
                  <a:t>, respectively. These are known as </a:t>
                </a:r>
                <a:r>
                  <a:rPr lang="en-US" i="1" dirty="0"/>
                  <a:t>marginal</a:t>
                </a:r>
                <a:r>
                  <a:rPr lang="en-US" dirty="0"/>
                  <a:t> </a:t>
                </a:r>
                <a:r>
                  <a:rPr lang="en-US" i="1" dirty="0"/>
                  <a:t>distributions</a:t>
                </a:r>
                <a:r>
                  <a:rPr lang="en-US" dirty="0"/>
                  <a:t>.</a:t>
                </a:r>
              </a:p>
              <a:p>
                <a:endParaRPr lang="en-US" dirty="0"/>
              </a:p>
              <a:p>
                <a:r>
                  <a:rPr lang="en-US" dirty="0"/>
                  <a:t>For the discrete case, we have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a:rPr>
                          <m:t>𝑦</m:t>
                        </m:r>
                      </m:sub>
                      <m:sup/>
                      <m:e>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e>
                    </m:nary>
                  </m:oMath>
                </a14:m>
                <a:r>
                  <a:rPr lang="en-US" dirty="0"/>
                  <a:t> and </a:t>
                </a:r>
                <a14:m>
                  <m:oMath xmlns:m="http://schemas.openxmlformats.org/officeDocument/2006/math">
                    <m:r>
                      <a:rPr lang="en-US" b="0" i="1" smtClean="0">
                        <a:latin typeface="Cambria Math"/>
                      </a:rPr>
                      <m:t>h</m:t>
                    </m:r>
                    <m:d>
                      <m:dPr>
                        <m:ctrlPr>
                          <a:rPr lang="en-US" b="0" i="1" smtClean="0">
                            <a:latin typeface="Cambria Math" panose="02040503050406030204" pitchFamily="18" charset="0"/>
                          </a:rPr>
                        </m:ctrlPr>
                      </m:dPr>
                      <m:e>
                        <m:r>
                          <a:rPr lang="en-US" b="0" i="1" smtClean="0">
                            <a:latin typeface="Cambria Math"/>
                          </a:rPr>
                          <m:t>𝑦</m:t>
                        </m:r>
                      </m:e>
                    </m:d>
                    <m:r>
                      <a:rPr lang="en-US" b="0" i="1" smtClean="0">
                        <a:latin typeface="Cambria Math"/>
                      </a:rPr>
                      <m:t>=</m:t>
                    </m:r>
                    <m:nary>
                      <m:naryPr>
                        <m:chr m:val="∑"/>
                        <m:supHide m:val="on"/>
                        <m:ctrlPr>
                          <a:rPr lang="en-US" b="0" i="1" smtClean="0">
                            <a:latin typeface="Cambria Math" panose="02040503050406030204" pitchFamily="18" charset="0"/>
                          </a:rPr>
                        </m:ctrlPr>
                      </m:naryPr>
                      <m:sub>
                        <m:r>
                          <m:rPr>
                            <m:brk m:alnAt="7"/>
                          </m:rPr>
                          <a:rPr lang="en-US" b="0" i="1" smtClean="0">
                            <a:latin typeface="Cambria Math"/>
                          </a:rPr>
                          <m:t>𝑥</m:t>
                        </m:r>
                      </m:sub>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e>
                    </m:nary>
                  </m:oMath>
                </a14:m>
                <a:r>
                  <a:rPr lang="en-US" dirty="0"/>
                  <a:t> as the marginal distributions.</a:t>
                </a:r>
              </a:p>
              <a:p>
                <a:endParaRPr lang="en-US" dirty="0"/>
              </a:p>
              <a:p>
                <a:r>
                  <a:rPr lang="en-US" dirty="0"/>
                  <a:t>For the continuous case, we have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nary>
                      <m:naryPr>
                        <m:limLoc m:val="undOvr"/>
                        <m:ctrlPr>
                          <a:rPr lang="en-US" b="0" i="1" smtClean="0">
                            <a:latin typeface="Cambria Math" panose="02040503050406030204" pitchFamily="18" charset="0"/>
                          </a:rPr>
                        </m:ctrlPr>
                      </m:naryPr>
                      <m:sub>
                        <m:r>
                          <m:rPr>
                            <m:brk m:alnAt="24"/>
                          </m:rPr>
                          <a:rPr lang="en-US" b="0" i="1" smtClean="0">
                            <a:latin typeface="Cambria Math"/>
                          </a:rPr>
                          <m:t>−</m:t>
                        </m:r>
                        <m:r>
                          <a:rPr lang="en-US" b="0" i="1" smtClean="0">
                            <a:latin typeface="Cambria Math"/>
                          </a:rPr>
                          <m:t>∞</m:t>
                        </m:r>
                      </m:sub>
                      <m:sup>
                        <m:r>
                          <a:rPr lang="en-US" b="0" i="1" smtClean="0">
                            <a:latin typeface="Cambria Math"/>
                          </a:rPr>
                          <m:t>∞</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𝑑𝑦</m:t>
                        </m:r>
                      </m:e>
                    </m:nary>
                  </m:oMath>
                </a14:m>
                <a:r>
                  <a:rPr lang="en-US" dirty="0"/>
                  <a:t> and </a:t>
                </a:r>
                <a14:m>
                  <m:oMath xmlns:m="http://schemas.openxmlformats.org/officeDocument/2006/math">
                    <m:r>
                      <a:rPr lang="en-US" b="0" i="1" smtClean="0">
                        <a:latin typeface="Cambria Math"/>
                      </a:rPr>
                      <m:t>h</m:t>
                    </m:r>
                    <m:d>
                      <m:dPr>
                        <m:ctrlPr>
                          <a:rPr lang="en-US" i="1">
                            <a:latin typeface="Cambria Math" panose="02040503050406030204" pitchFamily="18" charset="0"/>
                          </a:rPr>
                        </m:ctrlPr>
                      </m:dPr>
                      <m:e>
                        <m:r>
                          <a:rPr lang="en-US" b="0" i="1" smtClean="0">
                            <a:latin typeface="Cambria Math"/>
                          </a:rPr>
                          <m:t>𝑦</m:t>
                        </m:r>
                      </m:e>
                    </m:d>
                    <m:r>
                      <a:rPr lang="en-US" i="1">
                        <a:latin typeface="Cambria Math"/>
                      </a:rPr>
                      <m:t>=</m:t>
                    </m:r>
                    <m:nary>
                      <m:naryPr>
                        <m:limLoc m:val="undOvr"/>
                        <m:ctrlPr>
                          <a:rPr lang="en-US" i="1" smtClean="0">
                            <a:latin typeface="Cambria Math" panose="02040503050406030204" pitchFamily="18" charset="0"/>
                          </a:rPr>
                        </m:ctrlPr>
                      </m:naryPr>
                      <m:sub>
                        <m:r>
                          <m:rPr>
                            <m:brk m:alnAt="24"/>
                          </m:rPr>
                          <a:rPr lang="en-US" i="1">
                            <a:latin typeface="Cambria Math"/>
                          </a:rPr>
                          <m:t>−</m:t>
                        </m:r>
                        <m:r>
                          <a:rPr lang="en-US" i="1">
                            <a:latin typeface="Cambria Math"/>
                          </a:rPr>
                          <m:t>∞</m:t>
                        </m:r>
                      </m:sub>
                      <m:sup>
                        <m:r>
                          <a:rPr lang="en-US" i="1">
                            <a:latin typeface="Cambria Math"/>
                          </a:rPr>
                          <m:t>∞</m:t>
                        </m:r>
                      </m:sup>
                      <m:e>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e>
                        </m:d>
                        <m:r>
                          <a:rPr lang="en-US" i="1">
                            <a:latin typeface="Cambria Math"/>
                          </a:rPr>
                          <m:t>𝑑</m:t>
                        </m:r>
                        <m:r>
                          <a:rPr lang="en-US" b="0" i="1" smtClean="0">
                            <a:latin typeface="Cambria Math"/>
                          </a:rPr>
                          <m:t>𝑥</m:t>
                        </m:r>
                      </m:e>
                    </m:nary>
                  </m:oMath>
                </a14:m>
                <a:endParaRPr lang="en-US" dirty="0"/>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1520"/>
                </a:stretch>
              </a:blipFill>
            </p:spPr>
            <p:txBody>
              <a:bodyPr/>
              <a:lstStyle/>
              <a:p>
                <a:r>
                  <a:rPr lang="en-US">
                    <a:noFill/>
                  </a:rPr>
                  <a:t> </a:t>
                </a:r>
              </a:p>
            </p:txBody>
          </p:sp>
        </mc:Fallback>
      </mc:AlternateContent>
    </p:spTree>
    <p:extLst>
      <p:ext uri="{BB962C8B-B14F-4D97-AF65-F5344CB8AC3E}">
        <p14:creationId xmlns:p14="http://schemas.microsoft.com/office/powerpoint/2010/main" val="30053021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For the joint PMF we worked with previously, find the marginal PMFs.</a:t>
                </a:r>
              </a:p>
              <a:p>
                <a:endParaRPr lang="en-US" dirty="0"/>
              </a:p>
              <a:p>
                <a:r>
                  <a:rPr lang="en-US" dirty="0"/>
                  <a:t>Example: For the joint PDF we worked with previously, find the marginal PDFs.</a:t>
                </a:r>
              </a:p>
              <a:p>
                <a:endParaRPr lang="en-US" dirty="0"/>
              </a:p>
              <a:p>
                <a:r>
                  <a:rPr lang="en-US" dirty="0"/>
                  <a:t>Since marginal distributions are just the distributions of the individual random variables, all the conditions of PMFs/PDFs hold for them.</a:t>
                </a:r>
              </a:p>
              <a:p>
                <a:pPr lvl="1"/>
                <a:r>
                  <a:rPr lang="en-US" dirty="0"/>
                  <a:t>If you are given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oMath>
                </a14:m>
                <a:r>
                  <a:rPr lang="en-US" dirty="0"/>
                  <a:t> and asked to find </a:t>
                </a:r>
                <a14:m>
                  <m:oMath xmlns:m="http://schemas.openxmlformats.org/officeDocument/2006/math">
                    <m:r>
                      <a:rPr lang="en-US" b="0" i="1" smtClean="0">
                        <a:latin typeface="Cambria Math"/>
                      </a:rPr>
                      <m:t>𝑃</m:t>
                    </m:r>
                    <m:r>
                      <a:rPr lang="en-US" b="0" i="1" smtClean="0">
                        <a:latin typeface="Cambria Math"/>
                      </a:rPr>
                      <m:t>(</m:t>
                    </m:r>
                    <m:r>
                      <a:rPr lang="en-US" b="0" i="1" smtClean="0">
                        <a:latin typeface="Cambria Math"/>
                      </a:rPr>
                      <m:t>𝑎</m:t>
                    </m:r>
                    <m:r>
                      <a:rPr lang="en-US" b="0" i="1" smtClean="0">
                        <a:latin typeface="Cambria Math"/>
                      </a:rPr>
                      <m:t>&lt;</m:t>
                    </m:r>
                    <m:r>
                      <a:rPr lang="en-US" b="0" i="1" smtClean="0">
                        <a:latin typeface="Cambria Math"/>
                      </a:rPr>
                      <m:t>𝑌</m:t>
                    </m:r>
                    <m:r>
                      <a:rPr lang="en-US" b="0" i="1" smtClean="0">
                        <a:latin typeface="Cambria Math"/>
                      </a:rPr>
                      <m:t>&lt;</m:t>
                    </m:r>
                    <m:r>
                      <a:rPr lang="en-US" b="0" i="1" smtClean="0">
                        <a:latin typeface="Cambria Math"/>
                      </a:rPr>
                      <m:t>𝑏</m:t>
                    </m:r>
                    <m:r>
                      <a:rPr lang="en-US" b="0" i="1" smtClean="0">
                        <a:latin typeface="Cambria Math"/>
                      </a:rPr>
                      <m:t>)</m:t>
                    </m:r>
                  </m:oMath>
                </a14:m>
                <a:r>
                  <a:rPr lang="en-US" dirty="0"/>
                  <a:t> or </a:t>
                </a:r>
                <a14:m>
                  <m:oMath xmlns:m="http://schemas.openxmlformats.org/officeDocument/2006/math">
                    <m:r>
                      <a:rPr lang="en-US" i="1">
                        <a:latin typeface="Cambria Math"/>
                      </a:rPr>
                      <m:t>𝑃</m:t>
                    </m:r>
                    <m:r>
                      <a:rPr lang="en-US" i="1">
                        <a:latin typeface="Cambria Math"/>
                      </a:rPr>
                      <m:t>(</m:t>
                    </m:r>
                    <m:r>
                      <a:rPr lang="en-US" i="1">
                        <a:latin typeface="Cambria Math"/>
                      </a:rPr>
                      <m:t>𝑌</m:t>
                    </m:r>
                    <m:r>
                      <a:rPr lang="en-US" i="1">
                        <a:latin typeface="Cambria Math"/>
                      </a:rPr>
                      <m:t>=</m:t>
                    </m:r>
                    <m:r>
                      <a:rPr lang="en-US" i="1">
                        <a:latin typeface="Cambria Math"/>
                      </a:rPr>
                      <m:t>𝑦</m:t>
                    </m:r>
                    <m:r>
                      <a:rPr lang="en-US" i="1">
                        <a:latin typeface="Cambria Math"/>
                      </a:rPr>
                      <m:t>)</m:t>
                    </m:r>
                  </m:oMath>
                </a14:m>
                <a:r>
                  <a:rPr lang="en-US" dirty="0"/>
                  <a:t>, it may be easier to use </a:t>
                </a:r>
                <a14:m>
                  <m:oMath xmlns:m="http://schemas.openxmlformats.org/officeDocument/2006/math">
                    <m:r>
                      <a:rPr lang="en-US" b="0" i="1" smtClean="0">
                        <a:latin typeface="Cambria Math"/>
                      </a:rPr>
                      <m:t>h</m:t>
                    </m:r>
                    <m:r>
                      <a:rPr lang="en-US" b="0" i="1" smtClean="0">
                        <a:latin typeface="Cambria Math"/>
                      </a:rPr>
                      <m:t>(</m:t>
                    </m:r>
                    <m:r>
                      <a:rPr lang="en-US" b="0" i="1" smtClean="0">
                        <a:latin typeface="Cambria Math"/>
                      </a:rPr>
                      <m:t>𝑦</m:t>
                    </m:r>
                    <m:r>
                      <a:rPr lang="en-US" b="0" i="1" smtClean="0">
                        <a:latin typeface="Cambria Math"/>
                      </a:rPr>
                      <m:t>)</m:t>
                    </m:r>
                  </m:oMath>
                </a14:m>
                <a:r>
                  <a:rPr lang="en-US" dirty="0"/>
                  <a:t> than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oMath>
                </a14:m>
                <a:r>
                  <a:rPr lang="en-US" dirty="0"/>
                  <a:t>.</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1798065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Once we have the marginal distributions, we can define </a:t>
                </a:r>
                <a:r>
                  <a:rPr lang="en-US" i="1" dirty="0"/>
                  <a:t>conditional distributions</a:t>
                </a:r>
                <a:r>
                  <a:rPr lang="en-US" dirty="0"/>
                  <a:t>. The idea of a conditional distribution stems from conditional probability. </a:t>
                </a:r>
              </a:p>
              <a:p>
                <a:endParaRPr lang="en-US" dirty="0"/>
              </a:p>
              <a:p>
                <a:r>
                  <a:rPr lang="en-US" dirty="0"/>
                  <a:t>Recall the definition of conditional probability: </a:t>
                </a:r>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𝐵</m:t>
                        </m:r>
                      </m:e>
                      <m:e>
                        <m:r>
                          <a:rPr lang="en-US" b="0" i="1" smtClean="0">
                            <a:latin typeface="Cambria Math"/>
                          </a:rPr>
                          <m:t>𝐴</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𝑃</m:t>
                        </m:r>
                        <m:d>
                          <m:dPr>
                            <m:ctrlPr>
                              <a:rPr lang="en-US" b="0" i="1" smtClean="0">
                                <a:latin typeface="Cambria Math" panose="02040503050406030204" pitchFamily="18" charset="0"/>
                              </a:rPr>
                            </m:ctrlPr>
                          </m:dPr>
                          <m:e>
                            <m:r>
                              <a:rPr lang="en-US" b="0" i="1" smtClean="0">
                                <a:latin typeface="Cambria Math"/>
                              </a:rPr>
                              <m:t>𝐴</m:t>
                            </m:r>
                            <m:r>
                              <a:rPr lang="en-US" b="0" i="1" smtClean="0">
                                <a:latin typeface="Cambria Math"/>
                              </a:rPr>
                              <m:t>∩</m:t>
                            </m:r>
                            <m:r>
                              <a:rPr lang="en-US" b="0" i="1" smtClean="0">
                                <a:latin typeface="Cambria Math"/>
                              </a:rPr>
                              <m:t>𝐵</m:t>
                            </m:r>
                          </m:e>
                        </m:d>
                      </m:num>
                      <m:den>
                        <m:r>
                          <a:rPr lang="en-US" b="0" i="1" smtClean="0">
                            <a:latin typeface="Cambria Math"/>
                          </a:rPr>
                          <m:t>𝑃</m:t>
                        </m:r>
                        <m:r>
                          <a:rPr lang="en-US" b="0" i="1" smtClean="0">
                            <a:latin typeface="Cambria Math"/>
                          </a:rPr>
                          <m:t>(</m:t>
                        </m:r>
                        <m:r>
                          <a:rPr lang="en-US" b="0" i="1" smtClean="0">
                            <a:latin typeface="Cambria Math"/>
                          </a:rPr>
                          <m:t>𝐴</m:t>
                        </m:r>
                        <m:r>
                          <a:rPr lang="en-US" b="0" i="1" smtClean="0">
                            <a:latin typeface="Cambria Math"/>
                          </a:rPr>
                          <m:t>)</m:t>
                        </m:r>
                      </m:den>
                    </m:f>
                  </m:oMath>
                </a14:m>
                <a:r>
                  <a:rPr lang="en-US" dirty="0"/>
                  <a:t>. </a:t>
                </a:r>
              </a:p>
              <a:p>
                <a:endParaRPr lang="en-US" dirty="0"/>
              </a:p>
              <a:p>
                <a:r>
                  <a:rPr lang="en-US" dirty="0"/>
                  <a:t>The idea of a conditional distribution is that we fix one of the variables, </a:t>
                </a:r>
                <a14:m>
                  <m:oMath xmlns:m="http://schemas.openxmlformats.org/officeDocument/2006/math">
                    <m:r>
                      <a:rPr lang="en-US" b="0" i="1" smtClean="0">
                        <a:latin typeface="Cambria Math"/>
                      </a:rPr>
                      <m:t>𝑋</m:t>
                    </m:r>
                  </m:oMath>
                </a14:m>
                <a:r>
                  <a:rPr lang="en-US" dirty="0"/>
                  <a:t> or </a:t>
                </a:r>
                <a14:m>
                  <m:oMath xmlns:m="http://schemas.openxmlformats.org/officeDocument/2006/math">
                    <m:r>
                      <a:rPr lang="en-US" b="0" i="1" smtClean="0">
                        <a:latin typeface="Cambria Math"/>
                      </a:rPr>
                      <m:t>𝑌</m:t>
                    </m:r>
                  </m:oMath>
                </a14:m>
                <a:r>
                  <a:rPr lang="en-US" dirty="0"/>
                  <a:t>, at some value (or range of values) and then find the probability that the other variable is a certain value (or range of values).</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880"/>
                </a:stretch>
              </a:blipFill>
            </p:spPr>
            <p:txBody>
              <a:bodyPr/>
              <a:lstStyle/>
              <a:p>
                <a:r>
                  <a:rPr lang="en-US">
                    <a:noFill/>
                  </a:rPr>
                  <a:t> </a:t>
                </a:r>
              </a:p>
            </p:txBody>
          </p:sp>
        </mc:Fallback>
      </mc:AlternateContent>
    </p:spTree>
    <p:extLst>
      <p:ext uri="{BB962C8B-B14F-4D97-AF65-F5344CB8AC3E}">
        <p14:creationId xmlns:p14="http://schemas.microsoft.com/office/powerpoint/2010/main" val="15413171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lnSpcReduction="10000"/>
              </a:bodyPr>
              <a:lstStyle/>
              <a:p>
                <a:r>
                  <a:rPr lang="en-US" dirty="0"/>
                  <a:t>For both discrete and continuous variables, the conditional distribution of </a:t>
                </a:r>
                <a14:m>
                  <m:oMath xmlns:m="http://schemas.openxmlformats.org/officeDocument/2006/math">
                    <m:r>
                      <a:rPr lang="en-US" b="0" i="1" smtClean="0">
                        <a:latin typeface="Cambria Math"/>
                      </a:rPr>
                      <m:t>𝑌</m:t>
                    </m:r>
                  </m:oMath>
                </a14:m>
                <a:r>
                  <a:rPr lang="en-US" dirty="0"/>
                  <a:t> given that </a:t>
                </a:r>
                <a14:m>
                  <m:oMath xmlns:m="http://schemas.openxmlformats.org/officeDocument/2006/math">
                    <m:r>
                      <a:rPr lang="en-US" b="0" i="1" smtClean="0">
                        <a:latin typeface="Cambria Math"/>
                      </a:rPr>
                      <m:t>𝑋</m:t>
                    </m:r>
                    <m:r>
                      <a:rPr lang="en-US" b="0" i="1" smtClean="0">
                        <a:latin typeface="Cambria Math"/>
                      </a:rPr>
                      <m:t>=</m:t>
                    </m:r>
                    <m:r>
                      <a:rPr lang="en-US" b="0" i="1" smtClean="0">
                        <a:latin typeface="Cambria Math"/>
                      </a:rPr>
                      <m:t>𝑥</m:t>
                    </m:r>
                  </m:oMath>
                </a14:m>
                <a:r>
                  <a:rPr lang="en-US" dirty="0"/>
                  <a:t>:</a:t>
                </a:r>
              </a:p>
              <a:p>
                <a:pPr marL="41148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𝑦</m:t>
                          </m:r>
                        </m:e>
                        <m:e>
                          <m:r>
                            <a:rPr lang="en-US" b="0" i="1" smtClean="0">
                              <a:latin typeface="Cambria Math"/>
                            </a:rPr>
                            <m:t>𝑥</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num>
                        <m:den>
                          <m:r>
                            <a:rPr lang="en-US" b="0" i="1" smtClean="0">
                              <a:latin typeface="Cambria Math"/>
                            </a:rPr>
                            <m:t>𝑔</m:t>
                          </m:r>
                          <m:r>
                            <a:rPr lang="en-US" b="0" i="1" smtClean="0">
                              <a:latin typeface="Cambria Math"/>
                            </a:rPr>
                            <m:t>(</m:t>
                          </m:r>
                          <m:r>
                            <a:rPr lang="en-US" b="0" i="1" smtClean="0">
                              <a:latin typeface="Cambria Math"/>
                            </a:rPr>
                            <m:t>𝑥</m:t>
                          </m:r>
                          <m:r>
                            <a:rPr lang="en-US" b="0" i="1" smtClean="0">
                              <a:latin typeface="Cambria Math"/>
                            </a:rPr>
                            <m:t>)</m:t>
                          </m:r>
                        </m:den>
                      </m:f>
                    </m:oMath>
                  </m:oMathPara>
                </a14:m>
                <a:endParaRPr lang="en-US" dirty="0"/>
              </a:p>
              <a:p>
                <a:r>
                  <a:rPr lang="en-US" dirty="0"/>
                  <a:t>Similarly, we have the conditional distribution of </a:t>
                </a:r>
                <a14:m>
                  <m:oMath xmlns:m="http://schemas.openxmlformats.org/officeDocument/2006/math">
                    <m:r>
                      <a:rPr lang="en-US" b="0" i="1" smtClean="0">
                        <a:latin typeface="Cambria Math"/>
                      </a:rPr>
                      <m:t>𝑋</m:t>
                    </m:r>
                  </m:oMath>
                </a14:m>
                <a:r>
                  <a:rPr lang="en-US" dirty="0"/>
                  <a:t> given that </a:t>
                </a:r>
                <a14:m>
                  <m:oMath xmlns:m="http://schemas.openxmlformats.org/officeDocument/2006/math">
                    <m:r>
                      <a:rPr lang="en-US" b="0" i="1" smtClean="0">
                        <a:latin typeface="Cambria Math"/>
                      </a:rPr>
                      <m:t>𝑌</m:t>
                    </m:r>
                    <m:r>
                      <a:rPr lang="en-US" b="0" i="1" smtClean="0">
                        <a:latin typeface="Cambria Math"/>
                      </a:rPr>
                      <m:t>=</m:t>
                    </m:r>
                    <m:r>
                      <a:rPr lang="en-US" b="0" i="1" smtClean="0">
                        <a:latin typeface="Cambria Math"/>
                      </a:rPr>
                      <m:t>𝑦</m:t>
                    </m:r>
                  </m:oMath>
                </a14:m>
                <a:r>
                  <a:rPr lang="en-US" dirty="0"/>
                  <a:t>: </a:t>
                </a:r>
                <a:endParaRPr lang="en-US" b="0" i="1" dirty="0">
                  <a:latin typeface="Cambria Math"/>
                </a:endParaRPr>
              </a:p>
              <a:p>
                <a:pPr marL="411480" lvl="1" indent="0">
                  <a:buNone/>
                </a:pPr>
                <a14:m>
                  <m:oMathPara xmlns:m="http://schemas.openxmlformats.org/officeDocument/2006/math">
                    <m:oMathParaPr>
                      <m:jc m:val="centerGroup"/>
                    </m:oMathParaPr>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e>
                        <m:e>
                          <m:r>
                            <a:rPr lang="en-US" b="0" i="1" smtClean="0">
                              <a:latin typeface="Cambria Math"/>
                            </a:rPr>
                            <m:t>𝑦</m:t>
                          </m:r>
                        </m:e>
                      </m:d>
                      <m:r>
                        <a:rPr lang="en-US" b="0" i="1" smtClean="0">
                          <a:latin typeface="Cambria Math"/>
                        </a:rPr>
                        <m:t>=</m:t>
                      </m:r>
                      <m:f>
                        <m:fPr>
                          <m:ctrlPr>
                            <a:rPr lang="en-US" b="0" i="1" smtClean="0">
                              <a:latin typeface="Cambria Math" panose="02040503050406030204" pitchFamily="18" charset="0"/>
                            </a:rPr>
                          </m:ctrlPr>
                        </m:fPr>
                        <m:num>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num>
                        <m:den>
                          <m:r>
                            <a:rPr lang="en-US" b="0" i="1" smtClean="0">
                              <a:latin typeface="Cambria Math"/>
                            </a:rPr>
                            <m:t>h</m:t>
                          </m:r>
                          <m:r>
                            <a:rPr lang="en-US" b="0" i="1" smtClean="0">
                              <a:latin typeface="Cambria Math"/>
                            </a:rPr>
                            <m:t>(</m:t>
                          </m:r>
                          <m:r>
                            <a:rPr lang="en-US" b="0" i="1" smtClean="0">
                              <a:latin typeface="Cambria Math"/>
                            </a:rPr>
                            <m:t>𝑦</m:t>
                          </m:r>
                          <m:r>
                            <a:rPr lang="en-US" b="0" i="1" smtClean="0">
                              <a:latin typeface="Cambria Math"/>
                            </a:rPr>
                            <m:t>)</m:t>
                          </m:r>
                        </m:den>
                      </m:f>
                    </m:oMath>
                  </m:oMathPara>
                </a14:m>
                <a:endParaRPr lang="en-US" dirty="0"/>
              </a:p>
              <a:p>
                <a:r>
                  <a:rPr lang="en-US" dirty="0"/>
                  <a:t>Note that in these definitions,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0" smtClean="0">
                        <a:latin typeface="Cambria Math"/>
                      </a:rPr>
                      <m:t>,</m:t>
                    </m:r>
                    <m:r>
                      <a:rPr lang="en-US" b="0" i="1" smtClean="0">
                        <a:latin typeface="Cambria Math"/>
                      </a:rPr>
                      <m:t>h</m:t>
                    </m:r>
                    <m:d>
                      <m:dPr>
                        <m:ctrlPr>
                          <a:rPr lang="en-US" b="0" i="1" smtClean="0">
                            <a:latin typeface="Cambria Math" panose="02040503050406030204" pitchFamily="18" charset="0"/>
                          </a:rPr>
                        </m:ctrlPr>
                      </m:dPr>
                      <m:e>
                        <m:r>
                          <a:rPr lang="en-US" b="0" i="1" smtClean="0">
                            <a:latin typeface="Cambria Math"/>
                          </a:rPr>
                          <m:t>𝑦</m:t>
                        </m:r>
                      </m:e>
                    </m:d>
                    <m:r>
                      <a:rPr lang="en-US" b="0" i="1" smtClean="0">
                        <a:latin typeface="Cambria Math"/>
                      </a:rPr>
                      <m:t>&gt;0</m:t>
                    </m:r>
                  </m:oMath>
                </a14:m>
                <a:r>
                  <a:rPr lang="en-US" dirty="0"/>
                  <a:t>.</a:t>
                </a:r>
              </a:p>
              <a:p>
                <a:endParaRPr lang="en-US" dirty="0"/>
              </a:p>
              <a:p>
                <a:r>
                  <a:rPr lang="en-US" dirty="0"/>
                  <a:t>Conditional distributions also satisfy all the properties of a probability distribution (either PMF or PDF). Thus they can be used to calculate probabilities just as we have been doing so far.</a:t>
                </a:r>
              </a:p>
              <a:p>
                <a:pPr lvl="1"/>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1525"/>
                </a:stretch>
              </a:blipFill>
            </p:spPr>
            <p:txBody>
              <a:bodyPr/>
              <a:lstStyle/>
              <a:p>
                <a:r>
                  <a:rPr lang="en-US">
                    <a:noFill/>
                  </a:rPr>
                  <a:t> </a:t>
                </a:r>
              </a:p>
            </p:txBody>
          </p:sp>
        </mc:Fallback>
      </mc:AlternateContent>
    </p:spTree>
    <p:extLst>
      <p:ext uri="{BB962C8B-B14F-4D97-AF65-F5344CB8AC3E}">
        <p14:creationId xmlns:p14="http://schemas.microsoft.com/office/powerpoint/2010/main" val="61645661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Example: Using the joint PMF we have been using so far, find the conditional distribution of </a:t>
                </a:r>
                <a14:m>
                  <m:oMath xmlns:m="http://schemas.openxmlformats.org/officeDocument/2006/math">
                    <m:r>
                      <a:rPr lang="en-US" b="0" i="1" smtClean="0">
                        <a:latin typeface="Cambria Math"/>
                      </a:rPr>
                      <m:t>𝑋</m:t>
                    </m:r>
                  </m:oMath>
                </a14:m>
                <a:r>
                  <a:rPr lang="en-US" dirty="0"/>
                  <a:t> given that </a:t>
                </a:r>
                <a14:m>
                  <m:oMath xmlns:m="http://schemas.openxmlformats.org/officeDocument/2006/math">
                    <m:r>
                      <a:rPr lang="en-US" b="0" i="1" smtClean="0">
                        <a:latin typeface="Cambria Math"/>
                      </a:rPr>
                      <m:t>𝑌</m:t>
                    </m:r>
                    <m:r>
                      <a:rPr lang="en-US" b="0" i="1" smtClean="0">
                        <a:latin typeface="Cambria Math"/>
                      </a:rPr>
                      <m:t>=0</m:t>
                    </m:r>
                  </m:oMath>
                </a14:m>
                <a:r>
                  <a:rPr lang="en-US" dirty="0"/>
                  <a:t>. </a:t>
                </a:r>
              </a:p>
              <a:p>
                <a:endParaRPr lang="en-US" dirty="0"/>
              </a:p>
              <a:p>
                <a:pPr marL="114300" indent="0">
                  <a:buNone/>
                </a:pPr>
                <a:endParaRPr lang="en-US" dirty="0"/>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a:stretch>
              </a:blipFill>
            </p:spPr>
            <p:txBody>
              <a:bodyPr/>
              <a:lstStyle/>
              <a:p>
                <a:r>
                  <a:rPr lang="en-US">
                    <a:noFill/>
                  </a:rPr>
                  <a:t> </a:t>
                </a:r>
              </a:p>
            </p:txBody>
          </p:sp>
        </mc:Fallback>
      </mc:AlternateContent>
    </p:spTree>
    <p:extLst>
      <p:ext uri="{BB962C8B-B14F-4D97-AF65-F5344CB8AC3E}">
        <p14:creationId xmlns:p14="http://schemas.microsoft.com/office/powerpoint/2010/main" val="394151970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Since we’re dealing with conditional probabilities, the topic of independence comes up again.</a:t>
                </a:r>
              </a:p>
              <a:p>
                <a:endParaRPr lang="en-US" dirty="0"/>
              </a:p>
              <a:p>
                <a:r>
                  <a:rPr lang="en-US" dirty="0"/>
                  <a:t>We say that two random variables,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are </a:t>
                </a:r>
                <a:r>
                  <a:rPr lang="en-US" i="1" dirty="0"/>
                  <a:t>statistically independent </a:t>
                </a:r>
                <a:r>
                  <a:rPr lang="en-US" dirty="0"/>
                  <a:t>if and only if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m:t>
                    </m:r>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h</m:t>
                    </m:r>
                    <m:d>
                      <m:dPr>
                        <m:ctrlPr>
                          <a:rPr lang="en-US" b="0" i="1" smtClean="0">
                            <a:latin typeface="Cambria Math" panose="02040503050406030204" pitchFamily="18" charset="0"/>
                          </a:rPr>
                        </m:ctrlPr>
                      </m:dPr>
                      <m:e>
                        <m:r>
                          <a:rPr lang="en-US" b="0" i="1" smtClean="0">
                            <a:latin typeface="Cambria Math"/>
                          </a:rPr>
                          <m:t>𝑦</m:t>
                        </m:r>
                      </m:e>
                    </m:d>
                  </m:oMath>
                </a14:m>
                <a:r>
                  <a:rPr lang="en-US" dirty="0"/>
                  <a:t> for all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oMath>
                </a14:m>
                <a:r>
                  <a:rPr lang="en-US" dirty="0"/>
                  <a:t> over which </a:t>
                </a:r>
                <a14:m>
                  <m:oMath xmlns:m="http://schemas.openxmlformats.org/officeDocument/2006/math">
                    <m:r>
                      <a:rPr lang="en-US" b="0" i="1" smtClean="0">
                        <a:latin typeface="Cambria Math"/>
                      </a:rPr>
                      <m:t>𝑓</m:t>
                    </m:r>
                    <m:r>
                      <a:rPr lang="en-US" b="0" i="1" smtClean="0">
                        <a:latin typeface="Cambria Math"/>
                      </a:rPr>
                      <m:t>(</m:t>
                    </m:r>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oMath>
                </a14:m>
                <a:r>
                  <a:rPr lang="en-US" dirty="0"/>
                  <a:t> is defined.</a:t>
                </a:r>
              </a:p>
              <a:p>
                <a:endParaRPr lang="en-US" dirty="0"/>
              </a:p>
              <a:p>
                <a:r>
                  <a:rPr lang="en-US" dirty="0"/>
                  <a:t>This definition holds for both discrete and continuous random variables. </a:t>
                </a:r>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560"/>
                </a:stretch>
              </a:blipFill>
            </p:spPr>
            <p:txBody>
              <a:bodyPr/>
              <a:lstStyle/>
              <a:p>
                <a:r>
                  <a:rPr lang="en-US">
                    <a:noFill/>
                  </a:rPr>
                  <a:t> </a:t>
                </a:r>
              </a:p>
            </p:txBody>
          </p:sp>
        </mc:Fallback>
      </mc:AlternateContent>
    </p:spTree>
    <p:extLst>
      <p:ext uri="{BB962C8B-B14F-4D97-AF65-F5344CB8AC3E}">
        <p14:creationId xmlns:p14="http://schemas.microsoft.com/office/powerpoint/2010/main" val="2980804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You may be asked to decide whether two random variables are independent or dependent. If they are independent, you need to show that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m:t>
                    </m:r>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h</m:t>
                    </m:r>
                    <m:r>
                      <a:rPr lang="en-US" b="0" i="1" smtClean="0">
                        <a:latin typeface="Cambria Math"/>
                      </a:rPr>
                      <m:t>(</m:t>
                    </m:r>
                    <m:r>
                      <a:rPr lang="en-US" b="0" i="1" smtClean="0">
                        <a:latin typeface="Cambria Math"/>
                      </a:rPr>
                      <m:t>𝑦</m:t>
                    </m:r>
                    <m:r>
                      <a:rPr lang="en-US" b="0" i="1" smtClean="0">
                        <a:latin typeface="Cambria Math"/>
                      </a:rPr>
                      <m:t>)</m:t>
                    </m:r>
                  </m:oMath>
                </a14:m>
                <a:r>
                  <a:rPr lang="en-US" dirty="0"/>
                  <a:t> over all </a:t>
                </a:r>
                <a14:m>
                  <m:oMath xmlns:m="http://schemas.openxmlformats.org/officeDocument/2006/math">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oMath>
                </a14:m>
                <a:r>
                  <a:rPr lang="en-US" dirty="0"/>
                  <a:t> for which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oMath>
                </a14:m>
                <a:r>
                  <a:rPr lang="en-US" dirty="0"/>
                  <a:t> is defined.</a:t>
                </a:r>
              </a:p>
              <a:p>
                <a:endParaRPr lang="en-US" dirty="0"/>
              </a:p>
              <a:p>
                <a:r>
                  <a:rPr lang="en-US" dirty="0"/>
                  <a:t>If you can find even one point, however, where </a:t>
                </a:r>
                <a14:m>
                  <m:oMath xmlns:m="http://schemas.openxmlformats.org/officeDocument/2006/math">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e>
                    </m:d>
                    <m:r>
                      <a:rPr lang="en-US" b="0" i="1" smtClean="0">
                        <a:latin typeface="Cambria Math"/>
                      </a:rPr>
                      <m:t>≠</m:t>
                    </m:r>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h</m:t>
                    </m:r>
                    <m:r>
                      <a:rPr lang="en-US" b="0" i="1" smtClean="0">
                        <a:latin typeface="Cambria Math"/>
                      </a:rPr>
                      <m:t>(</m:t>
                    </m:r>
                    <m:r>
                      <a:rPr lang="en-US" b="0" i="1" smtClean="0">
                        <a:latin typeface="Cambria Math"/>
                      </a:rPr>
                      <m:t>𝑦</m:t>
                    </m:r>
                    <m:r>
                      <a:rPr lang="en-US" b="0" i="1" smtClean="0">
                        <a:latin typeface="Cambria Math"/>
                      </a:rPr>
                      <m:t>)</m:t>
                    </m:r>
                  </m:oMath>
                </a14:m>
                <a:r>
                  <a:rPr lang="en-US" dirty="0"/>
                  <a:t>, then you have shown that </a:t>
                </a:r>
                <a14:m>
                  <m:oMath xmlns:m="http://schemas.openxmlformats.org/officeDocument/2006/math">
                    <m:r>
                      <a:rPr lang="en-US" b="0" i="1" smtClean="0">
                        <a:latin typeface="Cambria Math"/>
                      </a:rPr>
                      <m:t>𝑋</m:t>
                    </m:r>
                  </m:oMath>
                </a14:m>
                <a:r>
                  <a:rPr lang="en-US" dirty="0"/>
                  <a:t> and </a:t>
                </a:r>
                <a14:m>
                  <m:oMath xmlns:m="http://schemas.openxmlformats.org/officeDocument/2006/math">
                    <m:r>
                      <a:rPr lang="en-US" b="0" i="1" smtClean="0">
                        <a:latin typeface="Cambria Math"/>
                      </a:rPr>
                      <m:t>𝑌</m:t>
                    </m:r>
                  </m:oMath>
                </a14:m>
                <a:r>
                  <a:rPr lang="en-US" dirty="0"/>
                  <a:t> are dependent random variables.</a:t>
                </a:r>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889"/>
                </a:stretch>
              </a:blipFill>
            </p:spPr>
            <p:txBody>
              <a:bodyPr/>
              <a:lstStyle/>
              <a:p>
                <a:r>
                  <a:rPr lang="en-US">
                    <a:noFill/>
                  </a:rPr>
                  <a:t> </a:t>
                </a:r>
              </a:p>
            </p:txBody>
          </p:sp>
        </mc:Fallback>
      </mc:AlternateContent>
    </p:spTree>
    <p:extLst>
      <p:ext uri="{BB962C8B-B14F-4D97-AF65-F5344CB8AC3E}">
        <p14:creationId xmlns:p14="http://schemas.microsoft.com/office/powerpoint/2010/main" val="239909396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solidFill>
                  <a:srgbClr val="675E47"/>
                </a:solidFill>
              </a:rPr>
              <a:t>3.4 – Joint Probability Distributions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dirty="0"/>
                  <a:t>Finally, we can have a joint distribution for more than two random variables, and there is one homework problem where you work with a joint distribution for three variables.</a:t>
                </a:r>
              </a:p>
              <a:p>
                <a:endParaRPr lang="en-US" dirty="0"/>
              </a:p>
              <a:p>
                <a:r>
                  <a:rPr lang="en-US" dirty="0"/>
                  <a:t>The ideas we have talked about hold for any number of variables. As a little extra help, for random variables, </a:t>
                </a:r>
                <a14:m>
                  <m:oMath xmlns:m="http://schemas.openxmlformats.org/officeDocument/2006/math">
                    <m:r>
                      <a:rPr lang="en-US" b="0" i="1" smtClean="0">
                        <a:latin typeface="Cambria Math"/>
                      </a:rPr>
                      <m:t>𝑋</m:t>
                    </m:r>
                    <m:r>
                      <a:rPr lang="en-US" b="0" i="1" smtClean="0">
                        <a:latin typeface="Cambria Math"/>
                      </a:rPr>
                      <m:t>, </m:t>
                    </m:r>
                    <m:r>
                      <a:rPr lang="en-US" b="0" i="1" smtClean="0">
                        <a:latin typeface="Cambria Math"/>
                      </a:rPr>
                      <m:t>𝑌</m:t>
                    </m:r>
                    <m:r>
                      <a:rPr lang="en-US" b="0" i="1" smtClean="0">
                        <a:latin typeface="Cambria Math"/>
                      </a:rPr>
                      <m:t>,</m:t>
                    </m:r>
                  </m:oMath>
                </a14:m>
                <a:r>
                  <a:rPr lang="en-US" dirty="0"/>
                  <a:t> and </a:t>
                </a:r>
                <a14:m>
                  <m:oMath xmlns:m="http://schemas.openxmlformats.org/officeDocument/2006/math">
                    <m:r>
                      <a:rPr lang="en-US" b="0" i="1" smtClean="0">
                        <a:latin typeface="Cambria Math"/>
                      </a:rPr>
                      <m:t>𝑍</m:t>
                    </m:r>
                  </m:oMath>
                </a14:m>
                <a:r>
                  <a:rPr lang="en-US" dirty="0"/>
                  <a:t>:</a:t>
                </a:r>
              </a:p>
              <a:p>
                <a:pPr lvl="1"/>
                <a14:m>
                  <m:oMath xmlns:m="http://schemas.openxmlformats.org/officeDocument/2006/math">
                    <m:nary>
                      <m:naryPr>
                        <m:chr m:val="∭"/>
                        <m:ctrlPr>
                          <a:rPr lang="en-US" i="1" smtClean="0">
                            <a:latin typeface="Cambria Math" panose="02040503050406030204" pitchFamily="18" charset="0"/>
                          </a:rPr>
                        </m:ctrlPr>
                      </m:naryPr>
                      <m:sub>
                        <m:sSup>
                          <m:sSupPr>
                            <m:ctrlPr>
                              <a:rPr lang="en-US" b="0" i="1" smtClean="0">
                                <a:latin typeface="Cambria Math" panose="02040503050406030204" pitchFamily="18" charset="0"/>
                              </a:rPr>
                            </m:ctrlPr>
                          </m:sSupPr>
                          <m:e>
                            <m:r>
                              <m:rPr>
                                <m:brk m:alnAt="23"/>
                              </m:rPr>
                              <a:rPr lang="en-US" b="0" i="1" smtClean="0">
                                <a:latin typeface="Cambria Math"/>
                              </a:rPr>
                              <m:t>𝑅</m:t>
                            </m:r>
                          </m:e>
                          <m:sup>
                            <m:r>
                              <m:rPr>
                                <m:brk m:alnAt="23"/>
                              </m:rPr>
                              <a:rPr lang="en-US" b="0" i="1" smtClean="0">
                                <a:latin typeface="Cambria Math"/>
                              </a:rPr>
                              <m:t>3</m:t>
                            </m:r>
                          </m:sup>
                        </m:sSup>
                      </m:sub>
                      <m:sup>
                        <m:r>
                          <a:rPr lang="en-US" b="0" i="1" smtClean="0">
                            <a:latin typeface="Cambria Math"/>
                          </a:rPr>
                          <m:t> </m:t>
                        </m:r>
                      </m:sup>
                      <m:e>
                        <m:r>
                          <a:rPr lang="en-US" b="0" i="1" smtClean="0">
                            <a:latin typeface="Cambria Math"/>
                          </a:rPr>
                          <m:t>𝑓</m:t>
                        </m:r>
                        <m:d>
                          <m:dPr>
                            <m:ctrlPr>
                              <a:rPr lang="en-US" b="0" i="1" smtClean="0">
                                <a:latin typeface="Cambria Math" panose="02040503050406030204" pitchFamily="18" charset="0"/>
                              </a:rPr>
                            </m:ctrlPr>
                          </m:dPr>
                          <m:e>
                            <m:r>
                              <a:rPr lang="en-US" b="0" i="1" smtClean="0">
                                <a:latin typeface="Cambria Math"/>
                              </a:rPr>
                              <m:t>𝑥</m:t>
                            </m:r>
                            <m:r>
                              <a:rPr lang="en-US" b="0" i="1" smtClean="0">
                                <a:latin typeface="Cambria Math"/>
                              </a:rPr>
                              <m:t>,</m:t>
                            </m:r>
                            <m:r>
                              <a:rPr lang="en-US" b="0" i="1" smtClean="0">
                                <a:latin typeface="Cambria Math"/>
                              </a:rPr>
                              <m:t>𝑦</m:t>
                            </m:r>
                            <m:r>
                              <a:rPr lang="en-US" b="0" i="1" smtClean="0">
                                <a:latin typeface="Cambria Math"/>
                              </a:rPr>
                              <m:t>,</m:t>
                            </m:r>
                            <m:r>
                              <a:rPr lang="en-US" b="0" i="1" smtClean="0">
                                <a:latin typeface="Cambria Math"/>
                              </a:rPr>
                              <m:t>𝑧</m:t>
                            </m:r>
                          </m:e>
                        </m:d>
                        <m:r>
                          <a:rPr lang="en-US" b="0" i="1" smtClean="0">
                            <a:latin typeface="Cambria Math"/>
                          </a:rPr>
                          <m:t>𝑑𝑥𝑑𝑦𝑑𝑧</m:t>
                        </m:r>
                        <m:r>
                          <a:rPr lang="en-US" b="0" i="1" smtClean="0">
                            <a:latin typeface="Cambria Math"/>
                          </a:rPr>
                          <m:t>=1</m:t>
                        </m:r>
                      </m:e>
                    </m:nary>
                  </m:oMath>
                </a14:m>
                <a:endParaRPr lang="en-US" dirty="0"/>
              </a:p>
              <a:p>
                <a:pPr lvl="1"/>
                <a14:m>
                  <m:oMath xmlns:m="http://schemas.openxmlformats.org/officeDocument/2006/math">
                    <m:r>
                      <a:rPr lang="en-US" b="0" i="1" smtClean="0">
                        <a:latin typeface="Cambria Math"/>
                      </a:rPr>
                      <m:t>𝑃</m:t>
                    </m:r>
                    <m:d>
                      <m:dPr>
                        <m:ctrlPr>
                          <a:rPr lang="en-US" b="0" i="1" smtClean="0">
                            <a:latin typeface="Cambria Math" panose="02040503050406030204" pitchFamily="18" charset="0"/>
                          </a:rPr>
                        </m:ctrlPr>
                      </m:dPr>
                      <m:e>
                        <m:d>
                          <m:dPr>
                            <m:ctrlPr>
                              <a:rPr lang="en-US" b="0" i="1" smtClean="0">
                                <a:latin typeface="Cambria Math" panose="02040503050406030204" pitchFamily="18" charset="0"/>
                              </a:rPr>
                            </m:ctrlPr>
                          </m:dPr>
                          <m:e>
                            <m:r>
                              <a:rPr lang="en-US" b="0" i="1" smtClean="0">
                                <a:latin typeface="Cambria Math"/>
                              </a:rPr>
                              <m:t>𝑋</m:t>
                            </m:r>
                            <m:r>
                              <a:rPr lang="en-US" b="0" i="1" smtClean="0">
                                <a:latin typeface="Cambria Math"/>
                              </a:rPr>
                              <m:t>,</m:t>
                            </m:r>
                            <m:r>
                              <a:rPr lang="en-US" b="0" i="1" smtClean="0">
                                <a:latin typeface="Cambria Math"/>
                              </a:rPr>
                              <m:t>𝑌</m:t>
                            </m:r>
                            <m:r>
                              <a:rPr lang="en-US" b="0" i="1" smtClean="0">
                                <a:latin typeface="Cambria Math"/>
                              </a:rPr>
                              <m:t>,</m:t>
                            </m:r>
                            <m:r>
                              <a:rPr lang="en-US" b="0" i="1" smtClean="0">
                                <a:latin typeface="Cambria Math"/>
                              </a:rPr>
                              <m:t>𝑍</m:t>
                            </m:r>
                          </m:e>
                        </m:d>
                        <m:r>
                          <a:rPr lang="en-US" b="0" i="1" smtClean="0">
                            <a:latin typeface="Cambria Math"/>
                          </a:rPr>
                          <m:t>∈</m:t>
                        </m:r>
                        <m:r>
                          <a:rPr lang="en-US" b="0" i="1" smtClean="0">
                            <a:latin typeface="Cambria Math"/>
                          </a:rPr>
                          <m:t>𝐴</m:t>
                        </m:r>
                      </m:e>
                    </m:d>
                    <m:r>
                      <a:rPr lang="en-US" b="0" i="1" smtClean="0">
                        <a:latin typeface="Cambria Math"/>
                      </a:rPr>
                      <m:t>=</m:t>
                    </m:r>
                  </m:oMath>
                </a14:m>
                <a:r>
                  <a:rPr lang="en-US" dirty="0"/>
                  <a:t> </a:t>
                </a:r>
                <a14:m>
                  <m:oMath xmlns:m="http://schemas.openxmlformats.org/officeDocument/2006/math">
                    <m:nary>
                      <m:naryPr>
                        <m:chr m:val="∭"/>
                        <m:ctrlPr>
                          <a:rPr lang="en-US" i="1">
                            <a:latin typeface="Cambria Math" panose="02040503050406030204" pitchFamily="18" charset="0"/>
                          </a:rPr>
                        </m:ctrlPr>
                      </m:naryPr>
                      <m:sub>
                        <m:r>
                          <a:rPr lang="en-US" i="1" smtClean="0">
                            <a:latin typeface="Cambria Math"/>
                          </a:rPr>
                          <m:t>𝐴</m:t>
                        </m:r>
                      </m:sub>
                      <m:sup>
                        <m:r>
                          <a:rPr lang="en-US" i="1">
                            <a:latin typeface="Cambria Math"/>
                          </a:rPr>
                          <m:t> </m:t>
                        </m:r>
                      </m:sup>
                      <m:e>
                        <m:r>
                          <a:rPr lang="en-US" i="1">
                            <a:latin typeface="Cambria Math"/>
                          </a:rPr>
                          <m:t>𝑓</m:t>
                        </m:r>
                        <m:d>
                          <m:dPr>
                            <m:ctrlPr>
                              <a:rPr lang="en-US" i="1">
                                <a:latin typeface="Cambria Math" panose="02040503050406030204" pitchFamily="18" charset="0"/>
                              </a:rPr>
                            </m:ctrlPr>
                          </m:dPr>
                          <m:e>
                            <m:r>
                              <a:rPr lang="en-US" i="1">
                                <a:latin typeface="Cambria Math"/>
                              </a:rPr>
                              <m:t>𝑥</m:t>
                            </m:r>
                            <m:r>
                              <a:rPr lang="en-US" i="1">
                                <a:latin typeface="Cambria Math"/>
                              </a:rPr>
                              <m:t>,</m:t>
                            </m:r>
                            <m:r>
                              <a:rPr lang="en-US" i="1">
                                <a:latin typeface="Cambria Math"/>
                              </a:rPr>
                              <m:t>𝑦</m:t>
                            </m:r>
                            <m:r>
                              <a:rPr lang="en-US" i="1">
                                <a:latin typeface="Cambria Math"/>
                              </a:rPr>
                              <m:t>,</m:t>
                            </m:r>
                            <m:r>
                              <a:rPr lang="en-US" i="1">
                                <a:latin typeface="Cambria Math"/>
                              </a:rPr>
                              <m:t>𝑧</m:t>
                            </m:r>
                          </m:e>
                        </m:d>
                        <m:r>
                          <a:rPr lang="en-US" i="1">
                            <a:latin typeface="Cambria Math"/>
                          </a:rPr>
                          <m:t>𝑑𝑥𝑑𝑦𝑑𝑧</m:t>
                        </m:r>
                      </m:e>
                    </m:nary>
                  </m:oMath>
                </a14:m>
                <a:r>
                  <a:rPr lang="en-US" dirty="0"/>
                  <a:t> for </a:t>
                </a:r>
                <a14:m>
                  <m:oMath xmlns:m="http://schemas.openxmlformats.org/officeDocument/2006/math">
                    <m:r>
                      <a:rPr lang="en-US" b="0" i="1" smtClean="0">
                        <a:latin typeface="Cambria Math"/>
                      </a:rPr>
                      <m:t>𝐴</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𝑅</m:t>
                        </m:r>
                      </m:e>
                      <m:sup>
                        <m:r>
                          <a:rPr lang="en-US" b="0" i="1" smtClean="0">
                            <a:latin typeface="Cambria Math"/>
                          </a:rPr>
                          <m:t>3</m:t>
                        </m:r>
                      </m:sup>
                    </m:sSup>
                  </m:oMath>
                </a14:m>
                <a:r>
                  <a:rPr lang="en-US" dirty="0"/>
                  <a:t>.</a:t>
                </a:r>
              </a:p>
              <a:p>
                <a:endParaRPr lang="en-US" dirty="0"/>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t="-762" r="-880"/>
                </a:stretch>
              </a:blipFill>
            </p:spPr>
            <p:txBody>
              <a:bodyPr/>
              <a:lstStyle/>
              <a:p>
                <a:r>
                  <a:rPr lang="en-US">
                    <a:noFill/>
                  </a:rPr>
                  <a:t> </a:t>
                </a:r>
              </a:p>
            </p:txBody>
          </p:sp>
        </mc:Fallback>
      </mc:AlternateContent>
    </p:spTree>
    <p:extLst>
      <p:ext uri="{BB962C8B-B14F-4D97-AF65-F5344CB8AC3E}">
        <p14:creationId xmlns:p14="http://schemas.microsoft.com/office/powerpoint/2010/main" val="26176926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Adjacency">
      <a:dk1>
        <a:srgbClr val="2F2B20"/>
      </a:dk1>
      <a:lt1>
        <a:srgbClr val="FFFFFF"/>
      </a:lt1>
      <a:dk2>
        <a:srgbClr val="675E47"/>
      </a:dk2>
      <a:lt2>
        <a:srgbClr val="DFDCB7"/>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Office">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1066</TotalTime>
  <Words>4135</Words>
  <Application>Microsoft Office PowerPoint</Application>
  <PresentationFormat>On-screen Show (4:3)</PresentationFormat>
  <Paragraphs>407</Paragraphs>
  <Slides>49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Calibri</vt:lpstr>
      <vt:lpstr>Cambria</vt:lpstr>
      <vt:lpstr>Cambria Math</vt:lpstr>
      <vt:lpstr>Adjacency</vt:lpstr>
      <vt:lpstr>Random Variables and Probability Distributions</vt:lpstr>
      <vt:lpstr>Chapter 3</vt:lpstr>
      <vt:lpstr>3.1 – Random Variables</vt:lpstr>
      <vt:lpstr>3.1 – Random Variables</vt:lpstr>
      <vt:lpstr>3.1 – Random Variables</vt:lpstr>
      <vt:lpstr>3.1 – Random Variables</vt:lpstr>
      <vt:lpstr>3.1 – Random Variables</vt:lpstr>
      <vt:lpstr>3.1 – Random Variables</vt:lpstr>
      <vt:lpstr>3.1 – Random Variables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3.2 – Discrete Probability Distributions</vt:lpstr>
      <vt:lpstr>3.3 – Continuous Probability Distributions</vt:lpstr>
      <vt:lpstr>3.3 – Continuous Probability Distributions</vt:lpstr>
      <vt:lpstr>3.3 – Continuous Probability Distributions</vt:lpstr>
      <vt:lpstr>3.3 – Continuous Probability Distributions</vt:lpstr>
      <vt:lpstr>3.3 – Continuous Probability Distributions</vt:lpstr>
      <vt:lpstr>3.3 – Continuous Probability Distributions</vt:lpstr>
      <vt:lpstr>3.3 – Continuous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lpstr>3.4 – Joint Probability Distributions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Random Variables and Probability Distributions</dc:title>
  <dc:creator>Jason Adams</dc:creator>
  <cp:lastModifiedBy>Lizzie Reida</cp:lastModifiedBy>
  <cp:revision>48</cp:revision>
  <dcterms:created xsi:type="dcterms:W3CDTF">2017-07-08T16:09:13Z</dcterms:created>
  <dcterms:modified xsi:type="dcterms:W3CDTF">2021-01-14T15:35:07Z</dcterms:modified>
</cp:coreProperties>
</file>
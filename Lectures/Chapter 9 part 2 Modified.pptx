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9" r:id="rId4"/>
    <p:sldId id="258" r:id="rId5"/>
    <p:sldId id="261" r:id="rId6"/>
    <p:sldId id="262" r:id="rId7"/>
    <p:sldId id="263" r:id="rId8"/>
    <p:sldId id="264" r:id="rId9"/>
    <p:sldId id="265" r:id="rId10"/>
    <p:sldId id="268" r:id="rId11"/>
    <p:sldId id="266" r:id="rId12"/>
    <p:sldId id="269" r:id="rId13"/>
    <p:sldId id="267" r:id="rId14"/>
    <p:sldId id="270"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3" d="100"/>
          <a:sy n="73" d="100"/>
        </p:scale>
        <p:origin x="60" y="61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91E807C-241D-4B41-B1CE-621A38017A2B}" type="datetimeFigureOut">
              <a:rPr lang="en-US" smtClean="0"/>
              <a:t>1/14/2021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76C6F1-11CF-48EC-9A75-9DB0E0D9FBFD}" type="slidenum">
              <a:rPr lang="en-US" smtClean="0"/>
              <a:t>‹#›</a:t>
            </a:fld>
            <a:endParaRPr lang="en-US"/>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91E807C-241D-4B41-B1CE-621A38017A2B}" type="datetimeFigureOut">
              <a:rPr lang="en-US" smtClean="0"/>
              <a:t>1/14/2021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76C6F1-11CF-48EC-9A75-9DB0E0D9FBFD}"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91E807C-241D-4B41-B1CE-621A38017A2B}" type="datetimeFigureOut">
              <a:rPr lang="en-US" smtClean="0"/>
              <a:t>1/14/2021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76C6F1-11CF-48EC-9A75-9DB0E0D9FBFD}" type="slidenum">
              <a:rPr lang="en-US" smtClean="0"/>
              <a:t>‹#›</a:t>
            </a:fld>
            <a:endParaRPr lang="en-US"/>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91E807C-241D-4B41-B1CE-621A38017A2B}" type="datetimeFigureOut">
              <a:rPr lang="en-US" smtClean="0"/>
              <a:t>1/14/2021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76C6F1-11CF-48EC-9A75-9DB0E0D9FBFD}"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91E807C-241D-4B41-B1CE-621A38017A2B}" type="datetimeFigureOut">
              <a:rPr lang="en-US" smtClean="0"/>
              <a:t>1/14/2021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376C6F1-11CF-48EC-9A75-9DB0E0D9FBFD}" type="slidenum">
              <a:rPr lang="en-US" smtClean="0"/>
              <a:t>‹#›</a:t>
            </a:fld>
            <a:endParaRPr lang="en-US"/>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91E807C-241D-4B41-B1CE-621A38017A2B}" type="datetimeFigureOut">
              <a:rPr lang="en-US" smtClean="0"/>
              <a:t>1/14/2021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376C6F1-11CF-48EC-9A75-9DB0E0D9FBFD}"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1E807C-241D-4B41-B1CE-621A38017A2B}" type="datetimeFigureOut">
              <a:rPr lang="en-US" smtClean="0"/>
              <a:t>1/14/2021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376C6F1-11CF-48EC-9A75-9DB0E0D9FBFD}"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91E807C-241D-4B41-B1CE-621A38017A2B}" type="datetimeFigureOut">
              <a:rPr lang="en-US" smtClean="0"/>
              <a:t>1/14/2021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76C6F1-11CF-48EC-9A75-9DB0E0D9FBFD}" type="slidenum">
              <a:rPr lang="en-US" smtClean="0"/>
              <a:t>‹#›</a:t>
            </a:fld>
            <a:endParaRPr lang="en-US"/>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91E807C-241D-4B41-B1CE-621A38017A2B}" type="datetimeFigureOut">
              <a:rPr lang="en-US" smtClean="0"/>
              <a:t>1/14/2021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76C6F1-11CF-48EC-9A75-9DB0E0D9FBFD}"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91E807C-241D-4B41-B1CE-621A38017A2B}" type="datetimeFigureOut">
              <a:rPr lang="en-US" smtClean="0"/>
              <a:t>1/14/2021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76C6F1-11CF-48EC-9A75-9DB0E0D9FBFD}"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1E807C-241D-4B41-B1CE-621A38017A2B}" type="datetimeFigureOut">
              <a:rPr lang="en-US" smtClean="0"/>
              <a:t>1/14/2021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76C6F1-11CF-48EC-9A75-9DB0E0D9FBFD}"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591E807C-241D-4B41-B1CE-621A38017A2B}" type="datetimeFigureOut">
              <a:rPr lang="en-US" smtClean="0"/>
              <a:t>1/14/2021</a:t>
            </a:fld>
            <a:endParaRPr lang="en-US"/>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endParaRPr lang="en-US"/>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E376C6F1-11CF-48EC-9A75-9DB0E0D9FBFD}"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Estimation</a:t>
            </a:r>
          </a:p>
        </p:txBody>
      </p:sp>
      <p:sp>
        <p:nvSpPr>
          <p:cNvPr id="3" name="Subtitle 2"/>
          <p:cNvSpPr>
            <a:spLocks noGrp="1"/>
          </p:cNvSpPr>
          <p:nvPr>
            <p:ph type="subTitle" idx="1"/>
          </p:nvPr>
        </p:nvSpPr>
        <p:spPr/>
        <p:txBody>
          <a:bodyPr/>
          <a:lstStyle/>
          <a:p>
            <a:r>
              <a:rPr lang="en-US" dirty="0"/>
              <a:t>Chapter 9</a:t>
            </a:r>
          </a:p>
        </p:txBody>
      </p:sp>
    </p:spTree>
    <p:extLst>
      <p:ext uri="{BB962C8B-B14F-4D97-AF65-F5344CB8AC3E}">
        <p14:creationId xmlns:p14="http://schemas.microsoft.com/office/powerpoint/2010/main" val="18064933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9.8 – Estimating the Difference between Two Means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We now move on to the case where we are interested in comparing two means. Just as we did with hypothesis testing, we will give confidence interval formulas for three cases:</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𝜎</m:t>
                        </m:r>
                      </m:e>
                      <m:sub>
                        <m:r>
                          <a:rPr lang="en-US" b="0" i="1" smtClean="0">
                            <a:latin typeface="Cambria Math"/>
                          </a:rPr>
                          <m:t>1</m:t>
                        </m:r>
                      </m:sub>
                    </m:sSub>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𝜎</m:t>
                        </m:r>
                      </m:e>
                      <m:sub>
                        <m:r>
                          <a:rPr lang="en-US" b="0" i="1" smtClean="0">
                            <a:latin typeface="Cambria Math"/>
                          </a:rPr>
                          <m:t>2</m:t>
                        </m:r>
                      </m:sub>
                    </m:sSub>
                  </m:oMath>
                </a14:m>
                <a:r>
                  <a:rPr lang="en-US" dirty="0"/>
                  <a:t> known – use standard normal distribution</a:t>
                </a:r>
              </a:p>
              <a:p>
                <a:pPr lvl="1"/>
                <a14:m>
                  <m:oMath xmlns:m="http://schemas.openxmlformats.org/officeDocument/2006/math">
                    <m:sSub>
                      <m:sSubPr>
                        <m:ctrlPr>
                          <a:rPr lang="en-US" i="1">
                            <a:latin typeface="Cambria Math" panose="02040503050406030204" pitchFamily="18" charset="0"/>
                          </a:rPr>
                        </m:ctrlPr>
                      </m:sSubPr>
                      <m:e>
                        <m:r>
                          <a:rPr lang="en-US" i="1">
                            <a:latin typeface="Cambria Math"/>
                          </a:rPr>
                          <m:t>𝜎</m:t>
                        </m:r>
                      </m:e>
                      <m:sub>
                        <m:r>
                          <a:rPr lang="en-US" i="1">
                            <a:latin typeface="Cambria Math"/>
                          </a:rPr>
                          <m:t>1</m:t>
                        </m:r>
                      </m:sub>
                    </m:sSub>
                  </m:oMath>
                </a14:m>
                <a:r>
                  <a:rPr lang="en-US" dirty="0"/>
                  <a:t> and </a:t>
                </a:r>
                <a14:m>
                  <m:oMath xmlns:m="http://schemas.openxmlformats.org/officeDocument/2006/math">
                    <m:sSub>
                      <m:sSubPr>
                        <m:ctrlPr>
                          <a:rPr lang="en-US" i="1">
                            <a:latin typeface="Cambria Math" panose="02040503050406030204" pitchFamily="18" charset="0"/>
                          </a:rPr>
                        </m:ctrlPr>
                      </m:sSubPr>
                      <m:e>
                        <m:r>
                          <a:rPr lang="en-US" i="1">
                            <a:latin typeface="Cambria Math"/>
                          </a:rPr>
                          <m:t>𝜎</m:t>
                        </m:r>
                      </m:e>
                      <m:sub>
                        <m:r>
                          <a:rPr lang="en-US" i="1">
                            <a:latin typeface="Cambria Math"/>
                          </a:rPr>
                          <m:t>2</m:t>
                        </m:r>
                      </m:sub>
                    </m:sSub>
                  </m:oMath>
                </a14:m>
                <a:r>
                  <a:rPr lang="en-US" dirty="0"/>
                  <a:t> unknown but assumed equal – use t-distribution</a:t>
                </a:r>
              </a:p>
              <a:p>
                <a:pPr lvl="1"/>
                <a14:m>
                  <m:oMath xmlns:m="http://schemas.openxmlformats.org/officeDocument/2006/math">
                    <m:sSub>
                      <m:sSubPr>
                        <m:ctrlPr>
                          <a:rPr lang="en-US" i="1">
                            <a:latin typeface="Cambria Math" panose="02040503050406030204" pitchFamily="18" charset="0"/>
                          </a:rPr>
                        </m:ctrlPr>
                      </m:sSubPr>
                      <m:e>
                        <m:r>
                          <a:rPr lang="en-US" i="1">
                            <a:latin typeface="Cambria Math"/>
                          </a:rPr>
                          <m:t>𝜎</m:t>
                        </m:r>
                      </m:e>
                      <m:sub>
                        <m:r>
                          <a:rPr lang="en-US" i="1">
                            <a:latin typeface="Cambria Math"/>
                          </a:rPr>
                          <m:t>1</m:t>
                        </m:r>
                      </m:sub>
                    </m:sSub>
                  </m:oMath>
                </a14:m>
                <a:r>
                  <a:rPr lang="en-US" dirty="0"/>
                  <a:t> and </a:t>
                </a:r>
                <a14:m>
                  <m:oMath xmlns:m="http://schemas.openxmlformats.org/officeDocument/2006/math">
                    <m:sSub>
                      <m:sSubPr>
                        <m:ctrlPr>
                          <a:rPr lang="en-US" i="1">
                            <a:latin typeface="Cambria Math" panose="02040503050406030204" pitchFamily="18" charset="0"/>
                          </a:rPr>
                        </m:ctrlPr>
                      </m:sSubPr>
                      <m:e>
                        <m:r>
                          <a:rPr lang="en-US" i="1">
                            <a:latin typeface="Cambria Math"/>
                          </a:rPr>
                          <m:t>𝜎</m:t>
                        </m:r>
                      </m:e>
                      <m:sub>
                        <m:r>
                          <a:rPr lang="en-US" i="1">
                            <a:latin typeface="Cambria Math"/>
                          </a:rPr>
                          <m:t>2</m:t>
                        </m:r>
                      </m:sub>
                    </m:sSub>
                  </m:oMath>
                </a14:m>
                <a:r>
                  <a:rPr lang="en-US" dirty="0"/>
                  <a:t> unknown and unequal – use t-distribution</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593" t="-875" r="-296"/>
                </a:stretch>
              </a:blipFill>
            </p:spPr>
            <p:txBody>
              <a:bodyPr/>
              <a:lstStyle/>
              <a:p>
                <a:r>
                  <a:rPr lang="en-US">
                    <a:noFill/>
                  </a:rPr>
                  <a:t> </a:t>
                </a:r>
              </a:p>
            </p:txBody>
          </p:sp>
        </mc:Fallback>
      </mc:AlternateContent>
    </p:spTree>
    <p:extLst>
      <p:ext uri="{BB962C8B-B14F-4D97-AF65-F5344CB8AC3E}">
        <p14:creationId xmlns:p14="http://schemas.microsoft.com/office/powerpoint/2010/main" val="15652038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9.8 – Estimating the Difference between Two Means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In all three cases, we are interested in estimating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𝜇</m:t>
                        </m:r>
                      </m:e>
                      <m:sub>
                        <m:r>
                          <a:rPr lang="en-US" b="0" i="1" smtClean="0">
                            <a:latin typeface="Cambria Math"/>
                          </a:rPr>
                          <m:t>1</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𝜇</m:t>
                        </m:r>
                      </m:e>
                      <m:sub>
                        <m:r>
                          <a:rPr lang="en-US" b="0" i="1" smtClean="0">
                            <a:latin typeface="Cambria Math"/>
                          </a:rPr>
                          <m:t>2</m:t>
                        </m:r>
                      </m:sub>
                    </m:sSub>
                  </m:oMath>
                </a14:m>
                <a:r>
                  <a:rPr lang="en-US" dirty="0"/>
                  <a:t>. Our estimator is </a:t>
                </a:r>
                <a14:m>
                  <m:oMath xmlns:m="http://schemas.openxmlformats.org/officeDocument/2006/math">
                    <m:sSub>
                      <m:sSubPr>
                        <m:ctrlPr>
                          <a:rPr lang="en-US" b="0" i="1" dirty="0"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a:rPr>
                              <m:t>𝑋</m:t>
                            </m:r>
                          </m:e>
                        </m:acc>
                      </m:e>
                      <m:sub>
                        <m:r>
                          <a:rPr lang="en-US" b="0" i="1" dirty="0" smtClean="0">
                            <a:latin typeface="Cambria Math"/>
                          </a:rPr>
                          <m:t>1</m:t>
                        </m:r>
                      </m:sub>
                    </m:sSub>
                    <m:r>
                      <a:rPr lang="en-US" b="0" i="1" dirty="0" smtClean="0">
                        <a:latin typeface="Cambria Math"/>
                      </a:rPr>
                      <m:t>−</m:t>
                    </m:r>
                    <m:sSub>
                      <m:sSubPr>
                        <m:ctrlPr>
                          <a:rPr lang="en-US" b="0" i="1" dirty="0" smtClean="0">
                            <a:latin typeface="Cambria Math" panose="02040503050406030204" pitchFamily="18" charset="0"/>
                          </a:rPr>
                        </m:ctrlPr>
                      </m:sSubPr>
                      <m:e>
                        <m:acc>
                          <m:accPr>
                            <m:chr m:val="̅"/>
                            <m:ctrlPr>
                              <a:rPr lang="en-US" b="0" i="1" dirty="0" smtClean="0">
                                <a:latin typeface="Cambria Math" panose="02040503050406030204" pitchFamily="18" charset="0"/>
                              </a:rPr>
                            </m:ctrlPr>
                          </m:accPr>
                          <m:e>
                            <m:r>
                              <a:rPr lang="en-US" b="0" i="1" dirty="0" smtClean="0">
                                <a:latin typeface="Cambria Math"/>
                              </a:rPr>
                              <m:t>𝑋</m:t>
                            </m:r>
                          </m:e>
                        </m:acc>
                      </m:e>
                      <m:sub>
                        <m:r>
                          <a:rPr lang="en-US" b="0" i="1" dirty="0" smtClean="0">
                            <a:latin typeface="Cambria Math"/>
                          </a:rPr>
                          <m:t>2</m:t>
                        </m:r>
                      </m:sub>
                    </m:sSub>
                  </m:oMath>
                </a14:m>
                <a:r>
                  <a:rPr lang="en-US" dirty="0"/>
                  <a:t>. </a:t>
                </a:r>
              </a:p>
              <a:p>
                <a:endParaRPr lang="en-US" dirty="0"/>
              </a:p>
              <a:p>
                <a:r>
                  <a:rPr lang="en-US" dirty="0"/>
                  <a:t>We have seen the sampling distributions for this estimator in all three cases in chapter 10. Here, we are going to use those same distributions to come up with confidence interval formulas.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593" t="-875" r="-1481"/>
                </a:stretch>
              </a:blipFill>
            </p:spPr>
            <p:txBody>
              <a:bodyPr/>
              <a:lstStyle/>
              <a:p>
                <a:r>
                  <a:rPr lang="en-US">
                    <a:noFill/>
                  </a:rPr>
                  <a:t> </a:t>
                </a:r>
              </a:p>
            </p:txBody>
          </p:sp>
        </mc:Fallback>
      </mc:AlternateContent>
    </p:spTree>
    <p:extLst>
      <p:ext uri="{BB962C8B-B14F-4D97-AF65-F5344CB8AC3E}">
        <p14:creationId xmlns:p14="http://schemas.microsoft.com/office/powerpoint/2010/main" val="31188187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9.8 – Estimating the Difference between Two Means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Case 1: </a:t>
                </a:r>
                <a14:m>
                  <m:oMath xmlns:m="http://schemas.openxmlformats.org/officeDocument/2006/math">
                    <m:sSub>
                      <m:sSubPr>
                        <m:ctrlPr>
                          <a:rPr lang="en-US" i="1">
                            <a:latin typeface="Cambria Math" panose="02040503050406030204" pitchFamily="18" charset="0"/>
                          </a:rPr>
                        </m:ctrlPr>
                      </m:sSubPr>
                      <m:e>
                        <m:r>
                          <a:rPr lang="en-US" i="1">
                            <a:latin typeface="Cambria Math"/>
                          </a:rPr>
                          <m:t>𝜎</m:t>
                        </m:r>
                      </m:e>
                      <m:sub>
                        <m:r>
                          <a:rPr lang="en-US" i="1">
                            <a:latin typeface="Cambria Math"/>
                          </a:rPr>
                          <m:t>1</m:t>
                        </m:r>
                      </m:sub>
                    </m:sSub>
                  </m:oMath>
                </a14:m>
                <a:r>
                  <a:rPr lang="en-US" dirty="0"/>
                  <a:t> and </a:t>
                </a:r>
                <a14:m>
                  <m:oMath xmlns:m="http://schemas.openxmlformats.org/officeDocument/2006/math">
                    <m:sSub>
                      <m:sSubPr>
                        <m:ctrlPr>
                          <a:rPr lang="en-US" i="1">
                            <a:latin typeface="Cambria Math" panose="02040503050406030204" pitchFamily="18" charset="0"/>
                          </a:rPr>
                        </m:ctrlPr>
                      </m:sSubPr>
                      <m:e>
                        <m:r>
                          <a:rPr lang="en-US" i="1">
                            <a:latin typeface="Cambria Math"/>
                          </a:rPr>
                          <m:t>𝜎</m:t>
                        </m:r>
                      </m:e>
                      <m:sub>
                        <m:r>
                          <a:rPr lang="en-US" i="1">
                            <a:latin typeface="Cambria Math"/>
                          </a:rPr>
                          <m:t>2</m:t>
                        </m:r>
                      </m:sub>
                    </m:sSub>
                  </m:oMath>
                </a14:m>
                <a:r>
                  <a:rPr lang="en-US" dirty="0"/>
                  <a:t> known. In this case, we know that </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a:rPr>
                        <m:t>𝑍</m:t>
                      </m:r>
                      <m:r>
                        <a:rPr lang="en-US" b="0" i="1" smtClean="0">
                          <a:latin typeface="Cambria Math"/>
                        </a:rPr>
                        <m:t>=</m:t>
                      </m:r>
                      <m:f>
                        <m:fPr>
                          <m:ctrlPr>
                            <a:rPr lang="en-US" b="0" i="1" smtClean="0">
                              <a:latin typeface="Cambria Math" panose="02040503050406030204" pitchFamily="18" charset="0"/>
                            </a:rPr>
                          </m:ctrlPr>
                        </m:fPr>
                        <m:num>
                          <m:sSub>
                            <m:sSubPr>
                              <m:ctrlPr>
                                <a:rPr lang="en-US" b="0" i="1" dirty="0"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a:rPr>
                                    <m:t>𝑋</m:t>
                                  </m:r>
                                </m:e>
                              </m:acc>
                            </m:e>
                            <m:sub>
                              <m:r>
                                <a:rPr lang="en-US" b="0" i="1" dirty="0" smtClean="0">
                                  <a:latin typeface="Cambria Math"/>
                                </a:rPr>
                                <m:t>1</m:t>
                              </m:r>
                            </m:sub>
                          </m:sSub>
                          <m:r>
                            <a:rPr lang="en-US" b="0" i="1" dirty="0" smtClean="0">
                              <a:latin typeface="Cambria Math"/>
                            </a:rPr>
                            <m:t>−</m:t>
                          </m:r>
                          <m:sSub>
                            <m:sSubPr>
                              <m:ctrlPr>
                                <a:rPr lang="en-US" b="0" i="1" dirty="0" smtClean="0">
                                  <a:latin typeface="Cambria Math" panose="02040503050406030204" pitchFamily="18" charset="0"/>
                                </a:rPr>
                              </m:ctrlPr>
                            </m:sSubPr>
                            <m:e>
                              <m:acc>
                                <m:accPr>
                                  <m:chr m:val="̅"/>
                                  <m:ctrlPr>
                                    <a:rPr lang="en-US" b="0" i="1" dirty="0" smtClean="0">
                                      <a:latin typeface="Cambria Math" panose="02040503050406030204" pitchFamily="18" charset="0"/>
                                    </a:rPr>
                                  </m:ctrlPr>
                                </m:accPr>
                                <m:e>
                                  <m:r>
                                    <a:rPr lang="en-US" b="0" i="1" dirty="0" smtClean="0">
                                      <a:latin typeface="Cambria Math"/>
                                    </a:rPr>
                                    <m:t>𝑋</m:t>
                                  </m:r>
                                </m:e>
                              </m:acc>
                            </m:e>
                            <m:sub>
                              <m:r>
                                <a:rPr lang="en-US" b="0" i="1" dirty="0" smtClean="0">
                                  <a:latin typeface="Cambria Math"/>
                                </a:rPr>
                                <m:t>2</m:t>
                              </m:r>
                            </m:sub>
                          </m:sSub>
                          <m:r>
                            <a:rPr lang="en-US" b="0" i="1" dirty="0" smtClean="0">
                              <a:latin typeface="Cambria Math"/>
                            </a:rPr>
                            <m:t>−</m:t>
                          </m:r>
                          <m:d>
                            <m:dPr>
                              <m:ctrlPr>
                                <a:rPr lang="en-US" b="0" i="1" dirty="0" smtClean="0">
                                  <a:latin typeface="Cambria Math" panose="02040503050406030204" pitchFamily="18" charset="0"/>
                                </a:rPr>
                              </m:ctrlPr>
                            </m:dPr>
                            <m:e>
                              <m:sSub>
                                <m:sSubPr>
                                  <m:ctrlPr>
                                    <a:rPr lang="en-US" b="0" i="1" dirty="0" smtClean="0">
                                      <a:latin typeface="Cambria Math" panose="02040503050406030204" pitchFamily="18" charset="0"/>
                                    </a:rPr>
                                  </m:ctrlPr>
                                </m:sSubPr>
                                <m:e>
                                  <m:r>
                                    <a:rPr lang="en-US" b="0" i="1" dirty="0" smtClean="0">
                                      <a:latin typeface="Cambria Math"/>
                                    </a:rPr>
                                    <m:t>𝜇</m:t>
                                  </m:r>
                                </m:e>
                                <m:sub>
                                  <m:r>
                                    <a:rPr lang="en-US" b="0" i="1" dirty="0" smtClean="0">
                                      <a:latin typeface="Cambria Math"/>
                                    </a:rPr>
                                    <m:t>1</m:t>
                                  </m:r>
                                </m:sub>
                              </m:sSub>
                              <m:r>
                                <a:rPr lang="en-US" b="0" i="1" dirty="0" smtClean="0">
                                  <a:latin typeface="Cambria Math"/>
                                </a:rPr>
                                <m:t>−</m:t>
                              </m:r>
                              <m:sSub>
                                <m:sSubPr>
                                  <m:ctrlPr>
                                    <a:rPr lang="en-US" b="0" i="1" dirty="0" smtClean="0">
                                      <a:latin typeface="Cambria Math" panose="02040503050406030204" pitchFamily="18" charset="0"/>
                                    </a:rPr>
                                  </m:ctrlPr>
                                </m:sSubPr>
                                <m:e>
                                  <m:r>
                                    <a:rPr lang="en-US" b="0" i="1" dirty="0" smtClean="0">
                                      <a:latin typeface="Cambria Math"/>
                                    </a:rPr>
                                    <m:t>𝜇</m:t>
                                  </m:r>
                                </m:e>
                                <m:sub>
                                  <m:r>
                                    <a:rPr lang="en-US" b="0" i="1" dirty="0" smtClean="0">
                                      <a:latin typeface="Cambria Math"/>
                                    </a:rPr>
                                    <m:t>2</m:t>
                                  </m:r>
                                </m:sub>
                              </m:sSub>
                            </m:e>
                          </m:d>
                        </m:num>
                        <m:den>
                          <m:rad>
                            <m:radPr>
                              <m:degHide m:val="on"/>
                              <m:ctrlPr>
                                <a:rPr lang="en-US" b="0" i="1" smtClean="0">
                                  <a:latin typeface="Cambria Math" panose="02040503050406030204" pitchFamily="18" charset="0"/>
                                </a:rPr>
                              </m:ctrlPr>
                            </m:radPr>
                            <m:deg/>
                            <m:e>
                              <m:f>
                                <m:fPr>
                                  <m:ctrlPr>
                                    <a:rPr lang="en-US" b="0" i="1" smtClean="0">
                                      <a:latin typeface="Cambria Math" panose="02040503050406030204" pitchFamily="18" charset="0"/>
                                    </a:rPr>
                                  </m:ctrlPr>
                                </m:fPr>
                                <m:num>
                                  <m:sSubSup>
                                    <m:sSubSupPr>
                                      <m:ctrlPr>
                                        <a:rPr lang="en-US" b="0" i="1" smtClean="0">
                                          <a:latin typeface="Cambria Math" panose="02040503050406030204" pitchFamily="18" charset="0"/>
                                        </a:rPr>
                                      </m:ctrlPr>
                                    </m:sSubSupPr>
                                    <m:e>
                                      <m:r>
                                        <a:rPr lang="en-US" b="0" i="1" smtClean="0">
                                          <a:latin typeface="Cambria Math"/>
                                        </a:rPr>
                                        <m:t>𝜎</m:t>
                                      </m:r>
                                    </m:e>
                                    <m:sub>
                                      <m:r>
                                        <a:rPr lang="en-US" b="0" i="1" smtClean="0">
                                          <a:latin typeface="Cambria Math"/>
                                        </a:rPr>
                                        <m:t>1</m:t>
                                      </m:r>
                                    </m:sub>
                                    <m:sup>
                                      <m:r>
                                        <a:rPr lang="en-US" b="0" i="1" smtClean="0">
                                          <a:latin typeface="Cambria Math"/>
                                        </a:rPr>
                                        <m:t>2</m:t>
                                      </m:r>
                                    </m:sup>
                                  </m:sSubSup>
                                </m:num>
                                <m:den>
                                  <m:sSub>
                                    <m:sSubPr>
                                      <m:ctrlPr>
                                        <a:rPr lang="en-US" b="0" i="1" smtClean="0">
                                          <a:latin typeface="Cambria Math" panose="02040503050406030204" pitchFamily="18" charset="0"/>
                                        </a:rPr>
                                      </m:ctrlPr>
                                    </m:sSubPr>
                                    <m:e>
                                      <m:r>
                                        <a:rPr lang="en-US" b="0" i="1" smtClean="0">
                                          <a:latin typeface="Cambria Math"/>
                                        </a:rPr>
                                        <m:t>𝑛</m:t>
                                      </m:r>
                                    </m:e>
                                    <m:sub>
                                      <m:r>
                                        <a:rPr lang="en-US" b="0" i="1" smtClean="0">
                                          <a:latin typeface="Cambria Math"/>
                                        </a:rPr>
                                        <m:t>1</m:t>
                                      </m:r>
                                    </m:sub>
                                  </m:sSub>
                                </m:den>
                              </m:f>
                              <m:r>
                                <a:rPr lang="en-US" b="0" i="1" smtClean="0">
                                  <a:latin typeface="Cambria Math"/>
                                </a:rPr>
                                <m:t>+</m:t>
                              </m:r>
                              <m:f>
                                <m:fPr>
                                  <m:ctrlPr>
                                    <a:rPr lang="en-US" b="0" i="1" smtClean="0">
                                      <a:latin typeface="Cambria Math" panose="02040503050406030204" pitchFamily="18" charset="0"/>
                                    </a:rPr>
                                  </m:ctrlPr>
                                </m:fPr>
                                <m:num>
                                  <m:sSubSup>
                                    <m:sSubSupPr>
                                      <m:ctrlPr>
                                        <a:rPr lang="en-US" b="0" i="1" smtClean="0">
                                          <a:latin typeface="Cambria Math" panose="02040503050406030204" pitchFamily="18" charset="0"/>
                                        </a:rPr>
                                      </m:ctrlPr>
                                    </m:sSubSupPr>
                                    <m:e>
                                      <m:r>
                                        <a:rPr lang="en-US" b="0" i="1" smtClean="0">
                                          <a:latin typeface="Cambria Math"/>
                                        </a:rPr>
                                        <m:t>𝜎</m:t>
                                      </m:r>
                                    </m:e>
                                    <m:sub>
                                      <m:r>
                                        <a:rPr lang="en-US" b="0" i="1" smtClean="0">
                                          <a:latin typeface="Cambria Math"/>
                                        </a:rPr>
                                        <m:t>2</m:t>
                                      </m:r>
                                    </m:sub>
                                    <m:sup>
                                      <m:r>
                                        <a:rPr lang="en-US" b="0" i="1" smtClean="0">
                                          <a:latin typeface="Cambria Math"/>
                                        </a:rPr>
                                        <m:t>2</m:t>
                                      </m:r>
                                    </m:sup>
                                  </m:sSubSup>
                                </m:num>
                                <m:den>
                                  <m:sSub>
                                    <m:sSubPr>
                                      <m:ctrlPr>
                                        <a:rPr lang="en-US" b="0" i="1" smtClean="0">
                                          <a:latin typeface="Cambria Math" panose="02040503050406030204" pitchFamily="18" charset="0"/>
                                        </a:rPr>
                                      </m:ctrlPr>
                                    </m:sSubPr>
                                    <m:e>
                                      <m:r>
                                        <a:rPr lang="en-US" b="0" i="1" smtClean="0">
                                          <a:latin typeface="Cambria Math"/>
                                        </a:rPr>
                                        <m:t>𝑛</m:t>
                                      </m:r>
                                    </m:e>
                                    <m:sub>
                                      <m:r>
                                        <a:rPr lang="en-US" b="0" i="1" smtClean="0">
                                          <a:latin typeface="Cambria Math"/>
                                        </a:rPr>
                                        <m:t>2</m:t>
                                      </m:r>
                                    </m:sub>
                                  </m:sSub>
                                </m:den>
                              </m:f>
                            </m:e>
                          </m:rad>
                        </m:den>
                      </m:f>
                      <m:r>
                        <a:rPr lang="en-US" b="0" i="0" smtClean="0">
                          <a:latin typeface="Cambria Math"/>
                        </a:rPr>
                        <m:t>~</m:t>
                      </m:r>
                      <m:r>
                        <a:rPr lang="en-US" b="0" i="1" smtClean="0">
                          <a:latin typeface="Cambria Math"/>
                        </a:rPr>
                        <m:t>𝑁</m:t>
                      </m:r>
                      <m:d>
                        <m:dPr>
                          <m:ctrlPr>
                            <a:rPr lang="en-US" b="0" i="1" smtClean="0">
                              <a:latin typeface="Cambria Math" panose="02040503050406030204" pitchFamily="18" charset="0"/>
                            </a:rPr>
                          </m:ctrlPr>
                        </m:dPr>
                        <m:e>
                          <m:r>
                            <a:rPr lang="en-US" b="0" i="0" smtClean="0">
                              <a:latin typeface="Cambria Math"/>
                            </a:rPr>
                            <m:t>0,1</m:t>
                          </m:r>
                        </m:e>
                      </m:d>
                    </m:oMath>
                  </m:oMathPara>
                </a14:m>
                <a:endParaRPr lang="en-US" dirty="0"/>
              </a:p>
              <a:p>
                <a:pPr marL="0" indent="0">
                  <a:buNone/>
                </a:pPr>
                <a:endParaRPr lang="en-US" dirty="0"/>
              </a:p>
              <a:p>
                <a:pPr marL="0" indent="0">
                  <a:buNone/>
                </a:pPr>
                <a:r>
                  <a:rPr lang="en-US" dirty="0"/>
                  <a:t>(or approximately standard normal by the CLT)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111" t="-875"/>
                </a:stretch>
              </a:blipFill>
            </p:spPr>
            <p:txBody>
              <a:bodyPr/>
              <a:lstStyle/>
              <a:p>
                <a:r>
                  <a:rPr lang="en-US">
                    <a:noFill/>
                  </a:rPr>
                  <a:t> </a:t>
                </a:r>
              </a:p>
            </p:txBody>
          </p:sp>
        </mc:Fallback>
      </mc:AlternateContent>
    </p:spTree>
    <p:extLst>
      <p:ext uri="{BB962C8B-B14F-4D97-AF65-F5344CB8AC3E}">
        <p14:creationId xmlns:p14="http://schemas.microsoft.com/office/powerpoint/2010/main" val="706284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9.8 – Estimating the Difference between Two Means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The formula for the </a:t>
                </a:r>
                <a14:m>
                  <m:oMath xmlns:m="http://schemas.openxmlformats.org/officeDocument/2006/math">
                    <m:r>
                      <a:rPr lang="en-US" b="0" i="1" smtClean="0">
                        <a:latin typeface="Cambria Math"/>
                      </a:rPr>
                      <m:t>100</m:t>
                    </m:r>
                    <m:d>
                      <m:dPr>
                        <m:ctrlPr>
                          <a:rPr lang="en-US" b="0" i="1" smtClean="0">
                            <a:latin typeface="Cambria Math" panose="02040503050406030204" pitchFamily="18" charset="0"/>
                          </a:rPr>
                        </m:ctrlPr>
                      </m:dPr>
                      <m:e>
                        <m:r>
                          <a:rPr lang="en-US" b="0" i="1" smtClean="0">
                            <a:latin typeface="Cambria Math"/>
                          </a:rPr>
                          <m:t>1−</m:t>
                        </m:r>
                        <m:r>
                          <a:rPr lang="en-US" b="0" i="1" smtClean="0">
                            <a:latin typeface="Cambria Math"/>
                          </a:rPr>
                          <m:t>𝛼</m:t>
                        </m:r>
                      </m:e>
                    </m:d>
                    <m:r>
                      <a:rPr lang="en-US" b="0" i="1" smtClean="0">
                        <a:latin typeface="Cambria Math"/>
                      </a:rPr>
                      <m:t>%</m:t>
                    </m:r>
                  </m:oMath>
                </a14:m>
                <a:r>
                  <a:rPr lang="en-US" dirty="0"/>
                  <a:t> confidence interval for the difference of means is </a:t>
                </a:r>
              </a:p>
              <a:p>
                <a:endParaRPr lang="en-US" dirty="0"/>
              </a:p>
              <a:p>
                <a:pPr marL="0" indent="0">
                  <a:buNone/>
                </a:pPr>
                <a14:m>
                  <m:oMathPara xmlns:m="http://schemas.openxmlformats.org/officeDocument/2006/math">
                    <m:oMathParaPr>
                      <m:jc m:val="centerGroup"/>
                    </m:oMathParaPr>
                    <m:oMath xmlns:m="http://schemas.openxmlformats.org/officeDocument/2006/math">
                      <m:d>
                        <m:dPr>
                          <m:ctrlPr>
                            <a:rPr lang="en-US" b="0" i="1" smtClean="0">
                              <a:latin typeface="Cambria Math" panose="02040503050406030204" pitchFamily="18" charset="0"/>
                            </a:rPr>
                          </m:ctrlPr>
                        </m:dPr>
                        <m:e>
                          <m:sSub>
                            <m:sSubPr>
                              <m:ctrlPr>
                                <a:rPr lang="en-US" b="0" i="1" dirty="0"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a:rPr>
                                    <m:t>𝑥</m:t>
                                  </m:r>
                                </m:e>
                              </m:acc>
                            </m:e>
                            <m:sub>
                              <m:r>
                                <a:rPr lang="en-US" b="0" i="1" dirty="0" smtClean="0">
                                  <a:latin typeface="Cambria Math"/>
                                </a:rPr>
                                <m:t>1</m:t>
                              </m:r>
                            </m:sub>
                          </m:sSub>
                          <m:r>
                            <a:rPr lang="en-US" b="0" i="1" dirty="0" smtClean="0">
                              <a:latin typeface="Cambria Math"/>
                            </a:rPr>
                            <m:t>−</m:t>
                          </m:r>
                          <m:sSub>
                            <m:sSubPr>
                              <m:ctrlPr>
                                <a:rPr lang="en-US" b="0" i="1" dirty="0" smtClean="0">
                                  <a:latin typeface="Cambria Math" panose="02040503050406030204" pitchFamily="18" charset="0"/>
                                </a:rPr>
                              </m:ctrlPr>
                            </m:sSubPr>
                            <m:e>
                              <m:acc>
                                <m:accPr>
                                  <m:chr m:val="̅"/>
                                  <m:ctrlPr>
                                    <a:rPr lang="en-US" b="0" i="1" dirty="0" smtClean="0">
                                      <a:latin typeface="Cambria Math" panose="02040503050406030204" pitchFamily="18" charset="0"/>
                                    </a:rPr>
                                  </m:ctrlPr>
                                </m:accPr>
                                <m:e>
                                  <m:r>
                                    <a:rPr lang="en-US" b="0" i="1" dirty="0" smtClean="0">
                                      <a:latin typeface="Cambria Math"/>
                                    </a:rPr>
                                    <m:t>𝑥</m:t>
                                  </m:r>
                                </m:e>
                              </m:acc>
                            </m:e>
                            <m:sub>
                              <m:r>
                                <a:rPr lang="en-US" b="0" i="1" dirty="0" smtClean="0">
                                  <a:latin typeface="Cambria Math"/>
                                </a:rPr>
                                <m:t>2</m:t>
                              </m:r>
                            </m:sub>
                          </m:sSub>
                        </m:e>
                      </m:d>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𝑧</m:t>
                          </m:r>
                        </m:e>
                        <m:sub>
                          <m:f>
                            <m:fPr>
                              <m:ctrlPr>
                                <a:rPr lang="en-US" b="0" i="1" smtClean="0">
                                  <a:latin typeface="Cambria Math" panose="02040503050406030204" pitchFamily="18" charset="0"/>
                                </a:rPr>
                              </m:ctrlPr>
                            </m:fPr>
                            <m:num>
                              <m:r>
                                <a:rPr lang="en-US" b="0" i="1" smtClean="0">
                                  <a:latin typeface="Cambria Math"/>
                                </a:rPr>
                                <m:t>𝛼</m:t>
                              </m:r>
                            </m:num>
                            <m:den>
                              <m:r>
                                <a:rPr lang="en-US" b="0" i="1" smtClean="0">
                                  <a:latin typeface="Cambria Math"/>
                                </a:rPr>
                                <m:t>2</m:t>
                              </m:r>
                            </m:den>
                          </m:f>
                        </m:sub>
                      </m:sSub>
                      <m:r>
                        <a:rPr lang="en-US" b="0" i="1" smtClean="0">
                          <a:latin typeface="Cambria Math"/>
                        </a:rPr>
                        <m:t> </m:t>
                      </m:r>
                      <m:rad>
                        <m:radPr>
                          <m:degHide m:val="on"/>
                          <m:ctrlPr>
                            <a:rPr lang="en-US" b="0" i="1" smtClean="0">
                              <a:latin typeface="Cambria Math" panose="02040503050406030204" pitchFamily="18" charset="0"/>
                            </a:rPr>
                          </m:ctrlPr>
                        </m:radPr>
                        <m:deg/>
                        <m:e>
                          <m:f>
                            <m:fPr>
                              <m:ctrlPr>
                                <a:rPr lang="en-US" i="1">
                                  <a:latin typeface="Cambria Math" panose="02040503050406030204" pitchFamily="18" charset="0"/>
                                </a:rPr>
                              </m:ctrlPr>
                            </m:fPr>
                            <m:num>
                              <m:sSubSup>
                                <m:sSubSupPr>
                                  <m:ctrlPr>
                                    <a:rPr lang="en-US" i="1">
                                      <a:latin typeface="Cambria Math" panose="02040503050406030204" pitchFamily="18" charset="0"/>
                                    </a:rPr>
                                  </m:ctrlPr>
                                </m:sSubSupPr>
                                <m:e>
                                  <m:r>
                                    <a:rPr lang="en-US" i="1">
                                      <a:latin typeface="Cambria Math"/>
                                    </a:rPr>
                                    <m:t>𝜎</m:t>
                                  </m:r>
                                </m:e>
                                <m:sub>
                                  <m:r>
                                    <a:rPr lang="en-US" i="1">
                                      <a:latin typeface="Cambria Math"/>
                                    </a:rPr>
                                    <m:t>1</m:t>
                                  </m:r>
                                </m:sub>
                                <m:sup>
                                  <m:r>
                                    <a:rPr lang="en-US" i="1">
                                      <a:latin typeface="Cambria Math"/>
                                    </a:rPr>
                                    <m:t>2</m:t>
                                  </m:r>
                                </m:sup>
                              </m:sSubSup>
                            </m:num>
                            <m:den>
                              <m:sSub>
                                <m:sSubPr>
                                  <m:ctrlPr>
                                    <a:rPr lang="en-US" i="1">
                                      <a:latin typeface="Cambria Math" panose="02040503050406030204" pitchFamily="18" charset="0"/>
                                    </a:rPr>
                                  </m:ctrlPr>
                                </m:sSubPr>
                                <m:e>
                                  <m:r>
                                    <a:rPr lang="en-US" i="1">
                                      <a:latin typeface="Cambria Math"/>
                                    </a:rPr>
                                    <m:t>𝑛</m:t>
                                  </m:r>
                                </m:e>
                                <m:sub>
                                  <m:r>
                                    <a:rPr lang="en-US" i="1">
                                      <a:latin typeface="Cambria Math"/>
                                    </a:rPr>
                                    <m:t>1</m:t>
                                  </m:r>
                                </m:sub>
                              </m:sSub>
                            </m:den>
                          </m:f>
                          <m:r>
                            <a:rPr lang="en-US" i="1">
                              <a:latin typeface="Cambria Math"/>
                            </a:rPr>
                            <m:t>+</m:t>
                          </m:r>
                          <m:f>
                            <m:fPr>
                              <m:ctrlPr>
                                <a:rPr lang="en-US" i="1">
                                  <a:latin typeface="Cambria Math" panose="02040503050406030204" pitchFamily="18" charset="0"/>
                                </a:rPr>
                              </m:ctrlPr>
                            </m:fPr>
                            <m:num>
                              <m:sSubSup>
                                <m:sSubSupPr>
                                  <m:ctrlPr>
                                    <a:rPr lang="en-US" i="1">
                                      <a:latin typeface="Cambria Math" panose="02040503050406030204" pitchFamily="18" charset="0"/>
                                    </a:rPr>
                                  </m:ctrlPr>
                                </m:sSubSupPr>
                                <m:e>
                                  <m:r>
                                    <a:rPr lang="en-US" i="1">
                                      <a:latin typeface="Cambria Math"/>
                                    </a:rPr>
                                    <m:t>𝜎</m:t>
                                  </m:r>
                                </m:e>
                                <m:sub>
                                  <m:r>
                                    <a:rPr lang="en-US" i="1">
                                      <a:latin typeface="Cambria Math"/>
                                    </a:rPr>
                                    <m:t>2</m:t>
                                  </m:r>
                                </m:sub>
                                <m:sup>
                                  <m:r>
                                    <a:rPr lang="en-US" i="1">
                                      <a:latin typeface="Cambria Math"/>
                                    </a:rPr>
                                    <m:t>2</m:t>
                                  </m:r>
                                </m:sup>
                              </m:sSubSup>
                            </m:num>
                            <m:den>
                              <m:sSub>
                                <m:sSubPr>
                                  <m:ctrlPr>
                                    <a:rPr lang="en-US" i="1">
                                      <a:latin typeface="Cambria Math" panose="02040503050406030204" pitchFamily="18" charset="0"/>
                                    </a:rPr>
                                  </m:ctrlPr>
                                </m:sSubPr>
                                <m:e>
                                  <m:r>
                                    <a:rPr lang="en-US" i="1">
                                      <a:latin typeface="Cambria Math"/>
                                    </a:rPr>
                                    <m:t>𝑛</m:t>
                                  </m:r>
                                </m:e>
                                <m:sub>
                                  <m:r>
                                    <a:rPr lang="en-US" i="1">
                                      <a:latin typeface="Cambria Math"/>
                                    </a:rPr>
                                    <m:t>2</m:t>
                                  </m:r>
                                </m:sub>
                              </m:sSub>
                            </m:den>
                          </m:f>
                        </m:e>
                      </m:rad>
                    </m:oMath>
                  </m:oMathPara>
                </a14:m>
                <a:endParaRPr lang="en-US" dirty="0"/>
              </a:p>
              <a:p>
                <a:pPr marL="0" indent="0">
                  <a:buNone/>
                </a:pPr>
                <a:endParaRPr lang="en-US" dirty="0"/>
              </a:p>
              <a:p>
                <a:r>
                  <a:rPr lang="en-US" dirty="0"/>
                  <a:t>The interpretation for this interval is the same as we have seen previously: “We are </a:t>
                </a:r>
                <a14:m>
                  <m:oMath xmlns:m="http://schemas.openxmlformats.org/officeDocument/2006/math">
                    <m:r>
                      <a:rPr lang="en-US" b="0" i="1" smtClean="0">
                        <a:latin typeface="Cambria Math"/>
                      </a:rPr>
                      <m:t>100</m:t>
                    </m:r>
                    <m:d>
                      <m:dPr>
                        <m:ctrlPr>
                          <a:rPr lang="en-US" b="0" i="1" smtClean="0">
                            <a:latin typeface="Cambria Math" panose="02040503050406030204" pitchFamily="18" charset="0"/>
                          </a:rPr>
                        </m:ctrlPr>
                      </m:dPr>
                      <m:e>
                        <m:r>
                          <a:rPr lang="en-US" b="0" i="1" smtClean="0">
                            <a:latin typeface="Cambria Math"/>
                          </a:rPr>
                          <m:t>1−</m:t>
                        </m:r>
                        <m:r>
                          <a:rPr lang="en-US" b="0" i="1" smtClean="0">
                            <a:latin typeface="Cambria Math"/>
                          </a:rPr>
                          <m:t>𝛼</m:t>
                        </m:r>
                      </m:e>
                    </m:d>
                    <m:r>
                      <a:rPr lang="en-US" b="0" i="1" smtClean="0">
                        <a:latin typeface="Cambria Math"/>
                      </a:rPr>
                      <m:t>%</m:t>
                    </m:r>
                  </m:oMath>
                </a14:m>
                <a:r>
                  <a:rPr lang="en-US" dirty="0"/>
                  <a:t> confident that the true difference in means is between [lower confidence limit] and [upper confidence limit].”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593" t="-875" r="-519"/>
                </a:stretch>
              </a:blipFill>
            </p:spPr>
            <p:txBody>
              <a:bodyPr/>
              <a:lstStyle/>
              <a:p>
                <a:r>
                  <a:rPr lang="en-US">
                    <a:noFill/>
                  </a:rPr>
                  <a:t> </a:t>
                </a:r>
              </a:p>
            </p:txBody>
          </p:sp>
        </mc:Fallback>
      </mc:AlternateContent>
    </p:spTree>
    <p:extLst>
      <p:ext uri="{BB962C8B-B14F-4D97-AF65-F5344CB8AC3E}">
        <p14:creationId xmlns:p14="http://schemas.microsoft.com/office/powerpoint/2010/main" val="3081857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9.8 – Estimating the Difference between Two Means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85000" lnSpcReduction="20000"/>
              </a:bodyPr>
              <a:lstStyle/>
              <a:p>
                <a:r>
                  <a:rPr lang="en-US" dirty="0"/>
                  <a:t>Case 2: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𝜎</m:t>
                        </m:r>
                      </m:e>
                      <m:sub>
                        <m:r>
                          <a:rPr lang="en-US" b="0" i="1" smtClean="0">
                            <a:latin typeface="Cambria Math"/>
                          </a:rPr>
                          <m:t>1</m:t>
                        </m:r>
                      </m:sub>
                    </m:sSub>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𝜎</m:t>
                        </m:r>
                      </m:e>
                      <m:sub>
                        <m:r>
                          <a:rPr lang="en-US" b="0" i="1" smtClean="0">
                            <a:latin typeface="Cambria Math"/>
                          </a:rPr>
                          <m:t>2</m:t>
                        </m:r>
                      </m:sub>
                    </m:sSub>
                  </m:oMath>
                </a14:m>
                <a:r>
                  <a:rPr lang="en-US" dirty="0"/>
                  <a:t> unknown but assumed equal. In this case we must again use the pooled variance estimate:</a:t>
                </a:r>
              </a:p>
              <a:p>
                <a:endParaRPr lang="en-US" dirty="0"/>
              </a:p>
              <a:p>
                <a:pPr marL="0" indent="0">
                  <a:buNone/>
                </a:pPr>
                <a14:m>
                  <m:oMathPara xmlns:m="http://schemas.openxmlformats.org/officeDocument/2006/math">
                    <m:oMathParaPr>
                      <m:jc m:val="centerGroup"/>
                    </m:oMathParaPr>
                    <m:oMath xmlns:m="http://schemas.openxmlformats.org/officeDocument/2006/math">
                      <m:sSubSup>
                        <m:sSubSupPr>
                          <m:ctrlPr>
                            <a:rPr lang="en-US" i="1">
                              <a:latin typeface="Cambria Math" panose="02040503050406030204" pitchFamily="18" charset="0"/>
                            </a:rPr>
                          </m:ctrlPr>
                        </m:sSubSupPr>
                        <m:e>
                          <m:r>
                            <a:rPr lang="en-US" i="1">
                              <a:latin typeface="Cambria Math"/>
                            </a:rPr>
                            <m:t>𝑠</m:t>
                          </m:r>
                        </m:e>
                        <m:sub>
                          <m:r>
                            <a:rPr lang="en-US" i="1">
                              <a:latin typeface="Cambria Math"/>
                            </a:rPr>
                            <m:t>𝑝</m:t>
                          </m:r>
                        </m:sub>
                        <m:sup>
                          <m:r>
                            <a:rPr lang="en-US" i="1">
                              <a:latin typeface="Cambria Math"/>
                            </a:rPr>
                            <m:t>2</m:t>
                          </m:r>
                        </m:sup>
                      </m:sSubSup>
                      <m:r>
                        <a:rPr lang="en-US" i="1">
                          <a:latin typeface="Cambria Math"/>
                        </a:rPr>
                        <m:t>=</m:t>
                      </m:r>
                      <m:f>
                        <m:fPr>
                          <m:ctrlPr>
                            <a:rPr lang="en-US" i="1">
                              <a:latin typeface="Cambria Math" panose="02040503050406030204" pitchFamily="18" charset="0"/>
                            </a:rPr>
                          </m:ctrlPr>
                        </m:fPr>
                        <m:num>
                          <m:sSubSup>
                            <m:sSubSupPr>
                              <m:ctrlPr>
                                <a:rPr lang="en-US" i="1">
                                  <a:latin typeface="Cambria Math" panose="02040503050406030204" pitchFamily="18" charset="0"/>
                                </a:rPr>
                              </m:ctrlPr>
                            </m:sSubSupPr>
                            <m:e>
                              <m:r>
                                <a:rPr lang="en-US" i="1">
                                  <a:latin typeface="Cambria Math"/>
                                </a:rPr>
                                <m:t>𝑠</m:t>
                              </m:r>
                            </m:e>
                            <m:sub>
                              <m:r>
                                <a:rPr lang="en-US" i="1">
                                  <a:latin typeface="Cambria Math"/>
                                </a:rPr>
                                <m:t>1</m:t>
                              </m:r>
                            </m:sub>
                            <m:sup>
                              <m:r>
                                <a:rPr lang="en-US" i="1">
                                  <a:latin typeface="Cambria Math"/>
                                </a:rPr>
                                <m:t>2</m:t>
                              </m:r>
                            </m:sup>
                          </m:sSubSup>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a:rPr>
                                    <m:t>𝑛</m:t>
                                  </m:r>
                                </m:e>
                                <m:sub>
                                  <m:r>
                                    <a:rPr lang="en-US" i="1">
                                      <a:latin typeface="Cambria Math"/>
                                    </a:rPr>
                                    <m:t>1</m:t>
                                  </m:r>
                                </m:sub>
                              </m:sSub>
                              <m:r>
                                <a:rPr lang="en-US" i="1">
                                  <a:latin typeface="Cambria Math"/>
                                </a:rPr>
                                <m:t>−1</m:t>
                              </m:r>
                            </m:e>
                          </m:d>
                          <m:r>
                            <a:rPr lang="en-US" i="1">
                              <a:latin typeface="Cambria Math"/>
                            </a:rPr>
                            <m:t>+</m:t>
                          </m:r>
                          <m:sSubSup>
                            <m:sSubSupPr>
                              <m:ctrlPr>
                                <a:rPr lang="en-US" i="1">
                                  <a:latin typeface="Cambria Math" panose="02040503050406030204" pitchFamily="18" charset="0"/>
                                </a:rPr>
                              </m:ctrlPr>
                            </m:sSubSupPr>
                            <m:e>
                              <m:r>
                                <a:rPr lang="en-US" i="1">
                                  <a:latin typeface="Cambria Math"/>
                                </a:rPr>
                                <m:t>𝑠</m:t>
                              </m:r>
                            </m:e>
                            <m:sub>
                              <m:r>
                                <a:rPr lang="en-US" i="1">
                                  <a:latin typeface="Cambria Math"/>
                                </a:rPr>
                                <m:t>2</m:t>
                              </m:r>
                            </m:sub>
                            <m:sup>
                              <m:r>
                                <a:rPr lang="en-US" i="1">
                                  <a:latin typeface="Cambria Math"/>
                                </a:rPr>
                                <m:t>2</m:t>
                              </m:r>
                            </m:sup>
                          </m:sSubSup>
                          <m:r>
                            <a:rPr lang="en-US" i="1">
                              <a:latin typeface="Cambria Math"/>
                            </a:rPr>
                            <m:t>(</m:t>
                          </m:r>
                          <m:sSub>
                            <m:sSubPr>
                              <m:ctrlPr>
                                <a:rPr lang="en-US" i="1">
                                  <a:latin typeface="Cambria Math" panose="02040503050406030204" pitchFamily="18" charset="0"/>
                                </a:rPr>
                              </m:ctrlPr>
                            </m:sSubPr>
                            <m:e>
                              <m:r>
                                <a:rPr lang="en-US" i="1">
                                  <a:latin typeface="Cambria Math"/>
                                </a:rPr>
                                <m:t>𝑛</m:t>
                              </m:r>
                            </m:e>
                            <m:sub>
                              <m:r>
                                <a:rPr lang="en-US" i="1">
                                  <a:latin typeface="Cambria Math"/>
                                </a:rPr>
                                <m:t>2</m:t>
                              </m:r>
                            </m:sub>
                          </m:sSub>
                          <m:r>
                            <a:rPr lang="en-US" i="1">
                              <a:latin typeface="Cambria Math"/>
                            </a:rPr>
                            <m:t>−1)</m:t>
                          </m:r>
                        </m:num>
                        <m:den>
                          <m:sSub>
                            <m:sSubPr>
                              <m:ctrlPr>
                                <a:rPr lang="en-US" i="1">
                                  <a:latin typeface="Cambria Math" panose="02040503050406030204" pitchFamily="18" charset="0"/>
                                </a:rPr>
                              </m:ctrlPr>
                            </m:sSubPr>
                            <m:e>
                              <m:r>
                                <a:rPr lang="en-US" i="1">
                                  <a:latin typeface="Cambria Math"/>
                                </a:rPr>
                                <m:t>𝑛</m:t>
                              </m:r>
                            </m:e>
                            <m:sub>
                              <m:r>
                                <a:rPr lang="en-US" i="1">
                                  <a:latin typeface="Cambria Math"/>
                                </a:rPr>
                                <m:t>1</m:t>
                              </m:r>
                            </m:sub>
                          </m:sSub>
                          <m:r>
                            <a:rPr lang="en-US" i="1">
                              <a:latin typeface="Cambria Math"/>
                            </a:rPr>
                            <m:t>+</m:t>
                          </m:r>
                          <m:sSub>
                            <m:sSubPr>
                              <m:ctrlPr>
                                <a:rPr lang="en-US" i="1">
                                  <a:latin typeface="Cambria Math" panose="02040503050406030204" pitchFamily="18" charset="0"/>
                                </a:rPr>
                              </m:ctrlPr>
                            </m:sSubPr>
                            <m:e>
                              <m:r>
                                <a:rPr lang="en-US" i="1">
                                  <a:latin typeface="Cambria Math"/>
                                </a:rPr>
                                <m:t>𝑛</m:t>
                              </m:r>
                            </m:e>
                            <m:sub>
                              <m:r>
                                <a:rPr lang="en-US" i="1">
                                  <a:latin typeface="Cambria Math"/>
                                </a:rPr>
                                <m:t>2</m:t>
                              </m:r>
                            </m:sub>
                          </m:sSub>
                          <m:r>
                            <a:rPr lang="en-US" i="1">
                              <a:latin typeface="Cambria Math"/>
                            </a:rPr>
                            <m:t>−2</m:t>
                          </m:r>
                        </m:den>
                      </m:f>
                    </m:oMath>
                  </m:oMathPara>
                </a14:m>
                <a:endParaRPr lang="en-US" dirty="0"/>
              </a:p>
              <a:p>
                <a:pPr marL="0" indent="0">
                  <a:buNone/>
                </a:pPr>
                <a:endParaRPr lang="en-US" dirty="0"/>
              </a:p>
              <a:p>
                <a:r>
                  <a:rPr lang="en-US" dirty="0"/>
                  <a:t>Using this, the confidence interval formula is </a:t>
                </a:r>
              </a:p>
              <a:p>
                <a:endParaRPr lang="en-US" dirty="0"/>
              </a:p>
              <a:p>
                <a:pPr marL="0" indent="0">
                  <a:buNone/>
                </a:pPr>
                <a14:m>
                  <m:oMathPara xmlns:m="http://schemas.openxmlformats.org/officeDocument/2006/math">
                    <m:oMathParaPr>
                      <m:jc m:val="centerGroup"/>
                    </m:oMathParaPr>
                    <m:oMath xmlns:m="http://schemas.openxmlformats.org/officeDocument/2006/math">
                      <m:d>
                        <m:dPr>
                          <m:ctrlPr>
                            <a:rPr lang="en-US" i="1">
                              <a:latin typeface="Cambria Math" panose="02040503050406030204" pitchFamily="18" charset="0"/>
                            </a:rPr>
                          </m:ctrlPr>
                        </m:dPr>
                        <m:e>
                          <m:sSub>
                            <m:sSubPr>
                              <m:ctrlPr>
                                <a:rPr lang="en-US" i="1" dirty="0">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a:rPr>
                                    <m:t>𝑥</m:t>
                                  </m:r>
                                </m:e>
                              </m:acc>
                            </m:e>
                            <m:sub>
                              <m:r>
                                <a:rPr lang="en-US" i="1" dirty="0">
                                  <a:latin typeface="Cambria Math"/>
                                </a:rPr>
                                <m:t>1</m:t>
                              </m:r>
                            </m:sub>
                          </m:sSub>
                          <m:r>
                            <a:rPr lang="en-US" i="1" dirty="0">
                              <a:latin typeface="Cambria Math"/>
                            </a:rPr>
                            <m:t>−</m:t>
                          </m:r>
                          <m:sSub>
                            <m:sSubPr>
                              <m:ctrlPr>
                                <a:rPr lang="en-US" i="1" dirty="0">
                                  <a:latin typeface="Cambria Math" panose="02040503050406030204" pitchFamily="18" charset="0"/>
                                </a:rPr>
                              </m:ctrlPr>
                            </m:sSubPr>
                            <m:e>
                              <m:acc>
                                <m:accPr>
                                  <m:chr m:val="̅"/>
                                  <m:ctrlPr>
                                    <a:rPr lang="en-US" i="1" dirty="0">
                                      <a:latin typeface="Cambria Math" panose="02040503050406030204" pitchFamily="18" charset="0"/>
                                    </a:rPr>
                                  </m:ctrlPr>
                                </m:accPr>
                                <m:e>
                                  <m:r>
                                    <a:rPr lang="en-US" i="1" dirty="0">
                                      <a:latin typeface="Cambria Math"/>
                                    </a:rPr>
                                    <m:t>𝑥</m:t>
                                  </m:r>
                                </m:e>
                              </m:acc>
                            </m:e>
                            <m:sub>
                              <m:r>
                                <a:rPr lang="en-US" i="1" dirty="0">
                                  <a:latin typeface="Cambria Math"/>
                                </a:rPr>
                                <m:t>2</m:t>
                              </m:r>
                            </m:sub>
                          </m:sSub>
                        </m:e>
                      </m:d>
                      <m:r>
                        <a:rPr lang="en-US" b="0" i="1" dirty="0" smtClean="0">
                          <a:latin typeface="Cambria Math"/>
                        </a:rPr>
                        <m:t>±</m:t>
                      </m:r>
                      <m:sSub>
                        <m:sSubPr>
                          <m:ctrlPr>
                            <a:rPr lang="en-US" b="0" i="1" dirty="0" smtClean="0">
                              <a:latin typeface="Cambria Math" panose="02040503050406030204" pitchFamily="18" charset="0"/>
                            </a:rPr>
                          </m:ctrlPr>
                        </m:sSubPr>
                        <m:e>
                          <m:r>
                            <a:rPr lang="en-US" b="0" i="1" dirty="0" smtClean="0">
                              <a:latin typeface="Cambria Math"/>
                            </a:rPr>
                            <m:t>𝑡</m:t>
                          </m:r>
                        </m:e>
                        <m:sub>
                          <m:f>
                            <m:fPr>
                              <m:ctrlPr>
                                <a:rPr lang="en-US" b="0" i="1" dirty="0" smtClean="0">
                                  <a:latin typeface="Cambria Math" panose="02040503050406030204" pitchFamily="18" charset="0"/>
                                </a:rPr>
                              </m:ctrlPr>
                            </m:fPr>
                            <m:num>
                              <m:r>
                                <a:rPr lang="en-US" b="0" i="1" dirty="0" smtClean="0">
                                  <a:latin typeface="Cambria Math"/>
                                </a:rPr>
                                <m:t>𝛼</m:t>
                              </m:r>
                            </m:num>
                            <m:den>
                              <m:r>
                                <a:rPr lang="en-US" b="0" i="1" dirty="0" smtClean="0">
                                  <a:latin typeface="Cambria Math"/>
                                </a:rPr>
                                <m:t>2</m:t>
                              </m:r>
                            </m:den>
                          </m:f>
                        </m:sub>
                      </m:sSub>
                      <m:r>
                        <a:rPr lang="en-US" b="0" i="1" dirty="0" smtClean="0">
                          <a:latin typeface="Cambria Math"/>
                        </a:rPr>
                        <m:t> </m:t>
                      </m:r>
                      <m:sSub>
                        <m:sSubPr>
                          <m:ctrlPr>
                            <a:rPr lang="en-US" b="0" i="1" dirty="0" smtClean="0">
                              <a:latin typeface="Cambria Math" panose="02040503050406030204" pitchFamily="18" charset="0"/>
                            </a:rPr>
                          </m:ctrlPr>
                        </m:sSubPr>
                        <m:e>
                          <m:r>
                            <a:rPr lang="en-US" b="0" i="1" dirty="0" smtClean="0">
                              <a:latin typeface="Cambria Math"/>
                            </a:rPr>
                            <m:t>𝑠</m:t>
                          </m:r>
                        </m:e>
                        <m:sub>
                          <m:r>
                            <a:rPr lang="en-US" b="0" i="1" dirty="0" smtClean="0">
                              <a:latin typeface="Cambria Math"/>
                            </a:rPr>
                            <m:t>𝑝</m:t>
                          </m:r>
                        </m:sub>
                      </m:sSub>
                      <m:rad>
                        <m:radPr>
                          <m:degHide m:val="on"/>
                          <m:ctrlPr>
                            <a:rPr lang="en-US" i="1">
                              <a:latin typeface="Cambria Math" panose="02040503050406030204" pitchFamily="18" charset="0"/>
                            </a:rPr>
                          </m:ctrlPr>
                        </m:radPr>
                        <m:deg/>
                        <m:e>
                          <m:f>
                            <m:fPr>
                              <m:ctrlPr>
                                <a:rPr lang="en-US" i="1">
                                  <a:latin typeface="Cambria Math" panose="02040503050406030204" pitchFamily="18" charset="0"/>
                                </a:rPr>
                              </m:ctrlPr>
                            </m:fPr>
                            <m:num>
                              <m:r>
                                <a:rPr lang="en-US" b="0" i="1" smtClean="0">
                                  <a:latin typeface="Cambria Math"/>
                                </a:rPr>
                                <m:t>1</m:t>
                              </m:r>
                            </m:num>
                            <m:den>
                              <m:sSub>
                                <m:sSubPr>
                                  <m:ctrlPr>
                                    <a:rPr lang="en-US" i="1">
                                      <a:latin typeface="Cambria Math" panose="02040503050406030204" pitchFamily="18" charset="0"/>
                                    </a:rPr>
                                  </m:ctrlPr>
                                </m:sSubPr>
                                <m:e>
                                  <m:r>
                                    <a:rPr lang="en-US" i="1">
                                      <a:latin typeface="Cambria Math"/>
                                    </a:rPr>
                                    <m:t>𝑛</m:t>
                                  </m:r>
                                </m:e>
                                <m:sub>
                                  <m:r>
                                    <a:rPr lang="en-US" i="1">
                                      <a:latin typeface="Cambria Math"/>
                                    </a:rPr>
                                    <m:t>1</m:t>
                                  </m:r>
                                </m:sub>
                              </m:sSub>
                            </m:den>
                          </m:f>
                          <m:r>
                            <a:rPr lang="en-US" i="1">
                              <a:latin typeface="Cambria Math"/>
                            </a:rPr>
                            <m:t>+</m:t>
                          </m:r>
                          <m:f>
                            <m:fPr>
                              <m:ctrlPr>
                                <a:rPr lang="en-US" i="1">
                                  <a:latin typeface="Cambria Math" panose="02040503050406030204" pitchFamily="18" charset="0"/>
                                </a:rPr>
                              </m:ctrlPr>
                            </m:fPr>
                            <m:num>
                              <m:r>
                                <a:rPr lang="en-US" b="0" i="1" smtClean="0">
                                  <a:latin typeface="Cambria Math"/>
                                </a:rPr>
                                <m:t>1</m:t>
                              </m:r>
                            </m:num>
                            <m:den>
                              <m:sSub>
                                <m:sSubPr>
                                  <m:ctrlPr>
                                    <a:rPr lang="en-US" i="1">
                                      <a:latin typeface="Cambria Math" panose="02040503050406030204" pitchFamily="18" charset="0"/>
                                    </a:rPr>
                                  </m:ctrlPr>
                                </m:sSubPr>
                                <m:e>
                                  <m:r>
                                    <a:rPr lang="en-US" i="1">
                                      <a:latin typeface="Cambria Math"/>
                                    </a:rPr>
                                    <m:t>𝑛</m:t>
                                  </m:r>
                                </m:e>
                                <m:sub>
                                  <m:r>
                                    <a:rPr lang="en-US" i="1">
                                      <a:latin typeface="Cambria Math"/>
                                    </a:rPr>
                                    <m:t>2</m:t>
                                  </m:r>
                                </m:sub>
                              </m:sSub>
                            </m:den>
                          </m:f>
                        </m:e>
                      </m:rad>
                    </m:oMath>
                  </m:oMathPara>
                </a14:m>
                <a:endParaRPr lang="en-US" dirty="0"/>
              </a:p>
              <a:p>
                <a:pPr marL="0" indent="0">
                  <a:buNone/>
                </a:pPr>
                <a:r>
                  <a:rPr lang="en-US" dirty="0"/>
                  <a:t>where we use a t-distribution with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𝑛</m:t>
                        </m:r>
                      </m:e>
                      <m:sub>
                        <m:r>
                          <a:rPr lang="en-US" b="0" i="1" smtClean="0">
                            <a:latin typeface="Cambria Math"/>
                          </a:rPr>
                          <m:t>1</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𝑛</m:t>
                        </m:r>
                      </m:e>
                      <m:sub>
                        <m:r>
                          <a:rPr lang="en-US" b="0" i="1" smtClean="0">
                            <a:latin typeface="Cambria Math"/>
                          </a:rPr>
                          <m:t>2</m:t>
                        </m:r>
                      </m:sub>
                    </m:sSub>
                    <m:r>
                      <a:rPr lang="en-US" b="0" i="1" smtClean="0">
                        <a:latin typeface="Cambria Math"/>
                      </a:rPr>
                      <m:t>−2</m:t>
                    </m:r>
                  </m:oMath>
                </a14:m>
                <a:r>
                  <a:rPr lang="en-US" dirty="0"/>
                  <a:t> degrees of freedom to find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𝑡</m:t>
                        </m:r>
                      </m:e>
                      <m:sub>
                        <m:f>
                          <m:fPr>
                            <m:ctrlPr>
                              <a:rPr lang="en-US" b="0" i="1" smtClean="0">
                                <a:latin typeface="Cambria Math" panose="02040503050406030204" pitchFamily="18" charset="0"/>
                              </a:rPr>
                            </m:ctrlPr>
                          </m:fPr>
                          <m:num>
                            <m:r>
                              <a:rPr lang="en-US" b="0" i="1" smtClean="0">
                                <a:latin typeface="Cambria Math"/>
                              </a:rPr>
                              <m:t>𝛼</m:t>
                            </m:r>
                          </m:num>
                          <m:den>
                            <m:r>
                              <a:rPr lang="en-US" b="0" i="1" smtClean="0">
                                <a:latin typeface="Cambria Math"/>
                              </a:rPr>
                              <m:t>2</m:t>
                            </m:r>
                          </m:den>
                        </m:f>
                      </m:sub>
                    </m:sSub>
                  </m:oMath>
                </a14:m>
                <a:endParaRPr lang="en-US" dirty="0"/>
              </a:p>
              <a:p>
                <a:endParaRPr lang="en-US" dirty="0"/>
              </a:p>
              <a:p>
                <a:r>
                  <a:rPr lang="en-US" dirty="0"/>
                  <a:t>The interpretation for this interval is exactly the same as we saw in case 1.</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741" t="-1750" r="-74" b="-2000"/>
                </a:stretch>
              </a:blipFill>
            </p:spPr>
            <p:txBody>
              <a:bodyPr/>
              <a:lstStyle/>
              <a:p>
                <a:r>
                  <a:rPr lang="en-US">
                    <a:noFill/>
                  </a:rPr>
                  <a:t> </a:t>
                </a:r>
              </a:p>
            </p:txBody>
          </p:sp>
        </mc:Fallback>
      </mc:AlternateContent>
    </p:spTree>
    <p:extLst>
      <p:ext uri="{BB962C8B-B14F-4D97-AF65-F5344CB8AC3E}">
        <p14:creationId xmlns:p14="http://schemas.microsoft.com/office/powerpoint/2010/main" val="26409849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9.8 – Estimating the Difference between Two Means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Case 3: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𝜎</m:t>
                        </m:r>
                      </m:e>
                      <m:sub>
                        <m:r>
                          <a:rPr lang="en-US" b="0" i="1" smtClean="0">
                            <a:latin typeface="Cambria Math"/>
                          </a:rPr>
                          <m:t>1</m:t>
                        </m:r>
                      </m:sub>
                    </m:sSub>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𝜎</m:t>
                        </m:r>
                      </m:e>
                      <m:sub>
                        <m:r>
                          <a:rPr lang="en-US" b="0" i="1" smtClean="0">
                            <a:latin typeface="Cambria Math"/>
                          </a:rPr>
                          <m:t>2</m:t>
                        </m:r>
                      </m:sub>
                    </m:sSub>
                  </m:oMath>
                </a14:m>
                <a:r>
                  <a:rPr lang="en-US" dirty="0"/>
                  <a:t> unknown and unequal. As in chapter 10, the difficult part of this case is finding the appropriate degrees of freedom for the t-distribution. We use the same formula (and round down) that we used in chapter 10:</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a:latin typeface="Cambria Math"/>
                        </a:rPr>
                        <m:t>𝑣</m:t>
                      </m:r>
                      <m:r>
                        <a:rPr lang="en-US" i="1">
                          <a:latin typeface="Cambria Math"/>
                        </a:rPr>
                        <m:t>=</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d>
                                <m:dPr>
                                  <m:ctrlPr>
                                    <a:rPr lang="en-US" i="1">
                                      <a:latin typeface="Cambria Math" panose="02040503050406030204" pitchFamily="18" charset="0"/>
                                    </a:rPr>
                                  </m:ctrlPr>
                                </m:dPr>
                                <m:e>
                                  <m:f>
                                    <m:fPr>
                                      <m:ctrlPr>
                                        <a:rPr lang="en-US" i="1">
                                          <a:latin typeface="Cambria Math" panose="02040503050406030204" pitchFamily="18" charset="0"/>
                                        </a:rPr>
                                      </m:ctrlPr>
                                    </m:fPr>
                                    <m:num>
                                      <m:sSubSup>
                                        <m:sSubSupPr>
                                          <m:ctrlPr>
                                            <a:rPr lang="en-US" i="1">
                                              <a:latin typeface="Cambria Math" panose="02040503050406030204" pitchFamily="18" charset="0"/>
                                            </a:rPr>
                                          </m:ctrlPr>
                                        </m:sSubSupPr>
                                        <m:e>
                                          <m:r>
                                            <a:rPr lang="en-US" i="1">
                                              <a:latin typeface="Cambria Math"/>
                                            </a:rPr>
                                            <m:t>𝑠</m:t>
                                          </m:r>
                                        </m:e>
                                        <m:sub>
                                          <m:r>
                                            <a:rPr lang="en-US" i="1">
                                              <a:latin typeface="Cambria Math"/>
                                            </a:rPr>
                                            <m:t>1</m:t>
                                          </m:r>
                                        </m:sub>
                                        <m:sup>
                                          <m:r>
                                            <a:rPr lang="en-US" i="1">
                                              <a:latin typeface="Cambria Math"/>
                                            </a:rPr>
                                            <m:t>2</m:t>
                                          </m:r>
                                        </m:sup>
                                      </m:sSubSup>
                                    </m:num>
                                    <m:den>
                                      <m:sSub>
                                        <m:sSubPr>
                                          <m:ctrlPr>
                                            <a:rPr lang="en-US" i="1">
                                              <a:latin typeface="Cambria Math" panose="02040503050406030204" pitchFamily="18" charset="0"/>
                                            </a:rPr>
                                          </m:ctrlPr>
                                        </m:sSubPr>
                                        <m:e>
                                          <m:r>
                                            <a:rPr lang="en-US" i="1">
                                              <a:latin typeface="Cambria Math"/>
                                            </a:rPr>
                                            <m:t>𝑛</m:t>
                                          </m:r>
                                        </m:e>
                                        <m:sub>
                                          <m:r>
                                            <a:rPr lang="en-US" i="1">
                                              <a:latin typeface="Cambria Math"/>
                                            </a:rPr>
                                            <m:t>1</m:t>
                                          </m:r>
                                        </m:sub>
                                      </m:sSub>
                                    </m:den>
                                  </m:f>
                                  <m:r>
                                    <a:rPr lang="en-US" i="1">
                                      <a:latin typeface="Cambria Math"/>
                                    </a:rPr>
                                    <m:t>+</m:t>
                                  </m:r>
                                  <m:f>
                                    <m:fPr>
                                      <m:ctrlPr>
                                        <a:rPr lang="en-US" i="1">
                                          <a:latin typeface="Cambria Math" panose="02040503050406030204" pitchFamily="18" charset="0"/>
                                        </a:rPr>
                                      </m:ctrlPr>
                                    </m:fPr>
                                    <m:num>
                                      <m:sSubSup>
                                        <m:sSubSupPr>
                                          <m:ctrlPr>
                                            <a:rPr lang="en-US" i="1">
                                              <a:latin typeface="Cambria Math" panose="02040503050406030204" pitchFamily="18" charset="0"/>
                                            </a:rPr>
                                          </m:ctrlPr>
                                        </m:sSubSupPr>
                                        <m:e>
                                          <m:r>
                                            <a:rPr lang="en-US" i="1">
                                              <a:latin typeface="Cambria Math"/>
                                            </a:rPr>
                                            <m:t>𝑠</m:t>
                                          </m:r>
                                        </m:e>
                                        <m:sub>
                                          <m:r>
                                            <a:rPr lang="en-US" i="1">
                                              <a:latin typeface="Cambria Math"/>
                                            </a:rPr>
                                            <m:t>2</m:t>
                                          </m:r>
                                        </m:sub>
                                        <m:sup>
                                          <m:r>
                                            <a:rPr lang="en-US" i="1">
                                              <a:latin typeface="Cambria Math"/>
                                            </a:rPr>
                                            <m:t>2</m:t>
                                          </m:r>
                                        </m:sup>
                                      </m:sSubSup>
                                    </m:num>
                                    <m:den>
                                      <m:sSub>
                                        <m:sSubPr>
                                          <m:ctrlPr>
                                            <a:rPr lang="en-US" i="1">
                                              <a:latin typeface="Cambria Math" panose="02040503050406030204" pitchFamily="18" charset="0"/>
                                            </a:rPr>
                                          </m:ctrlPr>
                                        </m:sSubPr>
                                        <m:e>
                                          <m:r>
                                            <a:rPr lang="en-US" i="1">
                                              <a:latin typeface="Cambria Math"/>
                                            </a:rPr>
                                            <m:t>𝑛</m:t>
                                          </m:r>
                                        </m:e>
                                        <m:sub>
                                          <m:r>
                                            <a:rPr lang="en-US" i="1">
                                              <a:latin typeface="Cambria Math"/>
                                            </a:rPr>
                                            <m:t>2</m:t>
                                          </m:r>
                                        </m:sub>
                                      </m:sSub>
                                    </m:den>
                                  </m:f>
                                </m:e>
                              </m:d>
                            </m:e>
                            <m:sup>
                              <m:r>
                                <a:rPr lang="en-US" i="1">
                                  <a:latin typeface="Cambria Math"/>
                                </a:rPr>
                                <m:t>2</m:t>
                              </m:r>
                            </m:sup>
                          </m:sSup>
                        </m:num>
                        <m:den>
                          <m:f>
                            <m:fPr>
                              <m:ctrlPr>
                                <a:rPr lang="en-US" i="1">
                                  <a:latin typeface="Cambria Math" panose="02040503050406030204" pitchFamily="18" charset="0"/>
                                </a:rPr>
                              </m:ctrlPr>
                            </m:fPr>
                            <m:num>
                              <m:sSup>
                                <m:sSupPr>
                                  <m:ctrlPr>
                                    <a:rPr lang="en-US" i="1">
                                      <a:latin typeface="Cambria Math" panose="02040503050406030204" pitchFamily="18" charset="0"/>
                                    </a:rPr>
                                  </m:ctrlPr>
                                </m:sSupPr>
                                <m:e>
                                  <m:d>
                                    <m:dPr>
                                      <m:ctrlPr>
                                        <a:rPr lang="en-US" i="1">
                                          <a:latin typeface="Cambria Math" panose="02040503050406030204" pitchFamily="18" charset="0"/>
                                        </a:rPr>
                                      </m:ctrlPr>
                                    </m:dPr>
                                    <m:e>
                                      <m:f>
                                        <m:fPr>
                                          <m:ctrlPr>
                                            <a:rPr lang="en-US" i="1">
                                              <a:latin typeface="Cambria Math" panose="02040503050406030204" pitchFamily="18" charset="0"/>
                                            </a:rPr>
                                          </m:ctrlPr>
                                        </m:fPr>
                                        <m:num>
                                          <m:sSubSup>
                                            <m:sSubSupPr>
                                              <m:ctrlPr>
                                                <a:rPr lang="en-US" i="1">
                                                  <a:latin typeface="Cambria Math" panose="02040503050406030204" pitchFamily="18" charset="0"/>
                                                </a:rPr>
                                              </m:ctrlPr>
                                            </m:sSubSupPr>
                                            <m:e>
                                              <m:r>
                                                <a:rPr lang="en-US" i="1">
                                                  <a:latin typeface="Cambria Math"/>
                                                </a:rPr>
                                                <m:t>𝑠</m:t>
                                              </m:r>
                                            </m:e>
                                            <m:sub>
                                              <m:r>
                                                <a:rPr lang="en-US" i="1">
                                                  <a:latin typeface="Cambria Math"/>
                                                </a:rPr>
                                                <m:t>1</m:t>
                                              </m:r>
                                            </m:sub>
                                            <m:sup>
                                              <m:r>
                                                <a:rPr lang="en-US" i="1">
                                                  <a:latin typeface="Cambria Math"/>
                                                </a:rPr>
                                                <m:t>2</m:t>
                                              </m:r>
                                            </m:sup>
                                          </m:sSubSup>
                                        </m:num>
                                        <m:den>
                                          <m:sSub>
                                            <m:sSubPr>
                                              <m:ctrlPr>
                                                <a:rPr lang="en-US" i="1">
                                                  <a:latin typeface="Cambria Math" panose="02040503050406030204" pitchFamily="18" charset="0"/>
                                                </a:rPr>
                                              </m:ctrlPr>
                                            </m:sSubPr>
                                            <m:e>
                                              <m:r>
                                                <a:rPr lang="en-US" i="1">
                                                  <a:latin typeface="Cambria Math"/>
                                                </a:rPr>
                                                <m:t>𝑛</m:t>
                                              </m:r>
                                            </m:e>
                                            <m:sub>
                                              <m:r>
                                                <a:rPr lang="en-US" i="1">
                                                  <a:latin typeface="Cambria Math"/>
                                                </a:rPr>
                                                <m:t>1</m:t>
                                              </m:r>
                                            </m:sub>
                                          </m:sSub>
                                        </m:den>
                                      </m:f>
                                    </m:e>
                                  </m:d>
                                </m:e>
                                <m:sup>
                                  <m:r>
                                    <a:rPr lang="en-US" i="1">
                                      <a:latin typeface="Cambria Math"/>
                                    </a:rPr>
                                    <m:t>2</m:t>
                                  </m:r>
                                </m:sup>
                              </m:sSup>
                            </m:num>
                            <m:den>
                              <m:sSub>
                                <m:sSubPr>
                                  <m:ctrlPr>
                                    <a:rPr lang="en-US" i="1">
                                      <a:latin typeface="Cambria Math" panose="02040503050406030204" pitchFamily="18" charset="0"/>
                                    </a:rPr>
                                  </m:ctrlPr>
                                </m:sSubPr>
                                <m:e>
                                  <m:r>
                                    <a:rPr lang="en-US" i="1">
                                      <a:latin typeface="Cambria Math"/>
                                    </a:rPr>
                                    <m:t>𝑛</m:t>
                                  </m:r>
                                </m:e>
                                <m:sub>
                                  <m:r>
                                    <a:rPr lang="en-US" i="1">
                                      <a:latin typeface="Cambria Math"/>
                                    </a:rPr>
                                    <m:t>1</m:t>
                                  </m:r>
                                </m:sub>
                              </m:sSub>
                              <m:r>
                                <a:rPr lang="en-US" i="1">
                                  <a:latin typeface="Cambria Math"/>
                                </a:rPr>
                                <m:t>−1</m:t>
                              </m:r>
                            </m:den>
                          </m:f>
                          <m:r>
                            <a:rPr lang="en-US" i="1">
                              <a:latin typeface="Cambria Math"/>
                            </a:rPr>
                            <m:t>+</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d>
                                    <m:dPr>
                                      <m:ctrlPr>
                                        <a:rPr lang="en-US" i="1">
                                          <a:latin typeface="Cambria Math" panose="02040503050406030204" pitchFamily="18" charset="0"/>
                                        </a:rPr>
                                      </m:ctrlPr>
                                    </m:dPr>
                                    <m:e>
                                      <m:f>
                                        <m:fPr>
                                          <m:ctrlPr>
                                            <a:rPr lang="en-US" i="1">
                                              <a:latin typeface="Cambria Math" panose="02040503050406030204" pitchFamily="18" charset="0"/>
                                            </a:rPr>
                                          </m:ctrlPr>
                                        </m:fPr>
                                        <m:num>
                                          <m:sSubSup>
                                            <m:sSubSupPr>
                                              <m:ctrlPr>
                                                <a:rPr lang="en-US" i="1">
                                                  <a:latin typeface="Cambria Math" panose="02040503050406030204" pitchFamily="18" charset="0"/>
                                                </a:rPr>
                                              </m:ctrlPr>
                                            </m:sSubSupPr>
                                            <m:e>
                                              <m:r>
                                                <a:rPr lang="en-US" i="1">
                                                  <a:latin typeface="Cambria Math"/>
                                                </a:rPr>
                                                <m:t>𝑠</m:t>
                                              </m:r>
                                            </m:e>
                                            <m:sub>
                                              <m:r>
                                                <a:rPr lang="en-US" i="1">
                                                  <a:latin typeface="Cambria Math"/>
                                                </a:rPr>
                                                <m:t>2</m:t>
                                              </m:r>
                                            </m:sub>
                                            <m:sup>
                                              <m:r>
                                                <a:rPr lang="en-US" i="1">
                                                  <a:latin typeface="Cambria Math"/>
                                                </a:rPr>
                                                <m:t>2</m:t>
                                              </m:r>
                                            </m:sup>
                                          </m:sSubSup>
                                        </m:num>
                                        <m:den>
                                          <m:sSub>
                                            <m:sSubPr>
                                              <m:ctrlPr>
                                                <a:rPr lang="en-US" i="1">
                                                  <a:latin typeface="Cambria Math" panose="02040503050406030204" pitchFamily="18" charset="0"/>
                                                </a:rPr>
                                              </m:ctrlPr>
                                            </m:sSubPr>
                                            <m:e>
                                              <m:r>
                                                <a:rPr lang="en-US" i="1">
                                                  <a:latin typeface="Cambria Math"/>
                                                </a:rPr>
                                                <m:t>𝑛</m:t>
                                              </m:r>
                                            </m:e>
                                            <m:sub>
                                              <m:r>
                                                <a:rPr lang="en-US" i="1">
                                                  <a:latin typeface="Cambria Math"/>
                                                </a:rPr>
                                                <m:t>2</m:t>
                                              </m:r>
                                            </m:sub>
                                          </m:sSub>
                                        </m:den>
                                      </m:f>
                                    </m:e>
                                  </m:d>
                                </m:e>
                                <m:sup>
                                  <m:r>
                                    <a:rPr lang="en-US" i="1">
                                      <a:latin typeface="Cambria Math"/>
                                    </a:rPr>
                                    <m:t>2</m:t>
                                  </m:r>
                                </m:sup>
                              </m:sSup>
                            </m:num>
                            <m:den>
                              <m:sSub>
                                <m:sSubPr>
                                  <m:ctrlPr>
                                    <a:rPr lang="en-US" i="1">
                                      <a:latin typeface="Cambria Math" panose="02040503050406030204" pitchFamily="18" charset="0"/>
                                    </a:rPr>
                                  </m:ctrlPr>
                                </m:sSubPr>
                                <m:e>
                                  <m:r>
                                    <a:rPr lang="en-US" i="1">
                                      <a:latin typeface="Cambria Math"/>
                                    </a:rPr>
                                    <m:t>𝑛</m:t>
                                  </m:r>
                                </m:e>
                                <m:sub>
                                  <m:r>
                                    <a:rPr lang="en-US" i="1">
                                      <a:latin typeface="Cambria Math"/>
                                    </a:rPr>
                                    <m:t>2</m:t>
                                  </m:r>
                                </m:sub>
                              </m:sSub>
                              <m:r>
                                <a:rPr lang="en-US" i="1">
                                  <a:latin typeface="Cambria Math"/>
                                </a:rPr>
                                <m:t>−1</m:t>
                              </m:r>
                            </m:den>
                          </m:f>
                        </m:den>
                      </m:f>
                    </m:oMath>
                  </m:oMathPara>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593" t="-875"/>
                </a:stretch>
              </a:blipFill>
            </p:spPr>
            <p:txBody>
              <a:bodyPr/>
              <a:lstStyle/>
              <a:p>
                <a:r>
                  <a:rPr lang="en-US">
                    <a:noFill/>
                  </a:rPr>
                  <a:t> </a:t>
                </a:r>
              </a:p>
            </p:txBody>
          </p:sp>
        </mc:Fallback>
      </mc:AlternateContent>
    </p:spTree>
    <p:extLst>
      <p:ext uri="{BB962C8B-B14F-4D97-AF65-F5344CB8AC3E}">
        <p14:creationId xmlns:p14="http://schemas.microsoft.com/office/powerpoint/2010/main" val="13731572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9.8 – Estimating the Difference between Two Means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Once we have the degrees of freedom, the rest is pretty much the same as what we’ve seen. The confidence interval formula is</a:t>
                </a:r>
              </a:p>
              <a:p>
                <a:endParaRPr lang="en-US" dirty="0"/>
              </a:p>
              <a:p>
                <a:pPr marL="0" indent="0">
                  <a:buNone/>
                </a:pPr>
                <a14:m>
                  <m:oMathPara xmlns:m="http://schemas.openxmlformats.org/officeDocument/2006/math">
                    <m:oMathParaPr>
                      <m:jc m:val="centerGroup"/>
                    </m:oMathParaPr>
                    <m:oMath xmlns:m="http://schemas.openxmlformats.org/officeDocument/2006/math">
                      <m:d>
                        <m:dPr>
                          <m:ctrlPr>
                            <a:rPr lang="en-US" i="1">
                              <a:latin typeface="Cambria Math" panose="02040503050406030204" pitchFamily="18" charset="0"/>
                            </a:rPr>
                          </m:ctrlPr>
                        </m:dPr>
                        <m:e>
                          <m:sSub>
                            <m:sSubPr>
                              <m:ctrlPr>
                                <a:rPr lang="en-US" i="1" dirty="0">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a:rPr>
                                    <m:t>𝑥</m:t>
                                  </m:r>
                                </m:e>
                              </m:acc>
                            </m:e>
                            <m:sub>
                              <m:r>
                                <a:rPr lang="en-US" i="1" dirty="0">
                                  <a:latin typeface="Cambria Math"/>
                                </a:rPr>
                                <m:t>1</m:t>
                              </m:r>
                            </m:sub>
                          </m:sSub>
                          <m:r>
                            <a:rPr lang="en-US" i="1" dirty="0">
                              <a:latin typeface="Cambria Math"/>
                            </a:rPr>
                            <m:t>−</m:t>
                          </m:r>
                          <m:sSub>
                            <m:sSubPr>
                              <m:ctrlPr>
                                <a:rPr lang="en-US" i="1" dirty="0">
                                  <a:latin typeface="Cambria Math" panose="02040503050406030204" pitchFamily="18" charset="0"/>
                                </a:rPr>
                              </m:ctrlPr>
                            </m:sSubPr>
                            <m:e>
                              <m:acc>
                                <m:accPr>
                                  <m:chr m:val="̅"/>
                                  <m:ctrlPr>
                                    <a:rPr lang="en-US" i="1" dirty="0">
                                      <a:latin typeface="Cambria Math" panose="02040503050406030204" pitchFamily="18" charset="0"/>
                                    </a:rPr>
                                  </m:ctrlPr>
                                </m:accPr>
                                <m:e>
                                  <m:r>
                                    <a:rPr lang="en-US" i="1" dirty="0">
                                      <a:latin typeface="Cambria Math"/>
                                    </a:rPr>
                                    <m:t>𝑥</m:t>
                                  </m:r>
                                </m:e>
                              </m:acc>
                            </m:e>
                            <m:sub>
                              <m:r>
                                <a:rPr lang="en-US" i="1" dirty="0">
                                  <a:latin typeface="Cambria Math"/>
                                </a:rPr>
                                <m:t>2</m:t>
                              </m:r>
                            </m:sub>
                          </m:sSub>
                        </m:e>
                      </m:d>
                      <m:r>
                        <a:rPr lang="en-US" i="1">
                          <a:latin typeface="Cambria Math"/>
                        </a:rPr>
                        <m:t>±</m:t>
                      </m:r>
                      <m:sSub>
                        <m:sSubPr>
                          <m:ctrlPr>
                            <a:rPr lang="en-US" i="1">
                              <a:latin typeface="Cambria Math" panose="02040503050406030204" pitchFamily="18" charset="0"/>
                            </a:rPr>
                          </m:ctrlPr>
                        </m:sSubPr>
                        <m:e>
                          <m:r>
                            <a:rPr lang="en-US" b="0" i="1" smtClean="0">
                              <a:latin typeface="Cambria Math"/>
                            </a:rPr>
                            <m:t>𝑡</m:t>
                          </m:r>
                        </m:e>
                        <m:sub>
                          <m:f>
                            <m:fPr>
                              <m:ctrlPr>
                                <a:rPr lang="en-US" i="1">
                                  <a:latin typeface="Cambria Math" panose="02040503050406030204" pitchFamily="18" charset="0"/>
                                </a:rPr>
                              </m:ctrlPr>
                            </m:fPr>
                            <m:num>
                              <m:r>
                                <a:rPr lang="en-US" i="1">
                                  <a:latin typeface="Cambria Math"/>
                                </a:rPr>
                                <m:t>𝛼</m:t>
                              </m:r>
                            </m:num>
                            <m:den>
                              <m:r>
                                <a:rPr lang="en-US" i="1">
                                  <a:latin typeface="Cambria Math"/>
                                </a:rPr>
                                <m:t>2</m:t>
                              </m:r>
                            </m:den>
                          </m:f>
                        </m:sub>
                      </m:sSub>
                      <m:r>
                        <a:rPr lang="en-US" i="1">
                          <a:latin typeface="Cambria Math"/>
                        </a:rPr>
                        <m:t> </m:t>
                      </m:r>
                      <m:rad>
                        <m:radPr>
                          <m:degHide m:val="on"/>
                          <m:ctrlPr>
                            <a:rPr lang="en-US" i="1">
                              <a:latin typeface="Cambria Math" panose="02040503050406030204" pitchFamily="18" charset="0"/>
                            </a:rPr>
                          </m:ctrlPr>
                        </m:radPr>
                        <m:deg/>
                        <m:e>
                          <m:f>
                            <m:fPr>
                              <m:ctrlPr>
                                <a:rPr lang="en-US" i="1">
                                  <a:latin typeface="Cambria Math" panose="02040503050406030204" pitchFamily="18" charset="0"/>
                                </a:rPr>
                              </m:ctrlPr>
                            </m:fPr>
                            <m:num>
                              <m:sSubSup>
                                <m:sSubSupPr>
                                  <m:ctrlPr>
                                    <a:rPr lang="en-US" i="1">
                                      <a:latin typeface="Cambria Math" panose="02040503050406030204" pitchFamily="18" charset="0"/>
                                    </a:rPr>
                                  </m:ctrlPr>
                                </m:sSubSupPr>
                                <m:e>
                                  <m:r>
                                    <a:rPr lang="en-US" b="0" i="1" smtClean="0">
                                      <a:latin typeface="Cambria Math"/>
                                    </a:rPr>
                                    <m:t>𝑠</m:t>
                                  </m:r>
                                </m:e>
                                <m:sub>
                                  <m:r>
                                    <a:rPr lang="en-US" i="1">
                                      <a:latin typeface="Cambria Math"/>
                                    </a:rPr>
                                    <m:t>1</m:t>
                                  </m:r>
                                </m:sub>
                                <m:sup>
                                  <m:r>
                                    <a:rPr lang="en-US" i="1">
                                      <a:latin typeface="Cambria Math"/>
                                    </a:rPr>
                                    <m:t>2</m:t>
                                  </m:r>
                                </m:sup>
                              </m:sSubSup>
                            </m:num>
                            <m:den>
                              <m:sSub>
                                <m:sSubPr>
                                  <m:ctrlPr>
                                    <a:rPr lang="en-US" i="1">
                                      <a:latin typeface="Cambria Math" panose="02040503050406030204" pitchFamily="18" charset="0"/>
                                    </a:rPr>
                                  </m:ctrlPr>
                                </m:sSubPr>
                                <m:e>
                                  <m:r>
                                    <a:rPr lang="en-US" i="1">
                                      <a:latin typeface="Cambria Math"/>
                                    </a:rPr>
                                    <m:t>𝑛</m:t>
                                  </m:r>
                                </m:e>
                                <m:sub>
                                  <m:r>
                                    <a:rPr lang="en-US" i="1">
                                      <a:latin typeface="Cambria Math"/>
                                    </a:rPr>
                                    <m:t>1</m:t>
                                  </m:r>
                                </m:sub>
                              </m:sSub>
                            </m:den>
                          </m:f>
                          <m:r>
                            <a:rPr lang="en-US" i="1">
                              <a:latin typeface="Cambria Math"/>
                            </a:rPr>
                            <m:t>+</m:t>
                          </m:r>
                          <m:f>
                            <m:fPr>
                              <m:ctrlPr>
                                <a:rPr lang="en-US" i="1">
                                  <a:latin typeface="Cambria Math" panose="02040503050406030204" pitchFamily="18" charset="0"/>
                                </a:rPr>
                              </m:ctrlPr>
                            </m:fPr>
                            <m:num>
                              <m:sSubSup>
                                <m:sSubSupPr>
                                  <m:ctrlPr>
                                    <a:rPr lang="en-US" i="1">
                                      <a:latin typeface="Cambria Math" panose="02040503050406030204" pitchFamily="18" charset="0"/>
                                    </a:rPr>
                                  </m:ctrlPr>
                                </m:sSubSupPr>
                                <m:e>
                                  <m:r>
                                    <a:rPr lang="en-US" b="0" i="1" smtClean="0">
                                      <a:latin typeface="Cambria Math"/>
                                    </a:rPr>
                                    <m:t>𝑠</m:t>
                                  </m:r>
                                </m:e>
                                <m:sub>
                                  <m:r>
                                    <a:rPr lang="en-US" i="1">
                                      <a:latin typeface="Cambria Math"/>
                                    </a:rPr>
                                    <m:t>2</m:t>
                                  </m:r>
                                </m:sub>
                                <m:sup>
                                  <m:r>
                                    <a:rPr lang="en-US" i="1">
                                      <a:latin typeface="Cambria Math"/>
                                    </a:rPr>
                                    <m:t>2</m:t>
                                  </m:r>
                                </m:sup>
                              </m:sSubSup>
                            </m:num>
                            <m:den>
                              <m:sSub>
                                <m:sSubPr>
                                  <m:ctrlPr>
                                    <a:rPr lang="en-US" i="1">
                                      <a:latin typeface="Cambria Math" panose="02040503050406030204" pitchFamily="18" charset="0"/>
                                    </a:rPr>
                                  </m:ctrlPr>
                                </m:sSubPr>
                                <m:e>
                                  <m:r>
                                    <a:rPr lang="en-US" i="1">
                                      <a:latin typeface="Cambria Math"/>
                                    </a:rPr>
                                    <m:t>𝑛</m:t>
                                  </m:r>
                                </m:e>
                                <m:sub>
                                  <m:r>
                                    <a:rPr lang="en-US" i="1">
                                      <a:latin typeface="Cambria Math"/>
                                    </a:rPr>
                                    <m:t>2</m:t>
                                  </m:r>
                                </m:sub>
                              </m:sSub>
                            </m:den>
                          </m:f>
                        </m:e>
                      </m:rad>
                    </m:oMath>
                  </m:oMathPara>
                </a14:m>
                <a:endParaRPr lang="en-US" dirty="0"/>
              </a:p>
              <a:p>
                <a:pPr marL="0" indent="0">
                  <a:buNone/>
                </a:pPr>
                <a:endParaRPr lang="en-US" dirty="0"/>
              </a:p>
              <a:p>
                <a:r>
                  <a:rPr lang="en-US" dirty="0"/>
                  <a:t>Again, the interpretation is exactly the same as in the previous two cases.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593" t="-875"/>
                </a:stretch>
              </a:blipFill>
            </p:spPr>
            <p:txBody>
              <a:bodyPr/>
              <a:lstStyle/>
              <a:p>
                <a:r>
                  <a:rPr lang="en-US">
                    <a:noFill/>
                  </a:rPr>
                  <a:t> </a:t>
                </a:r>
              </a:p>
            </p:txBody>
          </p:sp>
        </mc:Fallback>
      </mc:AlternateContent>
    </p:spTree>
    <p:extLst>
      <p:ext uri="{BB962C8B-B14F-4D97-AF65-F5344CB8AC3E}">
        <p14:creationId xmlns:p14="http://schemas.microsoft.com/office/powerpoint/2010/main" val="39828916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9.8 – Estimating the Difference between Two Means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For practice, we will construct intervals for the same three examples we used in chapter 10. Also, give an interpretation for each interval. </a:t>
                </a:r>
              </a:p>
              <a:p>
                <a:endParaRPr lang="en-US" dirty="0"/>
              </a:p>
              <a:p>
                <a:r>
                  <a:rPr lang="en-US" dirty="0"/>
                  <a:t>The first example used the following data (with no context given):</a:t>
                </a:r>
              </a:p>
              <a:p>
                <a:endParaRPr lang="en-US" dirty="0"/>
              </a:p>
              <a:p>
                <a:endParaRPr lang="en-US" dirty="0"/>
              </a:p>
              <a:p>
                <a:endParaRPr lang="en-US" dirty="0"/>
              </a:p>
              <a:p>
                <a:endParaRPr lang="en-US" dirty="0"/>
              </a:p>
              <a:p>
                <a:r>
                  <a:rPr lang="en-US" dirty="0"/>
                  <a:t>Construct a 99% confidence interval for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𝜇</m:t>
                        </m:r>
                      </m:e>
                      <m:sub>
                        <m:r>
                          <a:rPr lang="en-US" b="0" i="1" smtClean="0">
                            <a:latin typeface="Cambria Math"/>
                          </a:rPr>
                          <m:t>1</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𝜇</m:t>
                        </m:r>
                      </m:e>
                      <m:sub>
                        <m:r>
                          <a:rPr lang="en-US" b="0" i="1" smtClean="0">
                            <a:latin typeface="Cambria Math"/>
                          </a:rPr>
                          <m:t>2</m:t>
                        </m:r>
                      </m:sub>
                    </m:sSub>
                  </m:oMath>
                </a14:m>
                <a:r>
                  <a:rPr lang="en-US"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593" t="-875" r="-1111"/>
                </a:stretch>
              </a:blipFill>
            </p:spPr>
            <p:txBody>
              <a:bodyPr/>
              <a:lstStyle/>
              <a:p>
                <a:r>
                  <a:rPr lang="en-US">
                    <a:noFill/>
                  </a:rPr>
                  <a:t> </a:t>
                </a:r>
              </a:p>
            </p:txBody>
          </p:sp>
        </mc:Fallback>
      </mc:AlternateContent>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7752" y="4100945"/>
            <a:ext cx="6102350" cy="151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294127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9.8 – Estimating the Difference between Two Means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Interpretation: We are 99% confident that the true difference between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𝜇</m:t>
                        </m:r>
                      </m:e>
                      <m:sub>
                        <m:r>
                          <a:rPr lang="en-US" b="0" i="1" smtClean="0">
                            <a:latin typeface="Cambria Math"/>
                          </a:rPr>
                          <m:t>1</m:t>
                        </m:r>
                      </m:sub>
                    </m:sSub>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𝜇</m:t>
                        </m:r>
                      </m:e>
                      <m:sub>
                        <m:r>
                          <a:rPr lang="en-US" b="0" i="1" smtClean="0">
                            <a:latin typeface="Cambria Math"/>
                          </a:rPr>
                          <m:t>2</m:t>
                        </m:r>
                      </m:sub>
                    </m:sSub>
                  </m:oMath>
                </a14:m>
                <a:r>
                  <a:rPr lang="en-US" dirty="0"/>
                  <a:t> is between </a:t>
                </a:r>
                <a14:m>
                  <m:oMath xmlns:m="http://schemas.openxmlformats.org/officeDocument/2006/math">
                    <m:r>
                      <a:rPr lang="en-US" b="0" i="1" smtClean="0">
                        <a:latin typeface="Cambria Math"/>
                      </a:rPr>
                      <m:t>1.9493</m:t>
                    </m:r>
                  </m:oMath>
                </a14:m>
                <a:r>
                  <a:rPr lang="en-US" dirty="0"/>
                  <a:t> and </a:t>
                </a:r>
                <a14:m>
                  <m:oMath xmlns:m="http://schemas.openxmlformats.org/officeDocument/2006/math">
                    <m:r>
                      <a:rPr lang="en-US" b="0" i="1" smtClean="0">
                        <a:latin typeface="Cambria Math"/>
                      </a:rPr>
                      <m:t>8.0507</m:t>
                    </m:r>
                  </m:oMath>
                </a14:m>
                <a:r>
                  <a:rPr lang="en-US" dirty="0"/>
                  <a:t>. </a:t>
                </a:r>
              </a:p>
              <a:p>
                <a:endParaRPr lang="en-US" dirty="0"/>
              </a:p>
              <a:p>
                <a:r>
                  <a:rPr lang="en-US" dirty="0"/>
                  <a:t>One way this might be expressed is that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𝜇</m:t>
                        </m:r>
                      </m:e>
                      <m:sub>
                        <m:r>
                          <a:rPr lang="en-US" b="0" i="1" smtClean="0">
                            <a:latin typeface="Cambria Math"/>
                          </a:rPr>
                          <m:t>1</m:t>
                        </m:r>
                      </m:sub>
                    </m:sSub>
                  </m:oMath>
                </a14:m>
                <a:r>
                  <a:rPr lang="en-US" dirty="0"/>
                  <a:t> is </a:t>
                </a:r>
                <a:r>
                  <a:rPr lang="en-US" i="1" dirty="0"/>
                  <a:t>significantly</a:t>
                </a:r>
                <a:r>
                  <a:rPr lang="en-US" dirty="0"/>
                  <a:t> different (or we could say larger) than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𝜇</m:t>
                        </m:r>
                      </m:e>
                      <m:sub>
                        <m:r>
                          <a:rPr lang="en-US" b="0" i="1" smtClean="0">
                            <a:latin typeface="Cambria Math"/>
                          </a:rPr>
                          <m:t>2</m:t>
                        </m:r>
                      </m:sub>
                    </m:sSub>
                  </m:oMath>
                </a14:m>
                <a:r>
                  <a:rPr lang="en-US" dirty="0"/>
                  <a:t>. This is because the plausible values for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𝜇</m:t>
                        </m:r>
                      </m:e>
                      <m:sub>
                        <m:r>
                          <a:rPr lang="en-US" b="0" i="1" smtClean="0">
                            <a:latin typeface="Cambria Math"/>
                          </a:rPr>
                          <m:t>1</m:t>
                        </m:r>
                      </m:sub>
                    </m:sSub>
                    <m:r>
                      <a:rPr lang="en-US" b="0" i="0" smtClean="0">
                        <a:latin typeface="Cambria Math"/>
                      </a:rPr>
                      <m:t>−</m:t>
                    </m:r>
                    <m:sSub>
                      <m:sSubPr>
                        <m:ctrlPr>
                          <a:rPr lang="en-US" b="0" i="1" smtClean="0">
                            <a:latin typeface="Cambria Math" panose="02040503050406030204" pitchFamily="18" charset="0"/>
                          </a:rPr>
                        </m:ctrlPr>
                      </m:sSubPr>
                      <m:e>
                        <m:r>
                          <a:rPr lang="en-US" b="0" i="1" smtClean="0">
                            <a:latin typeface="Cambria Math"/>
                          </a:rPr>
                          <m:t>𝜇</m:t>
                        </m:r>
                      </m:e>
                      <m:sub>
                        <m:r>
                          <a:rPr lang="en-US" b="0" i="1" smtClean="0">
                            <a:latin typeface="Cambria Math"/>
                          </a:rPr>
                          <m:t>2</m:t>
                        </m:r>
                      </m:sub>
                    </m:sSub>
                  </m:oMath>
                </a14:m>
                <a:r>
                  <a:rPr lang="en-US" dirty="0"/>
                  <a:t> are all positive. This is an example of relating a confidence interval back to a hypothesis test.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593" t="-875" r="-444"/>
                </a:stretch>
              </a:blipFill>
            </p:spPr>
            <p:txBody>
              <a:bodyPr/>
              <a:lstStyle/>
              <a:p>
                <a:r>
                  <a:rPr lang="en-US">
                    <a:noFill/>
                  </a:rPr>
                  <a:t> </a:t>
                </a:r>
              </a:p>
            </p:txBody>
          </p:sp>
        </mc:Fallback>
      </mc:AlternateContent>
    </p:spTree>
    <p:extLst>
      <p:ext uri="{BB962C8B-B14F-4D97-AF65-F5344CB8AC3E}">
        <p14:creationId xmlns:p14="http://schemas.microsoft.com/office/powerpoint/2010/main" val="28057373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9.8 – Estimating the Difference between Two Means</a:t>
            </a:r>
          </a:p>
        </p:txBody>
      </p:sp>
      <p:sp>
        <p:nvSpPr>
          <p:cNvPr id="3" name="Content Placeholder 2"/>
          <p:cNvSpPr>
            <a:spLocks noGrp="1"/>
          </p:cNvSpPr>
          <p:nvPr>
            <p:ph idx="1"/>
          </p:nvPr>
        </p:nvSpPr>
        <p:spPr/>
        <p:txBody>
          <a:bodyPr>
            <a:normAutofit/>
          </a:bodyPr>
          <a:lstStyle/>
          <a:p>
            <a:r>
              <a:rPr lang="en-US" dirty="0"/>
              <a:t>Next we had the example comparing the scores of students in a physics class with a lab to scores of students in a physics class without a lab. Assuming equal variances, construct a 95% interval for the difference in the average score between students who took the lab and students who did not (note that this is a good replacement for having to do a lot of different hypothesis tests like we did in 10.5).</a:t>
            </a:r>
          </a:p>
          <a:p>
            <a:pPr marL="0" indent="0">
              <a:buNone/>
            </a:pPr>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3116" y="4572000"/>
            <a:ext cx="6102350" cy="151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948789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9.8 – Estimating the Difference between Two Means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So we can be 95% confident that students who take the lab do better than those who do not by an average of between 1.5434 and 10.4566 percentage points. </a:t>
                </a:r>
              </a:p>
              <a:p>
                <a:endParaRPr lang="en-US" dirty="0"/>
              </a:p>
              <a:p>
                <a:r>
                  <a:rPr lang="en-US" dirty="0"/>
                  <a:t>Recall how in 10.5, we rejected when the alternative hypothesis was </a:t>
                </a:r>
                <a14:m>
                  <m:oMath xmlns:m="http://schemas.openxmlformats.org/officeDocument/2006/math">
                    <m:r>
                      <a:rPr lang="en-US" b="0" i="1" smtClean="0">
                        <a:latin typeface="Cambria Math"/>
                      </a:rPr>
                      <m:t>𝜇</m:t>
                    </m:r>
                    <m:r>
                      <a:rPr lang="en-US" b="0" i="1" smtClean="0">
                        <a:latin typeface="Cambria Math"/>
                      </a:rPr>
                      <m:t>&gt;0</m:t>
                    </m:r>
                  </m:oMath>
                </a14:m>
                <a:r>
                  <a:rPr lang="en-US" dirty="0"/>
                  <a:t>, but not for </a:t>
                </a:r>
                <a14:m>
                  <m:oMath xmlns:m="http://schemas.openxmlformats.org/officeDocument/2006/math">
                    <m:r>
                      <a:rPr lang="en-US" b="0" i="1" smtClean="0">
                        <a:latin typeface="Cambria Math"/>
                      </a:rPr>
                      <m:t>𝜇</m:t>
                    </m:r>
                    <m:r>
                      <a:rPr lang="en-US" b="0" i="1" smtClean="0">
                        <a:latin typeface="Cambria Math"/>
                      </a:rPr>
                      <m:t>&gt;5</m:t>
                    </m:r>
                  </m:oMath>
                </a14:m>
                <a:r>
                  <a:rPr lang="en-US" dirty="0"/>
                  <a:t> or </a:t>
                </a:r>
                <a14:m>
                  <m:oMath xmlns:m="http://schemas.openxmlformats.org/officeDocument/2006/math">
                    <m:r>
                      <a:rPr lang="en-US" b="0" i="1" smtClean="0">
                        <a:latin typeface="Cambria Math"/>
                      </a:rPr>
                      <m:t>𝜇</m:t>
                    </m:r>
                    <m:r>
                      <a:rPr lang="en-US" b="0" i="1" smtClean="0">
                        <a:latin typeface="Cambria Math"/>
                      </a:rPr>
                      <m:t>&gt;10</m:t>
                    </m:r>
                  </m:oMath>
                </a14:m>
                <a:r>
                  <a:rPr lang="en-US" dirty="0"/>
                  <a:t>. You should be able to see from the confidence interval why we rejected or failed to reject for each of these tests.</a:t>
                </a:r>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593" t="-875" r="-1778"/>
                </a:stretch>
              </a:blipFill>
            </p:spPr>
            <p:txBody>
              <a:bodyPr/>
              <a:lstStyle/>
              <a:p>
                <a:r>
                  <a:rPr lang="en-US">
                    <a:noFill/>
                  </a:rPr>
                  <a:t> </a:t>
                </a:r>
              </a:p>
            </p:txBody>
          </p:sp>
        </mc:Fallback>
      </mc:AlternateContent>
    </p:spTree>
    <p:extLst>
      <p:ext uri="{BB962C8B-B14F-4D97-AF65-F5344CB8AC3E}">
        <p14:creationId xmlns:p14="http://schemas.microsoft.com/office/powerpoint/2010/main" val="8517354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9.8 – Estimating the Difference between Two Means</a:t>
            </a:r>
          </a:p>
        </p:txBody>
      </p:sp>
      <p:sp>
        <p:nvSpPr>
          <p:cNvPr id="3" name="Content Placeholder 2"/>
          <p:cNvSpPr>
            <a:spLocks noGrp="1"/>
          </p:cNvSpPr>
          <p:nvPr>
            <p:ph idx="1"/>
          </p:nvPr>
        </p:nvSpPr>
        <p:spPr/>
        <p:txBody>
          <a:bodyPr>
            <a:normAutofit/>
          </a:bodyPr>
          <a:lstStyle/>
          <a:p>
            <a:r>
              <a:rPr lang="en-US" dirty="0"/>
              <a:t>Finally, we look again at the haircut example. Assuming unequal variances, construct a 90% interval for the difference in the mean cost of a haircut between women and men.</a:t>
            </a:r>
          </a:p>
          <a:p>
            <a:pPr marL="0" indent="0">
              <a:buNone/>
            </a:pPr>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6189" y="3962400"/>
            <a:ext cx="6102350" cy="151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964739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9.8 – Estimating the Difference between Two Means</a:t>
            </a:r>
          </a:p>
        </p:txBody>
      </p:sp>
      <p:sp>
        <p:nvSpPr>
          <p:cNvPr id="3" name="Content Placeholder 2"/>
          <p:cNvSpPr>
            <a:spLocks noGrp="1"/>
          </p:cNvSpPr>
          <p:nvPr>
            <p:ph idx="1"/>
          </p:nvPr>
        </p:nvSpPr>
        <p:spPr/>
        <p:txBody>
          <a:bodyPr>
            <a:normAutofit/>
          </a:bodyPr>
          <a:lstStyle/>
          <a:p>
            <a:r>
              <a:rPr lang="en-US" dirty="0"/>
              <a:t>Here we are 90% confident that, on average, women pay between $15.50 and $47.76 more for haircuts than men.</a:t>
            </a:r>
          </a:p>
          <a:p>
            <a:pPr marL="0" indent="0">
              <a:buNone/>
            </a:pPr>
            <a:endParaRPr lang="en-US" dirty="0"/>
          </a:p>
        </p:txBody>
      </p:sp>
    </p:spTree>
    <p:extLst>
      <p:ext uri="{BB962C8B-B14F-4D97-AF65-F5344CB8AC3E}">
        <p14:creationId xmlns:p14="http://schemas.microsoft.com/office/powerpoint/2010/main" val="56912346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Clarity</Template>
  <TotalTime>942</TotalTime>
  <Words>825</Words>
  <Application>Microsoft Office PowerPoint</Application>
  <PresentationFormat>On-screen Show (4:3)</PresentationFormat>
  <Paragraphs>67</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Cambria Math</vt:lpstr>
      <vt:lpstr>Clarity</vt:lpstr>
      <vt:lpstr>Estimation</vt:lpstr>
      <vt:lpstr>9.8 – Estimating the Difference between Two Means</vt:lpstr>
      <vt:lpstr>9.8 – Estimating the Difference between Two Means</vt:lpstr>
      <vt:lpstr>9.8 – Estimating the Difference between Two Means</vt:lpstr>
      <vt:lpstr>9.8 – Estimating the Difference between Two Means</vt:lpstr>
      <vt:lpstr>9.8 – Estimating the Difference between Two Means</vt:lpstr>
      <vt:lpstr>9.8 – Estimating the Difference between Two Means</vt:lpstr>
      <vt:lpstr>9.8 – Estimating the Difference between Two Means</vt:lpstr>
      <vt:lpstr>9.8 – Estimating the Difference between Two Means</vt:lpstr>
      <vt:lpstr>9.8 – Estimating the Difference between Two Means</vt:lpstr>
      <vt:lpstr>9.8 – Estimating the Difference between Two Means</vt:lpstr>
      <vt:lpstr>9.8 – Estimating the Difference between Two Means</vt:lpstr>
      <vt:lpstr>9.8 – Estimating the Difference between Two Means</vt:lpstr>
      <vt:lpstr>9.8 – Estimating the Difference between Two Means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Estimation</dc:title>
  <dc:creator>Jason Adams</dc:creator>
  <cp:lastModifiedBy>Lizzie Reida</cp:lastModifiedBy>
  <cp:revision>24</cp:revision>
  <dcterms:created xsi:type="dcterms:W3CDTF">2017-08-04T15:16:28Z</dcterms:created>
  <dcterms:modified xsi:type="dcterms:W3CDTF">2021-01-14T16:59:06Z</dcterms:modified>
</cp:coreProperties>
</file>
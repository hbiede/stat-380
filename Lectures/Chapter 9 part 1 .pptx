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6" r:id="rId9"/>
    <p:sldId id="264" r:id="rId10"/>
    <p:sldId id="265" r:id="rId11"/>
    <p:sldId id="267" r:id="rId12"/>
    <p:sldId id="268" r:id="rId13"/>
    <p:sldId id="269" r:id="rId14"/>
    <p:sldId id="270" r:id="rId15"/>
    <p:sldId id="271" r:id="rId16"/>
    <p:sldId id="272" r:id="rId17"/>
    <p:sldId id="273" r:id="rId18"/>
    <p:sldId id="275" r:id="rId19"/>
    <p:sldId id="274" r:id="rId20"/>
    <p:sldId id="276" r:id="rId21"/>
    <p:sldId id="277" r:id="rId22"/>
    <p:sldId id="278" r:id="rId23"/>
    <p:sldId id="279" r:id="rId24"/>
    <p:sldId id="283" r:id="rId25"/>
    <p:sldId id="284" r:id="rId26"/>
    <p:sldId id="282" r:id="rId27"/>
    <p:sldId id="286" r:id="rId28"/>
    <p:sldId id="287" r:id="rId29"/>
    <p:sldId id="288" r:id="rId30"/>
    <p:sldId id="289" r:id="rId31"/>
    <p:sldId id="290" r:id="rId32"/>
    <p:sldId id="291" r:id="rId33"/>
    <p:sldId id="292"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0" d="100"/>
          <a:sy n="90" d="100"/>
        </p:scale>
        <p:origin x="-132" y="42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DD15D4-CCD0-4F38-BACC-927508C79358}"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35729-2234-49E0-9C85-0E4249C39226}"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DD15D4-CCD0-4F38-BACC-927508C79358}"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DD15D4-CCD0-4F38-BACC-927508C79358}"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35729-2234-49E0-9C85-0E4249C39226}"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DD15D4-CCD0-4F38-BACC-927508C79358}"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DD15D4-CCD0-4F38-BACC-927508C79358}" type="datetimeFigureOut">
              <a:rPr lang="en-US" smtClean="0"/>
              <a:t>4/12/2021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835729-2234-49E0-9C85-0E4249C39226}"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DD15D4-CCD0-4F38-BACC-927508C79358}" type="datetimeFigureOut">
              <a:rPr lang="en-US" smtClean="0"/>
              <a:t>4/12/2021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DD15D4-CCD0-4F38-BACC-927508C79358}" type="datetimeFigureOut">
              <a:rPr lang="en-US" smtClean="0"/>
              <a:t>4/12/2021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DD15D4-CCD0-4F38-BACC-927508C79358}"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35729-2234-49E0-9C85-0E4249C39226}"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DD15D4-CCD0-4F38-BACC-927508C79358}" type="datetimeFigureOut">
              <a:rPr lang="en-US" smtClean="0"/>
              <a:t>4/12/2021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DD15D4-CCD0-4F38-BACC-927508C79358}"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DD15D4-CCD0-4F38-BACC-927508C79358}" type="datetimeFigureOut">
              <a:rPr lang="en-US" smtClean="0"/>
              <a:t>4/12/2021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35729-2234-49E0-9C85-0E4249C3922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A2DD15D4-CCD0-4F38-BACC-927508C79358}" type="datetimeFigureOut">
              <a:rPr lang="en-US" smtClean="0"/>
              <a:t>4/12/2021</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F1835729-2234-49E0-9C85-0E4249C3922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Estimation</a:t>
            </a:r>
          </a:p>
        </p:txBody>
      </p:sp>
      <p:sp>
        <p:nvSpPr>
          <p:cNvPr id="3" name="Subtitle 2"/>
          <p:cNvSpPr>
            <a:spLocks noGrp="1"/>
          </p:cNvSpPr>
          <p:nvPr>
            <p:ph type="subTitle" idx="1"/>
          </p:nvPr>
        </p:nvSpPr>
        <p:spPr/>
        <p:txBody>
          <a:bodyPr/>
          <a:lstStyle/>
          <a:p>
            <a:r>
              <a:rPr lang="en-US" dirty="0"/>
              <a:t>Chapter 9</a:t>
            </a:r>
          </a:p>
        </p:txBody>
      </p:sp>
    </p:spTree>
    <p:extLst>
      <p:ext uri="{BB962C8B-B14F-4D97-AF65-F5344CB8AC3E}">
        <p14:creationId xmlns:p14="http://schemas.microsoft.com/office/powerpoint/2010/main" val="2266731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9</a:t>
            </a:r>
          </a:p>
        </p:txBody>
      </p:sp>
      <p:sp>
        <p:nvSpPr>
          <p:cNvPr id="3" name="Content Placeholder 2"/>
          <p:cNvSpPr>
            <a:spLocks noGrp="1"/>
          </p:cNvSpPr>
          <p:nvPr>
            <p:ph idx="1"/>
          </p:nvPr>
        </p:nvSpPr>
        <p:spPr/>
        <p:txBody>
          <a:bodyPr>
            <a:normAutofit/>
          </a:bodyPr>
          <a:lstStyle/>
          <a:p>
            <a:r>
              <a:rPr lang="en-US" dirty="0"/>
              <a:t>Chapter 9 introduces us to the other main tool of statistical inference: confidence intervals (also called estimation).</a:t>
            </a:r>
          </a:p>
          <a:p>
            <a:endParaRPr lang="en-US" dirty="0"/>
          </a:p>
          <a:p>
            <a:r>
              <a:rPr lang="en-US" dirty="0"/>
              <a:t>In 9.3, we will talk about some general estimation ideas. Then in 9.4 and 9.5, we discuss confidence intervals for a single mean. Then we cover confidence intervals for two means, one proportion, and two proportions in 9.8, 9.10, and 9.11, respectively.</a:t>
            </a:r>
          </a:p>
        </p:txBody>
      </p:sp>
    </p:spTree>
    <p:extLst>
      <p:ext uri="{BB962C8B-B14F-4D97-AF65-F5344CB8AC3E}">
        <p14:creationId xmlns:p14="http://schemas.microsoft.com/office/powerpoint/2010/main" val="3853244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9.1 and 9.2 are very short sections that introduce the main ideas that will be covered in chapter 9. We have already discussed most of what is in the book for these sections. So we begin with 9.3.</a:t>
                </a:r>
              </a:p>
              <a:p>
                <a:endParaRPr lang="en-US" dirty="0"/>
              </a:p>
              <a:p>
                <a:r>
                  <a:rPr lang="en-US" dirty="0"/>
                  <a:t>First a definition. A </a:t>
                </a:r>
                <a:r>
                  <a:rPr lang="en-US" i="1" dirty="0"/>
                  <a:t>point estimate</a:t>
                </a:r>
                <a:r>
                  <a:rPr lang="en-US" dirty="0"/>
                  <a:t> of some population parameter </a:t>
                </a:r>
                <a14:m>
                  <m:oMath xmlns:m="http://schemas.openxmlformats.org/officeDocument/2006/math">
                    <m:r>
                      <a:rPr lang="en-US" b="0" i="1" smtClean="0">
                        <a:latin typeface="Cambria Math"/>
                      </a:rPr>
                      <m:t>𝜃</m:t>
                    </m:r>
                  </m:oMath>
                </a14:m>
                <a:r>
                  <a:rPr lang="en-US" dirty="0"/>
                  <a:t> is a single value,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𝜃</m:t>
                        </m:r>
                      </m:e>
                    </m:acc>
                  </m:oMath>
                </a14:m>
                <a:r>
                  <a:rPr lang="en-US" dirty="0"/>
                  <a:t>, of a statistic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449" t="-1357"/>
                </a:stretch>
              </a:blipFill>
            </p:spPr>
            <p:txBody>
              <a:bodyPr/>
              <a:lstStyle/>
              <a:p>
                <a:r>
                  <a:rPr lang="en-US">
                    <a:noFill/>
                  </a:rPr>
                  <a:t> </a:t>
                </a:r>
              </a:p>
            </p:txBody>
          </p:sp>
        </mc:Fallback>
      </mc:AlternateContent>
    </p:spTree>
    <p:extLst>
      <p:ext uri="{BB962C8B-B14F-4D97-AF65-F5344CB8AC3E}">
        <p14:creationId xmlns:p14="http://schemas.microsoft.com/office/powerpoint/2010/main" val="2505445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 chapter 10, we used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calculated from a sample, to make inferences about the population parameter </a:t>
                </a:r>
                <a14:m>
                  <m:oMath xmlns:m="http://schemas.openxmlformats.org/officeDocument/2006/math">
                    <m:r>
                      <a:rPr lang="en-US" b="0" i="1" smtClean="0">
                        <a:latin typeface="Cambria Math"/>
                      </a:rPr>
                      <m:t>𝜇</m:t>
                    </m:r>
                  </m:oMath>
                </a14:m>
                <a:r>
                  <a:rPr lang="en-US" dirty="0"/>
                  <a:t>.</a:t>
                </a:r>
              </a:p>
              <a:p>
                <a:endParaRPr lang="en-US" dirty="0"/>
              </a:p>
              <a:p>
                <a:r>
                  <a:rPr lang="en-US" dirty="0"/>
                  <a:t>In estimation, we would say that the sample mean,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is a point estimate of the population mean, </a:t>
                </a:r>
                <a14:m>
                  <m:oMath xmlns:m="http://schemas.openxmlformats.org/officeDocument/2006/math">
                    <m:r>
                      <a:rPr lang="en-US" b="0" i="1" smtClean="0">
                        <a:latin typeface="Cambria Math"/>
                      </a:rPr>
                      <m:t>𝜇</m:t>
                    </m:r>
                  </m:oMath>
                </a14:m>
                <a:r>
                  <a:rPr lang="en-US" dirty="0"/>
                  <a:t>. Similarly we can use the sample proportion,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𝑝</m:t>
                        </m:r>
                      </m:e>
                    </m:acc>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𝑥</m:t>
                        </m:r>
                      </m:num>
                      <m:den>
                        <m:r>
                          <a:rPr lang="en-US" b="0" i="1" dirty="0" smtClean="0">
                            <a:latin typeface="Cambria Math"/>
                          </a:rPr>
                          <m:t>𝑛</m:t>
                        </m:r>
                      </m:den>
                    </m:f>
                  </m:oMath>
                </a14:m>
                <a:r>
                  <a:rPr lang="en-US" dirty="0"/>
                  <a:t> (where </a:t>
                </a:r>
                <a14:m>
                  <m:oMath xmlns:m="http://schemas.openxmlformats.org/officeDocument/2006/math">
                    <m:r>
                      <a:rPr lang="en-US" b="0" i="1" smtClean="0">
                        <a:latin typeface="Cambria Math"/>
                      </a:rPr>
                      <m:t>𝑥</m:t>
                    </m:r>
                  </m:oMath>
                </a14:m>
                <a:r>
                  <a:rPr lang="en-US" dirty="0"/>
                  <a:t> is the number of successes), to estimate the true probability </a:t>
                </a:r>
                <a14:m>
                  <m:oMath xmlns:m="http://schemas.openxmlformats.org/officeDocument/2006/math">
                    <m:r>
                      <a:rPr lang="en-US" b="0" i="1" smtClean="0">
                        <a:latin typeface="Cambria Math"/>
                      </a:rPr>
                      <m:t>𝑝</m:t>
                    </m:r>
                  </m:oMath>
                </a14:m>
                <a:r>
                  <a:rPr lang="en-US" dirty="0"/>
                  <a:t> from a binomial distribution.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407"/>
                </a:stretch>
              </a:blipFill>
            </p:spPr>
            <p:txBody>
              <a:bodyPr/>
              <a:lstStyle/>
              <a:p>
                <a:r>
                  <a:rPr lang="en-US">
                    <a:noFill/>
                  </a:rPr>
                  <a:t> </a:t>
                </a:r>
              </a:p>
            </p:txBody>
          </p:sp>
        </mc:Fallback>
      </mc:AlternateContent>
    </p:spTree>
    <p:extLst>
      <p:ext uri="{BB962C8B-B14F-4D97-AF65-F5344CB8AC3E}">
        <p14:creationId xmlns:p14="http://schemas.microsoft.com/office/powerpoint/2010/main" val="3333915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While we do not expect our point estimate to be exactly the same as the parameter of interest, it should hopefully be pretty close. </a:t>
                </a:r>
              </a:p>
              <a:p>
                <a:endParaRPr lang="en-US" dirty="0"/>
              </a:p>
              <a:p>
                <a:r>
                  <a:rPr lang="en-US" dirty="0"/>
                  <a:t>Since a statistic is simply a function of random variables, there are a large number (in fact, infinitely many) possible point estimates for any given parameter. So how do we decide which to use? Why use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rather than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or the sample mode or any number of other statistics to estimate </a:t>
                </a:r>
                <a14:m>
                  <m:oMath xmlns:m="http://schemas.openxmlformats.org/officeDocument/2006/math">
                    <m:r>
                      <a:rPr lang="en-US" b="0" i="1" smtClean="0">
                        <a:latin typeface="Cambria Math"/>
                      </a:rPr>
                      <m:t>𝜇</m:t>
                    </m:r>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449" t="-2307"/>
                </a:stretch>
              </a:blipFill>
            </p:spPr>
            <p:txBody>
              <a:bodyPr/>
              <a:lstStyle/>
              <a:p>
                <a:r>
                  <a:rPr lang="en-US">
                    <a:noFill/>
                  </a:rPr>
                  <a:t> </a:t>
                </a:r>
              </a:p>
            </p:txBody>
          </p:sp>
        </mc:Fallback>
      </mc:AlternateContent>
    </p:spTree>
    <p:extLst>
      <p:ext uri="{BB962C8B-B14F-4D97-AF65-F5344CB8AC3E}">
        <p14:creationId xmlns:p14="http://schemas.microsoft.com/office/powerpoint/2010/main" val="3298719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judge the quality of an estimator (the statistic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based on two properties of the estimator: the expected value and the variance.</a:t>
                </a:r>
              </a:p>
              <a:p>
                <a:endParaRPr lang="en-US" dirty="0"/>
              </a:p>
              <a:p>
                <a:r>
                  <a:rPr lang="en-US" dirty="0"/>
                  <a:t>First, we want the estimator to be centered at the true value of the parameter (we saw this is the case with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in chapter 8). Another way to think about this is that we want the mean of the sampling distribution to be the same as the mean of the population. An estimator with this property is said to be </a:t>
                </a:r>
                <a:r>
                  <a:rPr lang="en-US" i="1" dirty="0"/>
                  <a:t>unbiased</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blipFill rotWithShape="1">
                <a:blip r:embed="rId2"/>
                <a:stretch>
                  <a:fillRect l="-374" t="-814" r="-1571" b="-1221"/>
                </a:stretch>
              </a:blipFill>
            </p:spPr>
            <p:txBody>
              <a:bodyPr/>
              <a:lstStyle/>
              <a:p>
                <a:r>
                  <a:rPr lang="en-US">
                    <a:noFill/>
                  </a:rPr>
                  <a:t> </a:t>
                </a:r>
              </a:p>
            </p:txBody>
          </p:sp>
        </mc:Fallback>
      </mc:AlternateContent>
    </p:spTree>
    <p:extLst>
      <p:ext uri="{BB962C8B-B14F-4D97-AF65-F5344CB8AC3E}">
        <p14:creationId xmlns:p14="http://schemas.microsoft.com/office/powerpoint/2010/main" val="1512606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 statistic,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is said to be an </a:t>
                </a:r>
                <a:r>
                  <a:rPr lang="en-US" i="1" dirty="0"/>
                  <a:t>unbiased estimator </a:t>
                </a:r>
                <a:r>
                  <a:rPr lang="en-US" dirty="0"/>
                  <a:t>of the parameter </a:t>
                </a:r>
                <a14:m>
                  <m:oMath xmlns:m="http://schemas.openxmlformats.org/officeDocument/2006/math">
                    <m:r>
                      <a:rPr lang="en-US" b="0" i="1" smtClean="0">
                        <a:latin typeface="Cambria Math"/>
                      </a:rPr>
                      <m:t>𝜃</m:t>
                    </m:r>
                  </m:oMath>
                </a14:m>
                <a:r>
                  <a:rPr lang="en-US" dirty="0"/>
                  <a:t> 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𝜇</m:t>
                        </m:r>
                      </m:e>
                      <m:sub>
                        <m:acc>
                          <m:accPr>
                            <m:chr m:val="̂"/>
                            <m:ctrlPr>
                              <a:rPr lang="en-US" i="1">
                                <a:latin typeface="Cambria Math" panose="02040503050406030204" pitchFamily="18" charset="0"/>
                              </a:rPr>
                            </m:ctrlPr>
                          </m:accPr>
                          <m:e>
                            <m:r>
                              <m:rPr>
                                <m:sty m:val="p"/>
                              </m:rPr>
                              <a:rPr lang="en-US">
                                <a:latin typeface="Cambria Math"/>
                              </a:rPr>
                              <m:t>Θ</m:t>
                            </m:r>
                          </m:e>
                        </m:acc>
                      </m:sub>
                    </m:sSub>
                    <m:r>
                      <a:rPr lang="en-US" b="0" i="1" smtClean="0">
                        <a:latin typeface="Cambria Math"/>
                      </a:rPr>
                      <m:t>=</m:t>
                    </m:r>
                    <m:r>
                      <a:rPr lang="en-US" b="0" i="1" smtClean="0">
                        <a:latin typeface="Cambria Math"/>
                      </a:rPr>
                      <m:t>𝐸</m:t>
                    </m:r>
                    <m:d>
                      <m:dPr>
                        <m:ctrlPr>
                          <a:rPr lang="en-US" b="0" i="1" smtClean="0">
                            <a:latin typeface="Cambria Math" panose="02040503050406030204" pitchFamily="18" charset="0"/>
                          </a:rPr>
                        </m:ctrlPr>
                      </m:dPr>
                      <m:e>
                        <m:acc>
                          <m:accPr>
                            <m:chr m:val="̂"/>
                            <m:ctrlPr>
                              <a:rPr lang="en-US" i="1">
                                <a:latin typeface="Cambria Math" panose="02040503050406030204" pitchFamily="18" charset="0"/>
                              </a:rPr>
                            </m:ctrlPr>
                          </m:accPr>
                          <m:e>
                            <m:r>
                              <m:rPr>
                                <m:sty m:val="p"/>
                              </m:rPr>
                              <a:rPr lang="en-US">
                                <a:latin typeface="Cambria Math"/>
                              </a:rPr>
                              <m:t>Θ</m:t>
                            </m:r>
                          </m:e>
                        </m:acc>
                      </m:e>
                    </m:d>
                    <m:r>
                      <a:rPr lang="en-US" b="0" i="1" smtClean="0">
                        <a:latin typeface="Cambria Math"/>
                      </a:rPr>
                      <m:t>=</m:t>
                    </m:r>
                    <m:r>
                      <a:rPr lang="en-US" b="0" i="1" smtClean="0">
                        <a:latin typeface="Cambria Math"/>
                      </a:rPr>
                      <m:t>𝜃</m:t>
                    </m:r>
                  </m:oMath>
                </a14:m>
                <a:r>
                  <a:rPr lang="en-US" dirty="0"/>
                  <a:t>. Note that a statistic is a biased estimator of </a:t>
                </a:r>
                <a14:m>
                  <m:oMath xmlns:m="http://schemas.openxmlformats.org/officeDocument/2006/math">
                    <m:r>
                      <a:rPr lang="en-US" b="0" i="1" smtClean="0">
                        <a:latin typeface="Cambria Math"/>
                      </a:rPr>
                      <m:t>𝜃</m:t>
                    </m:r>
                  </m:oMath>
                </a14:m>
                <a:r>
                  <a:rPr lang="en-US" dirty="0"/>
                  <a:t> if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m:rPr>
                                <m:sty m:val="p"/>
                              </m:rPr>
                              <a:rPr lang="en-US" b="0" i="0" smtClean="0">
                                <a:latin typeface="Cambria Math"/>
                              </a:rPr>
                              <m:t>Θ</m:t>
                            </m:r>
                          </m:e>
                        </m:acc>
                      </m:e>
                    </m:d>
                    <m:r>
                      <a:rPr lang="en-US" b="0" i="1" smtClean="0">
                        <a:latin typeface="Cambria Math"/>
                      </a:rPr>
                      <m:t>≠</m:t>
                    </m:r>
                    <m:r>
                      <a:rPr lang="en-US" b="0" i="1" smtClean="0">
                        <a:latin typeface="Cambria Math"/>
                      </a:rPr>
                      <m:t>𝜃</m:t>
                    </m:r>
                  </m:oMath>
                </a14:m>
                <a:r>
                  <a:rPr lang="en-US" dirty="0"/>
                  <a:t>.</a:t>
                </a:r>
              </a:p>
              <a:p>
                <a:endParaRPr lang="en-US" dirty="0"/>
              </a:p>
              <a:p>
                <a:r>
                  <a:rPr lang="en-US" dirty="0"/>
                  <a:t>We showed in chapter 8 that </a:t>
                </a:r>
                <a14:m>
                  <m:oMath xmlns:m="http://schemas.openxmlformats.org/officeDocument/2006/math">
                    <m:r>
                      <a:rPr lang="en-US" b="0" i="1" smtClean="0">
                        <a:latin typeface="Cambria Math"/>
                      </a:rPr>
                      <m:t>𝐸</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e>
                    </m:d>
                    <m:r>
                      <a:rPr lang="en-US" b="0" i="1" smtClean="0">
                        <a:latin typeface="Cambria Math"/>
                      </a:rPr>
                      <m:t>=</m:t>
                    </m:r>
                    <m:r>
                      <a:rPr lang="en-US" b="0" i="1" smtClean="0">
                        <a:latin typeface="Cambria Math"/>
                      </a:rPr>
                      <m:t>𝜇</m:t>
                    </m:r>
                  </m:oMath>
                </a14:m>
                <a:r>
                  <a:rPr lang="en-US" dirty="0"/>
                  <a:t>. Thus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is an unbiased estimator of the population mean.</a:t>
                </a:r>
              </a:p>
              <a:p>
                <a:endParaRPr lang="en-US" dirty="0"/>
              </a:p>
              <a:p>
                <a:r>
                  <a:rPr lang="en-US" dirty="0"/>
                  <a:t>Examples: </a:t>
                </a:r>
              </a:p>
              <a:p>
                <a:pPr lvl="1"/>
                <a:r>
                  <a:rPr lang="en-US" dirty="0"/>
                  <a:t>Show that the median,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is an unbiased estimator of </a:t>
                </a:r>
                <a14:m>
                  <m:oMath xmlns:m="http://schemas.openxmlformats.org/officeDocument/2006/math">
                    <m:r>
                      <a:rPr lang="en-US" b="0" i="1" smtClean="0">
                        <a:latin typeface="Cambria Math"/>
                      </a:rPr>
                      <m:t>𝜇</m:t>
                    </m:r>
                  </m:oMath>
                </a14:m>
                <a:r>
                  <a:rPr lang="en-US" dirty="0"/>
                  <a:t>.</a:t>
                </a:r>
              </a:p>
              <a:p>
                <a:pPr lvl="1"/>
                <a:r>
                  <a:rPr lang="en-US" dirty="0"/>
                  <a:t>Show that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oMath>
                </a14:m>
                <a:r>
                  <a:rPr lang="en-US" dirty="0"/>
                  <a:t> is an unbiased estimator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625"/>
                </a:stretch>
              </a:blipFill>
            </p:spPr>
            <p:txBody>
              <a:bodyPr/>
              <a:lstStyle/>
              <a:p>
                <a:r>
                  <a:rPr lang="en-US">
                    <a:noFill/>
                  </a:rPr>
                  <a:t> </a:t>
                </a:r>
              </a:p>
            </p:txBody>
          </p:sp>
        </mc:Fallback>
      </mc:AlternateContent>
    </p:spTree>
    <p:extLst>
      <p:ext uri="{BB962C8B-B14F-4D97-AF65-F5344CB8AC3E}">
        <p14:creationId xmlns:p14="http://schemas.microsoft.com/office/powerpoint/2010/main" val="1939757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Recall in chapter 1 that we briefly discussed why the sample variance is divided by </a:t>
                </a:r>
                <a14:m>
                  <m:oMath xmlns:m="http://schemas.openxmlformats.org/officeDocument/2006/math">
                    <m:r>
                      <a:rPr lang="en-US" b="0" i="1" smtClean="0">
                        <a:latin typeface="Cambria Math"/>
                      </a:rPr>
                      <m:t>𝑛</m:t>
                    </m:r>
                    <m:r>
                      <a:rPr lang="en-US" b="0" i="1" smtClean="0">
                        <a:latin typeface="Cambria Math"/>
                      </a:rPr>
                      <m:t>−1</m:t>
                    </m:r>
                  </m:oMath>
                </a14:m>
                <a:r>
                  <a:rPr lang="en-US" dirty="0"/>
                  <a:t> rather than </a:t>
                </a:r>
                <a14:m>
                  <m:oMath xmlns:m="http://schemas.openxmlformats.org/officeDocument/2006/math">
                    <m:r>
                      <a:rPr lang="en-US" b="0" i="1" smtClean="0">
                        <a:latin typeface="Cambria Math"/>
                      </a:rPr>
                      <m:t>𝑛</m:t>
                    </m:r>
                  </m:oMath>
                </a14:m>
                <a:r>
                  <a:rPr lang="en-US" dirty="0"/>
                  <a:t>. Another way to understand this is in terms of unbiasedness.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𝑆</m:t>
                        </m:r>
                      </m:e>
                      <m:sup>
                        <m:r>
                          <a:rPr lang="en-US" b="0" i="1" smtClean="0">
                            <a:latin typeface="Cambria Math"/>
                          </a:rPr>
                          <m:t>2</m:t>
                        </m:r>
                      </m:sup>
                    </m:s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𝑛</m:t>
                        </m:r>
                        <m:r>
                          <a:rPr lang="en-US" b="0" i="1" smtClean="0">
                            <a:latin typeface="Cambria Math"/>
                          </a:rPr>
                          <m:t>−1</m:t>
                        </m:r>
                      </m:den>
                    </m:f>
                    <m:nary>
                      <m:naryPr>
                        <m:chr m:val="∑"/>
                        <m:limLoc m:val="subSup"/>
                        <m:ctrlPr>
                          <a:rPr lang="en-US" b="0" i="1" smtClean="0">
                            <a:latin typeface="Cambria Math" panose="02040503050406030204" pitchFamily="18" charset="0"/>
                          </a:rPr>
                        </m:ctrlPr>
                      </m:naryPr>
                      <m:sub>
                        <m:r>
                          <m:rPr>
                            <m:brk m:alnAt="25"/>
                          </m:rPr>
                          <a:rPr lang="en-US" b="0" i="1" smtClean="0">
                            <a:latin typeface="Cambria Math"/>
                          </a:rPr>
                          <m:t>𝑖</m:t>
                        </m:r>
                        <m:r>
                          <a:rPr lang="en-US" b="0" i="1" smtClean="0">
                            <a:latin typeface="Cambria Math"/>
                          </a:rPr>
                          <m:t>=1</m:t>
                        </m:r>
                      </m:sub>
                      <m:sup>
                        <m:r>
                          <a:rPr lang="en-US" b="0" i="1" smtClean="0">
                            <a:latin typeface="Cambria Math"/>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sub>
                                </m:sSub>
                                <m:r>
                                  <a:rPr lang="en-US" b="0" i="1" smtClean="0">
                                    <a:latin typeface="Cambria Math"/>
                                  </a:rPr>
                                  <m:t>−</m:t>
                                </m:r>
                                <m:acc>
                                  <m:accPr>
                                    <m:chr m:val="̅"/>
                                    <m:ctrlPr>
                                      <a:rPr lang="en-US" b="0" i="1" smtClean="0">
                                        <a:latin typeface="Cambria Math" panose="02040503050406030204" pitchFamily="18" charset="0"/>
                                      </a:rPr>
                                    </m:ctrlPr>
                                  </m:accPr>
                                  <m:e>
                                    <m:r>
                                      <a:rPr lang="en-US" b="0" i="1" smtClean="0">
                                        <a:latin typeface="Cambria Math"/>
                                      </a:rPr>
                                      <m:t>𝑋</m:t>
                                    </m:r>
                                  </m:e>
                                </m:acc>
                              </m:e>
                            </m:d>
                          </m:e>
                          <m:sup>
                            <m:r>
                              <a:rPr lang="en-US" b="0" i="1" smtClean="0">
                                <a:latin typeface="Cambria Math"/>
                              </a:rPr>
                              <m:t>2</m:t>
                            </m:r>
                          </m:sup>
                        </m:sSup>
                      </m:e>
                    </m:nary>
                  </m:oMath>
                </a14:m>
                <a:r>
                  <a:rPr lang="en-US" dirty="0"/>
                  <a:t> is unbiased while </a:t>
                </a:r>
                <a14:m>
                  <m:oMath xmlns:m="http://schemas.openxmlformats.org/officeDocument/2006/math">
                    <m:sSup>
                      <m:sSupPr>
                        <m:ctrlPr>
                          <a:rPr lang="en-US" b="0" i="1" dirty="0"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a:rPr>
                              <m:t>𝜎</m:t>
                            </m:r>
                          </m:e>
                        </m:acc>
                      </m:e>
                      <m:sup>
                        <m:r>
                          <a:rPr lang="en-US" b="0" i="1" dirty="0" smtClean="0">
                            <a:latin typeface="Cambria Math"/>
                          </a:rPr>
                          <m:t>2</m:t>
                        </m:r>
                      </m:sup>
                    </m:sSup>
                    <m:r>
                      <a:rPr lang="en-US" b="0" i="1" dirty="0" smtClean="0">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𝑛</m:t>
                        </m:r>
                      </m:den>
                    </m:f>
                    <m:nary>
                      <m:naryPr>
                        <m:chr m:val="∑"/>
                        <m:limLoc m:val="subSup"/>
                        <m:ctrlPr>
                          <a:rPr lang="en-US" i="1">
                            <a:latin typeface="Cambria Math" panose="02040503050406030204" pitchFamily="18" charset="0"/>
                          </a:rPr>
                        </m:ctrlPr>
                      </m:naryPr>
                      <m:sub>
                        <m:r>
                          <m:rPr>
                            <m:brk m:alnAt="25"/>
                          </m:rPr>
                          <a:rPr lang="en-US" i="1">
                            <a:latin typeface="Cambria Math"/>
                          </a:rPr>
                          <m:t>𝑖</m:t>
                        </m:r>
                        <m:r>
                          <a:rPr lang="en-US" i="1">
                            <a:latin typeface="Cambria Math"/>
                          </a:rPr>
                          <m:t>=1</m:t>
                        </m:r>
                      </m:sub>
                      <m:sup>
                        <m:r>
                          <a:rPr lang="en-US" i="1">
                            <a:latin typeface="Cambria Math"/>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𝑋</m:t>
                                    </m:r>
                                  </m:e>
                                  <m:sub>
                                    <m:r>
                                      <a:rPr lang="en-US" i="1">
                                        <a:latin typeface="Cambria Math"/>
                                      </a:rPr>
                                      <m:t>𝑖</m:t>
                                    </m:r>
                                  </m:sub>
                                </m:sSub>
                                <m:r>
                                  <a:rPr lang="en-US" i="1">
                                    <a:latin typeface="Cambria Math"/>
                                  </a:rPr>
                                  <m:t>−</m:t>
                                </m:r>
                                <m:acc>
                                  <m:accPr>
                                    <m:chr m:val="̅"/>
                                    <m:ctrlPr>
                                      <a:rPr lang="en-US" i="1">
                                        <a:latin typeface="Cambria Math" panose="02040503050406030204" pitchFamily="18" charset="0"/>
                                      </a:rPr>
                                    </m:ctrlPr>
                                  </m:accPr>
                                  <m:e>
                                    <m:r>
                                      <a:rPr lang="en-US" i="1">
                                        <a:latin typeface="Cambria Math"/>
                                      </a:rPr>
                                      <m:t>𝑋</m:t>
                                    </m:r>
                                  </m:e>
                                </m:acc>
                              </m:e>
                            </m:d>
                          </m:e>
                          <m:sup>
                            <m:r>
                              <a:rPr lang="en-US" i="1">
                                <a:latin typeface="Cambria Math"/>
                              </a:rPr>
                              <m:t>2</m:t>
                            </m:r>
                          </m:sup>
                        </m:sSup>
                      </m:e>
                    </m:nary>
                  </m:oMath>
                </a14:m>
                <a:r>
                  <a:rPr lang="en-US" dirty="0"/>
                  <a:t> is a biased estimator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oMath>
                </a14:m>
                <a:r>
                  <a:rPr lang="en-US" dirty="0"/>
                  <a:t>.</a:t>
                </a:r>
              </a:p>
              <a:p>
                <a:endParaRPr lang="en-US" dirty="0"/>
              </a:p>
              <a:p>
                <a:r>
                  <a:rPr lang="en-US" dirty="0"/>
                  <a:t>We will discuss these estimators again soon.</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704"/>
                </a:stretch>
              </a:blipFill>
            </p:spPr>
            <p:txBody>
              <a:bodyPr/>
              <a:lstStyle/>
              <a:p>
                <a:r>
                  <a:rPr lang="en-US">
                    <a:noFill/>
                  </a:rPr>
                  <a:t> </a:t>
                </a:r>
              </a:p>
            </p:txBody>
          </p:sp>
        </mc:Fallback>
      </mc:AlternateContent>
    </p:spTree>
    <p:extLst>
      <p:ext uri="{BB962C8B-B14F-4D97-AF65-F5344CB8AC3E}">
        <p14:creationId xmlns:p14="http://schemas.microsoft.com/office/powerpoint/2010/main" val="4133568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other property we are concerned with in judging the quality of an estimator is its variance. When it comes to the variance of an estimator, we think about it in terms of comparing to other possible estimators. We want the variance of an estimator to be as small as possible. If the variance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1</m:t>
                        </m:r>
                      </m:sub>
                    </m:sSub>
                  </m:oMath>
                </a14:m>
                <a:r>
                  <a:rPr lang="en-US" dirty="0"/>
                  <a:t> is smaller than the variance of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2</m:t>
                        </m:r>
                      </m:sub>
                    </m:sSub>
                  </m:oMath>
                </a14:m>
                <a:r>
                  <a:rPr lang="en-US" dirty="0"/>
                  <a:t>, we say that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1</m:t>
                        </m:r>
                      </m:sub>
                    </m:sSub>
                  </m:oMath>
                </a14:m>
                <a:r>
                  <a:rPr lang="en-US" dirty="0"/>
                  <a:t> is a </a:t>
                </a:r>
                <a:r>
                  <a:rPr lang="en-US" i="1" dirty="0"/>
                  <a:t>more efficient estimator</a:t>
                </a:r>
                <a:r>
                  <a:rPr lang="en-US" dirty="0"/>
                  <a:t> of </a:t>
                </a:r>
                <a14:m>
                  <m:oMath xmlns:m="http://schemas.openxmlformats.org/officeDocument/2006/math">
                    <m:r>
                      <a:rPr lang="en-US" b="0" i="1" smtClean="0">
                        <a:latin typeface="Cambria Math"/>
                      </a:rPr>
                      <m:t>𝜃</m:t>
                    </m:r>
                  </m:oMath>
                </a14:m>
                <a:r>
                  <a:rPr lang="en-US" dirty="0"/>
                  <a:t> than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2</m:t>
                        </m:r>
                      </m:sub>
                    </m:sSub>
                  </m:oMath>
                </a14:m>
                <a:r>
                  <a:rPr lang="en-US" dirty="0"/>
                  <a:t>.</a:t>
                </a:r>
              </a:p>
              <a:p>
                <a:endParaRPr lang="en-US" dirty="0"/>
              </a:p>
              <a:p>
                <a:r>
                  <a:rPr lang="en-US" dirty="0"/>
                  <a:t>Restricting our estimators of </a:t>
                </a:r>
                <a14:m>
                  <m:oMath xmlns:m="http://schemas.openxmlformats.org/officeDocument/2006/math">
                    <m:r>
                      <a:rPr lang="en-US" b="0" i="1" smtClean="0">
                        <a:latin typeface="Cambria Math"/>
                      </a:rPr>
                      <m:t>𝜃</m:t>
                    </m:r>
                  </m:oMath>
                </a14:m>
                <a:r>
                  <a:rPr lang="en-US" dirty="0"/>
                  <a:t> to those that are unbiased, the estimator with the smallest variance is called the </a:t>
                </a:r>
                <a:r>
                  <a:rPr lang="en-US" i="1" dirty="0"/>
                  <a:t>most efficient estimator</a:t>
                </a:r>
                <a:r>
                  <a:rPr lang="en-US" dirty="0"/>
                  <a:t> of </a:t>
                </a:r>
                <a14:m>
                  <m:oMath xmlns:m="http://schemas.openxmlformats.org/officeDocument/2006/math">
                    <m:r>
                      <a:rPr lang="en-US" b="0" i="1" smtClean="0">
                        <a:latin typeface="Cambria Math"/>
                      </a:rPr>
                      <m:t>𝜃</m:t>
                    </m:r>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111"/>
                </a:stretch>
              </a:blipFill>
            </p:spPr>
            <p:txBody>
              <a:bodyPr/>
              <a:lstStyle/>
              <a:p>
                <a:r>
                  <a:rPr lang="en-US">
                    <a:noFill/>
                  </a:rPr>
                  <a:t> </a:t>
                </a:r>
              </a:p>
            </p:txBody>
          </p:sp>
        </mc:Fallback>
      </mc:AlternateContent>
    </p:spTree>
    <p:extLst>
      <p:ext uri="{BB962C8B-B14F-4D97-AF65-F5344CB8AC3E}">
        <p14:creationId xmlns:p14="http://schemas.microsoft.com/office/powerpoint/2010/main" val="1208599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Efficiency is the reason we typically use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to estimate </a:t>
                </a:r>
                <a14:m>
                  <m:oMath xmlns:m="http://schemas.openxmlformats.org/officeDocument/2006/math">
                    <m:r>
                      <a:rPr lang="en-US" b="0" i="1" smtClean="0">
                        <a:latin typeface="Cambria Math"/>
                      </a:rPr>
                      <m:t>𝜇</m:t>
                    </m:r>
                  </m:oMath>
                </a14:m>
                <a:r>
                  <a:rPr lang="en-US" dirty="0"/>
                  <a:t> rather than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a:t>
                </a:r>
              </a:p>
              <a:p>
                <a:endParaRPr lang="en-US" dirty="0"/>
              </a:p>
              <a:p>
                <a:r>
                  <a:rPr lang="en-US" dirty="0"/>
                  <a:t>Exercise: Show that the variance of the sample mean is smaller than the variance of the sample median.</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1688424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Interestingly, we can show that the variance of </a:t>
                </a:r>
                <a14:m>
                  <m:oMath xmlns:m="http://schemas.openxmlformats.org/officeDocument/2006/math">
                    <m:sSup>
                      <m:sSupPr>
                        <m:ctrlPr>
                          <a:rPr lang="en-US" i="1" dirty="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a:rPr>
                              <m:t>𝜎</m:t>
                            </m:r>
                          </m:e>
                        </m:acc>
                      </m:e>
                      <m:sup>
                        <m:r>
                          <a:rPr lang="en-US" i="1" dirty="0">
                            <a:latin typeface="Cambria Math"/>
                          </a:rPr>
                          <m:t>2</m:t>
                        </m:r>
                      </m:sup>
                    </m:sSup>
                    <m:r>
                      <a:rPr lang="en-US" i="1" dirty="0">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𝑛</m:t>
                        </m:r>
                      </m:den>
                    </m:f>
                    <m:nary>
                      <m:naryPr>
                        <m:chr m:val="∑"/>
                        <m:limLoc m:val="subSup"/>
                        <m:ctrlPr>
                          <a:rPr lang="en-US" i="1">
                            <a:latin typeface="Cambria Math" panose="02040503050406030204" pitchFamily="18" charset="0"/>
                          </a:rPr>
                        </m:ctrlPr>
                      </m:naryPr>
                      <m:sub>
                        <m:r>
                          <m:rPr>
                            <m:brk m:alnAt="25"/>
                          </m:rPr>
                          <a:rPr lang="en-US" i="1">
                            <a:latin typeface="Cambria Math"/>
                          </a:rPr>
                          <m:t>𝑖</m:t>
                        </m:r>
                        <m:r>
                          <a:rPr lang="en-US" i="1">
                            <a:latin typeface="Cambria Math"/>
                          </a:rPr>
                          <m:t>=1</m:t>
                        </m:r>
                      </m:sub>
                      <m:sup>
                        <m:r>
                          <a:rPr lang="en-US" i="1">
                            <a:latin typeface="Cambria Math"/>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𝑋</m:t>
                                    </m:r>
                                  </m:e>
                                  <m:sub>
                                    <m:r>
                                      <a:rPr lang="en-US" i="1">
                                        <a:latin typeface="Cambria Math"/>
                                      </a:rPr>
                                      <m:t>𝑖</m:t>
                                    </m:r>
                                  </m:sub>
                                </m:sSub>
                                <m:r>
                                  <a:rPr lang="en-US" i="1">
                                    <a:latin typeface="Cambria Math"/>
                                  </a:rPr>
                                  <m:t>−</m:t>
                                </m:r>
                                <m:acc>
                                  <m:accPr>
                                    <m:chr m:val="̅"/>
                                    <m:ctrlPr>
                                      <a:rPr lang="en-US" i="1">
                                        <a:latin typeface="Cambria Math" panose="02040503050406030204" pitchFamily="18" charset="0"/>
                                      </a:rPr>
                                    </m:ctrlPr>
                                  </m:accPr>
                                  <m:e>
                                    <m:r>
                                      <a:rPr lang="en-US" i="1">
                                        <a:latin typeface="Cambria Math"/>
                                      </a:rPr>
                                      <m:t>𝑋</m:t>
                                    </m:r>
                                  </m:e>
                                </m:acc>
                              </m:e>
                            </m:d>
                          </m:e>
                          <m:sup>
                            <m:r>
                              <a:rPr lang="en-US" i="1">
                                <a:latin typeface="Cambria Math"/>
                              </a:rPr>
                              <m:t>2</m:t>
                            </m:r>
                          </m:sup>
                        </m:sSup>
                      </m:e>
                    </m:nary>
                  </m:oMath>
                </a14:m>
                <a:r>
                  <a:rPr lang="en-US" dirty="0"/>
                  <a:t> is actually smaller than the variance of </a:t>
                </a:r>
                <a14:m>
                  <m:oMath xmlns:m="http://schemas.openxmlformats.org/officeDocument/2006/math">
                    <m:sSup>
                      <m:sSupPr>
                        <m:ctrlPr>
                          <a:rPr lang="en-US" i="1">
                            <a:latin typeface="Cambria Math" panose="02040503050406030204" pitchFamily="18" charset="0"/>
                          </a:rPr>
                        </m:ctrlPr>
                      </m:sSupPr>
                      <m:e>
                        <m:r>
                          <a:rPr lang="en-US" i="1">
                            <a:latin typeface="Cambria Math"/>
                          </a:rPr>
                          <m:t>𝑆</m:t>
                        </m:r>
                      </m:e>
                      <m:sup>
                        <m:r>
                          <a:rPr lang="en-US" i="1">
                            <a:latin typeface="Cambria Math"/>
                          </a:rPr>
                          <m:t>2</m:t>
                        </m:r>
                      </m:sup>
                    </m:sSup>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𝑛</m:t>
                        </m:r>
                        <m:r>
                          <a:rPr lang="en-US" i="1">
                            <a:latin typeface="Cambria Math"/>
                          </a:rPr>
                          <m:t>−1</m:t>
                        </m:r>
                      </m:den>
                    </m:f>
                    <m:nary>
                      <m:naryPr>
                        <m:chr m:val="∑"/>
                        <m:limLoc m:val="subSup"/>
                        <m:ctrlPr>
                          <a:rPr lang="en-US" i="1">
                            <a:latin typeface="Cambria Math" panose="02040503050406030204" pitchFamily="18" charset="0"/>
                          </a:rPr>
                        </m:ctrlPr>
                      </m:naryPr>
                      <m:sub>
                        <m:r>
                          <m:rPr>
                            <m:brk m:alnAt="25"/>
                          </m:rPr>
                          <a:rPr lang="en-US" i="1">
                            <a:latin typeface="Cambria Math"/>
                          </a:rPr>
                          <m:t>𝑖</m:t>
                        </m:r>
                        <m:r>
                          <a:rPr lang="en-US" i="1">
                            <a:latin typeface="Cambria Math"/>
                          </a:rPr>
                          <m:t>=1</m:t>
                        </m:r>
                      </m:sub>
                      <m:sup>
                        <m:r>
                          <a:rPr lang="en-US" i="1">
                            <a:latin typeface="Cambria Math"/>
                          </a:rPr>
                          <m:t>𝑛</m:t>
                        </m:r>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𝑋</m:t>
                                    </m:r>
                                  </m:e>
                                  <m:sub>
                                    <m:r>
                                      <a:rPr lang="en-US" i="1">
                                        <a:latin typeface="Cambria Math"/>
                                      </a:rPr>
                                      <m:t>𝑖</m:t>
                                    </m:r>
                                  </m:sub>
                                </m:sSub>
                                <m:r>
                                  <a:rPr lang="en-US" i="1">
                                    <a:latin typeface="Cambria Math"/>
                                  </a:rPr>
                                  <m:t>−</m:t>
                                </m:r>
                                <m:acc>
                                  <m:accPr>
                                    <m:chr m:val="̅"/>
                                    <m:ctrlPr>
                                      <a:rPr lang="en-US" i="1">
                                        <a:latin typeface="Cambria Math" panose="02040503050406030204" pitchFamily="18" charset="0"/>
                                      </a:rPr>
                                    </m:ctrlPr>
                                  </m:accPr>
                                  <m:e>
                                    <m:r>
                                      <a:rPr lang="en-US" i="1">
                                        <a:latin typeface="Cambria Math"/>
                                      </a:rPr>
                                      <m:t>𝑋</m:t>
                                    </m:r>
                                  </m:e>
                                </m:acc>
                              </m:e>
                            </m:d>
                          </m:e>
                          <m:sup>
                            <m:r>
                              <a:rPr lang="en-US" i="1">
                                <a:latin typeface="Cambria Math"/>
                              </a:rPr>
                              <m:t>2</m:t>
                            </m:r>
                          </m:sup>
                        </m:sSup>
                      </m:e>
                    </m:nary>
                  </m:oMath>
                </a14:m>
                <a:r>
                  <a:rPr lang="en-US" dirty="0"/>
                  <a:t>.</a:t>
                </a:r>
              </a:p>
              <a:p>
                <a:endParaRPr lang="en-US" dirty="0"/>
              </a:p>
              <a:p>
                <a:r>
                  <a:rPr lang="en-US" dirty="0"/>
                  <a:t>However, we don’t use </a:t>
                </a:r>
                <a14:m>
                  <m:oMath xmlns:m="http://schemas.openxmlformats.org/officeDocument/2006/math">
                    <m:sSup>
                      <m:sSupPr>
                        <m:ctrlPr>
                          <a:rPr lang="en-US" b="0" i="1" dirty="0"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a:rPr>
                              <m:t>𝜎</m:t>
                            </m:r>
                          </m:e>
                        </m:acc>
                      </m:e>
                      <m:sup>
                        <m:r>
                          <a:rPr lang="en-US" b="0" i="1" dirty="0" smtClean="0">
                            <a:latin typeface="Cambria Math"/>
                          </a:rPr>
                          <m:t>2</m:t>
                        </m:r>
                      </m:sup>
                    </m:sSup>
                  </m:oMath>
                </a14:m>
                <a:r>
                  <a:rPr lang="en-US" dirty="0"/>
                  <a:t> as an estimator because it is biased. </a:t>
                </a:r>
              </a:p>
              <a:p>
                <a:endParaRPr lang="en-US" dirty="0"/>
              </a:p>
              <a:p>
                <a:r>
                  <a:rPr lang="en-US" dirty="0"/>
                  <a:t>This illustrates our typical approach. We want to use the </a:t>
                </a:r>
                <a:r>
                  <a:rPr lang="en-US" i="1" dirty="0"/>
                  <a:t>unbiased estimator</a:t>
                </a:r>
                <a:r>
                  <a:rPr lang="en-US" dirty="0"/>
                  <a:t> that has the smallest variance.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1223786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Let’s return to an idea we discussed when introducing sampling distributions in chapter 8. Suppose we decide to use a particular estimator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to estimate a parameter </a:t>
                </a:r>
                <a14:m>
                  <m:oMath xmlns:m="http://schemas.openxmlformats.org/officeDocument/2006/math">
                    <m:r>
                      <a:rPr lang="en-US" b="0" i="1" smtClean="0">
                        <a:latin typeface="Cambria Math"/>
                      </a:rPr>
                      <m:t>𝜃</m:t>
                    </m:r>
                  </m:oMath>
                </a14:m>
                <a:r>
                  <a:rPr lang="en-US" dirty="0"/>
                  <a:t>. If we take two different samples from the same population, would we expect our point estimates from both samples to be the same?</a:t>
                </a:r>
              </a:p>
              <a:p>
                <a:endParaRPr lang="en-US" dirty="0"/>
              </a:p>
              <a:p>
                <a:r>
                  <a:rPr lang="en-US" dirty="0"/>
                  <a:t>Based on what we talked about in chapter 8, we do not expect both of the estimates to be the same. If we took 1000 samples, we would likely get a large number of differing point estimates (though if we are using the most efficient estimator, the estimates will hopefully not differ too wildly).</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25" r="-1926"/>
                </a:stretch>
              </a:blipFill>
            </p:spPr>
            <p:txBody>
              <a:bodyPr/>
              <a:lstStyle/>
              <a:p>
                <a:r>
                  <a:rPr lang="en-US">
                    <a:noFill/>
                  </a:rPr>
                  <a:t> </a:t>
                </a:r>
              </a:p>
            </p:txBody>
          </p:sp>
        </mc:Fallback>
      </mc:AlternateContent>
    </p:spTree>
    <p:extLst>
      <p:ext uri="{BB962C8B-B14F-4D97-AF65-F5344CB8AC3E}">
        <p14:creationId xmlns:p14="http://schemas.microsoft.com/office/powerpoint/2010/main" val="1338934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All of these different point estimates are really just observations from the sampling distribution of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Based on what we know about the sampling distribution, we should be able to use the large number of point estimates to get an idea about what </a:t>
                </a:r>
                <a14:m>
                  <m:oMath xmlns:m="http://schemas.openxmlformats.org/officeDocument/2006/math">
                    <m:r>
                      <a:rPr lang="en-US" b="0" i="1" smtClean="0">
                        <a:latin typeface="Cambria Math"/>
                      </a:rPr>
                      <m:t>𝜃</m:t>
                    </m:r>
                  </m:oMath>
                </a14:m>
                <a:r>
                  <a:rPr lang="en-US" dirty="0"/>
                  <a:t> actually is. So rather than using just one point estimate, we can come up with a range of plausible values for </a:t>
                </a:r>
                <a14:m>
                  <m:oMath xmlns:m="http://schemas.openxmlformats.org/officeDocument/2006/math">
                    <m:r>
                      <a:rPr lang="en-US" b="0" i="1" smtClean="0">
                        <a:latin typeface="Cambria Math"/>
                      </a:rPr>
                      <m:t>𝜃</m:t>
                    </m:r>
                  </m:oMath>
                </a14:m>
                <a:r>
                  <a:rPr lang="en-US" dirty="0"/>
                  <a:t>.</a:t>
                </a:r>
              </a:p>
              <a:p>
                <a:endParaRPr lang="en-US" dirty="0"/>
              </a:p>
              <a:p>
                <a:r>
                  <a:rPr lang="en-US" dirty="0"/>
                  <a:t>While we don’t actually take a large number of samples, we can use the theory we know regarding the sampling distribution to come up with an </a:t>
                </a:r>
                <a:r>
                  <a:rPr lang="en-US" i="1" dirty="0"/>
                  <a:t>interval estimate</a:t>
                </a:r>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963"/>
                </a:stretch>
              </a:blipFill>
            </p:spPr>
            <p:txBody>
              <a:bodyPr/>
              <a:lstStyle/>
              <a:p>
                <a:r>
                  <a:rPr lang="en-US">
                    <a:noFill/>
                  </a:rPr>
                  <a:t> </a:t>
                </a:r>
              </a:p>
            </p:txBody>
          </p:sp>
        </mc:Fallback>
      </mc:AlternateContent>
    </p:spTree>
    <p:extLst>
      <p:ext uri="{BB962C8B-B14F-4D97-AF65-F5344CB8AC3E}">
        <p14:creationId xmlns:p14="http://schemas.microsoft.com/office/powerpoint/2010/main" val="1611298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define an </a:t>
                </a:r>
                <a:r>
                  <a:rPr lang="en-US" i="1" dirty="0"/>
                  <a:t>interval estimate</a:t>
                </a:r>
                <a:r>
                  <a:rPr lang="en-US" dirty="0"/>
                  <a:t> to be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𝜃</m:t>
                                </m:r>
                              </m:e>
                            </m:acc>
                          </m:e>
                          <m:sub>
                            <m:r>
                              <a:rPr lang="en-US" i="1" dirty="0">
                                <a:latin typeface="Cambria Math"/>
                              </a:rPr>
                              <m:t>𝐿</m:t>
                            </m:r>
                          </m:sub>
                        </m:sSub>
                        <m:r>
                          <a:rPr lang="en-US" i="1" dirty="0">
                            <a:latin typeface="Cambria Math"/>
                          </a:rPr>
                          <m:t>, </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a:rPr>
                                  <m:t>𝜃</m:t>
                                </m:r>
                              </m:e>
                            </m:acc>
                          </m:e>
                          <m:sub>
                            <m:r>
                              <a:rPr lang="en-US" i="1" dirty="0">
                                <a:latin typeface="Cambria Math"/>
                              </a:rPr>
                              <m:t>𝑈</m:t>
                            </m:r>
                          </m:sub>
                        </m:sSub>
                      </m:e>
                    </m:d>
                  </m:oMath>
                </a14:m>
                <a:r>
                  <a:rPr lang="en-US" dirty="0"/>
                  <a:t> where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𝐿</m:t>
                        </m:r>
                      </m:sub>
                    </m:sSub>
                  </m:oMath>
                </a14:m>
                <a:r>
                  <a:rPr lang="en-US" dirty="0"/>
                  <a:t> and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𝑈</m:t>
                        </m:r>
                      </m:sub>
                    </m:sSub>
                  </m:oMath>
                </a14:m>
                <a:r>
                  <a:rPr lang="en-US" dirty="0"/>
                  <a:t> depend on the point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𝜃</m:t>
                        </m:r>
                      </m:e>
                    </m:acc>
                  </m:oMath>
                </a14:m>
                <a:r>
                  <a:rPr lang="en-US" dirty="0"/>
                  <a:t>, as well as the sampling distribution of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a:t>
                </a:r>
              </a:p>
              <a:p>
                <a:endParaRPr lang="en-US" dirty="0"/>
              </a:p>
              <a:p>
                <a:r>
                  <a:rPr lang="en-US" dirty="0"/>
                  <a:t>For instance, an interval estimate for </a:t>
                </a:r>
                <a14:m>
                  <m:oMath xmlns:m="http://schemas.openxmlformats.org/officeDocument/2006/math">
                    <m:r>
                      <a:rPr lang="en-US" b="0" i="1" smtClean="0">
                        <a:latin typeface="Cambria Math"/>
                      </a:rPr>
                      <m:t>𝜇</m:t>
                    </m:r>
                  </m:oMath>
                </a14:m>
                <a:r>
                  <a:rPr lang="en-US" dirty="0"/>
                  <a:t> would depend on the point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as well as the sampling distribution for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a:t>
                </a:r>
                <a14:m>
                  <m:oMath xmlns:m="http://schemas.openxmlformats.org/officeDocument/2006/math">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𝜇</m:t>
                        </m:r>
                        <m:r>
                          <a:rPr lang="en-US" b="0" i="1" smtClean="0">
                            <a:latin typeface="Cambria Math"/>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a:rPr>
                                  <m:t>𝜎</m:t>
                                </m:r>
                              </m:e>
                              <m:sup>
                                <m:r>
                                  <a:rPr lang="en-US" b="0" i="1" smtClean="0">
                                    <a:latin typeface="Cambria Math"/>
                                  </a:rPr>
                                  <m:t>2</m:t>
                                </m:r>
                              </m:sup>
                            </m:sSup>
                          </m:num>
                          <m:den>
                            <m:r>
                              <a:rPr lang="en-US" b="0" i="1" smtClean="0">
                                <a:latin typeface="Cambria Math"/>
                              </a:rPr>
                              <m:t>𝑛</m:t>
                            </m:r>
                          </m:den>
                        </m:f>
                      </m:e>
                    </m:d>
                  </m:oMath>
                </a14:m>
                <a:r>
                  <a:rPr lang="en-US" dirty="0"/>
                  <a:t>.</a:t>
                </a: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500" r="-1407"/>
                </a:stretch>
              </a:blipFill>
            </p:spPr>
            <p:txBody>
              <a:bodyPr/>
              <a:lstStyle/>
              <a:p>
                <a:r>
                  <a:rPr lang="en-US">
                    <a:noFill/>
                  </a:rPr>
                  <a:t> </a:t>
                </a:r>
              </a:p>
            </p:txBody>
          </p:sp>
        </mc:Fallback>
      </mc:AlternateContent>
    </p:spTree>
    <p:extLst>
      <p:ext uri="{BB962C8B-B14F-4D97-AF65-F5344CB8AC3E}">
        <p14:creationId xmlns:p14="http://schemas.microsoft.com/office/powerpoint/2010/main" val="647262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Now since different samples lead to different point estimates, different samples will also give us different values for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𝐿</m:t>
                        </m:r>
                      </m:sub>
                    </m:sSub>
                  </m:oMath>
                </a14:m>
                <a:r>
                  <a:rPr lang="en-US" dirty="0"/>
                  <a:t> and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𝑈</m:t>
                        </m:r>
                      </m:sub>
                    </m:sSub>
                  </m:oMath>
                </a14:m>
                <a:r>
                  <a:rPr lang="en-US" dirty="0"/>
                  <a:t>. This means that there are actually corresponding random variables,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𝐿</m:t>
                        </m:r>
                      </m:sub>
                    </m:sSub>
                  </m:oMath>
                </a14:m>
                <a:r>
                  <a:rPr lang="en-US" dirty="0"/>
                  <a:t> and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dirty="0" smtClean="0">
                            <a:latin typeface="Cambria Math"/>
                          </a:rPr>
                          <m:t>𝑈</m:t>
                        </m:r>
                      </m:sub>
                    </m:sSub>
                  </m:oMath>
                </a14:m>
                <a:r>
                  <a:rPr lang="en-US" dirty="0"/>
                  <a:t>. We do not, however, need to know anything about the sampling distributions of either of these statistics. We just need to recognize is that they are also random variables, so we can think of our interval estimate as something like a random variable. This will important when we discuss the interpretation of a confidence interval.</a:t>
                </a: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74"/>
                </a:stretch>
              </a:blipFill>
            </p:spPr>
            <p:txBody>
              <a:bodyPr/>
              <a:lstStyle/>
              <a:p>
                <a:r>
                  <a:rPr lang="en-US">
                    <a:noFill/>
                  </a:rPr>
                  <a:t> </a:t>
                </a:r>
              </a:p>
            </p:txBody>
          </p:sp>
        </mc:Fallback>
      </mc:AlternateContent>
    </p:spTree>
    <p:extLst>
      <p:ext uri="{BB962C8B-B14F-4D97-AF65-F5344CB8AC3E}">
        <p14:creationId xmlns:p14="http://schemas.microsoft.com/office/powerpoint/2010/main" val="2063837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We can use the sampling distribution of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to find </a:t>
                </a:r>
                <a14:m>
                  <m:oMath xmlns:m="http://schemas.openxmlformats.org/officeDocument/2006/math">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a:latin typeface="Cambria Math"/>
                              </a:rPr>
                              <m:t>Θ</m:t>
                            </m:r>
                          </m:e>
                        </m:acc>
                      </m:e>
                      <m:sub>
                        <m:r>
                          <a:rPr lang="en-US" b="0" i="1" smtClean="0">
                            <a:latin typeface="Cambria Math"/>
                          </a:rPr>
                          <m:t>𝐿</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a:latin typeface="Cambria Math"/>
                              </a:rPr>
                              <m:t>Θ</m:t>
                            </m:r>
                          </m:e>
                        </m:acc>
                      </m:e>
                      <m:sub>
                        <m:r>
                          <a:rPr lang="en-US" b="0" i="1" smtClean="0">
                            <a:latin typeface="Cambria Math"/>
                          </a:rPr>
                          <m:t>𝑈</m:t>
                        </m:r>
                      </m:sub>
                    </m:sSub>
                  </m:oMath>
                </a14:m>
                <a:r>
                  <a:rPr lang="en-US" dirty="0"/>
                  <a:t> such that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i="1">
                                    <a:latin typeface="Cambria Math" panose="02040503050406030204" pitchFamily="18" charset="0"/>
                                  </a:rPr>
                                </m:ctrlPr>
                              </m:accPr>
                              <m:e>
                                <m:r>
                                  <m:rPr>
                                    <m:sty m:val="p"/>
                                  </m:rPr>
                                  <a:rPr lang="en-US">
                                    <a:latin typeface="Cambria Math"/>
                                  </a:rPr>
                                  <m:t>Θ</m:t>
                                </m:r>
                              </m:e>
                            </m:acc>
                          </m:e>
                          <m:sub>
                            <m:r>
                              <a:rPr lang="en-US" b="0" i="1" smtClean="0">
                                <a:latin typeface="Cambria Math"/>
                              </a:rPr>
                              <m:t>𝐿</m:t>
                            </m:r>
                          </m:sub>
                        </m:sSub>
                        <m:r>
                          <a:rPr lang="en-US" b="0" i="1" smtClean="0">
                            <a:latin typeface="Cambria Math"/>
                          </a:rPr>
                          <m:t>&lt;</m:t>
                        </m:r>
                        <m:r>
                          <a:rPr lang="en-US" b="0" i="1" smtClean="0">
                            <a:latin typeface="Cambria Math"/>
                          </a:rPr>
                          <m:t>𝜃</m:t>
                        </m:r>
                        <m:r>
                          <a:rPr lang="en-US" b="0" i="1" smtClean="0">
                            <a:latin typeface="Cambria Math"/>
                          </a:rPr>
                          <m:t>&lt;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m:rPr>
                                    <m:sty m:val="p"/>
                                  </m:rPr>
                                  <a:rPr lang="en-US" b="0" i="0" smtClean="0">
                                    <a:latin typeface="Cambria Math"/>
                                  </a:rPr>
                                  <m:t>Θ</m:t>
                                </m:r>
                              </m:e>
                            </m:acc>
                          </m:e>
                          <m:sub>
                            <m:r>
                              <a:rPr lang="en-US" b="0" i="1" smtClean="0">
                                <a:latin typeface="Cambria Math"/>
                              </a:rPr>
                              <m:t>𝑈</m:t>
                            </m:r>
                          </m:sub>
                        </m:sSub>
                      </m:e>
                    </m:d>
                    <m:r>
                      <a:rPr lang="en-US" b="0" i="1" smtClean="0">
                        <a:latin typeface="Cambria Math"/>
                      </a:rPr>
                      <m:t>=1−</m:t>
                    </m:r>
                    <m:r>
                      <a:rPr lang="en-US" b="0" i="1" smtClean="0">
                        <a:latin typeface="Cambria Math"/>
                      </a:rPr>
                      <m:t>𝛼</m:t>
                    </m:r>
                  </m:oMath>
                </a14:m>
                <a:r>
                  <a:rPr lang="en-US" dirty="0"/>
                  <a:t> for </a:t>
                </a:r>
                <a14:m>
                  <m:oMath xmlns:m="http://schemas.openxmlformats.org/officeDocument/2006/math">
                    <m:r>
                      <a:rPr lang="en-US" b="0" i="1" smtClean="0">
                        <a:latin typeface="Cambria Math"/>
                      </a:rPr>
                      <m:t>0&lt;</m:t>
                    </m:r>
                    <m:r>
                      <a:rPr lang="en-US" b="0" i="1" smtClean="0">
                        <a:latin typeface="Cambria Math"/>
                      </a:rPr>
                      <m:t>𝛼</m:t>
                    </m:r>
                    <m:r>
                      <a:rPr lang="en-US" b="0" i="1" smtClean="0">
                        <a:latin typeface="Cambria Math"/>
                      </a:rPr>
                      <m:t>&lt;1</m:t>
                    </m:r>
                  </m:oMath>
                </a14:m>
                <a:r>
                  <a:rPr lang="en-US" dirty="0"/>
                  <a:t>. Note that we use </a:t>
                </a:r>
                <a14:m>
                  <m:oMath xmlns:m="http://schemas.openxmlformats.org/officeDocument/2006/math">
                    <m:r>
                      <a:rPr lang="en-US" b="0" i="1" smtClean="0">
                        <a:latin typeface="Cambria Math"/>
                      </a:rPr>
                      <m:t>𝛼</m:t>
                    </m:r>
                  </m:oMath>
                </a14:m>
                <a:r>
                  <a:rPr lang="en-US" dirty="0"/>
                  <a:t> here because it corresponds to the probability of a type I error from hypothesis testing. The idea is that we will have a </a:t>
                </a:r>
                <a14:m>
                  <m:oMath xmlns:m="http://schemas.openxmlformats.org/officeDocument/2006/math">
                    <m:r>
                      <a:rPr lang="en-US" b="0" i="1" smtClean="0">
                        <a:latin typeface="Cambria Math"/>
                      </a:rPr>
                      <m:t>1−</m:t>
                    </m:r>
                    <m:r>
                      <a:rPr lang="en-US" b="0" i="1" smtClean="0">
                        <a:latin typeface="Cambria Math"/>
                      </a:rPr>
                      <m:t>𝛼</m:t>
                    </m:r>
                  </m:oMath>
                </a14:m>
                <a:r>
                  <a:rPr lang="en-US" dirty="0"/>
                  <a:t> probability of selecting a random sample that will produce an interval containing the true parameter </a:t>
                </a:r>
                <a14:m>
                  <m:oMath xmlns:m="http://schemas.openxmlformats.org/officeDocument/2006/math">
                    <m:r>
                      <a:rPr lang="en-US" b="0" i="1" smtClean="0">
                        <a:latin typeface="Cambria Math"/>
                      </a:rPr>
                      <m:t>𝜃</m:t>
                    </m:r>
                  </m:oMath>
                </a14:m>
                <a:r>
                  <a:rPr lang="en-US" dirty="0"/>
                  <a:t>.</a:t>
                </a:r>
              </a:p>
              <a:p>
                <a:endParaRPr lang="en-US" dirty="0"/>
              </a:p>
              <a:p>
                <a:r>
                  <a:rPr lang="en-US" dirty="0"/>
                  <a:t>The actual interval,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𝐿</m:t>
                            </m:r>
                          </m:sub>
                        </m:sSub>
                        <m:r>
                          <a:rPr lang="en-US" b="0" i="1" dirty="0" smtClean="0">
                            <a:latin typeface="Cambria Math"/>
                          </a:rPr>
                          <m:t>, </m:t>
                        </m:r>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a:rPr>
                                  <m:t>𝜃</m:t>
                                </m:r>
                              </m:e>
                            </m:acc>
                          </m:e>
                          <m:sub>
                            <m:r>
                              <a:rPr lang="en-US" b="0" i="1" dirty="0" smtClean="0">
                                <a:latin typeface="Cambria Math"/>
                              </a:rPr>
                              <m:t>𝑈</m:t>
                            </m:r>
                          </m:sub>
                        </m:sSub>
                      </m:e>
                    </m:d>
                  </m:oMath>
                </a14:m>
                <a:r>
                  <a:rPr lang="en-US" dirty="0"/>
                  <a:t>, calculated from the sample, is called a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i="1" dirty="0"/>
                  <a:t> confidence interval</a:t>
                </a:r>
                <a:r>
                  <a:rPr lang="en-US" dirty="0"/>
                  <a:t>. For this interval, </a:t>
                </a:r>
                <a14:m>
                  <m:oMath xmlns:m="http://schemas.openxmlformats.org/officeDocument/2006/math">
                    <m:r>
                      <a:rPr lang="en-US" b="0" i="1" smtClean="0">
                        <a:latin typeface="Cambria Math"/>
                      </a:rPr>
                      <m:t>1−</m:t>
                    </m:r>
                    <m:r>
                      <a:rPr lang="en-US" b="0" i="1" smtClean="0">
                        <a:latin typeface="Cambria Math"/>
                      </a:rPr>
                      <m:t>𝛼</m:t>
                    </m:r>
                  </m:oMath>
                </a14:m>
                <a:r>
                  <a:rPr lang="en-US" dirty="0"/>
                  <a:t> is called the </a:t>
                </a:r>
                <a:r>
                  <a:rPr lang="en-US" i="1" dirty="0"/>
                  <a:t>confidence coefficient</a:t>
                </a:r>
                <a:r>
                  <a:rPr lang="en-US" dirty="0"/>
                  <a:t>, </a:t>
                </a:r>
                <a:r>
                  <a:rPr lang="en-US" i="1" dirty="0"/>
                  <a:t>confidence level</a:t>
                </a:r>
                <a:r>
                  <a:rPr lang="en-US" dirty="0"/>
                  <a:t>, or </a:t>
                </a:r>
                <a:r>
                  <a:rPr lang="en-US" i="1" dirty="0"/>
                  <a:t>degree of confidence</a:t>
                </a:r>
                <a:r>
                  <a:rPr lang="en-US" dirty="0"/>
                  <a:t>, and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𝐿</m:t>
                        </m:r>
                      </m:sub>
                    </m:sSub>
                  </m:oMath>
                </a14:m>
                <a:r>
                  <a:rPr lang="en-US" dirty="0"/>
                  <a:t> and </a:t>
                </a:r>
                <a14:m>
                  <m:oMath xmlns:m="http://schemas.openxmlformats.org/officeDocument/2006/math">
                    <m:sSub>
                      <m:sSubPr>
                        <m:ctrlPr>
                          <a:rPr lang="en-US" b="0" i="1" dirty="0"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dirty="0" smtClean="0">
                            <a:latin typeface="Cambria Math"/>
                          </a:rPr>
                          <m:t>𝑈</m:t>
                        </m:r>
                      </m:sub>
                    </m:sSub>
                  </m:oMath>
                </a14:m>
                <a:r>
                  <a:rPr lang="en-US" dirty="0"/>
                  <a:t> are the </a:t>
                </a:r>
                <a:r>
                  <a:rPr lang="en-US" i="1" dirty="0"/>
                  <a:t>lower and upper confidence limits</a:t>
                </a:r>
                <a:r>
                  <a:rPr lang="en-US" dirty="0"/>
                  <a:t>, respectively. </a:t>
                </a: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500" r="-1926"/>
                </a:stretch>
              </a:blipFill>
            </p:spPr>
            <p:txBody>
              <a:bodyPr/>
              <a:lstStyle/>
              <a:p>
                <a:r>
                  <a:rPr lang="en-US">
                    <a:noFill/>
                  </a:rPr>
                  <a:t> </a:t>
                </a:r>
              </a:p>
            </p:txBody>
          </p:sp>
        </mc:Fallback>
      </mc:AlternateContent>
    </p:spTree>
    <p:extLst>
      <p:ext uri="{BB962C8B-B14F-4D97-AF65-F5344CB8AC3E}">
        <p14:creationId xmlns:p14="http://schemas.microsoft.com/office/powerpoint/2010/main" val="878309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Looking at the sampling distribution of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what is going to happen to the width of the interval if we increase the confidence level?</a:t>
                </a:r>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625" r="-74"/>
                </a:stretch>
              </a:blipFill>
            </p:spPr>
            <p:txBody>
              <a:bodyPr/>
              <a:lstStyle/>
              <a:p>
                <a:r>
                  <a:rPr lang="en-US">
                    <a:noFill/>
                  </a:rPr>
                  <a:t> </a:t>
                </a:r>
              </a:p>
            </p:txBody>
          </p:sp>
        </mc:Fallback>
      </mc:AlternateContent>
    </p:spTree>
    <p:extLst>
      <p:ext uri="{BB962C8B-B14F-4D97-AF65-F5344CB8AC3E}">
        <p14:creationId xmlns:p14="http://schemas.microsoft.com/office/powerpoint/2010/main" val="3257011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a:bodyPr>
              <a:lstStyle/>
              <a:p>
                <a:r>
                  <a:rPr lang="en-US" dirty="0"/>
                  <a:t>The higher the confidence level, the wider the interval (assuming everything else remains the same).</a:t>
                </a:r>
              </a:p>
              <a:p>
                <a:endParaRPr lang="en-US" dirty="0"/>
              </a:p>
              <a:p>
                <a:r>
                  <a:rPr lang="en-US" dirty="0"/>
                  <a:t>To understand the interpretation of a confidence interval, let’s go back to the sleep example from section 10.3. The parameter of interest, </a:t>
                </a:r>
                <a14:m>
                  <m:oMath xmlns:m="http://schemas.openxmlformats.org/officeDocument/2006/math">
                    <m:r>
                      <a:rPr lang="en-US" b="0" i="1" smtClean="0">
                        <a:latin typeface="Cambria Math"/>
                      </a:rPr>
                      <m:t>𝜇</m:t>
                    </m:r>
                  </m:oMath>
                </a14:m>
                <a:r>
                  <a:rPr lang="en-US" dirty="0"/>
                  <a:t>, was the average number of hours of sleep that UNL students get on a typical night. The 95% confidence interval for that problem is </a:t>
                </a:r>
                <a14:m>
                  <m:oMath xmlns:m="http://schemas.openxmlformats.org/officeDocument/2006/math">
                    <m:r>
                      <a:rPr lang="en-US" b="0" i="1" smtClean="0">
                        <a:latin typeface="Cambria Math"/>
                      </a:rPr>
                      <m:t>[7.</m:t>
                    </m:r>
                    <m:r>
                      <a:rPr lang="en-US" b="0" i="1" smtClean="0">
                        <a:latin typeface="Cambria Math" panose="02040503050406030204" pitchFamily="18" charset="0"/>
                      </a:rPr>
                      <m:t>10</m:t>
                    </m:r>
                    <m:r>
                      <a:rPr lang="en-US" b="0" i="1" smtClean="0">
                        <a:latin typeface="Cambria Math"/>
                      </a:rPr>
                      <m:t>, 8.</m:t>
                    </m:r>
                    <m:r>
                      <a:rPr lang="en-US" b="0" i="1" smtClean="0">
                        <a:latin typeface="Cambria Math" panose="02040503050406030204" pitchFamily="18" charset="0"/>
                      </a:rPr>
                      <m:t>59</m:t>
                    </m:r>
                    <m:r>
                      <a:rPr lang="en-US" b="0" i="1" smtClean="0">
                        <a:latin typeface="Cambria Math"/>
                      </a:rPr>
                      <m:t>]</m:t>
                    </m:r>
                  </m:oMath>
                </a14:m>
                <a:r>
                  <a:rPr lang="en-US" dirty="0"/>
                  <a:t>.</a:t>
                </a:r>
              </a:p>
              <a:p>
                <a:endParaRPr lang="en-US" dirty="0"/>
              </a:p>
              <a:p>
                <a:r>
                  <a:rPr lang="en-US" dirty="0"/>
                  <a:t>It is tempting to interpret this as “there is a 95% chance that </a:t>
                </a:r>
                <a14:m>
                  <m:oMath xmlns:m="http://schemas.openxmlformats.org/officeDocument/2006/math">
                    <m:r>
                      <a:rPr lang="en-US" b="0" i="1" smtClean="0">
                        <a:latin typeface="Cambria Math"/>
                      </a:rPr>
                      <m:t>𝜇</m:t>
                    </m:r>
                  </m:oMath>
                </a14:m>
                <a:r>
                  <a:rPr lang="en-US" dirty="0"/>
                  <a:t> is between 7.10 and 8.59.” What’s wrong with this interpretation? Hint: look back at the probability we used to define a confidence interval.</a:t>
                </a:r>
              </a:p>
              <a:p>
                <a:endParaRPr lang="en-US" dirty="0"/>
              </a:p>
              <a:p>
                <a:endParaRPr lang="en-US"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19" t="-750" r="-1704"/>
                </a:stretch>
              </a:blipFill>
            </p:spPr>
            <p:txBody>
              <a:bodyPr/>
              <a:lstStyle/>
              <a:p>
                <a:r>
                  <a:rPr lang="en-US">
                    <a:noFill/>
                  </a:rPr>
                  <a:t> </a:t>
                </a:r>
              </a:p>
            </p:txBody>
          </p:sp>
        </mc:Fallback>
      </mc:AlternateContent>
    </p:spTree>
    <p:extLst>
      <p:ext uri="{BB962C8B-B14F-4D97-AF65-F5344CB8AC3E}">
        <p14:creationId xmlns:p14="http://schemas.microsoft.com/office/powerpoint/2010/main" val="2838497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14:m>
                  <m:oMath xmlns:m="http://schemas.openxmlformats.org/officeDocument/2006/math">
                    <m:r>
                      <a:rPr lang="en-US" b="0" i="1" smtClean="0">
                        <a:latin typeface="Cambria Math"/>
                      </a:rPr>
                      <m:t>𝜇</m:t>
                    </m:r>
                  </m:oMath>
                </a14:m>
                <a:r>
                  <a:rPr lang="en-US" dirty="0"/>
                  <a:t> is not a random variable. Even though it is unknown, we have assumed that it is fixed. It makes no sense to talk about probabilities for fixed quantities.</a:t>
                </a:r>
              </a:p>
              <a:p>
                <a:endParaRPr lang="en-US" dirty="0"/>
              </a:p>
              <a:p>
                <a:r>
                  <a:rPr lang="en-US" dirty="0"/>
                  <a:t>Instead, the correct interpretation of the interval is “We are 95% </a:t>
                </a:r>
                <a:r>
                  <a:rPr lang="en-US" b="1" i="1" dirty="0"/>
                  <a:t>confident</a:t>
                </a:r>
                <a:r>
                  <a:rPr lang="en-US" dirty="0"/>
                  <a:t> that the true mean is between 7.10 and 8.59.”</a:t>
                </a:r>
              </a:p>
              <a:p>
                <a:pPr marL="0" indent="0">
                  <a:buNone/>
                </a:pPr>
                <a:endParaRPr lang="en-US" dirty="0"/>
              </a:p>
              <a:p>
                <a:r>
                  <a:rPr lang="en-US" dirty="0"/>
                  <a:t>So how is this different? We have a very specific meaning when we say confident. We kind of glossed over it when first defining a confidence interval a couple of slides back.</a:t>
                </a:r>
              </a:p>
              <a:p>
                <a:endParaRPr lang="en-US" dirty="0"/>
              </a:p>
              <a:p>
                <a:endParaRPr lang="en-US" dirty="0"/>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875" r="-2000"/>
                </a:stretch>
              </a:blipFill>
            </p:spPr>
            <p:txBody>
              <a:bodyPr/>
              <a:lstStyle/>
              <a:p>
                <a:r>
                  <a:rPr lang="en-US">
                    <a:noFill/>
                  </a:rPr>
                  <a:t> </a:t>
                </a:r>
              </a:p>
            </p:txBody>
          </p:sp>
        </mc:Fallback>
      </mc:AlternateContent>
    </p:spTree>
    <p:extLst>
      <p:ext uri="{BB962C8B-B14F-4D97-AF65-F5344CB8AC3E}">
        <p14:creationId xmlns:p14="http://schemas.microsoft.com/office/powerpoint/2010/main" val="1473953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9.3 – Classical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If we take a large number of samples and construct a </a:t>
                </a:r>
                <a14:m>
                  <m:oMath xmlns:m="http://schemas.openxmlformats.org/officeDocument/2006/math">
                    <m:r>
                      <a:rPr lang="en-US" b="0" i="0"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confidence interval for each sample, then about </a:t>
                </a:r>
                <a14:m>
                  <m:oMath xmlns:m="http://schemas.openxmlformats.org/officeDocument/2006/math">
                    <m:r>
                      <a:rPr lang="en-US">
                        <a:latin typeface="Cambria Math"/>
                      </a:rPr>
                      <m:t>100</m:t>
                    </m:r>
                    <m:d>
                      <m:dPr>
                        <m:ctrlPr>
                          <a:rPr lang="en-US" i="1">
                            <a:latin typeface="Cambria Math" panose="02040503050406030204" pitchFamily="18" charset="0"/>
                          </a:rPr>
                        </m:ctrlPr>
                      </m:dPr>
                      <m:e>
                        <m:r>
                          <a:rPr lang="en-US" i="1">
                            <a:latin typeface="Cambria Math"/>
                          </a:rPr>
                          <m:t>1−</m:t>
                        </m:r>
                        <m:r>
                          <a:rPr lang="en-US" i="1">
                            <a:latin typeface="Cambria Math"/>
                          </a:rPr>
                          <m:t>𝛼</m:t>
                        </m:r>
                      </m:e>
                    </m:d>
                    <m:r>
                      <a:rPr lang="en-US" i="1">
                        <a:latin typeface="Cambria Math"/>
                      </a:rPr>
                      <m:t>%</m:t>
                    </m:r>
                  </m:oMath>
                </a14:m>
                <a:r>
                  <a:rPr lang="en-US" dirty="0"/>
                  <a:t> of the intervals will contain the true parameter value. This is what is meant by confidence.</a:t>
                </a:r>
              </a:p>
              <a:p>
                <a:pPr lvl="1"/>
                <a:r>
                  <a:rPr lang="en-US" dirty="0"/>
                  <a:t>It is important to note that we will have exactly </a:t>
                </a:r>
                <a14:m>
                  <m:oMath xmlns:m="http://schemas.openxmlformats.org/officeDocument/2006/math">
                    <m:r>
                      <a:rPr lang="en-US">
                        <a:latin typeface="Cambria Math"/>
                      </a:rPr>
                      <m:t>100</m:t>
                    </m:r>
                    <m:d>
                      <m:dPr>
                        <m:ctrlPr>
                          <a:rPr lang="en-US" i="1">
                            <a:latin typeface="Cambria Math" panose="02040503050406030204" pitchFamily="18" charset="0"/>
                          </a:rPr>
                        </m:ctrlPr>
                      </m:dPr>
                      <m:e>
                        <m:r>
                          <a:rPr lang="en-US" i="1">
                            <a:latin typeface="Cambria Math"/>
                          </a:rPr>
                          <m:t>1−</m:t>
                        </m:r>
                        <m:r>
                          <a:rPr lang="en-US" i="1">
                            <a:latin typeface="Cambria Math"/>
                          </a:rPr>
                          <m:t>𝛼</m:t>
                        </m:r>
                      </m:e>
                    </m:d>
                    <m:r>
                      <a:rPr lang="en-US" i="1">
                        <a:latin typeface="Cambria Math"/>
                      </a:rPr>
                      <m:t>%</m:t>
                    </m:r>
                  </m:oMath>
                </a14:m>
                <a:r>
                  <a:rPr lang="en-US" dirty="0"/>
                  <a:t> of the intervals containing the parameter, </a:t>
                </a:r>
                <a:r>
                  <a:rPr lang="en-US" i="1" dirty="0"/>
                  <a:t>only in the limit</a:t>
                </a:r>
                <a:r>
                  <a:rPr lang="en-US" dirty="0"/>
                  <a:t> (when the number of samples is </a:t>
                </a:r>
                <a14:m>
                  <m:oMath xmlns:m="http://schemas.openxmlformats.org/officeDocument/2006/math">
                    <m:r>
                      <a:rPr lang="en-US" b="0" i="1" smtClean="0">
                        <a:latin typeface="Cambria Math"/>
                      </a:rPr>
                      <m:t>∞</m:t>
                    </m:r>
                  </m:oMath>
                </a14:m>
                <a:r>
                  <a:rPr lang="en-US" dirty="0"/>
                  <a:t>). However, we saw that we can get really close with large numbers.</a:t>
                </a:r>
              </a:p>
              <a:p>
                <a:endParaRPr lang="en-US" dirty="0"/>
              </a:p>
              <a:p>
                <a:r>
                  <a:rPr lang="en-US" dirty="0"/>
                  <a:t>This is what we meant when we said that the probability of selecting a random sample that will produce an interval containing </a:t>
                </a:r>
                <a14:m>
                  <m:oMath xmlns:m="http://schemas.openxmlformats.org/officeDocument/2006/math">
                    <m:r>
                      <a:rPr lang="en-US" i="1">
                        <a:latin typeface="Cambria Math"/>
                      </a:rPr>
                      <m:t>𝜃</m:t>
                    </m:r>
                  </m:oMath>
                </a14:m>
                <a:r>
                  <a:rPr lang="en-US" dirty="0"/>
                  <a:t> is </a:t>
                </a:r>
                <a14:m>
                  <m:oMath xmlns:m="http://schemas.openxmlformats.org/officeDocument/2006/math">
                    <m:r>
                      <a:rPr lang="en-US" i="1">
                        <a:latin typeface="Cambria Math"/>
                      </a:rPr>
                      <m:t>1−</m:t>
                    </m:r>
                    <m:r>
                      <a:rPr lang="en-US" i="1">
                        <a:latin typeface="Cambria Math"/>
                      </a:rPr>
                      <m:t>𝛼</m:t>
                    </m:r>
                  </m:oMath>
                </a14:m>
                <a:r>
                  <a:rPr lang="en-US" dirty="0"/>
                  <a:t>.</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963"/>
                </a:stretch>
              </a:blipFill>
            </p:spPr>
            <p:txBody>
              <a:bodyPr/>
              <a:lstStyle/>
              <a:p>
                <a:r>
                  <a:rPr lang="en-US">
                    <a:noFill/>
                  </a:rPr>
                  <a:t> </a:t>
                </a:r>
              </a:p>
            </p:txBody>
          </p:sp>
        </mc:Fallback>
      </mc:AlternateContent>
    </p:spTree>
    <p:extLst>
      <p:ext uri="{BB962C8B-B14F-4D97-AF65-F5344CB8AC3E}">
        <p14:creationId xmlns:p14="http://schemas.microsoft.com/office/powerpoint/2010/main" val="1503341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In this section, we will introduce formulas for calculating confidence intervals for </a:t>
                </a:r>
                <a14:m>
                  <m:oMath xmlns:m="http://schemas.openxmlformats.org/officeDocument/2006/math">
                    <m:r>
                      <a:rPr lang="en-US" b="0" i="1" smtClean="0">
                        <a:latin typeface="Cambria Math"/>
                      </a:rPr>
                      <m:t>𝜇</m:t>
                    </m:r>
                  </m:oMath>
                </a14:m>
                <a:r>
                  <a:rPr lang="en-US" dirty="0"/>
                  <a:t>. As we did in chapter 10, we will look at the case when </a:t>
                </a:r>
                <a14:m>
                  <m:oMath xmlns:m="http://schemas.openxmlformats.org/officeDocument/2006/math">
                    <m:r>
                      <a:rPr lang="en-US" b="0" i="1" smtClean="0">
                        <a:latin typeface="Cambria Math"/>
                      </a:rPr>
                      <m:t>𝜎</m:t>
                    </m:r>
                  </m:oMath>
                </a14:m>
                <a:r>
                  <a:rPr lang="en-US" dirty="0"/>
                  <a:t> is known as well as the case where </a:t>
                </a:r>
                <a14:m>
                  <m:oMath xmlns:m="http://schemas.openxmlformats.org/officeDocument/2006/math">
                    <m:r>
                      <a:rPr lang="en-US" b="0" i="1" smtClean="0">
                        <a:latin typeface="Cambria Math"/>
                      </a:rPr>
                      <m:t>𝜎</m:t>
                    </m:r>
                  </m:oMath>
                </a14:m>
                <a:r>
                  <a:rPr lang="en-US" dirty="0"/>
                  <a:t> is unknown.</a:t>
                </a:r>
              </a:p>
              <a:p>
                <a:endParaRPr lang="en-US" dirty="0"/>
              </a:p>
              <a:p>
                <a:r>
                  <a:rPr lang="en-US" dirty="0"/>
                  <a:t>Let’s begin with the case where we know </a:t>
                </a:r>
                <a14:m>
                  <m:oMath xmlns:m="http://schemas.openxmlformats.org/officeDocument/2006/math">
                    <m:r>
                      <a:rPr lang="en-US" b="0" i="1" smtClean="0">
                        <a:latin typeface="Cambria Math"/>
                      </a:rPr>
                      <m:t>𝜎</m:t>
                    </m:r>
                  </m:oMath>
                </a14:m>
                <a:r>
                  <a:rPr lang="en-US" dirty="0"/>
                  <a:t>. Since we are going to use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as the estimator, we have </a:t>
                </a:r>
                <a14:m>
                  <m:oMath xmlns:m="http://schemas.openxmlformats.org/officeDocument/2006/math">
                    <m:f>
                      <m:fPr>
                        <m:ctrlPr>
                          <a:rPr lang="en-US" b="0" i="1" smtClean="0">
                            <a:latin typeface="Cambria Math" panose="02040503050406030204" pitchFamily="18" charset="0"/>
                          </a:rPr>
                        </m:ctrlPr>
                      </m:fPr>
                      <m:num>
                        <m:acc>
                          <m:accPr>
                            <m:chr m:val="̅"/>
                            <m:ctrlPr>
                              <a:rPr lang="en-US" b="0" i="1" smtClean="0">
                                <a:latin typeface="Cambria Math" panose="02040503050406030204" pitchFamily="18" charset="0"/>
                              </a:rPr>
                            </m:ctrlPr>
                          </m:accPr>
                          <m:e>
                            <m:r>
                              <a:rPr lang="en-US" b="0" i="1" smtClean="0">
                                <a:latin typeface="Cambria Math"/>
                              </a:rPr>
                              <m:t>𝑋</m:t>
                            </m:r>
                          </m:e>
                        </m:acc>
                        <m:r>
                          <a:rPr lang="en-US" b="0" i="1" dirty="0" smtClean="0">
                            <a:latin typeface="Cambria Math"/>
                          </a:rPr>
                          <m:t>−</m:t>
                        </m:r>
                        <m:r>
                          <a:rPr lang="en-US" b="0" i="1" dirty="0" smtClean="0">
                            <a:latin typeface="Cambria Math"/>
                          </a:rPr>
                          <m:t>𝜇</m:t>
                        </m:r>
                      </m:num>
                      <m:den>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den>
                    </m:f>
                    <m:r>
                      <a:rPr lang="en-US" b="0" i="1" smtClean="0">
                        <a:latin typeface="Cambria Math"/>
                      </a:rPr>
                      <m:t>~</m:t>
                    </m:r>
                    <m:r>
                      <a:rPr lang="en-US" b="0" i="1" smtClean="0">
                        <a:latin typeface="Cambria Math"/>
                      </a:rPr>
                      <m:t>𝑁</m:t>
                    </m:r>
                    <m:d>
                      <m:dPr>
                        <m:ctrlPr>
                          <a:rPr lang="en-US" b="0" i="1" smtClean="0">
                            <a:latin typeface="Cambria Math" panose="02040503050406030204" pitchFamily="18" charset="0"/>
                          </a:rPr>
                        </m:ctrlPr>
                      </m:dPr>
                      <m:e>
                        <m:r>
                          <a:rPr lang="en-US" b="0" i="1" smtClean="0">
                            <a:latin typeface="Cambria Math"/>
                          </a:rPr>
                          <m:t>0,1</m:t>
                        </m:r>
                      </m:e>
                    </m:d>
                  </m:oMath>
                </a14:m>
                <a:r>
                  <a:rPr lang="en-US" dirty="0"/>
                  <a:t>. Based on what we said in 9.3, we want to find the upper and lower confidence limits that satisfy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smtClean="0">
                                <a:latin typeface="Cambria Math"/>
                              </a:rPr>
                              <m:t>𝐿</m:t>
                            </m:r>
                          </m:sub>
                        </m:sSub>
                        <m:r>
                          <a:rPr lang="en-US" b="0" i="1" smtClean="0">
                            <a:latin typeface="Cambria Math"/>
                          </a:rPr>
                          <m:t>&lt;</m:t>
                        </m:r>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&lt;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a:rPr>
                                  <m:t>𝜃</m:t>
                                </m:r>
                              </m:e>
                            </m:acc>
                          </m:e>
                          <m:sub>
                            <m:r>
                              <a:rPr lang="en-US" b="0" i="1" smtClean="0">
                                <a:latin typeface="Cambria Math"/>
                              </a:rPr>
                              <m:t>𝑈</m:t>
                            </m:r>
                          </m:sub>
                        </m:sSub>
                      </m:e>
                    </m:d>
                    <m:r>
                      <a:rPr lang="en-US" b="0" i="1" smtClean="0">
                        <a:latin typeface="Cambria Math"/>
                      </a:rPr>
                      <m:t>=1−</m:t>
                    </m:r>
                    <m:r>
                      <a:rPr lang="en-US" b="0" i="1" smtClean="0">
                        <a:latin typeface="Cambria Math"/>
                      </a:rPr>
                      <m:t>𝛼</m:t>
                    </m:r>
                  </m:oMath>
                </a14:m>
                <a:r>
                  <a:rPr lang="en-US" dirty="0"/>
                  <a:t>. This problem is essentially just finding </a:t>
                </a:r>
                <a14:m>
                  <m:oMath xmlns:m="http://schemas.openxmlformats.org/officeDocument/2006/math">
                    <m:r>
                      <a:rPr lang="en-US" b="0" i="1" smtClean="0">
                        <a:latin typeface="Cambria Math"/>
                      </a:rPr>
                      <m:t>𝑧</m:t>
                    </m:r>
                  </m:oMath>
                </a14:m>
                <a:r>
                  <a:rPr lang="en-US" dirty="0"/>
                  <a:t>-values and transforming them back so that they are on the same scale as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25" r="-1630"/>
                </a:stretch>
              </a:blipFill>
            </p:spPr>
            <p:txBody>
              <a:bodyPr/>
              <a:lstStyle/>
              <a:p>
                <a:r>
                  <a:rPr lang="en-US">
                    <a:noFill/>
                  </a:rPr>
                  <a:t> </a:t>
                </a:r>
              </a:p>
            </p:txBody>
          </p:sp>
        </mc:Fallback>
      </mc:AlternateContent>
    </p:spTree>
    <p:extLst>
      <p:ext uri="{BB962C8B-B14F-4D97-AF65-F5344CB8AC3E}">
        <p14:creationId xmlns:p14="http://schemas.microsoft.com/office/powerpoint/2010/main" val="2067141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Based on this derivation, we can express the confidence limits as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𝑧</m:t>
                        </m:r>
                      </m:e>
                      <m:sub>
                        <m:f>
                          <m:fPr>
                            <m:ctrlPr>
                              <a:rPr lang="en-US" b="0" i="1" dirty="0" smtClean="0">
                                <a:latin typeface="Cambria Math" panose="02040503050406030204" pitchFamily="18" charset="0"/>
                              </a:rPr>
                            </m:ctrlPr>
                          </m:fPr>
                          <m:num>
                            <m:r>
                              <a:rPr lang="en-US" b="0" i="1" dirty="0" smtClean="0">
                                <a:latin typeface="Cambria Math"/>
                              </a:rPr>
                              <m:t>𝛼</m:t>
                            </m:r>
                          </m:num>
                          <m:den>
                            <m:r>
                              <a:rPr lang="en-US" b="0" i="1" dirty="0" smtClean="0">
                                <a:latin typeface="Cambria Math"/>
                              </a:rPr>
                              <m:t>2</m:t>
                            </m:r>
                          </m:den>
                        </m:f>
                      </m:sub>
                    </m:sSub>
                    <m:f>
                      <m:fPr>
                        <m:ctrlPr>
                          <a:rPr lang="en-US" b="0" i="1" dirty="0" smtClean="0">
                            <a:latin typeface="Cambria Math" panose="02040503050406030204" pitchFamily="18" charset="0"/>
                          </a:rPr>
                        </m:ctrlPr>
                      </m:fPr>
                      <m:num>
                        <m:r>
                          <a:rPr lang="en-US" b="0" i="1" dirty="0" smtClean="0">
                            <a:latin typeface="Cambria Math"/>
                          </a:rPr>
                          <m:t>𝜎</m:t>
                        </m:r>
                      </m:num>
                      <m:den>
                        <m:rad>
                          <m:radPr>
                            <m:degHide m:val="on"/>
                            <m:ctrlPr>
                              <a:rPr lang="en-US" b="0" i="1" dirty="0" smtClean="0">
                                <a:latin typeface="Cambria Math" panose="02040503050406030204" pitchFamily="18" charset="0"/>
                              </a:rPr>
                            </m:ctrlPr>
                          </m:radPr>
                          <m:deg/>
                          <m:e>
                            <m:r>
                              <a:rPr lang="en-US" b="0" i="1" dirty="0" smtClean="0">
                                <a:latin typeface="Cambria Math"/>
                              </a:rPr>
                              <m:t>𝑛</m:t>
                            </m:r>
                          </m:e>
                        </m:rad>
                      </m:den>
                    </m:f>
                  </m:oMath>
                </a14:m>
                <a:r>
                  <a:rPr lang="en-US" dirty="0"/>
                  <a:t>.</a:t>
                </a:r>
              </a:p>
              <a:p>
                <a:endParaRPr lang="en-US" dirty="0"/>
              </a:p>
              <a:p>
                <a:r>
                  <a:rPr lang="en-US" dirty="0"/>
                  <a:t>Examples: </a:t>
                </a:r>
              </a:p>
              <a:p>
                <a:pPr lvl="1"/>
                <a:r>
                  <a:rPr lang="en-US" dirty="0"/>
                  <a:t>Find the 95% confidence interval for the calorie example we saw in 10.3. There we had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=2491.43</m:t>
                    </m:r>
                  </m:oMath>
                </a14:m>
                <a:r>
                  <a:rPr lang="en-US" dirty="0"/>
                  <a:t>, </a:t>
                </a:r>
                <a14:m>
                  <m:oMath xmlns:m="http://schemas.openxmlformats.org/officeDocument/2006/math">
                    <m:r>
                      <a:rPr lang="en-US" b="0" i="1" smtClean="0">
                        <a:latin typeface="Cambria Math"/>
                      </a:rPr>
                      <m:t>𝜎</m:t>
                    </m:r>
                    <m:r>
                      <a:rPr lang="en-US" b="0" i="1" smtClean="0">
                        <a:latin typeface="Cambria Math"/>
                      </a:rPr>
                      <m:t>=842.62</m:t>
                    </m:r>
                  </m:oMath>
                </a14:m>
                <a:r>
                  <a:rPr lang="en-US" b="0" dirty="0"/>
                  <a:t>, and </a:t>
                </a:r>
                <a14:m>
                  <m:oMath xmlns:m="http://schemas.openxmlformats.org/officeDocument/2006/math">
                    <m:r>
                      <a:rPr lang="en-US" b="0" i="1" smtClean="0">
                        <a:latin typeface="Cambria Math"/>
                      </a:rPr>
                      <m:t>𝑛</m:t>
                    </m:r>
                    <m:r>
                      <a:rPr lang="en-US" b="0" i="1" smtClean="0">
                        <a:latin typeface="Cambria Math"/>
                      </a:rPr>
                      <m:t>=45</m:t>
                    </m:r>
                  </m:oMath>
                </a14:m>
                <a:r>
                  <a:rPr lang="en-US" b="0" dirty="0"/>
                  <a:t>.</a:t>
                </a:r>
              </a:p>
              <a:p>
                <a:pPr lvl="1"/>
                <a:r>
                  <a:rPr lang="en-US" dirty="0"/>
                  <a:t>Find the 99% confidence interval for the lifespan example we saw in 10.4. There,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=71.8</m:t>
                    </m:r>
                  </m:oMath>
                </a14:m>
                <a:r>
                  <a:rPr lang="en-US" dirty="0"/>
                  <a:t>, </a:t>
                </a:r>
                <a14:m>
                  <m:oMath xmlns:m="http://schemas.openxmlformats.org/officeDocument/2006/math">
                    <m:r>
                      <a:rPr lang="en-US" b="0" i="1" smtClean="0">
                        <a:latin typeface="Cambria Math"/>
                      </a:rPr>
                      <m:t>𝜎</m:t>
                    </m:r>
                    <m:r>
                      <a:rPr lang="en-US" b="0" i="1" smtClean="0">
                        <a:latin typeface="Cambria Math"/>
                      </a:rPr>
                      <m:t>=8.9</m:t>
                    </m:r>
                  </m:oMath>
                </a14:m>
                <a:r>
                  <a:rPr lang="en-US" dirty="0"/>
                  <a:t>, and </a:t>
                </a:r>
                <a14:m>
                  <m:oMath xmlns:m="http://schemas.openxmlformats.org/officeDocument/2006/math">
                    <m:r>
                      <a:rPr lang="en-US" b="0" i="1" smtClean="0">
                        <a:latin typeface="Cambria Math"/>
                      </a:rPr>
                      <m:t>𝑛</m:t>
                    </m:r>
                    <m:r>
                      <a:rPr lang="en-US" b="0" i="1" smtClean="0">
                        <a:latin typeface="Cambria Math"/>
                      </a:rPr>
                      <m:t>=100</m:t>
                    </m:r>
                  </m:oMath>
                </a14:m>
                <a:r>
                  <a:rPr lang="en-US" dirty="0"/>
                  <a:t>. </a:t>
                </a:r>
              </a:p>
              <a:p>
                <a:pPr lvl="1"/>
                <a:r>
                  <a:rPr lang="en-US" dirty="0"/>
                  <a:t>Provide interpretations for both of these intervals.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593"/>
                </a:stretch>
              </a:blipFill>
            </p:spPr>
            <p:txBody>
              <a:bodyPr/>
              <a:lstStyle/>
              <a:p>
                <a:r>
                  <a:rPr lang="en-US">
                    <a:noFill/>
                  </a:rPr>
                  <a:t> </a:t>
                </a:r>
              </a:p>
            </p:txBody>
          </p:sp>
        </mc:Fallback>
      </mc:AlternateContent>
    </p:spTree>
    <p:extLst>
      <p:ext uri="{BB962C8B-B14F-4D97-AF65-F5344CB8AC3E}">
        <p14:creationId xmlns:p14="http://schemas.microsoft.com/office/powerpoint/2010/main" val="1026453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10000"/>
              </a:bodyPr>
              <a:lstStyle/>
              <a:p>
                <a:r>
                  <a:rPr lang="en-US" dirty="0"/>
                  <a:t>First, we are 95% confident that the true average daily caloric intake for members of the gym is between </a:t>
                </a:r>
                <a14:m>
                  <m:oMath xmlns:m="http://schemas.openxmlformats.org/officeDocument/2006/math">
                    <m:r>
                      <a:rPr lang="en-US" b="0" i="1" smtClean="0">
                        <a:latin typeface="Cambria Math"/>
                      </a:rPr>
                      <m:t>2</m:t>
                    </m:r>
                    <m:r>
                      <a:rPr lang="en-US" b="0" i="1" smtClean="0">
                        <a:latin typeface="Cambria Math" panose="02040503050406030204" pitchFamily="18" charset="0"/>
                      </a:rPr>
                      <m:t>2</m:t>
                    </m:r>
                    <m:r>
                      <a:rPr lang="en-US" b="0" i="1" smtClean="0">
                        <a:latin typeface="Cambria Math"/>
                      </a:rPr>
                      <m:t>45.23</m:t>
                    </m:r>
                  </m:oMath>
                </a14:m>
                <a:r>
                  <a:rPr lang="en-US" dirty="0"/>
                  <a:t> and </a:t>
                </a:r>
                <a14:m>
                  <m:oMath xmlns:m="http://schemas.openxmlformats.org/officeDocument/2006/math">
                    <m:r>
                      <a:rPr lang="en-US" b="0" i="1" smtClean="0">
                        <a:latin typeface="Cambria Math"/>
                      </a:rPr>
                      <m:t>2</m:t>
                    </m:r>
                    <m:r>
                      <a:rPr lang="en-US" b="0" i="1" smtClean="0">
                        <a:latin typeface="Cambria Math" panose="02040503050406030204" pitchFamily="18" charset="0"/>
                      </a:rPr>
                      <m:t>7</m:t>
                    </m:r>
                    <m:r>
                      <a:rPr lang="en-US" b="0" i="1" smtClean="0">
                        <a:latin typeface="Cambria Math"/>
                      </a:rPr>
                      <m:t>37.63</m:t>
                    </m:r>
                  </m:oMath>
                </a14:m>
                <a:r>
                  <a:rPr lang="en-US" dirty="0"/>
                  <a:t>.</a:t>
                </a:r>
              </a:p>
              <a:p>
                <a:endParaRPr lang="en-US" dirty="0"/>
              </a:p>
              <a:p>
                <a:r>
                  <a:rPr lang="en-US" dirty="0"/>
                  <a:t>Next, we are 99% confident that the true average lifespan in the United States is between </a:t>
                </a:r>
                <a14:m>
                  <m:oMath xmlns:m="http://schemas.openxmlformats.org/officeDocument/2006/math">
                    <m:r>
                      <a:rPr lang="en-US" b="0" i="1" smtClean="0">
                        <a:latin typeface="Cambria Math"/>
                      </a:rPr>
                      <m:t>69.50</m:t>
                    </m:r>
                  </m:oMath>
                </a14:m>
                <a:r>
                  <a:rPr lang="en-US" dirty="0"/>
                  <a:t> and </a:t>
                </a:r>
                <a14:m>
                  <m:oMath xmlns:m="http://schemas.openxmlformats.org/officeDocument/2006/math">
                    <m:r>
                      <a:rPr lang="en-US" b="0" i="1" smtClean="0">
                        <a:latin typeface="Cambria Math"/>
                      </a:rPr>
                      <m:t>74.1</m:t>
                    </m:r>
                  </m:oMath>
                </a14:m>
                <a:r>
                  <a:rPr lang="en-US" dirty="0"/>
                  <a:t>.</a:t>
                </a:r>
              </a:p>
              <a:p>
                <a:endParaRPr lang="en-US" dirty="0"/>
              </a:p>
              <a:p>
                <a:r>
                  <a:rPr lang="en-US" dirty="0"/>
                  <a:t>Notice that we get more information from a confidence interval than from a hypothesis test. At the end of a hypothesis test, all we give is a general conclusion (which may be all we are interested in). With a confidence interval, however, we can give a range of plausible values for the parameter. So rather than saying something like “the true mean is not 2250,” we can estimate that the true mean is between </a:t>
                </a:r>
                <a14:m>
                  <m:oMath xmlns:m="http://schemas.openxmlformats.org/officeDocument/2006/math">
                    <m:r>
                      <a:rPr lang="en-US" b="0" i="1" smtClean="0">
                        <a:latin typeface="Cambria Math"/>
                      </a:rPr>
                      <m:t>2</m:t>
                    </m:r>
                    <m:r>
                      <a:rPr lang="en-US" b="0" i="1" smtClean="0">
                        <a:latin typeface="Cambria Math" panose="02040503050406030204" pitchFamily="18" charset="0"/>
                      </a:rPr>
                      <m:t>2</m:t>
                    </m:r>
                    <m:r>
                      <a:rPr lang="en-US" b="0" i="1" smtClean="0">
                        <a:latin typeface="Cambria Math"/>
                      </a:rPr>
                      <m:t>45</m:t>
                    </m:r>
                  </m:oMath>
                </a14:m>
                <a:r>
                  <a:rPr lang="en-US" dirty="0"/>
                  <a:t> and </a:t>
                </a:r>
                <a14:m>
                  <m:oMath xmlns:m="http://schemas.openxmlformats.org/officeDocument/2006/math">
                    <m:r>
                      <a:rPr lang="en-US" b="0" i="1" smtClean="0">
                        <a:latin typeface="Cambria Math"/>
                      </a:rPr>
                      <m:t>2</m:t>
                    </m:r>
                    <m:r>
                      <a:rPr lang="en-US" b="0" i="1" smtClean="0">
                        <a:latin typeface="Cambria Math" panose="02040503050406030204" pitchFamily="18" charset="0"/>
                      </a:rPr>
                      <m:t>7</m:t>
                    </m:r>
                    <m:r>
                      <a:rPr lang="en-US" b="0" i="1" smtClean="0">
                        <a:latin typeface="Cambria Math"/>
                      </a:rPr>
                      <m:t>37</m:t>
                    </m:r>
                  </m:oMath>
                </a14:m>
                <a:r>
                  <a:rPr lang="en-US"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19" t="-1500" r="-1185"/>
                </a:stretch>
              </a:blipFill>
            </p:spPr>
            <p:txBody>
              <a:bodyPr/>
              <a:lstStyle/>
              <a:p>
                <a:r>
                  <a:rPr lang="en-US">
                    <a:noFill/>
                  </a:rPr>
                  <a:t> </a:t>
                </a:r>
              </a:p>
            </p:txBody>
          </p:sp>
        </mc:Fallback>
      </mc:AlternateContent>
    </p:spTree>
    <p:extLst>
      <p:ext uri="{BB962C8B-B14F-4D97-AF65-F5344CB8AC3E}">
        <p14:creationId xmlns:p14="http://schemas.microsoft.com/office/powerpoint/2010/main" val="1756564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In estimation, we are very concerned about how far off our point estimates are from the true parameters. Confidence intervals allows us to put bounds on the error.</a:t>
                </a:r>
              </a:p>
              <a:p>
                <a:endParaRPr lang="en-US" dirty="0"/>
              </a:p>
              <a:p>
                <a:r>
                  <a:rPr lang="en-US" dirty="0"/>
                  <a:t>That is, when using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to estimate </a:t>
                </a:r>
                <a14:m>
                  <m:oMath xmlns:m="http://schemas.openxmlformats.org/officeDocument/2006/math">
                    <m:r>
                      <a:rPr lang="en-US" b="0" i="1" smtClean="0">
                        <a:latin typeface="Cambria Math"/>
                      </a:rPr>
                      <m:t>𝜇</m:t>
                    </m:r>
                  </m:oMath>
                </a14:m>
                <a:r>
                  <a:rPr lang="en-US" dirty="0"/>
                  <a:t>, we can be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confident that the error will not exceed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𝑧</m:t>
                        </m:r>
                      </m:e>
                      <m:sub>
                        <m:f>
                          <m:fPr>
                            <m:ctrlPr>
                              <a:rPr lang="en-US" b="0" i="1" smtClean="0">
                                <a:latin typeface="Cambria Math" panose="02040503050406030204" pitchFamily="18" charset="0"/>
                              </a:rPr>
                            </m:ctrlPr>
                          </m:fPr>
                          <m:num>
                            <m:r>
                              <a:rPr lang="en-US" b="0" i="1" smtClean="0">
                                <a:latin typeface="Cambria Math"/>
                              </a:rPr>
                              <m:t>𝛼</m:t>
                            </m:r>
                          </m:num>
                          <m:den>
                            <m:r>
                              <a:rPr lang="en-US" b="0" i="1" smtClean="0">
                                <a:latin typeface="Cambria Math"/>
                              </a:rPr>
                              <m:t>2</m:t>
                            </m:r>
                          </m:den>
                        </m:f>
                      </m:sub>
                    </m:sSub>
                    <m:f>
                      <m:fPr>
                        <m:ctrlPr>
                          <a:rPr lang="en-US" b="0" i="1" smtClean="0">
                            <a:latin typeface="Cambria Math" panose="02040503050406030204" pitchFamily="18" charset="0"/>
                          </a:rPr>
                        </m:ctrlPr>
                      </m:fPr>
                      <m:num>
                        <m:r>
                          <a:rPr lang="en-US" b="0" i="1" smtClean="0">
                            <a:latin typeface="Cambria Math"/>
                          </a:rPr>
                          <m:t>𝜎</m:t>
                        </m:r>
                      </m:num>
                      <m:den>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a:t>
                </a:r>
              </a:p>
              <a:p>
                <a:endParaRPr lang="en-US" dirty="0"/>
              </a:p>
              <a:p>
                <a:r>
                  <a:rPr lang="en-US" dirty="0"/>
                  <a:t>Now suppose we want to set the size of an error to be no larger than some small amount, say </a:t>
                </a:r>
                <a14:m>
                  <m:oMath xmlns:m="http://schemas.openxmlformats.org/officeDocument/2006/math">
                    <m:r>
                      <a:rPr lang="en-US" b="0" i="1" smtClean="0">
                        <a:latin typeface="Cambria Math"/>
                      </a:rPr>
                      <m:t>𝑒</m:t>
                    </m:r>
                  </m:oMath>
                </a14:m>
                <a:r>
                  <a:rPr lang="en-US" dirty="0"/>
                  <a:t>. How can we use this idea to find a sample size that will ensure that the error does not exceed </a:t>
                </a:r>
                <a14:m>
                  <m:oMath xmlns:m="http://schemas.openxmlformats.org/officeDocument/2006/math">
                    <m:r>
                      <a:rPr lang="en-US" b="0" i="1" smtClean="0">
                        <a:latin typeface="Cambria Math"/>
                      </a:rPr>
                      <m:t>𝑒</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2074"/>
                </a:stretch>
              </a:blipFill>
            </p:spPr>
            <p:txBody>
              <a:bodyPr/>
              <a:lstStyle/>
              <a:p>
                <a:r>
                  <a:rPr lang="en-US">
                    <a:noFill/>
                  </a:rPr>
                  <a:t> </a:t>
                </a:r>
              </a:p>
            </p:txBody>
          </p:sp>
        </mc:Fallback>
      </mc:AlternateContent>
    </p:spTree>
    <p:extLst>
      <p:ext uri="{BB962C8B-B14F-4D97-AF65-F5344CB8AC3E}">
        <p14:creationId xmlns:p14="http://schemas.microsoft.com/office/powerpoint/2010/main" val="2959987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By simply rearranging the bound for the error, we can say that if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oMath>
                </a14:m>
                <a:r>
                  <a:rPr lang="en-US" dirty="0"/>
                  <a:t> is used as an estimate of </a:t>
                </a:r>
                <a14:m>
                  <m:oMath xmlns:m="http://schemas.openxmlformats.org/officeDocument/2006/math">
                    <m:r>
                      <a:rPr lang="en-US" b="0" i="1" smtClean="0">
                        <a:latin typeface="Cambria Math"/>
                      </a:rPr>
                      <m:t>𝜇</m:t>
                    </m:r>
                  </m:oMath>
                </a14:m>
                <a:r>
                  <a:rPr lang="en-US" dirty="0"/>
                  <a:t>, we can be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confident that the error will not exceed a specified amount </a:t>
                </a:r>
                <a14:m>
                  <m:oMath xmlns:m="http://schemas.openxmlformats.org/officeDocument/2006/math">
                    <m:r>
                      <a:rPr lang="en-US" b="0" i="1" smtClean="0">
                        <a:latin typeface="Cambria Math"/>
                      </a:rPr>
                      <m:t>𝑒</m:t>
                    </m:r>
                  </m:oMath>
                </a14:m>
                <a:r>
                  <a:rPr lang="en-US" dirty="0"/>
                  <a:t> when the sample size is: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𝑛</m:t>
                      </m:r>
                      <m:r>
                        <a:rPr lang="en-US" b="0" i="1" smtClean="0">
                          <a:latin typeface="Cambria Math"/>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𝛼</m:t>
                                      </m:r>
                                      <m:r>
                                        <a:rPr lang="en-US" b="0" i="1" smtClean="0">
                                          <a:latin typeface="Cambria Math"/>
                                        </a:rPr>
                                        <m:t>/2</m:t>
                                      </m:r>
                                    </m:sub>
                                  </m:sSub>
                                  <m:r>
                                    <a:rPr lang="en-US" b="0" i="1" smtClean="0">
                                      <a:latin typeface="Cambria Math"/>
                                    </a:rPr>
                                    <m:t>𝜎</m:t>
                                  </m:r>
                                </m:num>
                                <m:den>
                                  <m:r>
                                    <a:rPr lang="en-US" b="0" i="1" smtClean="0">
                                      <a:latin typeface="Cambria Math"/>
                                    </a:rPr>
                                    <m:t>𝑒</m:t>
                                  </m:r>
                                </m:den>
                              </m:f>
                            </m:e>
                          </m:d>
                        </m:e>
                        <m:sup>
                          <m:r>
                            <a:rPr lang="en-US" b="0" i="1" smtClean="0">
                              <a:latin typeface="Cambria Math"/>
                            </a:rPr>
                            <m:t>2</m:t>
                          </m:r>
                        </m:sup>
                      </m:sSup>
                    </m:oMath>
                  </m:oMathPara>
                </a14:m>
                <a:endParaRPr lang="en-US" dirty="0"/>
              </a:p>
              <a:p>
                <a:endParaRPr lang="en-US" dirty="0"/>
              </a:p>
              <a:p>
                <a:r>
                  <a:rPr lang="en-US" dirty="0"/>
                  <a:t>As this quantity is not likely to be an integer, we round up to the next integer (the ceiling function).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667"/>
                </a:stretch>
              </a:blipFill>
            </p:spPr>
            <p:txBody>
              <a:bodyPr/>
              <a:lstStyle/>
              <a:p>
                <a:r>
                  <a:rPr lang="en-US">
                    <a:noFill/>
                  </a:rPr>
                  <a:t> </a:t>
                </a:r>
              </a:p>
            </p:txBody>
          </p:sp>
        </mc:Fallback>
      </mc:AlternateContent>
    </p:spTree>
    <p:extLst>
      <p:ext uri="{BB962C8B-B14F-4D97-AF65-F5344CB8AC3E}">
        <p14:creationId xmlns:p14="http://schemas.microsoft.com/office/powerpoint/2010/main" val="128124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For the lifespan example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=71.8, </m:t>
                    </m:r>
                    <m:r>
                      <a:rPr lang="en-US" b="0" i="1" dirty="0" smtClean="0">
                        <a:latin typeface="Cambria Math"/>
                      </a:rPr>
                      <m:t>𝜎</m:t>
                    </m:r>
                    <m:r>
                      <a:rPr lang="en-US" b="0" i="1" dirty="0" smtClean="0">
                        <a:latin typeface="Cambria Math"/>
                      </a:rPr>
                      <m:t>=8.9, </m:t>
                    </m:r>
                    <m:r>
                      <a:rPr lang="en-US" b="0" i="1" dirty="0" smtClean="0">
                        <a:latin typeface="Cambria Math"/>
                      </a:rPr>
                      <m:t>𝑛</m:t>
                    </m:r>
                    <m:r>
                      <a:rPr lang="en-US" b="0" i="1" dirty="0" smtClean="0">
                        <a:latin typeface="Cambria Math"/>
                      </a:rPr>
                      <m:t>=100,</m:t>
                    </m:r>
                    <m:r>
                      <a:rPr lang="en-US" b="0" i="1" dirty="0" smtClean="0">
                        <a:latin typeface="Cambria Math"/>
                      </a:rPr>
                      <m:t>𝛼</m:t>
                    </m:r>
                    <m:r>
                      <a:rPr lang="en-US" b="0" i="1" dirty="0" smtClean="0">
                        <a:latin typeface="Cambria Math"/>
                      </a:rPr>
                      <m:t>=0.01</m:t>
                    </m:r>
                  </m:oMath>
                </a14:m>
                <a:r>
                  <a:rPr lang="en-US" dirty="0"/>
                  <a:t>), find:</a:t>
                </a:r>
              </a:p>
              <a:p>
                <a:pPr lvl="1"/>
                <a:r>
                  <a:rPr lang="en-US" dirty="0"/>
                  <a:t>The bound for the error</a:t>
                </a:r>
              </a:p>
              <a:p>
                <a:pPr lvl="1"/>
                <a:r>
                  <a:rPr lang="en-US" dirty="0"/>
                  <a:t>The sample size necessary to make the error no bigger than 1.5.</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2370581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now consider the case when </a:t>
                </a:r>
                <a14:m>
                  <m:oMath xmlns:m="http://schemas.openxmlformats.org/officeDocument/2006/math">
                    <m:r>
                      <a:rPr lang="en-US" b="0" i="1" smtClean="0">
                        <a:latin typeface="Cambria Math"/>
                      </a:rPr>
                      <m:t>𝜎</m:t>
                    </m:r>
                  </m:oMath>
                </a14:m>
                <a:r>
                  <a:rPr lang="en-US" dirty="0"/>
                  <a:t> is unknown. As you might expect, rather than use a standard normal distribution, we need to use a t-distribution. </a:t>
                </a:r>
              </a:p>
              <a:p>
                <a:endParaRPr lang="en-US" dirty="0"/>
              </a:p>
              <a:p>
                <a:r>
                  <a:rPr lang="en-US" dirty="0"/>
                  <a:t>The derivation of a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confidence interval is almost the exact same as we saw for the case with known </a:t>
                </a:r>
                <a14:m>
                  <m:oMath xmlns:m="http://schemas.openxmlformats.org/officeDocument/2006/math">
                    <m:r>
                      <a:rPr lang="en-US" b="0" i="1" smtClean="0">
                        <a:latin typeface="Cambria Math"/>
                      </a:rPr>
                      <m:t>𝜎</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r="-1704"/>
                </a:stretch>
              </a:blipFill>
            </p:spPr>
            <p:txBody>
              <a:bodyPr/>
              <a:lstStyle/>
              <a:p>
                <a:r>
                  <a:rPr lang="en-US">
                    <a:noFill/>
                  </a:rPr>
                  <a:t> </a:t>
                </a:r>
              </a:p>
            </p:txBody>
          </p:sp>
        </mc:Fallback>
      </mc:AlternateContent>
    </p:spTree>
    <p:extLst>
      <p:ext uri="{BB962C8B-B14F-4D97-AF65-F5344CB8AC3E}">
        <p14:creationId xmlns:p14="http://schemas.microsoft.com/office/powerpoint/2010/main" val="4261194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So, the </a:t>
                </a:r>
                <a14:m>
                  <m:oMath xmlns:m="http://schemas.openxmlformats.org/officeDocument/2006/math">
                    <m:r>
                      <a:rPr lang="en-US" b="0" i="1" smtClean="0">
                        <a:latin typeface="Cambria Math"/>
                      </a:rPr>
                      <m:t>100</m:t>
                    </m:r>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𝛼</m:t>
                        </m:r>
                      </m:e>
                    </m:d>
                    <m:r>
                      <a:rPr lang="en-US" b="0" i="1" smtClean="0">
                        <a:latin typeface="Cambria Math"/>
                      </a:rPr>
                      <m:t>%</m:t>
                    </m:r>
                  </m:oMath>
                </a14:m>
                <a:r>
                  <a:rPr lang="en-US" dirty="0"/>
                  <a:t> confidence interval for the mean when </a:t>
                </a:r>
                <a14:m>
                  <m:oMath xmlns:m="http://schemas.openxmlformats.org/officeDocument/2006/math">
                    <m:r>
                      <a:rPr lang="en-US" b="0" i="1" smtClean="0">
                        <a:latin typeface="Cambria Math"/>
                      </a:rPr>
                      <m:t>𝜎</m:t>
                    </m:r>
                  </m:oMath>
                </a14:m>
                <a:r>
                  <a:rPr lang="en-US" dirty="0"/>
                  <a:t> is unknown is given by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𝑡</m:t>
                        </m:r>
                      </m:e>
                      <m:sub>
                        <m:f>
                          <m:fPr>
                            <m:ctrlPr>
                              <a:rPr lang="en-US" b="0" i="1" dirty="0" smtClean="0">
                                <a:latin typeface="Cambria Math" panose="02040503050406030204" pitchFamily="18" charset="0"/>
                              </a:rPr>
                            </m:ctrlPr>
                          </m:fPr>
                          <m:num>
                            <m:r>
                              <a:rPr lang="en-US" b="0" i="1" dirty="0" smtClean="0">
                                <a:latin typeface="Cambria Math"/>
                              </a:rPr>
                              <m:t>𝛼</m:t>
                            </m:r>
                          </m:num>
                          <m:den>
                            <m:r>
                              <a:rPr lang="en-US" b="0" i="1" dirty="0" smtClean="0">
                                <a:latin typeface="Cambria Math"/>
                              </a:rPr>
                              <m:t>2</m:t>
                            </m:r>
                          </m:den>
                        </m:f>
                      </m:sub>
                    </m:sSub>
                    <m:f>
                      <m:fPr>
                        <m:ctrlPr>
                          <a:rPr lang="en-US" b="0" i="1" dirty="0" smtClean="0">
                            <a:latin typeface="Cambria Math" panose="02040503050406030204" pitchFamily="18" charset="0"/>
                          </a:rPr>
                        </m:ctrlPr>
                      </m:fPr>
                      <m:num>
                        <m:r>
                          <a:rPr lang="en-US" b="0" i="1" dirty="0" smtClean="0">
                            <a:latin typeface="Cambria Math"/>
                          </a:rPr>
                          <m:t>𝑠</m:t>
                        </m:r>
                      </m:num>
                      <m:den>
                        <m:rad>
                          <m:radPr>
                            <m:degHide m:val="on"/>
                            <m:ctrlPr>
                              <a:rPr lang="en-US" b="0" i="1" dirty="0" smtClean="0">
                                <a:latin typeface="Cambria Math" panose="02040503050406030204" pitchFamily="18" charset="0"/>
                              </a:rPr>
                            </m:ctrlPr>
                          </m:radPr>
                          <m:deg/>
                          <m:e>
                            <m:r>
                              <a:rPr lang="en-US" b="0" i="1" dirty="0" smtClean="0">
                                <a:latin typeface="Cambria Math"/>
                              </a:rPr>
                              <m:t>𝑛</m:t>
                            </m:r>
                          </m:e>
                        </m:rad>
                      </m:den>
                    </m:f>
                  </m:oMath>
                </a14:m>
                <a:r>
                  <a:rPr lang="en-US" dirty="0"/>
                  <a:t>.</a:t>
                </a:r>
              </a:p>
              <a:p>
                <a:endParaRPr lang="en-US" dirty="0"/>
              </a:p>
              <a:p>
                <a:r>
                  <a:rPr lang="en-US" dirty="0"/>
                  <a:t>The interpretation of the resulting interval is exactly the same as we saw previously.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368747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Exercise: Recall the vacuum cleaner exercise from 10.4. We had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=42</m:t>
                    </m:r>
                  </m:oMath>
                </a14:m>
                <a:r>
                  <a:rPr lang="en-US" dirty="0"/>
                  <a:t>, </a:t>
                </a:r>
                <a14:m>
                  <m:oMath xmlns:m="http://schemas.openxmlformats.org/officeDocument/2006/math">
                    <m:r>
                      <a:rPr lang="en-US" b="0" i="1" smtClean="0">
                        <a:latin typeface="Cambria Math"/>
                      </a:rPr>
                      <m:t>𝑠</m:t>
                    </m:r>
                    <m:r>
                      <a:rPr lang="en-US" b="0" i="1" smtClean="0">
                        <a:latin typeface="Cambria Math"/>
                      </a:rPr>
                      <m:t>=11.9</m:t>
                    </m:r>
                  </m:oMath>
                </a14:m>
                <a:r>
                  <a:rPr lang="en-US" dirty="0"/>
                  <a:t>, and </a:t>
                </a:r>
                <a14:m>
                  <m:oMath xmlns:m="http://schemas.openxmlformats.org/officeDocument/2006/math">
                    <m:r>
                      <a:rPr lang="en-US" b="0" i="1" smtClean="0">
                        <a:latin typeface="Cambria Math"/>
                      </a:rPr>
                      <m:t>𝑛</m:t>
                    </m:r>
                    <m:r>
                      <a:rPr lang="en-US" b="0" i="1" smtClean="0">
                        <a:latin typeface="Cambria Math"/>
                      </a:rPr>
                      <m:t>=12</m:t>
                    </m:r>
                  </m:oMath>
                </a14:m>
                <a:r>
                  <a:rPr lang="en-US" dirty="0"/>
                  <a:t>. Find the 90% confidence interval for the population average number of kilowatt hours used by vacuum cleaners each year and give an interpretation of the interval. Also, do you reach the same conclusion about the null hypothesis that we did in 10.4 (recall that we used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=46</m:t>
                    </m:r>
                  </m:oMath>
                </a14:m>
                <a:r>
                  <a:rPr lang="en-US" dirty="0"/>
                  <a:t> vs.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&lt;46</m:t>
                    </m:r>
                  </m:oMath>
                </a14:m>
                <a:r>
                  <a:rPr lang="en-US" dirty="0"/>
                  <a:t> and failed to reject).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875" r="-1333"/>
                </a:stretch>
              </a:blipFill>
            </p:spPr>
            <p:txBody>
              <a:bodyPr/>
              <a:lstStyle/>
              <a:p>
                <a:r>
                  <a:rPr lang="en-US">
                    <a:noFill/>
                  </a:rPr>
                  <a:t> </a:t>
                </a:r>
              </a:p>
            </p:txBody>
          </p:sp>
        </mc:Fallback>
      </mc:AlternateContent>
    </p:spTree>
    <p:extLst>
      <p:ext uri="{BB962C8B-B14F-4D97-AF65-F5344CB8AC3E}">
        <p14:creationId xmlns:p14="http://schemas.microsoft.com/office/powerpoint/2010/main" val="2396992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a:bodyPr>
              <a:lstStyle/>
              <a:p>
                <a:r>
                  <a:rPr lang="en-US" dirty="0"/>
                  <a:t>We calculate </a:t>
                </a:r>
                <a14:m>
                  <m:oMath xmlns:m="http://schemas.openxmlformats.org/officeDocument/2006/math">
                    <m:r>
                      <a:rPr lang="en-US" b="0" i="1" smtClean="0">
                        <a:latin typeface="Cambria Math"/>
                      </a:rPr>
                      <m:t>42±1.7959</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11.9</m:t>
                            </m:r>
                          </m:num>
                          <m:den>
                            <m:rad>
                              <m:radPr>
                                <m:degHide m:val="on"/>
                                <m:ctrlPr>
                                  <a:rPr lang="en-US" b="0" i="1" smtClean="0">
                                    <a:latin typeface="Cambria Math" panose="02040503050406030204" pitchFamily="18" charset="0"/>
                                  </a:rPr>
                                </m:ctrlPr>
                              </m:radPr>
                              <m:deg/>
                              <m:e>
                                <m:r>
                                  <a:rPr lang="en-US" b="0" i="1" smtClean="0">
                                    <a:latin typeface="Cambria Math"/>
                                  </a:rPr>
                                  <m:t>12</m:t>
                                </m:r>
                              </m:e>
                            </m:rad>
                          </m:den>
                        </m:f>
                      </m:e>
                    </m:d>
                  </m:oMath>
                </a14:m>
                <a:r>
                  <a:rPr lang="en-US" dirty="0"/>
                  <a:t> so that the 90% confidence interval is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a:rPr>
                          <m:t>35.83, 48.17</m:t>
                        </m:r>
                      </m:e>
                    </m:d>
                  </m:oMath>
                </a14:m>
                <a:r>
                  <a:rPr lang="en-US" dirty="0"/>
                  <a:t>.</a:t>
                </a:r>
              </a:p>
              <a:p>
                <a:endParaRPr lang="en-US" dirty="0"/>
              </a:p>
              <a:p>
                <a:r>
                  <a:rPr lang="en-US" dirty="0"/>
                  <a:t>This means we can be 90% confident that the true average number of kilowatt hours used by vacuum cleaners in a year is between 35.83 and 48.17.</a:t>
                </a:r>
              </a:p>
              <a:p>
                <a:endParaRPr lang="en-US" dirty="0"/>
              </a:p>
              <a:p>
                <a:r>
                  <a:rPr lang="en-US" dirty="0"/>
                  <a:t>Since </a:t>
                </a:r>
                <a14:m>
                  <m:oMath xmlns:m="http://schemas.openxmlformats.org/officeDocument/2006/math">
                    <m:r>
                      <a:rPr lang="en-US" b="0" i="1" smtClean="0">
                        <a:latin typeface="Cambria Math"/>
                      </a:rPr>
                      <m:t>4</m:t>
                    </m:r>
                    <m:r>
                      <a:rPr lang="en-US" b="0" i="1" smtClean="0">
                        <a:latin typeface="Cambria Math" panose="02040503050406030204" pitchFamily="18" charset="0"/>
                      </a:rPr>
                      <m:t>6</m:t>
                    </m:r>
                  </m:oMath>
                </a14:m>
                <a:r>
                  <a:rPr lang="en-US" dirty="0"/>
                  <a:t> is contained in this interval, we would still fail to reject the null hypothesis that </a:t>
                </a:r>
                <a14:m>
                  <m:oMath xmlns:m="http://schemas.openxmlformats.org/officeDocument/2006/math">
                    <m:r>
                      <a:rPr lang="en-US" b="0" i="1" smtClean="0">
                        <a:latin typeface="Cambria Math"/>
                      </a:rPr>
                      <m:t>𝜇</m:t>
                    </m:r>
                    <m:r>
                      <a:rPr lang="en-US" b="0" i="1" smtClean="0">
                        <a:latin typeface="Cambria Math"/>
                      </a:rPr>
                      <m:t>=46</m:t>
                    </m:r>
                  </m:oMath>
                </a14:m>
                <a:r>
                  <a:rPr lang="en-US" dirty="0"/>
                  <a:t>, though it’s pretty close. If we really wanted to reject the null hypothesis, what could we do? Hint: there are two options.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a:stretch>
              </a:blipFill>
            </p:spPr>
            <p:txBody>
              <a:bodyPr/>
              <a:lstStyle/>
              <a:p>
                <a:r>
                  <a:rPr lang="en-US">
                    <a:noFill/>
                  </a:rPr>
                  <a:t> </a:t>
                </a:r>
              </a:p>
            </p:txBody>
          </p:sp>
        </mc:Fallback>
      </mc:AlternateContent>
    </p:spTree>
    <p:extLst>
      <p:ext uri="{BB962C8B-B14F-4D97-AF65-F5344CB8AC3E}">
        <p14:creationId xmlns:p14="http://schemas.microsoft.com/office/powerpoint/2010/main" val="24695097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9.4 – Single Sample: Estimating the Mean</a:t>
            </a:r>
          </a:p>
        </p:txBody>
      </p:sp>
      <p:sp>
        <p:nvSpPr>
          <p:cNvPr id="3" name="Content Placeholder 2"/>
          <p:cNvSpPr>
            <a:spLocks noGrp="1"/>
          </p:cNvSpPr>
          <p:nvPr>
            <p:ph idx="1"/>
          </p:nvPr>
        </p:nvSpPr>
        <p:spPr/>
        <p:txBody>
          <a:bodyPr>
            <a:normAutofit/>
          </a:bodyPr>
          <a:lstStyle/>
          <a:p>
            <a:r>
              <a:rPr lang="en-US" dirty="0"/>
              <a:t>We could decrease the confidence level (not good statistical practice), or we could increase the sample size. Both of these changes would reduce the width of the confidence interval.</a:t>
            </a:r>
          </a:p>
          <a:p>
            <a:endParaRPr lang="en-US" dirty="0"/>
          </a:p>
          <a:p>
            <a:endParaRPr lang="en-US" dirty="0"/>
          </a:p>
        </p:txBody>
      </p:sp>
    </p:spTree>
    <p:extLst>
      <p:ext uri="{BB962C8B-B14F-4D97-AF65-F5344CB8AC3E}">
        <p14:creationId xmlns:p14="http://schemas.microsoft.com/office/powerpoint/2010/main" val="173383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9.5 – Standard Error of a Point Estimate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We can write out a more general formula for a confidence interval if we define the </a:t>
                </a:r>
                <a:r>
                  <a:rPr lang="en-US" i="1" dirty="0"/>
                  <a:t>standard error</a:t>
                </a:r>
                <a:r>
                  <a:rPr lang="en-US" dirty="0"/>
                  <a:t>. </a:t>
                </a:r>
              </a:p>
              <a:p>
                <a:endParaRPr lang="en-US" dirty="0"/>
              </a:p>
              <a:p>
                <a:r>
                  <a:rPr lang="en-US" dirty="0"/>
                  <a:t>The standard error is simply a special kind of standard deviation. It is the standard deviation of a statistic. Or we could say it is a standard deviation from a sampling distribution.</a:t>
                </a:r>
              </a:p>
              <a:p>
                <a:endParaRPr lang="en-US" dirty="0"/>
              </a:p>
              <a:p>
                <a:r>
                  <a:rPr lang="en-US" dirty="0"/>
                  <a:t>So we know that the standard error of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𝑋</m:t>
                        </m:r>
                      </m:e>
                    </m:acc>
                  </m:oMath>
                </a14:m>
                <a:r>
                  <a:rPr lang="en-US" dirty="0"/>
                  <a:t>, which we can denote with </a:t>
                </a:r>
                <a14:m>
                  <m:oMath xmlns:m="http://schemas.openxmlformats.org/officeDocument/2006/math">
                    <m:r>
                      <a:rPr lang="en-US" b="0" i="1" smtClean="0">
                        <a:latin typeface="Cambria Math"/>
                      </a:rPr>
                      <m:t>𝑠</m:t>
                    </m:r>
                    <m:r>
                      <a:rPr lang="en-US" b="0" i="1" smtClean="0">
                        <a:latin typeface="Cambria Math"/>
                      </a:rPr>
                      <m:t>.</m:t>
                    </m:r>
                    <m:r>
                      <a:rPr lang="en-US" b="0" i="1" smtClean="0">
                        <a:latin typeface="Cambria Math"/>
                      </a:rPr>
                      <m:t>𝑒</m:t>
                    </m:r>
                    <m:r>
                      <a:rPr lang="en-US" b="0" i="1" smtClean="0">
                        <a:latin typeface="Cambria Math"/>
                      </a:rPr>
                      <m:t>.</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𝑥</m:t>
                            </m:r>
                          </m:e>
                        </m:acc>
                      </m:e>
                    </m:d>
                  </m:oMath>
                </a14:m>
                <a:r>
                  <a:rPr lang="en-US" dirty="0"/>
                  <a:t>,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𝜎</m:t>
                        </m:r>
                      </m:num>
                      <m:den>
                        <m:rad>
                          <m:radPr>
                            <m:degHide m:val="on"/>
                            <m:ctrlPr>
                              <a:rPr lang="en-US" b="0" i="1" smtClean="0">
                                <a:latin typeface="Cambria Math" panose="02040503050406030204" pitchFamily="18" charset="0"/>
                              </a:rPr>
                            </m:ctrlPr>
                          </m:radPr>
                          <m:deg/>
                          <m:e>
                            <m:r>
                              <a:rPr lang="en-US" b="0" i="1" smtClean="0">
                                <a:latin typeface="Cambria Math"/>
                              </a:rPr>
                              <m:t>𝑛</m:t>
                            </m:r>
                          </m:e>
                        </m:rad>
                      </m:den>
                    </m:f>
                  </m:oMath>
                </a14:m>
                <a:r>
                  <a:rPr lang="en-US" dirty="0"/>
                  <a:t> (at least approximately by the central limit theorem). Often (as we have discussed), </a:t>
                </a:r>
                <a14:m>
                  <m:oMath xmlns:m="http://schemas.openxmlformats.org/officeDocument/2006/math">
                    <m:r>
                      <a:rPr lang="en-US" b="0" i="1" smtClean="0">
                        <a:latin typeface="Cambria Math"/>
                      </a:rPr>
                      <m:t>𝜎</m:t>
                    </m:r>
                  </m:oMath>
                </a14:m>
                <a:r>
                  <a:rPr lang="en-US" dirty="0"/>
                  <a:t> is unknown, so the standard error itself must be estimated. In this case, we have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𝑠𝑒</m:t>
                        </m:r>
                      </m:e>
                    </m:acc>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a:rPr>
                              <m:t>𝑥</m:t>
                            </m:r>
                          </m:e>
                        </m:acc>
                      </m:e>
                    </m:d>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𝑠</m:t>
                        </m:r>
                      </m:num>
                      <m:den>
                        <m:rad>
                          <m:radPr>
                            <m:degHide m:val="on"/>
                            <m:ctrlPr>
                              <a:rPr lang="en-US" b="0" i="1" dirty="0" smtClean="0">
                                <a:latin typeface="Cambria Math" panose="02040503050406030204" pitchFamily="18" charset="0"/>
                              </a:rPr>
                            </m:ctrlPr>
                          </m:radPr>
                          <m:deg/>
                          <m:e>
                            <m:r>
                              <a:rPr lang="en-US" b="0" i="1" dirty="0" smtClean="0">
                                <a:latin typeface="Cambria Math"/>
                              </a:rPr>
                              <m:t>𝑛</m:t>
                            </m:r>
                          </m:e>
                        </m:rad>
                      </m:den>
                    </m:f>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444" t="-625" r="-444"/>
                </a:stretch>
              </a:blipFill>
            </p:spPr>
            <p:txBody>
              <a:bodyPr/>
              <a:lstStyle/>
              <a:p>
                <a:r>
                  <a:rPr lang="en-US">
                    <a:noFill/>
                  </a:rPr>
                  <a:t> </a:t>
                </a:r>
              </a:p>
            </p:txBody>
          </p:sp>
        </mc:Fallback>
      </mc:AlternateContent>
    </p:spTree>
    <p:extLst>
      <p:ext uri="{BB962C8B-B14F-4D97-AF65-F5344CB8AC3E}">
        <p14:creationId xmlns:p14="http://schemas.microsoft.com/office/powerpoint/2010/main" val="27194345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9.5 – Standard Error of a Point Estimate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This is helpful to define because every confidence interval we will work with can be expressed in general form. If we use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𝜃</m:t>
                        </m:r>
                      </m:e>
                    </m:acc>
                  </m:oMath>
                </a14:m>
                <a:r>
                  <a:rPr lang="en-US" dirty="0"/>
                  <a:t> as the point estimate and </a:t>
                </a:r>
                <a14:m>
                  <m:oMath xmlns:m="http://schemas.openxmlformats.org/officeDocument/2006/math">
                    <m:r>
                      <a:rPr lang="en-US" b="0" i="1" smtClean="0">
                        <a:latin typeface="Cambria Math"/>
                      </a:rPr>
                      <m:t>𝑑</m:t>
                    </m:r>
                  </m:oMath>
                </a14:m>
                <a:r>
                  <a:rPr lang="en-US" dirty="0"/>
                  <a:t> to represent the sampling distribution of </a:t>
                </a:r>
                <a14:m>
                  <m:oMath xmlns:m="http://schemas.openxmlformats.org/officeDocument/2006/math">
                    <m:acc>
                      <m:accPr>
                        <m:chr m:val="̂"/>
                        <m:ctrlPr>
                          <a:rPr lang="en-US" b="0" i="1" smtClean="0">
                            <a:latin typeface="Cambria Math" panose="02040503050406030204" pitchFamily="18" charset="0"/>
                          </a:rPr>
                        </m:ctrlPr>
                      </m:accPr>
                      <m:e>
                        <m:r>
                          <m:rPr>
                            <m:sty m:val="p"/>
                          </m:rPr>
                          <a:rPr lang="en-US" b="0" i="0" smtClean="0">
                            <a:latin typeface="Cambria Math"/>
                          </a:rPr>
                          <m:t>Θ</m:t>
                        </m:r>
                      </m:e>
                    </m:acc>
                  </m:oMath>
                </a14:m>
                <a:r>
                  <a:rPr lang="en-US" dirty="0"/>
                  <a:t>, our confidence intervals will all have the form:</a:t>
                </a:r>
              </a:p>
              <a:p>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𝜃</m:t>
                          </m:r>
                        </m:e>
                      </m:acc>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𝑑</m:t>
                          </m:r>
                        </m:e>
                        <m:sub>
                          <m:f>
                            <m:fPr>
                              <m:ctrlPr>
                                <a:rPr lang="en-US" b="0" i="1" dirty="0" smtClean="0">
                                  <a:latin typeface="Cambria Math" panose="02040503050406030204" pitchFamily="18" charset="0"/>
                                </a:rPr>
                              </m:ctrlPr>
                            </m:fPr>
                            <m:num>
                              <m:r>
                                <a:rPr lang="en-US" b="0" i="1" dirty="0" smtClean="0">
                                  <a:latin typeface="Cambria Math"/>
                                </a:rPr>
                                <m:t>𝛼</m:t>
                              </m:r>
                            </m:num>
                            <m:den>
                              <m:r>
                                <a:rPr lang="en-US" b="0" i="1" dirty="0" smtClean="0">
                                  <a:latin typeface="Cambria Math"/>
                                </a:rPr>
                                <m:t>2</m:t>
                              </m:r>
                            </m:den>
                          </m:f>
                        </m:sub>
                      </m:sSub>
                      <m:r>
                        <a:rPr lang="en-US" b="0" i="1" dirty="0" smtClean="0">
                          <a:latin typeface="Cambria Math"/>
                        </a:rPr>
                        <m:t>∗</m:t>
                      </m:r>
                      <m:r>
                        <a:rPr lang="en-US" b="0" i="1" dirty="0" smtClean="0">
                          <a:latin typeface="Cambria Math"/>
                        </a:rPr>
                        <m:t>𝑠</m:t>
                      </m:r>
                      <m:r>
                        <a:rPr lang="en-US" b="0" i="1" dirty="0" smtClean="0">
                          <a:latin typeface="Cambria Math"/>
                        </a:rPr>
                        <m:t>.</m:t>
                      </m:r>
                      <m:r>
                        <a:rPr lang="en-US" b="0" i="1" dirty="0" smtClean="0">
                          <a:latin typeface="Cambria Math"/>
                        </a:rPr>
                        <m:t>𝑒</m:t>
                      </m:r>
                      <m:r>
                        <a:rPr lang="en-US" b="0" i="1" dirty="0" smtClean="0">
                          <a:latin typeface="Cambria Math"/>
                        </a:rPr>
                        <m:t>.</m:t>
                      </m:r>
                      <m:d>
                        <m:dPr>
                          <m:ctrlPr>
                            <a:rPr lang="en-US" b="0" i="1" dirty="0" smtClean="0">
                              <a:latin typeface="Cambria Math" panose="02040503050406030204" pitchFamily="18" charset="0"/>
                            </a:rPr>
                          </m:ctrlPr>
                        </m:dPr>
                        <m:e>
                          <m:acc>
                            <m:accPr>
                              <m:chr m:val="̂"/>
                              <m:ctrlPr>
                                <a:rPr lang="en-US" b="0" i="1" dirty="0" smtClean="0">
                                  <a:latin typeface="Cambria Math" panose="02040503050406030204" pitchFamily="18" charset="0"/>
                                </a:rPr>
                              </m:ctrlPr>
                            </m:accPr>
                            <m:e>
                              <m:r>
                                <a:rPr lang="en-US" b="0" i="1" dirty="0" smtClean="0">
                                  <a:latin typeface="Cambria Math"/>
                                </a:rPr>
                                <m:t>𝜃</m:t>
                              </m:r>
                            </m:e>
                          </m:acc>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i="1">
                          <a:latin typeface="Cambria Math"/>
                        </a:rPr>
                        <m:t>o</m:t>
                      </m:r>
                      <m:r>
                        <m:rPr>
                          <m:sty m:val="p"/>
                        </m:rPr>
                        <a:rPr lang="en-US" b="0" i="0" smtClean="0">
                          <a:latin typeface="Cambria Math"/>
                        </a:rPr>
                        <m:t>r</m:t>
                      </m:r>
                    </m:oMath>
                  </m:oMathPara>
                </a14:m>
                <a:endParaRPr lang="en-US" dirty="0"/>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a:rPr>
                            <m:t>𝜃</m:t>
                          </m:r>
                        </m:e>
                      </m:acc>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𝑑</m:t>
                          </m:r>
                        </m:e>
                        <m:sub>
                          <m:f>
                            <m:fPr>
                              <m:ctrlPr>
                                <a:rPr lang="en-US" i="1" dirty="0">
                                  <a:latin typeface="Cambria Math" panose="02040503050406030204" pitchFamily="18" charset="0"/>
                                </a:rPr>
                              </m:ctrlPr>
                            </m:fPr>
                            <m:num>
                              <m:r>
                                <a:rPr lang="en-US" i="1" dirty="0">
                                  <a:latin typeface="Cambria Math"/>
                                </a:rPr>
                                <m:t>𝛼</m:t>
                              </m:r>
                            </m:num>
                            <m:den>
                              <m:r>
                                <a:rPr lang="en-US" i="1" dirty="0">
                                  <a:latin typeface="Cambria Math"/>
                                </a:rPr>
                                <m:t>2</m:t>
                              </m:r>
                            </m:den>
                          </m:f>
                        </m:sub>
                      </m:sSub>
                      <m:r>
                        <a:rPr lang="en-US" i="1" dirty="0">
                          <a:latin typeface="Cambria Math"/>
                        </a:rPr>
                        <m:t>∗</m:t>
                      </m:r>
                      <m:acc>
                        <m:accPr>
                          <m:chr m:val="̂"/>
                          <m:ctrlPr>
                            <a:rPr lang="en-US" b="0" i="1" dirty="0" smtClean="0">
                              <a:latin typeface="Cambria Math" panose="02040503050406030204" pitchFamily="18" charset="0"/>
                            </a:rPr>
                          </m:ctrlPr>
                        </m:accPr>
                        <m:e>
                          <m:r>
                            <a:rPr lang="en-US" b="0" i="1" dirty="0" smtClean="0">
                              <a:latin typeface="Cambria Math"/>
                            </a:rPr>
                            <m:t>𝑠</m:t>
                          </m:r>
                          <m:r>
                            <a:rPr lang="en-US" b="0" i="1" dirty="0" smtClean="0">
                              <a:latin typeface="Cambria Math"/>
                            </a:rPr>
                            <m:t>.</m:t>
                          </m:r>
                          <m:r>
                            <a:rPr lang="en-US" b="0" i="1" dirty="0" smtClean="0">
                              <a:latin typeface="Cambria Math"/>
                            </a:rPr>
                            <m:t>𝑒</m:t>
                          </m:r>
                          <m:r>
                            <a:rPr lang="en-US" b="0" i="1" dirty="0" smtClean="0">
                              <a:latin typeface="Cambria Math"/>
                            </a:rPr>
                            <m:t>.</m:t>
                          </m:r>
                        </m:e>
                      </m:acc>
                      <m:d>
                        <m:dPr>
                          <m:ctrlPr>
                            <a:rPr lang="en-US" i="1" dirty="0">
                              <a:latin typeface="Cambria Math" panose="02040503050406030204" pitchFamily="18" charset="0"/>
                            </a:rPr>
                          </m:ctrlPr>
                        </m:dPr>
                        <m:e>
                          <m:acc>
                            <m:accPr>
                              <m:chr m:val="̂"/>
                              <m:ctrlPr>
                                <a:rPr lang="en-US" i="1" dirty="0">
                                  <a:latin typeface="Cambria Math" panose="02040503050406030204" pitchFamily="18" charset="0"/>
                                </a:rPr>
                              </m:ctrlPr>
                            </m:accPr>
                            <m:e>
                              <m:r>
                                <a:rPr lang="en-US" i="1" dirty="0">
                                  <a:latin typeface="Cambria Math"/>
                                </a:rPr>
                                <m:t>𝜃</m:t>
                              </m:r>
                            </m:e>
                          </m:acc>
                        </m:e>
                      </m:d>
                    </m:oMath>
                  </m:oMathPara>
                </a14:m>
                <a:endParaRPr lang="en-US" dirty="0"/>
              </a:p>
              <a:p>
                <a:pPr marL="0" indent="0">
                  <a:buNone/>
                </a:pPr>
                <a:endParaRPr lang="en-US" dirty="0"/>
              </a:p>
              <a:p>
                <a:r>
                  <a:rPr lang="en-US" dirty="0"/>
                  <a:t>Note that for the examples we see, </a:t>
                </a:r>
                <a14:m>
                  <m:oMath xmlns:m="http://schemas.openxmlformats.org/officeDocument/2006/math">
                    <m:r>
                      <a:rPr lang="en-US" b="0" i="1" smtClean="0">
                        <a:latin typeface="Cambria Math"/>
                      </a:rPr>
                      <m:t>𝑑</m:t>
                    </m:r>
                  </m:oMath>
                </a14:m>
                <a:r>
                  <a:rPr lang="en-US" dirty="0"/>
                  <a:t> will always be either </a:t>
                </a:r>
                <a14:m>
                  <m:oMath xmlns:m="http://schemas.openxmlformats.org/officeDocument/2006/math">
                    <m:r>
                      <a:rPr lang="en-US" b="0" i="1" smtClean="0">
                        <a:latin typeface="Cambria Math"/>
                      </a:rPr>
                      <m:t>𝑧</m:t>
                    </m:r>
                  </m:oMath>
                </a14:m>
                <a:r>
                  <a:rPr lang="en-US" dirty="0"/>
                  <a:t> or </a:t>
                </a:r>
                <a14:m>
                  <m:oMath xmlns:m="http://schemas.openxmlformats.org/officeDocument/2006/math">
                    <m:r>
                      <a:rPr lang="en-US" b="0" i="1" smtClean="0">
                        <a:latin typeface="Cambria Math"/>
                      </a:rPr>
                      <m:t>𝑡</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25" r="-1556" b="-750"/>
                </a:stretch>
              </a:blipFill>
            </p:spPr>
            <p:txBody>
              <a:bodyPr/>
              <a:lstStyle/>
              <a:p>
                <a:r>
                  <a:rPr lang="en-US">
                    <a:noFill/>
                  </a:rPr>
                  <a:t> </a:t>
                </a:r>
              </a:p>
            </p:txBody>
          </p:sp>
        </mc:Fallback>
      </mc:AlternateContent>
    </p:spTree>
    <p:extLst>
      <p:ext uri="{BB962C8B-B14F-4D97-AF65-F5344CB8AC3E}">
        <p14:creationId xmlns:p14="http://schemas.microsoft.com/office/powerpoint/2010/main" val="7997480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545</TotalTime>
  <Words>2849</Words>
  <Application>Microsoft Office PowerPoint</Application>
  <PresentationFormat>On-screen Show (4:3)</PresentationFormat>
  <Paragraphs>156</Paragraphs>
  <Slides>33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Cambria Math</vt:lpstr>
      <vt:lpstr>Clarity</vt:lpstr>
      <vt:lpstr>Estimation</vt:lpstr>
      <vt:lpstr>Chapter 9</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9.3 – Classical Estimation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9.4 – Single Sample: Estimating the Mean</vt:lpstr>
      <vt:lpstr>9.5 – Standard Error of a Point Estimate</vt:lpstr>
      <vt:lpstr>9.5 – Standard Error of a Point Estimate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Estimation</dc:title>
  <dc:creator>Jason Adams</dc:creator>
  <cp:lastModifiedBy>Lizzie Sharkey</cp:lastModifiedBy>
  <cp:revision>32</cp:revision>
  <dcterms:created xsi:type="dcterms:W3CDTF">2017-08-02T03:10:00Z</dcterms:created>
  <dcterms:modified xsi:type="dcterms:W3CDTF">2021-04-12T19:28:52Z</dcterms:modified>
</cp:coreProperties>
</file>
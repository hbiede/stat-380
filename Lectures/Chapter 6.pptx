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4" r:id="rId9"/>
    <p:sldId id="265" r:id="rId10"/>
    <p:sldId id="266" r:id="rId11"/>
    <p:sldId id="268" r:id="rId12"/>
    <p:sldId id="269" r:id="rId13"/>
    <p:sldId id="267"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90" r:id="rId34"/>
    <p:sldId id="291" r:id="rId35"/>
    <p:sldId id="292" r:id="rId36"/>
    <p:sldId id="293" r:id="rId37"/>
    <p:sldId id="294" r:id="rId38"/>
    <p:sldId id="296" r:id="rId39"/>
    <p:sldId id="297" r:id="rId40"/>
    <p:sldId id="298" r:id="rId41"/>
    <p:sldId id="299"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60" y="6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4F510CEC-9C9A-4EA4-9C9A-950D61FF2FD0}" type="datetimeFigureOut">
              <a:rPr lang="en-US" smtClean="0"/>
              <a:t>1/14/2021</a:t>
            </a:fld>
            <a:endParaRPr lang="en-US" dirty="0"/>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dirty="0"/>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FEFA856A-6CC3-476A-B7BF-888885BD24BF}"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4F510CEC-9C9A-4EA4-9C9A-950D61FF2FD0}" type="datetimeFigureOut">
              <a:rPr lang="en-US" smtClean="0"/>
              <a:t>1/14/2021</a:t>
            </a:fld>
            <a:endParaRPr lang="en-US" dirty="0"/>
          </a:p>
        </p:txBody>
      </p:sp>
      <p:sp>
        <p:nvSpPr>
          <p:cNvPr id="9" name="Slide Number Placeholder 8"/>
          <p:cNvSpPr>
            <a:spLocks noGrp="1"/>
          </p:cNvSpPr>
          <p:nvPr>
            <p:ph type="sldNum" sz="quarter" idx="15"/>
          </p:nvPr>
        </p:nvSpPr>
        <p:spPr/>
        <p:txBody>
          <a:bodyPr rtlCol="0"/>
          <a:lstStyle/>
          <a:p>
            <a:fld id="{FEFA856A-6CC3-476A-B7BF-888885BD24BF}" type="slidenum">
              <a:rPr lang="en-US" smtClean="0"/>
              <a:t>‹#›</a:t>
            </a:fld>
            <a:endParaRPr lang="en-US" dirty="0"/>
          </a:p>
        </p:txBody>
      </p:sp>
      <p:sp>
        <p:nvSpPr>
          <p:cNvPr id="10" name="Footer Placeholder 9"/>
          <p:cNvSpPr>
            <a:spLocks noGrp="1"/>
          </p:cNvSpPr>
          <p:nvPr>
            <p:ph type="ftr" sz="quarter" idx="16"/>
          </p:nvPr>
        </p:nvSpPr>
        <p:spPr/>
        <p:txBody>
          <a:bodyPr rtlCol="0"/>
          <a:lstStyle/>
          <a:p>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4F510CEC-9C9A-4EA4-9C9A-950D61FF2FD0}" type="datetimeFigureOut">
              <a:rPr lang="en-US" smtClean="0"/>
              <a:t>1/14/2021</a:t>
            </a:fld>
            <a:endParaRPr lang="en-US" dirty="0"/>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dirty="0"/>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6" name="Slide Number Placeholder 5"/>
          <p:cNvSpPr>
            <a:spLocks noGrp="1"/>
          </p:cNvSpPr>
          <p:nvPr>
            <p:ph type="sldNum" sz="quarter" idx="12"/>
          </p:nvPr>
        </p:nvSpPr>
        <p:spPr bwMode="auto">
          <a:xfrm>
            <a:off x="1340616" y="4928702"/>
            <a:ext cx="609600" cy="517524"/>
          </a:xfrm>
        </p:spPr>
        <p:txBody>
          <a:bodyPr/>
          <a:lstStyle/>
          <a:p>
            <a:fld id="{FEFA856A-6CC3-476A-B7BF-888885BD24BF}"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F510CEC-9C9A-4EA4-9C9A-950D61FF2FD0}" type="datetimeFigureOut">
              <a:rPr lang="en-US" smtClean="0"/>
              <a:t>1/14/2021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EFA856A-6CC3-476A-B7BF-888885BD24BF}" type="slidenum">
              <a:rPr lang="en-US" smtClean="0"/>
              <a:t>‹#›</a:t>
            </a:fld>
            <a:endParaRPr lang="en-US" dirty="0"/>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4F510CEC-9C9A-4EA4-9C9A-950D61FF2FD0}" type="datetimeFigureOut">
              <a:rPr lang="en-US" smtClean="0"/>
              <a:t>1/14/2021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EFA856A-6CC3-476A-B7BF-888885BD24BF}" type="slidenum">
              <a:rPr lang="en-US" smtClean="0"/>
              <a:t>‹#›</a:t>
            </a:fld>
            <a:endParaRPr lang="en-US" dirty="0"/>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4F510CEC-9C9A-4EA4-9C9A-950D61FF2FD0}" type="datetimeFigureOut">
              <a:rPr lang="en-US" smtClean="0"/>
              <a:t>1/14/2021</a:t>
            </a:fld>
            <a:endParaRPr lang="en-US" dirty="0"/>
          </a:p>
        </p:txBody>
      </p:sp>
      <p:sp>
        <p:nvSpPr>
          <p:cNvPr id="7" name="Slide Number Placeholder 6"/>
          <p:cNvSpPr>
            <a:spLocks noGrp="1"/>
          </p:cNvSpPr>
          <p:nvPr>
            <p:ph type="sldNum" sz="quarter" idx="11"/>
          </p:nvPr>
        </p:nvSpPr>
        <p:spPr/>
        <p:txBody>
          <a:bodyPr rtlCol="0"/>
          <a:lstStyle/>
          <a:p>
            <a:fld id="{FEFA856A-6CC3-476A-B7BF-888885BD24BF}" type="slidenum">
              <a:rPr lang="en-US" smtClean="0"/>
              <a:t>‹#›</a:t>
            </a:fld>
            <a:endParaRPr lang="en-US" dirty="0"/>
          </a:p>
        </p:txBody>
      </p:sp>
      <p:sp>
        <p:nvSpPr>
          <p:cNvPr id="8" name="Footer Placeholder 7"/>
          <p:cNvSpPr>
            <a:spLocks noGrp="1"/>
          </p:cNvSpPr>
          <p:nvPr>
            <p:ph type="ftr" sz="quarter" idx="12"/>
          </p:nvPr>
        </p:nvSpPr>
        <p:spPr/>
        <p:txBody>
          <a:bodyPr rtlCol="0"/>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510CEC-9C9A-4EA4-9C9A-950D61FF2FD0}" type="datetimeFigureOut">
              <a:rPr lang="en-US" smtClean="0"/>
              <a:t>1/14/2021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EFA856A-6CC3-476A-B7BF-888885BD24BF}"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4F510CEC-9C9A-4EA4-9C9A-950D61FF2FD0}" type="datetimeFigureOut">
              <a:rPr lang="en-US" smtClean="0"/>
              <a:t>1/14/2021</a:t>
            </a:fld>
            <a:endParaRPr lang="en-US" dirty="0"/>
          </a:p>
        </p:txBody>
      </p:sp>
      <p:sp>
        <p:nvSpPr>
          <p:cNvPr id="22" name="Slide Number Placeholder 21"/>
          <p:cNvSpPr>
            <a:spLocks noGrp="1"/>
          </p:cNvSpPr>
          <p:nvPr>
            <p:ph type="sldNum" sz="quarter" idx="15"/>
          </p:nvPr>
        </p:nvSpPr>
        <p:spPr/>
        <p:txBody>
          <a:bodyPr rtlCol="0"/>
          <a:lstStyle/>
          <a:p>
            <a:fld id="{FEFA856A-6CC3-476A-B7BF-888885BD24BF}" type="slidenum">
              <a:rPr lang="en-US" smtClean="0"/>
              <a:t>‹#›</a:t>
            </a:fld>
            <a:endParaRPr lang="en-US" dirty="0"/>
          </a:p>
        </p:txBody>
      </p:sp>
      <p:sp>
        <p:nvSpPr>
          <p:cNvPr id="23" name="Footer Placeholder 22"/>
          <p:cNvSpPr>
            <a:spLocks noGrp="1"/>
          </p:cNvSpPr>
          <p:nvPr>
            <p:ph type="ftr" sz="quarter" idx="16"/>
          </p:nvPr>
        </p:nvSpPr>
        <p:spPr/>
        <p:txBody>
          <a:bodyPr rtlCol="0"/>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dirty="0"/>
              <a:t>Click icon to add picture</a:t>
            </a:r>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4F510CEC-9C9A-4EA4-9C9A-950D61FF2FD0}" type="datetimeFigureOut">
              <a:rPr lang="en-US" smtClean="0"/>
              <a:t>1/14/2021</a:t>
            </a:fld>
            <a:endParaRPr lang="en-US" dirty="0"/>
          </a:p>
        </p:txBody>
      </p:sp>
      <p:sp>
        <p:nvSpPr>
          <p:cNvPr id="18" name="Slide Number Placeholder 17"/>
          <p:cNvSpPr>
            <a:spLocks noGrp="1"/>
          </p:cNvSpPr>
          <p:nvPr>
            <p:ph type="sldNum" sz="quarter" idx="11"/>
          </p:nvPr>
        </p:nvSpPr>
        <p:spPr/>
        <p:txBody>
          <a:bodyPr rtlCol="0"/>
          <a:lstStyle/>
          <a:p>
            <a:fld id="{FEFA856A-6CC3-476A-B7BF-888885BD24BF}" type="slidenum">
              <a:rPr lang="en-US" smtClean="0"/>
              <a:t>‹#›</a:t>
            </a:fld>
            <a:endParaRPr lang="en-US" dirty="0"/>
          </a:p>
        </p:txBody>
      </p:sp>
      <p:sp>
        <p:nvSpPr>
          <p:cNvPr id="21" name="Footer Placeholder 20"/>
          <p:cNvSpPr>
            <a:spLocks noGrp="1"/>
          </p:cNvSpPr>
          <p:nvPr>
            <p:ph type="ftr" sz="quarter" idx="12"/>
          </p:nvPr>
        </p:nvSpPr>
        <p:spPr/>
        <p:txBody>
          <a:bodyPr rtlCol="0"/>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F510CEC-9C9A-4EA4-9C9A-950D61FF2FD0}" type="datetimeFigureOut">
              <a:rPr lang="en-US" smtClean="0"/>
              <a:t>1/14/2021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FA856A-6CC3-476A-B7BF-888885BD24BF}"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F510CEC-9C9A-4EA4-9C9A-950D61FF2FD0}" type="datetimeFigureOut">
              <a:rPr lang="en-US" smtClean="0"/>
              <a:t>1/14/2021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FA856A-6CC3-476A-B7BF-888885BD24BF}"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4F510CEC-9C9A-4EA4-9C9A-950D61FF2FD0}" type="datetimeFigureOut">
              <a:rPr lang="en-US" smtClean="0"/>
              <a:t>1/14/2021</a:t>
            </a:fld>
            <a:endParaRPr lang="en-US" dirty="0"/>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dirty="0"/>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EFA856A-6CC3-476A-B7BF-888885BD24BF}"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Some Continuous Probability Distributions</a:t>
            </a:r>
          </a:p>
        </p:txBody>
      </p:sp>
      <p:sp>
        <p:nvSpPr>
          <p:cNvPr id="3" name="Subtitle 2"/>
          <p:cNvSpPr>
            <a:spLocks noGrp="1"/>
          </p:cNvSpPr>
          <p:nvPr>
            <p:ph type="subTitle" idx="1"/>
          </p:nvPr>
        </p:nvSpPr>
        <p:spPr/>
        <p:txBody>
          <a:bodyPr/>
          <a:lstStyle/>
          <a:p>
            <a:r>
              <a:rPr lang="en-US" dirty="0"/>
              <a:t>Chapter 6</a:t>
            </a:r>
          </a:p>
        </p:txBody>
      </p:sp>
    </p:spTree>
    <p:extLst>
      <p:ext uri="{BB962C8B-B14F-4D97-AF65-F5344CB8AC3E}">
        <p14:creationId xmlns:p14="http://schemas.microsoft.com/office/powerpoint/2010/main" val="1609301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6</a:t>
            </a:r>
          </a:p>
        </p:txBody>
      </p:sp>
      <p:sp>
        <p:nvSpPr>
          <p:cNvPr id="3" name="Content Placeholder 2"/>
          <p:cNvSpPr>
            <a:spLocks noGrp="1"/>
          </p:cNvSpPr>
          <p:nvPr>
            <p:ph sz="quarter" idx="1"/>
          </p:nvPr>
        </p:nvSpPr>
        <p:spPr/>
        <p:txBody>
          <a:bodyPr/>
          <a:lstStyle/>
          <a:p>
            <a:r>
              <a:rPr lang="en-US" dirty="0"/>
              <a:t>Similar to what we did in chapter 5, chapter 6 goes into detail with some specific continuous distributions.</a:t>
            </a:r>
          </a:p>
          <a:p>
            <a:endParaRPr lang="en-US" dirty="0"/>
          </a:p>
          <a:p>
            <a:r>
              <a:rPr lang="en-US" dirty="0"/>
              <a:t>6.1 begins with perhaps the simplest distribution, the uniform distribution. Then 6.2-6.4 deal with the normal distribution. We will finish the chapter in 6.6 discussing the gamma and exponential distributions.</a:t>
            </a:r>
          </a:p>
        </p:txBody>
      </p:sp>
    </p:spTree>
    <p:extLst>
      <p:ext uri="{BB962C8B-B14F-4D97-AF65-F5344CB8AC3E}">
        <p14:creationId xmlns:p14="http://schemas.microsoft.com/office/powerpoint/2010/main" val="2216873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6.1 – Continuous Uniform Distribution</a:t>
            </a:r>
          </a:p>
        </p:txBody>
      </p:sp>
      <p:sp>
        <p:nvSpPr>
          <p:cNvPr id="3" name="Content Placeholder 2"/>
          <p:cNvSpPr>
            <a:spLocks noGrp="1"/>
          </p:cNvSpPr>
          <p:nvPr>
            <p:ph sz="quarter" idx="1"/>
          </p:nvPr>
        </p:nvSpPr>
        <p:spPr/>
        <p:txBody>
          <a:bodyPr/>
          <a:lstStyle/>
          <a:p>
            <a:r>
              <a:rPr lang="en-US" dirty="0"/>
              <a:t>While perhaps too simple to have many applications, the uniform distribution is a good place for us to start working with continuous distributions. </a:t>
            </a:r>
          </a:p>
          <a:p>
            <a:pPr marL="0" indent="0">
              <a:buNone/>
            </a:pPr>
            <a:r>
              <a:rPr lang="en-US" dirty="0"/>
              <a:t> </a:t>
            </a:r>
          </a:p>
        </p:txBody>
      </p:sp>
    </p:spTree>
    <p:extLst>
      <p:ext uri="{BB962C8B-B14F-4D97-AF65-F5344CB8AC3E}">
        <p14:creationId xmlns:p14="http://schemas.microsoft.com/office/powerpoint/2010/main" val="1064825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6.1 – Continuous Uniform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The PDF for the continuous uniform distribution is given by:</a:t>
                </a:r>
              </a:p>
              <a:p>
                <a:pPr marL="0" indent="0">
                  <a:buNone/>
                </a:pPr>
                <a:endParaRPr lang="en-US" dirty="0"/>
              </a:p>
              <a:p>
                <a:pPr marL="0" indent="0">
                  <a:buNone/>
                </a:pP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𝐵</m:t>
                        </m:r>
                        <m:r>
                          <a:rPr lang="en-US" b="0" i="1" smtClean="0">
                            <a:latin typeface="Cambria Math"/>
                          </a:rPr>
                          <m:t>−</m:t>
                        </m:r>
                        <m:r>
                          <a:rPr lang="en-US" b="0" i="1" smtClean="0">
                            <a:latin typeface="Cambria Math"/>
                          </a:rPr>
                          <m:t>𝐴</m:t>
                        </m:r>
                      </m:den>
                    </m:f>
                  </m:oMath>
                </a14:m>
                <a:r>
                  <a:rPr lang="en-US" dirty="0"/>
                  <a:t> for </a:t>
                </a:r>
                <a14:m>
                  <m:oMath xmlns:m="http://schemas.openxmlformats.org/officeDocument/2006/math">
                    <m:r>
                      <a:rPr lang="en-US" b="0" i="1" smtClean="0">
                        <a:latin typeface="Cambria Math"/>
                      </a:rPr>
                      <m:t>𝐴</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𝐵</m:t>
                    </m:r>
                  </m:oMath>
                </a14:m>
                <a:r>
                  <a:rPr lang="en-US" dirty="0"/>
                  <a:t> and </a:t>
                </a:r>
                <a14:m>
                  <m:oMath xmlns:m="http://schemas.openxmlformats.org/officeDocument/2006/math">
                    <m:r>
                      <a:rPr lang="en-US" b="0" i="1" smtClean="0">
                        <a:latin typeface="Cambria Math"/>
                      </a:rPr>
                      <m:t>0</m:t>
                    </m:r>
                  </m:oMath>
                </a14:m>
                <a:r>
                  <a:rPr lang="en-US" dirty="0"/>
                  <a:t> elsewhere</a:t>
                </a:r>
              </a:p>
              <a:p>
                <a:endParaRPr lang="en-US" dirty="0"/>
              </a:p>
              <a:p>
                <a:r>
                  <a:rPr lang="en-US" dirty="0"/>
                  <a:t>The mean and variance for this distribution are:</a:t>
                </a:r>
              </a:p>
              <a:p>
                <a:pPr lvl="1"/>
                <a14:m>
                  <m:oMath xmlns:m="http://schemas.openxmlformats.org/officeDocument/2006/math">
                    <m:r>
                      <a:rPr lang="en-US" b="0" i="1" smtClean="0">
                        <a:latin typeface="Cambria Math"/>
                      </a:rPr>
                      <m:t>𝜇</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𝐴</m:t>
                        </m:r>
                        <m:r>
                          <a:rPr lang="en-US" b="0" i="1" smtClean="0">
                            <a:latin typeface="Cambria Math"/>
                          </a:rPr>
                          <m:t>+</m:t>
                        </m:r>
                        <m:r>
                          <a:rPr lang="en-US" b="0" i="1" smtClean="0">
                            <a:latin typeface="Cambria Math"/>
                          </a:rPr>
                          <m:t>𝐵</m:t>
                        </m:r>
                      </m:num>
                      <m:den>
                        <m:r>
                          <a:rPr lang="en-US" b="0" i="1" smtClean="0">
                            <a:latin typeface="Cambria Math"/>
                          </a:rPr>
                          <m:t>2</m:t>
                        </m:r>
                      </m:den>
                    </m:f>
                  </m:oMath>
                </a14:m>
                <a:endParaRPr lang="en-US"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𝐵</m:t>
                                </m:r>
                                <m:r>
                                  <a:rPr lang="en-US" b="0" i="1" smtClean="0">
                                    <a:latin typeface="Cambria Math"/>
                                  </a:rPr>
                                  <m:t>−</m:t>
                                </m:r>
                                <m:r>
                                  <a:rPr lang="en-US" b="0" i="1" smtClean="0">
                                    <a:latin typeface="Cambria Math"/>
                                  </a:rPr>
                                  <m:t>𝐴</m:t>
                                </m:r>
                              </m:e>
                            </m:d>
                          </m:e>
                          <m:sup>
                            <m:r>
                              <a:rPr lang="en-US" b="0" i="1" smtClean="0">
                                <a:latin typeface="Cambria Math"/>
                              </a:rPr>
                              <m:t>2</m:t>
                            </m:r>
                          </m:sup>
                        </m:sSup>
                      </m:num>
                      <m:den>
                        <m:r>
                          <a:rPr lang="en-US" b="0" i="1" smtClean="0">
                            <a:latin typeface="Cambria Math"/>
                          </a:rPr>
                          <m:t>12</m:t>
                        </m:r>
                      </m:den>
                    </m:f>
                  </m:oMath>
                </a14:m>
                <a:endParaRPr lang="en-US" b="0" dirty="0"/>
              </a:p>
              <a:p>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327" t="-1001" r="-490"/>
                </a:stretch>
              </a:blipFill>
            </p:spPr>
            <p:txBody>
              <a:bodyPr/>
              <a:lstStyle/>
              <a:p>
                <a:r>
                  <a:rPr lang="en-US">
                    <a:noFill/>
                  </a:rPr>
                  <a:t> </a:t>
                </a:r>
              </a:p>
            </p:txBody>
          </p:sp>
        </mc:Fallback>
      </mc:AlternateContent>
    </p:spTree>
    <p:extLst>
      <p:ext uri="{BB962C8B-B14F-4D97-AF65-F5344CB8AC3E}">
        <p14:creationId xmlns:p14="http://schemas.microsoft.com/office/powerpoint/2010/main" val="2444047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6.1 – Continuous Uniform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The idea of the uniform distribution is that the PDF forms a rectangle with width </a:t>
                </a:r>
                <a14:m>
                  <m:oMath xmlns:m="http://schemas.openxmlformats.org/officeDocument/2006/math">
                    <m:r>
                      <a:rPr lang="en-US" b="0" i="1" smtClean="0">
                        <a:latin typeface="Cambria Math"/>
                      </a:rPr>
                      <m:t>𝐵</m:t>
                    </m:r>
                    <m:r>
                      <a:rPr lang="en-US" b="0" i="1" smtClean="0">
                        <a:latin typeface="Cambria Math"/>
                      </a:rPr>
                      <m:t>−</m:t>
                    </m:r>
                    <m:r>
                      <a:rPr lang="en-US" b="0" i="1" smtClean="0">
                        <a:latin typeface="Cambria Math"/>
                      </a:rPr>
                      <m:t>𝐴</m:t>
                    </m:r>
                  </m:oMath>
                </a14:m>
                <a:r>
                  <a:rPr lang="en-US" dirty="0"/>
                  <a:t> and height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𝐵</m:t>
                        </m:r>
                        <m:r>
                          <a:rPr lang="en-US" b="0" i="1" smtClean="0">
                            <a:latin typeface="Cambria Math"/>
                          </a:rPr>
                          <m:t>−</m:t>
                        </m:r>
                        <m:r>
                          <a:rPr lang="en-US" b="0" i="1" smtClean="0">
                            <a:latin typeface="Cambria Math"/>
                          </a:rPr>
                          <m:t>𝐴</m:t>
                        </m:r>
                      </m:den>
                    </m:f>
                  </m:oMath>
                </a14:m>
                <a:r>
                  <a:rPr lang="en-US" dirty="0"/>
                  <a:t>. </a:t>
                </a:r>
              </a:p>
              <a:p>
                <a:endParaRPr lang="en-US" dirty="0"/>
              </a:p>
              <a:p>
                <a:r>
                  <a:rPr lang="en-US" dirty="0"/>
                  <a:t>Exercise: Find the CDF of the uniform distribution.</a:t>
                </a:r>
              </a:p>
              <a:p>
                <a:endParaRPr lang="en-US" dirty="0"/>
              </a:p>
              <a:p>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381011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6.1 – Continuous Uniform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Example: Assume that the length </a:t>
                </a:r>
                <a14:m>
                  <m:oMath xmlns:m="http://schemas.openxmlformats.org/officeDocument/2006/math">
                    <m:r>
                      <a:rPr lang="en-US" b="0" i="1" smtClean="0">
                        <a:latin typeface="Cambria Math"/>
                      </a:rPr>
                      <m:t>𝑋</m:t>
                    </m:r>
                  </m:oMath>
                </a14:m>
                <a:r>
                  <a:rPr lang="en-US" dirty="0"/>
                  <a:t>, measured in hours, of a meeting has a uniform distribution on the interval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a:rPr>
                          <m:t>0,4</m:t>
                        </m:r>
                      </m:e>
                    </m:d>
                  </m:oMath>
                </a14:m>
                <a:r>
                  <a:rPr lang="en-US" dirty="0"/>
                  <a:t>. Give:</a:t>
                </a:r>
              </a:p>
              <a:p>
                <a:pPr lvl="1"/>
                <a:r>
                  <a:rPr lang="en-US" dirty="0"/>
                  <a:t>The PDF</a:t>
                </a:r>
              </a:p>
              <a:p>
                <a:pPr lvl="1"/>
                <a:r>
                  <a:rPr lang="en-US" dirty="0"/>
                  <a:t>The CDF</a:t>
                </a:r>
              </a:p>
              <a:p>
                <a:pPr lvl="1"/>
                <a:r>
                  <a:rPr lang="en-US" dirty="0"/>
                  <a:t>The probability that a meeting will last at least 3 hours.</a:t>
                </a:r>
              </a:p>
              <a:p>
                <a:pPr lvl="1"/>
                <a:r>
                  <a:rPr lang="en-US" dirty="0"/>
                  <a:t>The probability that a meeting will be 3.5 hours</a:t>
                </a:r>
              </a:p>
              <a:p>
                <a:pPr lvl="1"/>
                <a:r>
                  <a:rPr lang="en-US" dirty="0"/>
                  <a:t>The probability that a meeting will be between 20 and 30 minutes long</a:t>
                </a:r>
              </a:p>
              <a:p>
                <a:endParaRPr lang="en-US" dirty="0"/>
              </a:p>
              <a:p>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752" r="-1388"/>
                </a:stretch>
              </a:blipFill>
            </p:spPr>
            <p:txBody>
              <a:bodyPr/>
              <a:lstStyle/>
              <a:p>
                <a:r>
                  <a:rPr lang="en-US">
                    <a:noFill/>
                  </a:rPr>
                  <a:t> </a:t>
                </a:r>
              </a:p>
            </p:txBody>
          </p:sp>
        </mc:Fallback>
      </mc:AlternateContent>
    </p:spTree>
    <p:extLst>
      <p:ext uri="{BB962C8B-B14F-4D97-AF65-F5344CB8AC3E}">
        <p14:creationId xmlns:p14="http://schemas.microsoft.com/office/powerpoint/2010/main" val="2566885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6.2 – Normal Distribution</a:t>
            </a:r>
          </a:p>
        </p:txBody>
      </p:sp>
      <p:sp>
        <p:nvSpPr>
          <p:cNvPr id="3" name="Content Placeholder 2"/>
          <p:cNvSpPr>
            <a:spLocks noGrp="1"/>
          </p:cNvSpPr>
          <p:nvPr>
            <p:ph sz="quarter" idx="1"/>
          </p:nvPr>
        </p:nvSpPr>
        <p:spPr/>
        <p:txBody>
          <a:bodyPr>
            <a:normAutofit fontScale="92500"/>
          </a:bodyPr>
          <a:lstStyle/>
          <a:p>
            <a:r>
              <a:rPr lang="en-US" dirty="0"/>
              <a:t>We now move on to what may be the most important distribution in probability and statistics. We spend three sections on the normal distribution because we will use it and the ideas we introduce here throughout the rest of the course. </a:t>
            </a:r>
          </a:p>
          <a:p>
            <a:endParaRPr lang="en-US" dirty="0"/>
          </a:p>
          <a:p>
            <a:r>
              <a:rPr lang="en-US" dirty="0"/>
              <a:t>Almost all of chapter 8 follows what we will do with the normal distribution. The work we do in these sections and in chapter 8 is especially relevant to inference, which we will cover in chapters 9 and 10.</a:t>
            </a:r>
          </a:p>
          <a:p>
            <a:endParaRPr lang="en-US" dirty="0"/>
          </a:p>
          <a:p>
            <a:pPr marL="0" indent="0">
              <a:buNone/>
            </a:pPr>
            <a:r>
              <a:rPr lang="en-US" dirty="0"/>
              <a:t> </a:t>
            </a:r>
          </a:p>
        </p:txBody>
      </p:sp>
    </p:spTree>
    <p:extLst>
      <p:ext uri="{BB962C8B-B14F-4D97-AF65-F5344CB8AC3E}">
        <p14:creationId xmlns:p14="http://schemas.microsoft.com/office/powerpoint/2010/main" val="2933416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6.2 – Normal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lnSpcReduction="10000"/>
              </a:bodyPr>
              <a:lstStyle/>
              <a:p>
                <a:r>
                  <a:rPr lang="en-US" dirty="0"/>
                  <a:t>Suppose we have a normal (also called Gaussian) random variable </a:t>
                </a:r>
                <a14:m>
                  <m:oMath xmlns:m="http://schemas.openxmlformats.org/officeDocument/2006/math">
                    <m:r>
                      <a:rPr lang="en-US" b="0" i="1" smtClean="0">
                        <a:latin typeface="Cambria Math"/>
                      </a:rPr>
                      <m:t>𝑋</m:t>
                    </m:r>
                  </m:oMath>
                </a14:m>
                <a:r>
                  <a:rPr lang="en-US" dirty="0"/>
                  <a:t> with mean </a:t>
                </a:r>
                <a14:m>
                  <m:oMath xmlns:m="http://schemas.openxmlformats.org/officeDocument/2006/math">
                    <m:r>
                      <a:rPr lang="en-US" b="0" i="1" smtClean="0">
                        <a:latin typeface="Cambria Math"/>
                      </a:rPr>
                      <m:t>𝜇</m:t>
                    </m:r>
                  </m:oMath>
                </a14:m>
                <a:r>
                  <a:rPr lang="en-US" dirty="0"/>
                  <a:t> and variance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 The short way to say this is </a:t>
                </a:r>
                <a14:m>
                  <m:oMath xmlns:m="http://schemas.openxmlformats.org/officeDocument/2006/math">
                    <m:r>
                      <a:rPr lang="en-US" b="0" i="1" smtClean="0">
                        <a:latin typeface="Cambria Math"/>
                      </a:rPr>
                      <m:t>𝑋</m:t>
                    </m:r>
                    <m:r>
                      <a:rPr lang="en-US" b="0" i="1" smtClean="0">
                        <a:latin typeface="Cambria Math"/>
                      </a:rPr>
                      <m:t>~</m:t>
                    </m:r>
                    <m:r>
                      <a:rPr lang="en-US" b="0" i="1" smtClean="0">
                        <a:latin typeface="Cambria Math"/>
                      </a:rPr>
                      <m:t>𝑁</m:t>
                    </m:r>
                    <m:d>
                      <m:dPr>
                        <m:ctrlPr>
                          <a:rPr lang="en-US" b="0" i="1" smtClean="0">
                            <a:latin typeface="Cambria Math" panose="02040503050406030204" pitchFamily="18" charset="0"/>
                          </a:rPr>
                        </m:ctrlPr>
                      </m:dPr>
                      <m:e>
                        <m:r>
                          <a:rPr lang="en-US" b="0" i="1" smtClean="0">
                            <a:latin typeface="Cambria Math"/>
                          </a:rPr>
                          <m:t>𝜇</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e>
                    </m:d>
                  </m:oMath>
                </a14:m>
                <a:r>
                  <a:rPr lang="en-US" dirty="0"/>
                  <a:t>. The PDF for </a:t>
                </a:r>
                <a14:m>
                  <m:oMath xmlns:m="http://schemas.openxmlformats.org/officeDocument/2006/math">
                    <m:r>
                      <a:rPr lang="en-US" b="0" i="1" smtClean="0">
                        <a:latin typeface="Cambria Math"/>
                      </a:rPr>
                      <m:t>𝑋</m:t>
                    </m:r>
                  </m:oMath>
                </a14:m>
                <a:r>
                  <a:rPr lang="en-US" dirty="0"/>
                  <a:t> then is</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ad>
                            <m:radPr>
                              <m:degHide m:val="on"/>
                              <m:ctrlPr>
                                <a:rPr lang="en-US" b="0" i="1" smtClean="0">
                                  <a:latin typeface="Cambria Math" panose="02040503050406030204" pitchFamily="18" charset="0"/>
                                </a:rPr>
                              </m:ctrlPr>
                            </m:radPr>
                            <m:deg/>
                            <m:e>
                              <m:r>
                                <a:rPr lang="en-US" b="0" i="1" smtClean="0">
                                  <a:latin typeface="Cambria Math"/>
                                </a:rPr>
                                <m:t>2</m:t>
                              </m:r>
                              <m:r>
                                <a:rPr lang="en-US" b="0" i="1" smtClean="0">
                                  <a:latin typeface="Cambria Math"/>
                                </a:rPr>
                                <m:t>𝜋</m:t>
                              </m:r>
                            </m:e>
                          </m:rad>
                          <m:r>
                            <a:rPr lang="en-US" b="0" i="1" smtClean="0">
                              <a:latin typeface="Cambria Math"/>
                            </a:rPr>
                            <m:t>𝜎</m:t>
                          </m:r>
                        </m:den>
                      </m:f>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𝜇</m:t>
                                      </m:r>
                                    </m:e>
                                  </m:d>
                                </m:e>
                                <m:sup>
                                  <m:r>
                                    <a:rPr lang="en-US" b="0" i="1" smtClean="0">
                                      <a:latin typeface="Cambria Math"/>
                                    </a:rPr>
                                    <m:t>2</m:t>
                                  </m:r>
                                </m:sup>
                              </m:sSup>
                            </m:num>
                            <m:den>
                              <m:r>
                                <a:rPr lang="en-US" b="0" i="1" smtClean="0">
                                  <a:latin typeface="Cambria Math"/>
                                </a:rPr>
                                <m:t>2</m:t>
                              </m:r>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den>
                          </m:f>
                        </m:sup>
                      </m:sSup>
                      <m:r>
                        <a:rPr lang="en-US" b="0" i="1" smtClean="0">
                          <a:latin typeface="Cambria Math"/>
                        </a:rPr>
                        <m:t>, −∞&lt;</m:t>
                      </m:r>
                      <m:r>
                        <a:rPr lang="en-US" b="0" i="1" smtClean="0">
                          <a:latin typeface="Cambria Math"/>
                        </a:rPr>
                        <m:t>𝑥</m:t>
                      </m:r>
                      <m:r>
                        <a:rPr lang="en-US" b="0" i="1" smtClean="0">
                          <a:latin typeface="Cambria Math"/>
                        </a:rPr>
                        <m:t>&lt;∞</m:t>
                      </m:r>
                    </m:oMath>
                  </m:oMathPara>
                </a14:m>
                <a:endParaRPr lang="en-US" dirty="0"/>
              </a:p>
              <a:p>
                <a:endParaRPr lang="en-US" dirty="0"/>
              </a:p>
              <a:p>
                <a:r>
                  <a:rPr lang="en-US" dirty="0"/>
                  <a:t>Given a mean and variance, we can completely determine the normal distribution. Plotting this PDF gives us the familiar “bell curve.”</a:t>
                </a:r>
              </a:p>
              <a:p>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245" t="-1377" r="-408"/>
                </a:stretch>
              </a:blipFill>
            </p:spPr>
            <p:txBody>
              <a:bodyPr/>
              <a:lstStyle/>
              <a:p>
                <a:r>
                  <a:rPr lang="en-US">
                    <a:noFill/>
                  </a:rPr>
                  <a:t> </a:t>
                </a:r>
              </a:p>
            </p:txBody>
          </p:sp>
        </mc:Fallback>
      </mc:AlternateContent>
    </p:spTree>
    <p:extLst>
      <p:ext uri="{BB962C8B-B14F-4D97-AF65-F5344CB8AC3E}">
        <p14:creationId xmlns:p14="http://schemas.microsoft.com/office/powerpoint/2010/main" val="2167288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6.2 – Normal Distribution</a:t>
            </a:r>
          </a:p>
        </p:txBody>
      </p:sp>
      <p:sp>
        <p:nvSpPr>
          <p:cNvPr id="3" name="Content Placeholder 2"/>
          <p:cNvSpPr>
            <a:spLocks noGrp="1"/>
          </p:cNvSpPr>
          <p:nvPr>
            <p:ph sz="quarter" idx="1"/>
          </p:nvPr>
        </p:nvSpPr>
        <p:spPr/>
        <p:txBody>
          <a:bodyPr>
            <a:normAutofit/>
          </a:bodyPr>
          <a:lstStyle/>
          <a:p>
            <a:r>
              <a:rPr lang="en-US" dirty="0"/>
              <a:t>We now demonstrate what the normal PDF looks like and how location and shape are determined by mean and variance.</a:t>
            </a:r>
          </a:p>
          <a:p>
            <a:endParaRPr lang="en-US" dirty="0"/>
          </a:p>
          <a:p>
            <a:pPr marL="0" indent="0">
              <a:buNone/>
            </a:pPr>
            <a:r>
              <a:rPr lang="en-US" dirty="0"/>
              <a:t> </a:t>
            </a:r>
          </a:p>
        </p:txBody>
      </p:sp>
    </p:spTree>
    <p:extLst>
      <p:ext uri="{BB962C8B-B14F-4D97-AF65-F5344CB8AC3E}">
        <p14:creationId xmlns:p14="http://schemas.microsoft.com/office/powerpoint/2010/main" val="3114806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6.2 – Normal Distribution</a:t>
            </a:r>
            <a:endParaRPr lang="en-US" dirty="0"/>
          </a:p>
        </p:txBody>
      </p:sp>
      <p:pic>
        <p:nvPicPr>
          <p:cNvPr id="205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754187" y="1600200"/>
            <a:ext cx="4873625" cy="487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9551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6.2 – Normal Distribution</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95400"/>
            <a:ext cx="5014913" cy="5014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2778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6.2 – Normal Distribution</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524000"/>
            <a:ext cx="5014913" cy="5014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2126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6.2 – Normal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There are several important properties of the normal curve (PDF):</a:t>
                </a:r>
              </a:p>
              <a:p>
                <a:pPr lvl="1"/>
                <a:r>
                  <a:rPr lang="en-US" dirty="0"/>
                  <a:t>The curve is symmetric about a vertical axis through its mean</a:t>
                </a:r>
              </a:p>
              <a:p>
                <a:pPr lvl="1"/>
                <a:r>
                  <a:rPr lang="en-US" dirty="0"/>
                  <a:t>Because of the symmetry, the mean, median, and mode all occur at </a:t>
                </a:r>
                <a14:m>
                  <m:oMath xmlns:m="http://schemas.openxmlformats.org/officeDocument/2006/math">
                    <m:r>
                      <a:rPr lang="en-US" b="0" i="1" smtClean="0">
                        <a:latin typeface="Cambria Math"/>
                      </a:rPr>
                      <m:t>𝑥</m:t>
                    </m:r>
                    <m:r>
                      <a:rPr lang="en-US" b="0" i="1" smtClean="0">
                        <a:latin typeface="Cambria Math"/>
                      </a:rPr>
                      <m:t>=</m:t>
                    </m:r>
                    <m:r>
                      <a:rPr lang="en-US" b="0" i="1" smtClean="0">
                        <a:latin typeface="Cambria Math"/>
                      </a:rPr>
                      <m:t>𝜇</m:t>
                    </m:r>
                  </m:oMath>
                </a14:m>
                <a:endParaRPr lang="en-US" dirty="0"/>
              </a:p>
              <a:p>
                <a:pPr lvl="1"/>
                <a:r>
                  <a:rPr lang="en-US" dirty="0"/>
                  <a:t>The curve has a horizontal asymptote at </a:t>
                </a:r>
                <a14:m>
                  <m:oMath xmlns:m="http://schemas.openxmlformats.org/officeDocument/2006/math">
                    <m:r>
                      <a:rPr lang="en-US" b="0" i="1" smtClean="0">
                        <a:latin typeface="Cambria Math"/>
                      </a:rPr>
                      <m:t>𝑦</m:t>
                    </m:r>
                    <m:r>
                      <a:rPr lang="en-US" b="0" i="1" smtClean="0">
                        <a:latin typeface="Cambria Math"/>
                      </a:rPr>
                      <m:t>=0</m:t>
                    </m:r>
                  </m:oMath>
                </a14:m>
                <a:endParaRPr lang="en-US" dirty="0"/>
              </a:p>
              <a:p>
                <a:pPr lvl="1"/>
                <a:r>
                  <a:rPr lang="en-US" dirty="0"/>
                  <a:t>The total area under the curve and above the asymptote is </a:t>
                </a:r>
                <a14:m>
                  <m:oMath xmlns:m="http://schemas.openxmlformats.org/officeDocument/2006/math">
                    <m:r>
                      <a:rPr lang="en-US" b="0" i="1" smtClean="0">
                        <a:latin typeface="Cambria Math"/>
                      </a:rPr>
                      <m:t>1</m:t>
                    </m:r>
                  </m:oMath>
                </a14:m>
                <a:r>
                  <a:rPr lang="en-US" dirty="0"/>
                  <a:t> (this is equivalent to </a:t>
                </a:r>
                <a14:m>
                  <m:oMath xmlns:m="http://schemas.openxmlformats.org/officeDocument/2006/math">
                    <m:nary>
                      <m:naryPr>
                        <m:ctrlPr>
                          <a:rPr lang="en-US" i="1" smtClean="0">
                            <a:latin typeface="Cambria Math" panose="02040503050406030204" pitchFamily="18" charset="0"/>
                          </a:rPr>
                        </m:ctrlPr>
                      </m:naryPr>
                      <m:sub>
                        <m:r>
                          <m:rPr>
                            <m:brk m:alnAt="23"/>
                          </m:rPr>
                          <a:rPr lang="en-US" b="0" i="1" smtClean="0">
                            <a:latin typeface="Cambria Math"/>
                          </a:rPr>
                          <m:t>−</m:t>
                        </m:r>
                        <m:r>
                          <a:rPr lang="en-US" b="0" i="1" smtClean="0">
                            <a:latin typeface="Cambria Math"/>
                          </a:rPr>
                          <m:t>∞</m:t>
                        </m:r>
                      </m:sub>
                      <m:sup>
                        <m:r>
                          <a:rPr lang="en-US" b="0" i="1" smtClean="0">
                            <a:latin typeface="Cambria Math"/>
                          </a:rPr>
                          <m:t>∞</m:t>
                        </m:r>
                      </m:sup>
                      <m:e>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𝑑𝑥</m:t>
                        </m:r>
                        <m:r>
                          <a:rPr lang="en-US" b="0" i="1" smtClean="0">
                            <a:latin typeface="Cambria Math"/>
                          </a:rPr>
                          <m:t>=1</m:t>
                        </m:r>
                      </m:e>
                    </m:nary>
                  </m:oMath>
                </a14:m>
                <a:r>
                  <a:rPr lang="en-US" dirty="0"/>
                  <a:t>)  </a:t>
                </a:r>
              </a:p>
              <a:p>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r="-327"/>
                </a:stretch>
              </a:blipFill>
            </p:spPr>
            <p:txBody>
              <a:bodyPr/>
              <a:lstStyle/>
              <a:p>
                <a:r>
                  <a:rPr lang="en-US">
                    <a:noFill/>
                  </a:rPr>
                  <a:t> </a:t>
                </a:r>
              </a:p>
            </p:txBody>
          </p:sp>
        </mc:Fallback>
      </mc:AlternateContent>
    </p:spTree>
    <p:extLst>
      <p:ext uri="{BB962C8B-B14F-4D97-AF65-F5344CB8AC3E}">
        <p14:creationId xmlns:p14="http://schemas.microsoft.com/office/powerpoint/2010/main" val="1391416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6.2 – Normal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Example: Prove that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𝜇</m:t>
                    </m:r>
                  </m:oMath>
                </a14:m>
                <a:r>
                  <a:rPr lang="en-US" dirty="0"/>
                  <a:t> for a normally distributed random variable, </a:t>
                </a:r>
                <a14:m>
                  <m:oMath xmlns:m="http://schemas.openxmlformats.org/officeDocument/2006/math">
                    <m:r>
                      <a:rPr lang="en-US" b="0" i="1" smtClean="0">
                        <a:latin typeface="Cambria Math"/>
                      </a:rPr>
                      <m:t>𝑋</m:t>
                    </m:r>
                  </m:oMath>
                </a14:m>
                <a:r>
                  <a:rPr lang="en-US" dirty="0"/>
                  <a:t>.</a:t>
                </a:r>
              </a:p>
              <a:p>
                <a:endParaRPr lang="en-US" dirty="0"/>
              </a:p>
              <a:p>
                <a:endParaRPr lang="en-US" dirty="0"/>
              </a:p>
              <a:p>
                <a:r>
                  <a:rPr lang="en-US" dirty="0"/>
                  <a:t>Note that a similar proof can be done to show that </a:t>
                </a:r>
                <a14:m>
                  <m:oMath xmlns:m="http://schemas.openxmlformats.org/officeDocument/2006/math">
                    <m:r>
                      <a:rPr lang="en-US" i="1">
                        <a:latin typeface="Cambria Math"/>
                      </a:rPr>
                      <m:t>𝑉</m:t>
                    </m:r>
                    <m:d>
                      <m:dPr>
                        <m:ctrlPr>
                          <a:rPr lang="en-US" i="1">
                            <a:latin typeface="Cambria Math" panose="02040503050406030204" pitchFamily="18" charset="0"/>
                          </a:rPr>
                        </m:ctrlPr>
                      </m:dPr>
                      <m:e>
                        <m:r>
                          <a:rPr lang="en-US" i="1">
                            <a:latin typeface="Cambria Math"/>
                          </a:rPr>
                          <m:t>𝑋</m:t>
                        </m:r>
                      </m:e>
                    </m:d>
                    <m:r>
                      <a:rPr lang="en-US" i="1">
                        <a:latin typeface="Cambria Math"/>
                      </a:rPr>
                      <m:t>=</m:t>
                    </m:r>
                    <m:sSup>
                      <m:sSupPr>
                        <m:ctrlPr>
                          <a:rPr lang="en-US" i="1">
                            <a:latin typeface="Cambria Math" panose="02040503050406030204" pitchFamily="18" charset="0"/>
                          </a:rPr>
                        </m:ctrlPr>
                      </m:sSupPr>
                      <m:e>
                        <m:r>
                          <a:rPr lang="en-US" i="1">
                            <a:latin typeface="Cambria Math"/>
                          </a:rPr>
                          <m:t>𝜎</m:t>
                        </m:r>
                      </m:e>
                      <m:sup>
                        <m:r>
                          <a:rPr lang="en-US" i="1">
                            <a:latin typeface="Cambria Math"/>
                          </a:rPr>
                          <m:t>2</m:t>
                        </m:r>
                      </m:sup>
                    </m:sSup>
                  </m:oMath>
                </a14:m>
                <a:r>
                  <a:rPr lang="en-US" dirty="0"/>
                  <a:t>.</a:t>
                </a:r>
              </a:p>
              <a:p>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531253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As we have mentioned several times, when we work with continuous distributions, we think of probability as area under the curve. </a:t>
                </a:r>
              </a:p>
              <a:p>
                <a:endParaRPr lang="en-US" dirty="0"/>
              </a:p>
              <a:p>
                <a:r>
                  <a:rPr lang="en-US" dirty="0"/>
                  <a:t>Going back to calculus 1, recall that area under the curve is synonymous with an integral. So if we want to find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m:t>
                        </m:r>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e>
                    </m:d>
                  </m:oMath>
                </a14:m>
                <a:r>
                  <a:rPr lang="en-US" dirty="0"/>
                  <a:t> for </a:t>
                </a:r>
                <a14:m>
                  <m:oMath xmlns:m="http://schemas.openxmlformats.org/officeDocument/2006/math">
                    <m:r>
                      <a:rPr lang="en-US" b="0" i="1" smtClean="0">
                        <a:latin typeface="Cambria Math"/>
                      </a:rPr>
                      <m:t>𝑋</m:t>
                    </m:r>
                    <m:r>
                      <a:rPr lang="en-US" b="0" i="1" smtClean="0">
                        <a:latin typeface="Cambria Math"/>
                      </a:rPr>
                      <m:t>~</m:t>
                    </m:r>
                    <m:r>
                      <a:rPr lang="en-US" b="0" i="1" smtClean="0">
                        <a:latin typeface="Cambria Math"/>
                      </a:rPr>
                      <m:t>𝑁</m:t>
                    </m:r>
                    <m:d>
                      <m:dPr>
                        <m:ctrlPr>
                          <a:rPr lang="en-US" b="0" i="1" smtClean="0">
                            <a:latin typeface="Cambria Math" panose="02040503050406030204" pitchFamily="18" charset="0"/>
                          </a:rPr>
                        </m:ctrlPr>
                      </m:dPr>
                      <m:e>
                        <m:r>
                          <a:rPr lang="en-US" b="0" i="1" smtClean="0">
                            <a:latin typeface="Cambria Math"/>
                          </a:rPr>
                          <m:t>𝜇</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e>
                    </m:d>
                  </m:oMath>
                </a14:m>
                <a:r>
                  <a:rPr lang="en-US" dirty="0"/>
                  <a:t>, we have to integrate </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nary>
                        <m:naryPr>
                          <m:ctrlPr>
                            <a:rPr lang="en-US" i="1" smtClean="0">
                              <a:latin typeface="Cambria Math" panose="02040503050406030204" pitchFamily="18" charset="0"/>
                            </a:rPr>
                          </m:ctrlPr>
                        </m:naryPr>
                        <m:sub>
                          <m:sSub>
                            <m:sSubPr>
                              <m:ctrlPr>
                                <a:rPr lang="en-US" b="0" i="1" smtClean="0">
                                  <a:latin typeface="Cambria Math" panose="02040503050406030204" pitchFamily="18" charset="0"/>
                                </a:rPr>
                              </m:ctrlPr>
                            </m:sSubPr>
                            <m:e>
                              <m:r>
                                <m:rPr>
                                  <m:brk m:alnAt="23"/>
                                </m:rPr>
                                <a:rPr lang="en-US" b="0" i="1" smtClean="0">
                                  <a:latin typeface="Cambria Math"/>
                                </a:rPr>
                                <m:t>𝑥</m:t>
                              </m:r>
                            </m:e>
                            <m:sub>
                              <m:r>
                                <m:rPr>
                                  <m:brk m:alnAt="23"/>
                                </m:rPr>
                                <a:rPr lang="en-US" b="0" i="1" smtClean="0">
                                  <a:latin typeface="Cambria Math"/>
                                </a:rPr>
                                <m:t>1</m:t>
                              </m:r>
                            </m:sub>
                          </m:sSub>
                        </m:sub>
                        <m:sup>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sup>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𝜎</m:t>
                              </m:r>
                              <m:rad>
                                <m:radPr>
                                  <m:degHide m:val="on"/>
                                  <m:ctrlPr>
                                    <a:rPr lang="en-US" b="0" i="1" smtClean="0">
                                      <a:latin typeface="Cambria Math" panose="02040503050406030204" pitchFamily="18" charset="0"/>
                                    </a:rPr>
                                  </m:ctrlPr>
                                </m:radPr>
                                <m:deg/>
                                <m:e>
                                  <m:r>
                                    <a:rPr lang="en-US" b="0" i="1" smtClean="0">
                                      <a:latin typeface="Cambria Math"/>
                                    </a:rPr>
                                    <m:t>2</m:t>
                                  </m:r>
                                  <m:r>
                                    <a:rPr lang="en-US" b="0" i="1" smtClean="0">
                                      <a:latin typeface="Cambria Math"/>
                                    </a:rPr>
                                    <m:t>𝜋</m:t>
                                  </m:r>
                                </m:e>
                              </m:rad>
                            </m:den>
                          </m:f>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𝜇</m:t>
                                          </m:r>
                                        </m:e>
                                      </m:d>
                                    </m:e>
                                    <m:sup>
                                      <m:r>
                                        <a:rPr lang="en-US" b="0" i="1" smtClean="0">
                                          <a:latin typeface="Cambria Math"/>
                                        </a:rPr>
                                        <m:t>2</m:t>
                                      </m:r>
                                    </m:sup>
                                  </m:sSup>
                                </m:num>
                                <m:den>
                                  <m:r>
                                    <a:rPr lang="en-US" b="0" i="1" smtClean="0">
                                      <a:latin typeface="Cambria Math"/>
                                    </a:rPr>
                                    <m:t>2</m:t>
                                  </m:r>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den>
                              </m:f>
                            </m:sup>
                          </m:sSup>
                          <m:r>
                            <a:rPr lang="en-US" b="0" i="1" smtClean="0">
                              <a:latin typeface="Cambria Math"/>
                            </a:rPr>
                            <m:t>𝑑𝑥</m:t>
                          </m:r>
                        </m:e>
                      </m:nary>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r="-1551"/>
                </a:stretch>
              </a:blipFill>
            </p:spPr>
            <p:txBody>
              <a:bodyPr/>
              <a:lstStyle/>
              <a:p>
                <a:r>
                  <a:rPr lang="en-US">
                    <a:noFill/>
                  </a:rPr>
                  <a:t> </a:t>
                </a:r>
              </a:p>
            </p:txBody>
          </p:sp>
        </mc:Fallback>
      </mc:AlternateContent>
    </p:spTree>
    <p:extLst>
      <p:ext uri="{BB962C8B-B14F-4D97-AF65-F5344CB8AC3E}">
        <p14:creationId xmlns:p14="http://schemas.microsoft.com/office/powerpoint/2010/main" val="127143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a:bodyPr>
              <a:lstStyle/>
              <a:p>
                <a:r>
                  <a:rPr lang="en-US" dirty="0"/>
                  <a:t>Coming up with tables for every possible combination of </a:t>
                </a:r>
                <a14:m>
                  <m:oMath xmlns:m="http://schemas.openxmlformats.org/officeDocument/2006/math">
                    <m:r>
                      <a:rPr lang="en-US" b="0" i="1" smtClean="0">
                        <a:latin typeface="Cambria Math"/>
                      </a:rPr>
                      <m:t>𝜇</m:t>
                    </m:r>
                  </m:oMath>
                </a14:m>
                <a:r>
                  <a:rPr lang="en-US"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 is a ridiculously hopeless task. However, there is a way to transform any normal random variable so that we only need one table.</a:t>
                </a: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327" t="-1001" r="-1633"/>
                </a:stretch>
              </a:blipFill>
            </p:spPr>
            <p:txBody>
              <a:bodyPr/>
              <a:lstStyle/>
              <a:p>
                <a:r>
                  <a:rPr lang="en-US">
                    <a:noFill/>
                  </a:rPr>
                  <a:t> </a:t>
                </a:r>
              </a:p>
            </p:txBody>
          </p:sp>
        </mc:Fallback>
      </mc:AlternateContent>
    </p:spTree>
    <p:extLst>
      <p:ext uri="{BB962C8B-B14F-4D97-AF65-F5344CB8AC3E}">
        <p14:creationId xmlns:p14="http://schemas.microsoft.com/office/powerpoint/2010/main" val="2881774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Consider the random variable </a:t>
                </a:r>
                <a14:m>
                  <m:oMath xmlns:m="http://schemas.openxmlformats.org/officeDocument/2006/math">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𝑋</m:t>
                        </m:r>
                        <m:r>
                          <a:rPr lang="en-US" b="0" i="1" smtClean="0">
                            <a:latin typeface="Cambria Math"/>
                          </a:rPr>
                          <m:t>−</m:t>
                        </m:r>
                        <m:r>
                          <a:rPr lang="en-US" b="0" i="1" smtClean="0">
                            <a:latin typeface="Cambria Math"/>
                          </a:rPr>
                          <m:t>𝜇</m:t>
                        </m:r>
                      </m:num>
                      <m:den>
                        <m:r>
                          <a:rPr lang="en-US" b="0" i="1" smtClean="0">
                            <a:latin typeface="Cambria Math"/>
                          </a:rPr>
                          <m:t>𝜎</m:t>
                        </m:r>
                      </m:den>
                    </m:f>
                  </m:oMath>
                </a14:m>
                <a:r>
                  <a:rPr lang="en-US" dirty="0"/>
                  <a:t>. Using this as a transformation, we can substitute this into the integral we saw previously.</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r="-1878"/>
                </a:stretch>
              </a:blipFill>
            </p:spPr>
            <p:txBody>
              <a:bodyPr/>
              <a:lstStyle/>
              <a:p>
                <a:r>
                  <a:rPr lang="en-US">
                    <a:noFill/>
                  </a:rPr>
                  <a:t> </a:t>
                </a:r>
              </a:p>
            </p:txBody>
          </p:sp>
        </mc:Fallback>
      </mc:AlternateContent>
    </p:spTree>
    <p:extLst>
      <p:ext uri="{BB962C8B-B14F-4D97-AF65-F5344CB8AC3E}">
        <p14:creationId xmlns:p14="http://schemas.microsoft.com/office/powerpoint/2010/main" val="731363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So for any normally distributed random variable </a:t>
                </a:r>
                <a14:m>
                  <m:oMath xmlns:m="http://schemas.openxmlformats.org/officeDocument/2006/math">
                    <m:r>
                      <a:rPr lang="en-US" b="0" i="1" smtClean="0">
                        <a:latin typeface="Cambria Math"/>
                      </a:rPr>
                      <m:t>𝑋</m:t>
                    </m:r>
                  </m:oMath>
                </a14:m>
                <a:r>
                  <a:rPr lang="en-US" dirty="0"/>
                  <a:t>, </a:t>
                </a:r>
                <a14:m>
                  <m:oMath xmlns:m="http://schemas.openxmlformats.org/officeDocument/2006/math">
                    <m:r>
                      <a:rPr lang="en-US" b="0" i="1" smtClean="0">
                        <a:latin typeface="Cambria Math"/>
                      </a:rPr>
                      <m:t>𝑍</m:t>
                    </m:r>
                    <m:r>
                      <a:rPr lang="en-US" b="0" i="1" smtClean="0">
                        <a:latin typeface="Cambria Math"/>
                      </a:rPr>
                      <m:t>~</m:t>
                    </m:r>
                    <m:r>
                      <a:rPr lang="en-US" b="0" i="1" smtClean="0">
                        <a:latin typeface="Cambria Math"/>
                      </a:rPr>
                      <m:t>𝑁</m:t>
                    </m:r>
                    <m:d>
                      <m:dPr>
                        <m:ctrlPr>
                          <a:rPr lang="en-US" b="0" i="1" smtClean="0">
                            <a:latin typeface="Cambria Math" panose="02040503050406030204" pitchFamily="18" charset="0"/>
                          </a:rPr>
                        </m:ctrlPr>
                      </m:dPr>
                      <m:e>
                        <m:r>
                          <a:rPr lang="en-US" b="0" i="1" smtClean="0">
                            <a:latin typeface="Cambria Math"/>
                          </a:rPr>
                          <m:t>0,1</m:t>
                        </m:r>
                      </m:e>
                    </m:d>
                  </m:oMath>
                </a14:m>
                <a:r>
                  <a:rPr lang="en-US" dirty="0"/>
                  <a:t>. This means that we only need one table. To use that table, we simply have to transform the original variable. That is,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m:t>
                          </m:r>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m:t>
                              </m:r>
                              <m:r>
                                <a:rPr lang="en-US" b="0" i="1" smtClean="0">
                                  <a:latin typeface="Cambria Math"/>
                                </a:rPr>
                                <m:t>𝜇</m:t>
                              </m:r>
                            </m:num>
                            <m:den>
                              <m:r>
                                <a:rPr lang="en-US" b="0" i="1" smtClean="0">
                                  <a:latin typeface="Cambria Math"/>
                                </a:rPr>
                                <m:t>𝜎</m:t>
                              </m:r>
                            </m:den>
                          </m:f>
                          <m:r>
                            <a:rPr lang="en-US" b="0" i="1" smtClean="0">
                              <a:latin typeface="Cambria Math"/>
                            </a:rPr>
                            <m:t>≤</m:t>
                          </m:r>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m:t>
                              </m:r>
                              <m:r>
                                <a:rPr lang="en-US" b="0" i="1" smtClean="0">
                                  <a:latin typeface="Cambria Math"/>
                                </a:rPr>
                                <m:t>𝜇</m:t>
                              </m:r>
                            </m:num>
                            <m:den>
                              <m:r>
                                <a:rPr lang="en-US" b="0" i="1" smtClean="0">
                                  <a:latin typeface="Cambria Math"/>
                                </a:rPr>
                                <m:t>𝜎</m:t>
                              </m:r>
                            </m:den>
                          </m:f>
                        </m:e>
                      </m:d>
                    </m:oMath>
                  </m:oMathPara>
                </a14:m>
                <a:endParaRPr lang="en-US" dirty="0"/>
              </a:p>
              <a:p>
                <a:pPr marL="0" indent="0">
                  <a:buNone/>
                </a:pPr>
                <a:endParaRPr lang="en-US" dirty="0"/>
              </a:p>
              <a:p>
                <a:r>
                  <a:rPr lang="en-US" dirty="0"/>
                  <a:t>We call the normal distribution with </a:t>
                </a:r>
                <a14:m>
                  <m:oMath xmlns:m="http://schemas.openxmlformats.org/officeDocument/2006/math">
                    <m:r>
                      <a:rPr lang="en-US" b="0" i="1" smtClean="0">
                        <a:latin typeface="Cambria Math"/>
                      </a:rPr>
                      <m:t>𝜇</m:t>
                    </m:r>
                    <m:r>
                      <a:rPr lang="en-US" b="0" i="1" smtClean="0">
                        <a:latin typeface="Cambria Math"/>
                      </a:rPr>
                      <m:t>=0</m:t>
                    </m:r>
                  </m:oMath>
                </a14:m>
                <a:r>
                  <a:rPr lang="en-US" dirty="0"/>
                  <a:t> and </a:t>
                </a:r>
                <a14:m>
                  <m:oMath xmlns:m="http://schemas.openxmlformats.org/officeDocument/2006/math">
                    <m:r>
                      <a:rPr lang="en-US" b="0" i="1" smtClean="0">
                        <a:latin typeface="Cambria Math"/>
                      </a:rPr>
                      <m:t>𝜎</m:t>
                    </m:r>
                    <m:r>
                      <a:rPr lang="en-US" b="0" i="1" smtClean="0">
                        <a:latin typeface="Cambria Math"/>
                      </a:rPr>
                      <m:t>=1</m:t>
                    </m:r>
                  </m:oMath>
                </a14:m>
                <a:r>
                  <a:rPr lang="en-US" dirty="0"/>
                  <a:t> the </a:t>
                </a:r>
                <a:r>
                  <a:rPr lang="en-US" i="1" dirty="0"/>
                  <a:t>standard normal distribution</a:t>
                </a:r>
                <a:r>
                  <a:rPr lang="en-US" dirty="0"/>
                  <a:t>, and we use </a:t>
                </a:r>
                <a14:m>
                  <m:oMath xmlns:m="http://schemas.openxmlformats.org/officeDocument/2006/math">
                    <m:r>
                      <a:rPr lang="en-US" b="0" i="1" smtClean="0">
                        <a:latin typeface="Cambria Math"/>
                      </a:rPr>
                      <m:t>𝑍</m:t>
                    </m:r>
                  </m:oMath>
                </a14:m>
                <a:r>
                  <a:rPr lang="en-US" dirty="0"/>
                  <a:t> to denote a standard normal random variable. Table A.3 in the book gives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𝑍</m:t>
                    </m:r>
                    <m:r>
                      <a:rPr lang="en-US" b="0" i="1" smtClean="0">
                        <a:latin typeface="Cambria Math"/>
                      </a:rPr>
                      <m:t>&lt;</m:t>
                    </m:r>
                    <m:r>
                      <a:rPr lang="en-US" b="0" i="1" smtClean="0">
                        <a:latin typeface="Cambria Math"/>
                      </a:rPr>
                      <m:t>𝑧</m:t>
                    </m:r>
                    <m:r>
                      <a:rPr lang="en-US" b="0" i="1" smtClean="0">
                        <a:latin typeface="Cambria Math"/>
                      </a:rPr>
                      <m:t>)</m:t>
                    </m:r>
                  </m:oMath>
                </a14:m>
                <a:r>
                  <a:rPr lang="en-US" dirty="0"/>
                  <a:t> for </a:t>
                </a:r>
                <a14:m>
                  <m:oMath xmlns:m="http://schemas.openxmlformats.org/officeDocument/2006/math">
                    <m:r>
                      <a:rPr lang="en-US" b="0" i="1" smtClean="0">
                        <a:latin typeface="Cambria Math"/>
                      </a:rPr>
                      <m:t>𝑧</m:t>
                    </m:r>
                  </m:oMath>
                </a14:m>
                <a:r>
                  <a:rPr lang="en-US" dirty="0"/>
                  <a:t> values between -3.49 and 3.49.</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752" r="-327"/>
                </a:stretch>
              </a:blipFill>
            </p:spPr>
            <p:txBody>
              <a:bodyPr/>
              <a:lstStyle/>
              <a:p>
                <a:r>
                  <a:rPr lang="en-US">
                    <a:noFill/>
                  </a:rPr>
                  <a:t> </a:t>
                </a:r>
              </a:p>
            </p:txBody>
          </p:sp>
        </mc:Fallback>
      </mc:AlternateContent>
    </p:spTree>
    <p:extLst>
      <p:ext uri="{BB962C8B-B14F-4D97-AF65-F5344CB8AC3E}">
        <p14:creationId xmlns:p14="http://schemas.microsoft.com/office/powerpoint/2010/main" val="2555920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Example: Use table A.3 to find:</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&lt;1.74</m:t>
                        </m:r>
                      </m:e>
                    </m:d>
                  </m:oMath>
                </a14:m>
                <a:endParaRPr lang="en-US" b="0" dirty="0"/>
              </a:p>
              <a:p>
                <a:pPr lvl="1"/>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𝑍</m:t>
                    </m:r>
                    <m:r>
                      <a:rPr lang="en-US" b="0" i="1" smtClean="0">
                        <a:latin typeface="Cambria Math"/>
                      </a:rPr>
                      <m:t>&gt;−0.23)</m:t>
                    </m:r>
                  </m:oMath>
                </a14:m>
                <a:endParaRPr lang="en-US" dirty="0"/>
              </a:p>
              <a:p>
                <a:pPr lvl="1"/>
                <a14:m>
                  <m:oMath xmlns:m="http://schemas.openxmlformats.org/officeDocument/2006/math">
                    <m:r>
                      <a:rPr lang="en-US" b="0" i="1" smtClean="0">
                        <a:latin typeface="Cambria Math"/>
                      </a:rPr>
                      <m:t>𝑃</m:t>
                    </m:r>
                    <m:r>
                      <a:rPr lang="en-US" b="0" i="1" smtClean="0">
                        <a:latin typeface="Cambria Math"/>
                      </a:rPr>
                      <m:t>(−0.4&lt;</m:t>
                    </m:r>
                    <m:r>
                      <a:rPr lang="en-US" b="0" i="1" smtClean="0">
                        <a:latin typeface="Cambria Math"/>
                      </a:rPr>
                      <m:t>𝑍</m:t>
                    </m:r>
                    <m:r>
                      <a:rPr lang="en-US" b="0" i="1" smtClean="0">
                        <a:latin typeface="Cambria Math"/>
                      </a:rPr>
                      <m:t>&lt;1.98)</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2241586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p:sp>
        <p:nvSpPr>
          <p:cNvPr id="3" name="Content Placeholder 2"/>
          <p:cNvSpPr>
            <a:spLocks noGrp="1"/>
          </p:cNvSpPr>
          <p:nvPr>
            <p:ph sz="quarter" idx="1"/>
          </p:nvPr>
        </p:nvSpPr>
        <p:spPr/>
        <p:txBody>
          <a:bodyPr>
            <a:normAutofit/>
          </a:bodyPr>
          <a:lstStyle/>
          <a:p>
            <a:r>
              <a:rPr lang="en-US" dirty="0"/>
              <a:t>A note about these tables: On exams and quizzes, you will be asked to use tables. If not specifically asked, you may use the app.</a:t>
            </a:r>
          </a:p>
        </p:txBody>
      </p:sp>
    </p:spTree>
    <p:extLst>
      <p:ext uri="{BB962C8B-B14F-4D97-AF65-F5344CB8AC3E}">
        <p14:creationId xmlns:p14="http://schemas.microsoft.com/office/powerpoint/2010/main" val="2090012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Exercise: Suppose that </a:t>
                </a:r>
                <a14:m>
                  <m:oMath xmlns:m="http://schemas.openxmlformats.org/officeDocument/2006/math">
                    <m:r>
                      <a:rPr lang="en-US" b="0" i="1" smtClean="0">
                        <a:latin typeface="Cambria Math"/>
                      </a:rPr>
                      <m:t>𝑋</m:t>
                    </m:r>
                    <m:r>
                      <a:rPr lang="en-US" b="0" i="0" smtClean="0">
                        <a:latin typeface="Cambria Math"/>
                      </a:rPr>
                      <m:t>~</m:t>
                    </m:r>
                    <m:r>
                      <m:rPr>
                        <m:sty m:val="p"/>
                      </m:rPr>
                      <a:rPr lang="en-US" b="0" i="0" smtClean="0">
                        <a:latin typeface="Cambria Math"/>
                      </a:rPr>
                      <m:t>N</m:t>
                    </m:r>
                    <m:r>
                      <a:rPr lang="en-US" b="0" i="0" smtClean="0">
                        <a:latin typeface="Cambria Math"/>
                      </a:rPr>
                      <m:t>(</m:t>
                    </m:r>
                    <m:r>
                      <a:rPr lang="en-US" b="0" i="1" smtClean="0">
                        <a:latin typeface="Cambria Math"/>
                      </a:rPr>
                      <m:t>𝜇</m:t>
                    </m:r>
                    <m:r>
                      <a:rPr lang="en-US" b="0" i="1" smtClean="0">
                        <a:latin typeface="Cambria Math"/>
                      </a:rPr>
                      <m:t>=300,</m:t>
                    </m:r>
                    <m:r>
                      <a:rPr lang="en-US" b="0" i="1" smtClean="0">
                        <a:latin typeface="Cambria Math"/>
                      </a:rPr>
                      <m:t>𝜎</m:t>
                    </m:r>
                    <m:r>
                      <a:rPr lang="en-US" b="0" i="1" smtClean="0">
                        <a:latin typeface="Cambria Math"/>
                      </a:rPr>
                      <m:t>=50)</m:t>
                    </m:r>
                  </m:oMath>
                </a14:m>
                <a:r>
                  <a:rPr lang="en-US" dirty="0"/>
                  <a:t>. Find:</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&gt;362</m:t>
                        </m:r>
                      </m:e>
                    </m:d>
                  </m:oMath>
                </a14:m>
                <a:endParaRPr lang="en-US" b="0"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&lt;250</m:t>
                        </m:r>
                      </m:e>
                    </m:d>
                  </m:oMath>
                </a14:m>
                <a:endParaRPr lang="en-US" b="0" dirty="0"/>
              </a:p>
              <a:p>
                <a:pPr lvl="1"/>
                <a14:m>
                  <m:oMath xmlns:m="http://schemas.openxmlformats.org/officeDocument/2006/math">
                    <m:r>
                      <a:rPr lang="en-US" b="0" i="1" smtClean="0">
                        <a:latin typeface="Cambria Math"/>
                      </a:rPr>
                      <m:t>𝑃</m:t>
                    </m:r>
                    <m:r>
                      <a:rPr lang="en-US" b="0" i="1" smtClean="0">
                        <a:latin typeface="Cambria Math"/>
                      </a:rPr>
                      <m:t>(250&lt;</m:t>
                    </m:r>
                    <m:r>
                      <a:rPr lang="en-US" b="0" i="1" smtClean="0">
                        <a:latin typeface="Cambria Math"/>
                      </a:rPr>
                      <m:t>𝑋</m:t>
                    </m:r>
                    <m:r>
                      <a:rPr lang="en-US" b="0" i="1" smtClean="0">
                        <a:latin typeface="Cambria Math"/>
                      </a:rPr>
                      <m:t>&lt;350)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2312686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a:bodyPr>
              <a:lstStyle/>
              <a:p>
                <a:r>
                  <a:rPr lang="en-US" dirty="0"/>
                  <a:t>We can also go the other way. The book calls this “using the normal curve in reverse.” That is, we can answer the question: given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m:t>
                        </m:r>
                        <m:r>
                          <a:rPr lang="en-US" b="0" i="1" smtClean="0">
                            <a:latin typeface="Cambria Math"/>
                          </a:rPr>
                          <m:t>𝑧</m:t>
                        </m:r>
                      </m:e>
                    </m:d>
                  </m:oMath>
                </a14:m>
                <a:r>
                  <a:rPr lang="en-US" dirty="0"/>
                  <a:t>, find </a:t>
                </a:r>
                <a14:m>
                  <m:oMath xmlns:m="http://schemas.openxmlformats.org/officeDocument/2006/math">
                    <m:r>
                      <a:rPr lang="en-US" b="0" i="1" smtClean="0">
                        <a:latin typeface="Cambria Math"/>
                      </a:rPr>
                      <m:t>𝑧</m:t>
                    </m:r>
                  </m:oMath>
                </a14:m>
                <a:r>
                  <a:rPr lang="en-US" dirty="0"/>
                  <a:t>. Using the normal curve (and some other distributions that we will introduce in chapter 8) in reverse will be an important part of doing inference in chapters 9 and 10.</a:t>
                </a: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327" t="-1001" r="-408"/>
                </a:stretch>
              </a:blipFill>
            </p:spPr>
            <p:txBody>
              <a:bodyPr/>
              <a:lstStyle/>
              <a:p>
                <a:r>
                  <a:rPr lang="en-US">
                    <a:noFill/>
                  </a:rPr>
                  <a:t> </a:t>
                </a:r>
              </a:p>
            </p:txBody>
          </p:sp>
        </mc:Fallback>
      </mc:AlternateContent>
    </p:spTree>
    <p:extLst>
      <p:ext uri="{BB962C8B-B14F-4D97-AF65-F5344CB8AC3E}">
        <p14:creationId xmlns:p14="http://schemas.microsoft.com/office/powerpoint/2010/main" val="2355447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Example: Find </a:t>
                </a:r>
                <a14:m>
                  <m:oMath xmlns:m="http://schemas.openxmlformats.org/officeDocument/2006/math">
                    <m:r>
                      <a:rPr lang="en-US" b="0" i="1" smtClean="0">
                        <a:latin typeface="Cambria Math"/>
                      </a:rPr>
                      <m:t>𝑧</m:t>
                    </m:r>
                  </m:oMath>
                </a14:m>
                <a:r>
                  <a:rPr lang="en-US" dirty="0"/>
                  <a:t> such that:</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&gt;</m:t>
                        </m:r>
                        <m:r>
                          <a:rPr lang="en-US" b="0" i="1" smtClean="0">
                            <a:latin typeface="Cambria Math"/>
                          </a:rPr>
                          <m:t>𝑧</m:t>
                        </m:r>
                      </m:e>
                    </m:d>
                    <m:r>
                      <a:rPr lang="en-US" b="0" i="1" smtClean="0">
                        <a:latin typeface="Cambria Math"/>
                      </a:rPr>
                      <m:t>=0.0322</m:t>
                    </m:r>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m:t>
                        </m:r>
                        <m:r>
                          <a:rPr lang="en-US" b="0" i="1" smtClean="0">
                            <a:latin typeface="Cambria Math"/>
                          </a:rPr>
                          <m:t>𝑧</m:t>
                        </m:r>
                      </m:e>
                    </m:d>
                    <m:r>
                      <a:rPr lang="en-US" b="0" i="1" smtClean="0">
                        <a:latin typeface="Cambria Math"/>
                      </a:rPr>
                      <m:t>=0.3707</m:t>
                    </m:r>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m:t>
                        </m:r>
                        <m:r>
                          <a:rPr lang="en-US" b="0" i="1" smtClean="0">
                            <a:latin typeface="Cambria Math"/>
                          </a:rPr>
                          <m:t>𝑧</m:t>
                        </m:r>
                        <m:r>
                          <a:rPr lang="en-US" b="0" i="1" smtClean="0">
                            <a:latin typeface="Cambria Math"/>
                          </a:rPr>
                          <m:t>&lt;</m:t>
                        </m:r>
                        <m:r>
                          <a:rPr lang="en-US" b="0" i="1" smtClean="0">
                            <a:latin typeface="Cambria Math"/>
                          </a:rPr>
                          <m:t>𝑍</m:t>
                        </m:r>
                        <m:r>
                          <a:rPr lang="en-US" b="0" i="1" smtClean="0">
                            <a:latin typeface="Cambria Math"/>
                          </a:rPr>
                          <m:t>&lt;</m:t>
                        </m:r>
                        <m:r>
                          <a:rPr lang="en-US" b="0" i="1" smtClean="0">
                            <a:latin typeface="Cambria Math"/>
                          </a:rPr>
                          <m:t>𝑧</m:t>
                        </m:r>
                      </m:e>
                    </m:d>
                    <m:r>
                      <a:rPr lang="en-US" b="0" i="1" smtClean="0">
                        <a:latin typeface="Cambria Math"/>
                      </a:rPr>
                      <m:t>=0.90</m:t>
                    </m:r>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0&lt;</m:t>
                        </m:r>
                        <m:r>
                          <a:rPr lang="en-US" b="0" i="1" smtClean="0">
                            <a:latin typeface="Cambria Math"/>
                          </a:rPr>
                          <m:t>𝑍</m:t>
                        </m:r>
                        <m:r>
                          <a:rPr lang="en-US" b="0" i="1" smtClean="0">
                            <a:latin typeface="Cambria Math"/>
                          </a:rPr>
                          <m:t>&lt;</m:t>
                        </m:r>
                        <m:r>
                          <a:rPr lang="en-US" b="0" i="1" smtClean="0">
                            <a:latin typeface="Cambria Math"/>
                          </a:rPr>
                          <m:t>𝑧</m:t>
                        </m:r>
                      </m:e>
                    </m:d>
                    <m:r>
                      <a:rPr lang="en-US" b="0" i="1" smtClean="0">
                        <a:latin typeface="Cambria Math"/>
                      </a:rPr>
                      <m:t>=0.3577</m:t>
                    </m:r>
                  </m:oMath>
                </a14:m>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2129782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Just like we transformed a normal random variable </a:t>
                </a:r>
                <a14:m>
                  <m:oMath xmlns:m="http://schemas.openxmlformats.org/officeDocument/2006/math">
                    <m:r>
                      <a:rPr lang="en-US" b="0" i="1" smtClean="0">
                        <a:latin typeface="Cambria Math"/>
                      </a:rPr>
                      <m:t>𝑋</m:t>
                    </m:r>
                  </m:oMath>
                </a14:m>
                <a:r>
                  <a:rPr lang="en-US" dirty="0"/>
                  <a:t> in a standard normal random variable in order to find the probability, we can do the reverse of that to find </a:t>
                </a:r>
                <a14:m>
                  <m:oMath xmlns:m="http://schemas.openxmlformats.org/officeDocument/2006/math">
                    <m:r>
                      <a:rPr lang="en-US" b="0" i="1" smtClean="0">
                        <a:latin typeface="Cambria Math"/>
                      </a:rPr>
                      <m:t>𝑥</m:t>
                    </m:r>
                  </m:oMath>
                </a14:m>
                <a:r>
                  <a:rPr lang="en-US" dirty="0"/>
                  <a:t> values.</a:t>
                </a:r>
              </a:p>
              <a:p>
                <a:endParaRPr lang="en-US" dirty="0"/>
              </a:p>
              <a:p>
                <a:r>
                  <a:rPr lang="en-US" dirty="0"/>
                  <a:t>The key is to notice that </a:t>
                </a:r>
                <a14:m>
                  <m:oMath xmlns:m="http://schemas.openxmlformats.org/officeDocument/2006/math">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𝑋</m:t>
                        </m:r>
                        <m:r>
                          <a:rPr lang="en-US" b="0" i="1" smtClean="0">
                            <a:latin typeface="Cambria Math"/>
                          </a:rPr>
                          <m:t>−</m:t>
                        </m:r>
                        <m:r>
                          <a:rPr lang="en-US" b="0" i="1" smtClean="0">
                            <a:latin typeface="Cambria Math"/>
                          </a:rPr>
                          <m:t>𝜇</m:t>
                        </m:r>
                      </m:num>
                      <m:den>
                        <m:r>
                          <a:rPr lang="en-US" b="0" i="1" smtClean="0">
                            <a:latin typeface="Cambria Math"/>
                          </a:rPr>
                          <m:t>𝜎</m:t>
                        </m:r>
                      </m:den>
                    </m:f>
                    <m:r>
                      <a:rPr lang="en-US" b="0" i="1" smtClean="0">
                        <a:latin typeface="Cambria Math"/>
                      </a:rPr>
                      <m:t>⇒</m:t>
                    </m:r>
                    <m:r>
                      <a:rPr lang="en-US" b="0" i="1" smtClean="0">
                        <a:latin typeface="Cambria Math"/>
                      </a:rPr>
                      <m:t>𝑋</m:t>
                    </m:r>
                    <m:r>
                      <a:rPr lang="en-US" b="0" i="1" smtClean="0">
                        <a:latin typeface="Cambria Math"/>
                      </a:rPr>
                      <m:t>=</m:t>
                    </m:r>
                    <m:r>
                      <a:rPr lang="en-US" b="0" i="1" smtClean="0">
                        <a:latin typeface="Cambria Math"/>
                      </a:rPr>
                      <m:t>𝜎</m:t>
                    </m:r>
                    <m:r>
                      <a:rPr lang="en-US" b="0" i="1" smtClean="0">
                        <a:latin typeface="Cambria Math"/>
                      </a:rPr>
                      <m:t>𝑍</m:t>
                    </m:r>
                    <m:r>
                      <a:rPr lang="en-US" b="0" i="1" smtClean="0">
                        <a:latin typeface="Cambria Math"/>
                      </a:rPr>
                      <m:t>+</m:t>
                    </m:r>
                    <m:r>
                      <a:rPr lang="en-US" b="0" i="1" smtClean="0">
                        <a:latin typeface="Cambria Math"/>
                      </a:rPr>
                      <m:t>𝜇</m:t>
                    </m:r>
                  </m:oMath>
                </a14:m>
                <a:r>
                  <a:rPr lang="en-US" dirty="0"/>
                  <a:t>. The idea is that we first find a </a:t>
                </a:r>
                <a14:m>
                  <m:oMath xmlns:m="http://schemas.openxmlformats.org/officeDocument/2006/math">
                    <m:r>
                      <a:rPr lang="en-US" b="0" i="1" smtClean="0">
                        <a:latin typeface="Cambria Math"/>
                      </a:rPr>
                      <m:t>𝑧</m:t>
                    </m:r>
                  </m:oMath>
                </a14:m>
                <a:r>
                  <a:rPr lang="en-US" dirty="0"/>
                  <a:t> value and then use this formula to transform it back into an </a:t>
                </a:r>
                <a14:m>
                  <m:oMath xmlns:m="http://schemas.openxmlformats.org/officeDocument/2006/math">
                    <m:r>
                      <a:rPr lang="en-US" b="0" i="1" smtClean="0">
                        <a:latin typeface="Cambria Math"/>
                      </a:rPr>
                      <m:t>𝑥</m:t>
                    </m:r>
                  </m:oMath>
                </a14:m>
                <a:r>
                  <a:rPr lang="en-US" dirty="0"/>
                  <a:t> value.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r="-1143"/>
                </a:stretch>
              </a:blipFill>
            </p:spPr>
            <p:txBody>
              <a:bodyPr/>
              <a:lstStyle/>
              <a:p>
                <a:r>
                  <a:rPr lang="en-US">
                    <a:noFill/>
                  </a:rPr>
                  <a:t> </a:t>
                </a:r>
              </a:p>
            </p:txBody>
          </p:sp>
        </mc:Fallback>
      </mc:AlternateContent>
    </p:spTree>
    <p:extLst>
      <p:ext uri="{BB962C8B-B14F-4D97-AF65-F5344CB8AC3E}">
        <p14:creationId xmlns:p14="http://schemas.microsoft.com/office/powerpoint/2010/main" val="863942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6.3 – Area under the Normal Curve</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Exercise: Assume </a:t>
                </a:r>
                <a14:m>
                  <m:oMath xmlns:m="http://schemas.openxmlformats.org/officeDocument/2006/math">
                    <m:r>
                      <a:rPr lang="en-US" b="0" i="1" smtClean="0">
                        <a:latin typeface="Cambria Math"/>
                      </a:rPr>
                      <m:t>𝑋</m:t>
                    </m:r>
                    <m:r>
                      <a:rPr lang="en-US" b="0" i="1" smtClean="0">
                        <a:latin typeface="Cambria Math"/>
                      </a:rPr>
                      <m:t>~</m:t>
                    </m:r>
                    <m:r>
                      <a:rPr lang="en-US" b="0" i="1" smtClean="0">
                        <a:latin typeface="Cambria Math"/>
                      </a:rPr>
                      <m:t>𝑁</m:t>
                    </m:r>
                    <m:r>
                      <a:rPr lang="en-US" b="0" i="1" smtClean="0">
                        <a:latin typeface="Cambria Math"/>
                      </a:rPr>
                      <m:t>(</m:t>
                    </m:r>
                    <m:r>
                      <a:rPr lang="en-US" b="0" i="1" smtClean="0">
                        <a:latin typeface="Cambria Math"/>
                      </a:rPr>
                      <m:t>𝜇</m:t>
                    </m:r>
                    <m:r>
                      <a:rPr lang="en-US" b="0" i="1" smtClean="0">
                        <a:latin typeface="Cambria Math"/>
                      </a:rPr>
                      <m:t>=30, </m:t>
                    </m:r>
                    <m:r>
                      <a:rPr lang="en-US" b="0" i="1" smtClean="0">
                        <a:latin typeface="Cambria Math"/>
                      </a:rPr>
                      <m:t>𝜎</m:t>
                    </m:r>
                    <m:r>
                      <a:rPr lang="en-US" b="0" i="1" smtClean="0">
                        <a:latin typeface="Cambria Math"/>
                      </a:rPr>
                      <m:t>=6)</m:t>
                    </m:r>
                  </m:oMath>
                </a14:m>
                <a:r>
                  <a:rPr lang="en-US" dirty="0"/>
                  <a:t>. Find </a:t>
                </a:r>
                <a14:m>
                  <m:oMath xmlns:m="http://schemas.openxmlformats.org/officeDocument/2006/math">
                    <m:r>
                      <a:rPr lang="en-US" b="0" i="1" smtClean="0">
                        <a:latin typeface="Cambria Math"/>
                      </a:rPr>
                      <m:t>𝑥</m:t>
                    </m:r>
                  </m:oMath>
                </a14:m>
                <a:r>
                  <a:rPr lang="en-US" dirty="0"/>
                  <a:t> such that:</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&lt;</m:t>
                        </m:r>
                        <m:r>
                          <a:rPr lang="en-US" b="0" i="1" smtClean="0">
                            <a:latin typeface="Cambria Math"/>
                          </a:rPr>
                          <m:t>𝑥</m:t>
                        </m:r>
                      </m:e>
                    </m:d>
                    <m:r>
                      <a:rPr lang="en-US" b="0" i="1" smtClean="0">
                        <a:latin typeface="Cambria Math"/>
                      </a:rPr>
                      <m:t>=0.80</m:t>
                    </m:r>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&gt;</m:t>
                        </m:r>
                        <m:r>
                          <a:rPr lang="en-US" b="0" i="1" smtClean="0">
                            <a:latin typeface="Cambria Math"/>
                          </a:rPr>
                          <m:t>𝑥</m:t>
                        </m:r>
                      </m:e>
                    </m:d>
                    <m:r>
                      <a:rPr lang="en-US" b="0" i="1" smtClean="0">
                        <a:latin typeface="Cambria Math"/>
                      </a:rPr>
                      <m:t>=0.15</m:t>
                    </m:r>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&lt;</m:t>
                        </m:r>
                        <m:r>
                          <a:rPr lang="en-US" b="0" i="1" smtClean="0">
                            <a:latin typeface="Cambria Math"/>
                          </a:rPr>
                          <m:t>𝑋</m:t>
                        </m:r>
                        <m:r>
                          <a:rPr lang="en-US" b="0" i="1" smtClean="0">
                            <a:latin typeface="Cambria Math"/>
                          </a:rPr>
                          <m:t>&lt;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e>
                    </m:d>
                    <m:r>
                      <a:rPr lang="en-US" b="0" i="1" smtClean="0">
                        <a:latin typeface="Cambria Math"/>
                      </a:rPr>
                      <m:t>=0.75</m:t>
                    </m:r>
                  </m:oMath>
                </a14:m>
                <a:endParaRPr lang="en-US" dirty="0"/>
              </a:p>
              <a:p>
                <a:pPr lvl="1"/>
                <a:endParaRPr lang="en-US" dirty="0"/>
              </a:p>
              <a:p>
                <a:pPr lvl="1"/>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2998746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6.4 – Applications of the Normal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In 6.4, we don’t introduce any new ideas. Instead, we apply what we learned in 6.2 and 6.3 to some practical problems.</a:t>
                </a:r>
              </a:p>
              <a:p>
                <a:endParaRPr lang="en-US" dirty="0"/>
              </a:p>
              <a:p>
                <a:r>
                  <a:rPr lang="en-US" dirty="0"/>
                  <a:t>The main thing you need to be able to do here is read through a problem and find:</a:t>
                </a:r>
              </a:p>
              <a:p>
                <a:pPr lvl="1"/>
                <a:r>
                  <a:rPr lang="en-US" dirty="0"/>
                  <a:t>The mean</a:t>
                </a:r>
              </a:p>
              <a:p>
                <a:pPr lvl="1"/>
                <a:r>
                  <a:rPr lang="en-US" dirty="0"/>
                  <a:t>The variance/standard deviation</a:t>
                </a:r>
              </a:p>
              <a:p>
                <a:pPr lvl="1"/>
                <a:r>
                  <a:rPr lang="en-US" dirty="0"/>
                  <a:t>The probability they are interested in or the </a:t>
                </a:r>
                <a14:m>
                  <m:oMath xmlns:m="http://schemas.openxmlformats.org/officeDocument/2006/math">
                    <m:r>
                      <a:rPr lang="en-US" i="1">
                        <a:latin typeface="Cambria Math"/>
                      </a:rPr>
                      <m:t>𝑧</m:t>
                    </m:r>
                  </m:oMath>
                </a14:m>
                <a:r>
                  <a:rPr lang="en-US" dirty="0"/>
                  <a:t> or </a:t>
                </a:r>
                <a14:m>
                  <m:oMath xmlns:m="http://schemas.openxmlformats.org/officeDocument/2006/math">
                    <m:r>
                      <a:rPr lang="en-US" i="1">
                        <a:latin typeface="Cambria Math"/>
                      </a:rPr>
                      <m:t>𝑥</m:t>
                    </m:r>
                  </m:oMath>
                </a14:m>
                <a:r>
                  <a:rPr lang="en-US" dirty="0"/>
                  <a:t> value they want.</a:t>
                </a:r>
              </a:p>
              <a:p>
                <a:endParaRPr lang="en-US" dirty="0"/>
              </a:p>
              <a:p>
                <a:r>
                  <a:rPr lang="en-US" dirty="0"/>
                  <a:t>We’ll do a few examples here to make sure you get the idea.</a:t>
                </a:r>
              </a:p>
              <a:p>
                <a:pPr lvl="1"/>
                <a:endParaRPr lang="en-US" dirty="0"/>
              </a:p>
              <a:p>
                <a:pPr lvl="1"/>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752" r="-1796"/>
                </a:stretch>
              </a:blipFill>
            </p:spPr>
            <p:txBody>
              <a:bodyPr/>
              <a:lstStyle/>
              <a:p>
                <a:r>
                  <a:rPr lang="en-US">
                    <a:noFill/>
                  </a:rPr>
                  <a:t> </a:t>
                </a:r>
              </a:p>
            </p:txBody>
          </p:sp>
        </mc:Fallback>
      </mc:AlternateContent>
    </p:spTree>
    <p:extLst>
      <p:ext uri="{BB962C8B-B14F-4D97-AF65-F5344CB8AC3E}">
        <p14:creationId xmlns:p14="http://schemas.microsoft.com/office/powerpoint/2010/main" val="2458916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6.4 – Applications of the Normal Distribution</a:t>
            </a:r>
          </a:p>
        </p:txBody>
      </p:sp>
      <p:sp>
        <p:nvSpPr>
          <p:cNvPr id="3" name="Content Placeholder 2"/>
          <p:cNvSpPr>
            <a:spLocks noGrp="1"/>
          </p:cNvSpPr>
          <p:nvPr>
            <p:ph sz="quarter" idx="1"/>
          </p:nvPr>
        </p:nvSpPr>
        <p:spPr/>
        <p:txBody>
          <a:bodyPr>
            <a:normAutofit/>
          </a:bodyPr>
          <a:lstStyle/>
          <a:p>
            <a:r>
              <a:rPr lang="en-US" dirty="0"/>
              <a:t>Example: A certain type of storage battery lasts, on average, 3 years with a standard deviation of 0.5 years. Assuming that the battery life is normally distributed, find the probability that a given battery will last less than 2.3 years.</a:t>
            </a:r>
          </a:p>
          <a:p>
            <a:pPr lvl="1"/>
            <a:endParaRPr lang="en-US" dirty="0"/>
          </a:p>
          <a:p>
            <a:pPr marL="0" indent="0">
              <a:buNone/>
            </a:pPr>
            <a:endParaRPr lang="en-US" dirty="0"/>
          </a:p>
        </p:txBody>
      </p:sp>
    </p:spTree>
    <p:extLst>
      <p:ext uri="{BB962C8B-B14F-4D97-AF65-F5344CB8AC3E}">
        <p14:creationId xmlns:p14="http://schemas.microsoft.com/office/powerpoint/2010/main" val="2887967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6.4 – Applications of the Normal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Here we have </a:t>
                </a:r>
                <a14:m>
                  <m:oMath xmlns:m="http://schemas.openxmlformats.org/officeDocument/2006/math">
                    <m:r>
                      <a:rPr lang="en-US" b="0" i="1" smtClean="0">
                        <a:latin typeface="Cambria Math"/>
                      </a:rPr>
                      <m:t>𝑋</m:t>
                    </m:r>
                    <m:r>
                      <a:rPr lang="en-US" b="0" i="1" smtClean="0">
                        <a:latin typeface="Cambria Math"/>
                      </a:rPr>
                      <m:t>~</m:t>
                    </m:r>
                    <m:r>
                      <a:rPr lang="en-US" b="0" i="1" smtClean="0">
                        <a:latin typeface="Cambria Math"/>
                      </a:rPr>
                      <m:t>𝑁</m:t>
                    </m:r>
                    <m:d>
                      <m:dPr>
                        <m:ctrlPr>
                          <a:rPr lang="en-US" b="0" i="1" smtClean="0">
                            <a:latin typeface="Cambria Math" panose="02040503050406030204" pitchFamily="18" charset="0"/>
                          </a:rPr>
                        </m:ctrlPr>
                      </m:dPr>
                      <m:e>
                        <m:r>
                          <a:rPr lang="en-US" b="0" i="1" smtClean="0">
                            <a:latin typeface="Cambria Math"/>
                          </a:rPr>
                          <m:t>𝜇</m:t>
                        </m:r>
                        <m:r>
                          <a:rPr lang="en-US" b="0" i="1" smtClean="0">
                            <a:latin typeface="Cambria Math"/>
                          </a:rPr>
                          <m:t>=3, </m:t>
                        </m:r>
                        <m:r>
                          <a:rPr lang="en-US" b="0" i="1" smtClean="0">
                            <a:latin typeface="Cambria Math"/>
                          </a:rPr>
                          <m:t>𝜎</m:t>
                        </m:r>
                        <m:r>
                          <a:rPr lang="en-US" b="0" i="1" smtClean="0">
                            <a:latin typeface="Cambria Math"/>
                          </a:rPr>
                          <m:t>=0.5</m:t>
                        </m:r>
                      </m:e>
                    </m:d>
                  </m:oMath>
                </a14:m>
                <a:r>
                  <a:rPr lang="en-US" dirty="0"/>
                  <a:t>. To find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𝑋</m:t>
                    </m:r>
                    <m:r>
                      <a:rPr lang="en-US" b="0" i="1" smtClean="0">
                        <a:latin typeface="Cambria Math"/>
                      </a:rPr>
                      <m:t>&lt;2.3)</m:t>
                    </m:r>
                  </m:oMath>
                </a14:m>
                <a:r>
                  <a:rPr lang="en-US" dirty="0"/>
                  <a:t>, we use a standard normal distribution. That is: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&lt;2.3</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m:t>
                          </m:r>
                          <m:f>
                            <m:fPr>
                              <m:ctrlPr>
                                <a:rPr lang="en-US" b="0" i="1" smtClean="0">
                                  <a:latin typeface="Cambria Math" panose="02040503050406030204" pitchFamily="18" charset="0"/>
                                </a:rPr>
                              </m:ctrlPr>
                            </m:fPr>
                            <m:num>
                              <m:r>
                                <a:rPr lang="en-US" b="0" i="1" smtClean="0">
                                  <a:latin typeface="Cambria Math"/>
                                </a:rPr>
                                <m:t>2.3−3</m:t>
                              </m:r>
                            </m:num>
                            <m:den>
                              <m:r>
                                <a:rPr lang="en-US" b="0" i="1" smtClean="0">
                                  <a:latin typeface="Cambria Math"/>
                                </a:rPr>
                                <m:t>0.5</m:t>
                              </m:r>
                            </m:den>
                          </m:f>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&lt;−1.4</m:t>
                          </m:r>
                        </m:e>
                      </m:d>
                      <m:r>
                        <a:rPr lang="en-US" b="0" i="1" smtClean="0">
                          <a:latin typeface="Cambria Math"/>
                        </a:rPr>
                        <m:t>=0.081</m:t>
                      </m:r>
                    </m:oMath>
                  </m:oMathPara>
                </a14:m>
                <a:endParaRPr lang="en-US" dirty="0"/>
              </a:p>
              <a:p>
                <a:pPr lvl="1"/>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3857467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6.4 – Applications of the Normal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Example: In a certain manufacturing process, the diameter of a ball bearing is an important measurement. A buyer sets specifications for the diameter to be </a:t>
                </a:r>
                <a14:m>
                  <m:oMath xmlns:m="http://schemas.openxmlformats.org/officeDocument/2006/math">
                    <m:r>
                      <a:rPr lang="en-US" b="0" i="1" smtClean="0">
                        <a:latin typeface="Cambria Math"/>
                      </a:rPr>
                      <m:t>30±0.01</m:t>
                    </m:r>
                  </m:oMath>
                </a14:m>
                <a:r>
                  <a:rPr lang="en-US" dirty="0"/>
                  <a:t> cm. If a particular ball bearing falls outside of this range, it will be scrapped. Assume the ball bearing diameter is known to be normally distributed with mean </a:t>
                </a:r>
                <a14:m>
                  <m:oMath xmlns:m="http://schemas.openxmlformats.org/officeDocument/2006/math">
                    <m:r>
                      <a:rPr lang="en-US" b="0" i="1" smtClean="0">
                        <a:latin typeface="Cambria Math"/>
                      </a:rPr>
                      <m:t>30</m:t>
                    </m:r>
                  </m:oMath>
                </a14:m>
                <a:r>
                  <a:rPr lang="en-US" dirty="0"/>
                  <a:t> and standard deviation </a:t>
                </a:r>
                <a14:m>
                  <m:oMath xmlns:m="http://schemas.openxmlformats.org/officeDocument/2006/math">
                    <m:r>
                      <a:rPr lang="en-US" b="0" i="1" smtClean="0">
                        <a:latin typeface="Cambria Math"/>
                      </a:rPr>
                      <m:t>0.005</m:t>
                    </m:r>
                  </m:oMath>
                </a14:m>
                <a:r>
                  <a:rPr lang="en-US" dirty="0"/>
                  <a:t>. On average, how many ball bearings will be scrapped?</a:t>
                </a:r>
              </a:p>
              <a:p>
                <a:pPr lvl="1"/>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r="-2041"/>
                </a:stretch>
              </a:blipFill>
            </p:spPr>
            <p:txBody>
              <a:bodyPr/>
              <a:lstStyle/>
              <a:p>
                <a:r>
                  <a:rPr lang="en-US">
                    <a:noFill/>
                  </a:rPr>
                  <a:t> </a:t>
                </a:r>
              </a:p>
            </p:txBody>
          </p:sp>
        </mc:Fallback>
      </mc:AlternateContent>
    </p:spTree>
    <p:extLst>
      <p:ext uri="{BB962C8B-B14F-4D97-AF65-F5344CB8AC3E}">
        <p14:creationId xmlns:p14="http://schemas.microsoft.com/office/powerpoint/2010/main" val="2535704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6.4 – Applications of the Normal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To answer this question, we need to know the probability that the diameter of a particular ball bearing is outside of the acceptable range. The probability that it will be </a:t>
                </a:r>
                <a:r>
                  <a:rPr lang="en-US" i="1" dirty="0"/>
                  <a:t>inside </a:t>
                </a:r>
                <a:r>
                  <a:rPr lang="en-US" dirty="0"/>
                  <a:t>the range is </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2.99&lt;</m:t>
                          </m:r>
                          <m:r>
                            <a:rPr lang="en-US" b="0" i="1" smtClean="0">
                              <a:latin typeface="Cambria Math"/>
                            </a:rPr>
                            <m:t>𝑋</m:t>
                          </m:r>
                          <m:r>
                            <a:rPr lang="en-US" b="0" i="1" smtClean="0">
                              <a:latin typeface="Cambria Math"/>
                            </a:rPr>
                            <m:t>&lt;3.01</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−2&lt;</m:t>
                          </m:r>
                          <m:r>
                            <a:rPr lang="en-US" b="0" i="1" smtClean="0">
                              <a:latin typeface="Cambria Math"/>
                            </a:rPr>
                            <m:t>𝑍</m:t>
                          </m:r>
                          <m:r>
                            <a:rPr lang="en-US" b="0" i="1" smtClean="0">
                              <a:latin typeface="Cambria Math"/>
                            </a:rPr>
                            <m:t>&lt;2</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&lt;2</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&lt;−2</m:t>
                          </m:r>
                        </m:e>
                      </m:d>
                      <m:r>
                        <a:rPr lang="en-US" b="0" i="1" smtClean="0">
                          <a:latin typeface="Cambria Math"/>
                        </a:rPr>
                        <m:t>=0.9544</m:t>
                      </m:r>
                    </m:oMath>
                  </m:oMathPara>
                </a14:m>
                <a:endParaRPr lang="en-US" dirty="0"/>
              </a:p>
              <a:p>
                <a:pPr marL="0" indent="0">
                  <a:buNone/>
                </a:pPr>
                <a:endParaRPr lang="en-US" dirty="0"/>
              </a:p>
              <a:p>
                <a:r>
                  <a:rPr lang="en-US" dirty="0"/>
                  <a:t>So the probability that the diameter is outside of the acceptable range is </a:t>
                </a:r>
                <a14:m>
                  <m:oMath xmlns:m="http://schemas.openxmlformats.org/officeDocument/2006/math">
                    <m:r>
                      <a:rPr lang="en-US" b="0" i="1" smtClean="0">
                        <a:latin typeface="Cambria Math"/>
                      </a:rPr>
                      <m:t>1−0.9544=0.0456</m:t>
                    </m:r>
                  </m:oMath>
                </a14:m>
                <a:r>
                  <a:rPr lang="en-US" dirty="0"/>
                  <a:t>.</a:t>
                </a:r>
              </a:p>
              <a:p>
                <a:r>
                  <a:rPr lang="en-US" dirty="0"/>
                  <a:t>We can expect about 4.56% of the ball bearings to be scrapped.</a:t>
                </a:r>
              </a:p>
              <a:p>
                <a:pPr lvl="1"/>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r="-1796" b="-876"/>
                </a:stretch>
              </a:blipFill>
            </p:spPr>
            <p:txBody>
              <a:bodyPr/>
              <a:lstStyle/>
              <a:p>
                <a:r>
                  <a:rPr lang="en-US">
                    <a:noFill/>
                  </a:rPr>
                  <a:t> </a:t>
                </a:r>
              </a:p>
            </p:txBody>
          </p:sp>
        </mc:Fallback>
      </mc:AlternateContent>
    </p:spTree>
    <p:extLst>
      <p:ext uri="{BB962C8B-B14F-4D97-AF65-F5344CB8AC3E}">
        <p14:creationId xmlns:p14="http://schemas.microsoft.com/office/powerpoint/2010/main" val="115575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6.4 – Applications of the Normal Distribution</a:t>
            </a:r>
          </a:p>
        </p:txBody>
      </p:sp>
      <p:sp>
        <p:nvSpPr>
          <p:cNvPr id="3" name="Content Placeholder 2"/>
          <p:cNvSpPr>
            <a:spLocks noGrp="1"/>
          </p:cNvSpPr>
          <p:nvPr>
            <p:ph sz="quarter" idx="1"/>
          </p:nvPr>
        </p:nvSpPr>
        <p:spPr/>
        <p:txBody>
          <a:bodyPr>
            <a:normAutofit/>
          </a:bodyPr>
          <a:lstStyle/>
          <a:p>
            <a:r>
              <a:rPr lang="en-US" dirty="0"/>
              <a:t>Example: Suppose the average score on an exam is 74 and the standard deviation is 7. If 12% of the students receive an A and the grades are curved to follow a normal distribution, what is the lowest possible A and the highest possible B?</a:t>
            </a:r>
          </a:p>
          <a:p>
            <a:pPr lvl="1"/>
            <a:endParaRPr lang="en-US" dirty="0"/>
          </a:p>
          <a:p>
            <a:pPr marL="0" indent="0">
              <a:buNone/>
            </a:pPr>
            <a:endParaRPr lang="en-US" dirty="0"/>
          </a:p>
        </p:txBody>
      </p:sp>
    </p:spTree>
    <p:extLst>
      <p:ext uri="{BB962C8B-B14F-4D97-AF65-F5344CB8AC3E}">
        <p14:creationId xmlns:p14="http://schemas.microsoft.com/office/powerpoint/2010/main" val="815561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6.4 – Applications of the Normal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Worded another way, we are trying to find a dividing line between the top 12% of the class and the rest of class. So we start by finding </a:t>
                </a:r>
                <a14:m>
                  <m:oMath xmlns:m="http://schemas.openxmlformats.org/officeDocument/2006/math">
                    <m:r>
                      <a:rPr lang="en-US" b="0" i="1" smtClean="0">
                        <a:latin typeface="Cambria Math"/>
                      </a:rPr>
                      <m:t>𝑧</m:t>
                    </m:r>
                  </m:oMath>
                </a14:m>
                <a:r>
                  <a:rPr lang="en-US" dirty="0"/>
                  <a:t> such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m:t>
                        </m:r>
                        <m:r>
                          <a:rPr lang="en-US" b="0" i="1" smtClean="0">
                            <a:latin typeface="Cambria Math"/>
                          </a:rPr>
                          <m:t>𝑧</m:t>
                        </m:r>
                      </m:e>
                    </m:d>
                    <m:r>
                      <a:rPr lang="en-US" b="0" i="1" smtClean="0">
                        <a:latin typeface="Cambria Math"/>
                      </a:rPr>
                      <m:t>=0.88</m:t>
                    </m:r>
                  </m:oMath>
                </a14:m>
                <a:r>
                  <a:rPr lang="en-US" dirty="0"/>
                  <a:t>. Using table A.3, this value is 1.175. So we calculate: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7</m:t>
                      </m:r>
                      <m:d>
                        <m:dPr>
                          <m:ctrlPr>
                            <a:rPr lang="en-US" b="0" i="1" smtClean="0">
                              <a:latin typeface="Cambria Math" panose="02040503050406030204" pitchFamily="18" charset="0"/>
                            </a:rPr>
                          </m:ctrlPr>
                        </m:dPr>
                        <m:e>
                          <m:r>
                            <a:rPr lang="en-US" b="0" i="1" smtClean="0">
                              <a:latin typeface="Cambria Math"/>
                            </a:rPr>
                            <m:t>1.175</m:t>
                          </m:r>
                        </m:e>
                      </m:d>
                      <m:r>
                        <a:rPr lang="en-US" b="0" i="1" smtClean="0">
                          <a:latin typeface="Cambria Math"/>
                        </a:rPr>
                        <m:t>+74=82.26</m:t>
                      </m:r>
                    </m:oMath>
                  </m:oMathPara>
                </a14:m>
                <a:endParaRPr lang="en-US" dirty="0"/>
              </a:p>
              <a:p>
                <a:endParaRPr lang="en-US" dirty="0"/>
              </a:p>
              <a:p>
                <a:r>
                  <a:rPr lang="en-US" dirty="0"/>
                  <a:t>So the lowest A would be around an 83 and the highest B would be around an 82.</a:t>
                </a:r>
              </a:p>
              <a:p>
                <a:pPr lvl="1"/>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2333135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6.6 – Gamma and Exponential Distributions</a:t>
            </a:r>
          </a:p>
        </p:txBody>
      </p:sp>
      <p:sp>
        <p:nvSpPr>
          <p:cNvPr id="3" name="Content Placeholder 2"/>
          <p:cNvSpPr>
            <a:spLocks noGrp="1"/>
          </p:cNvSpPr>
          <p:nvPr>
            <p:ph sz="quarter" idx="1"/>
          </p:nvPr>
        </p:nvSpPr>
        <p:spPr/>
        <p:txBody>
          <a:bodyPr/>
          <a:lstStyle/>
          <a:p>
            <a:r>
              <a:rPr lang="en-US" dirty="0"/>
              <a:t>While the normal distribution may be the most important, there are a number of other continuous distributions we can look at. We finish chapter 6 by looking at two of them.</a:t>
            </a:r>
          </a:p>
          <a:p>
            <a:endParaRPr lang="en-US" dirty="0"/>
          </a:p>
          <a:p>
            <a:r>
              <a:rPr lang="en-US" dirty="0"/>
              <a:t>The first is the </a:t>
            </a:r>
            <a:r>
              <a:rPr lang="en-US" i="1" dirty="0"/>
              <a:t>gamma distribution</a:t>
            </a:r>
            <a:r>
              <a:rPr lang="en-US" dirty="0"/>
              <a:t>. This has a close relation to the </a:t>
            </a:r>
            <a:r>
              <a:rPr lang="en-US" i="1" dirty="0"/>
              <a:t>gamma function</a:t>
            </a:r>
            <a:r>
              <a:rPr lang="en-US" dirty="0"/>
              <a:t> that you might see in a differential equations or partial differential equations class. </a:t>
            </a:r>
          </a:p>
        </p:txBody>
      </p:sp>
    </p:spTree>
    <p:extLst>
      <p:ext uri="{BB962C8B-B14F-4D97-AF65-F5344CB8AC3E}">
        <p14:creationId xmlns:p14="http://schemas.microsoft.com/office/powerpoint/2010/main" val="2908798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6.6 – Gamma and Exponential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The gamma function is defined as</a:t>
                </a:r>
              </a:p>
              <a:p>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a:rPr>
                        <m:t>Γ</m:t>
                      </m:r>
                      <m:d>
                        <m:dPr>
                          <m:ctrlPr>
                            <a:rPr lang="en-US" b="0" i="1" smtClean="0">
                              <a:latin typeface="Cambria Math" panose="02040503050406030204" pitchFamily="18" charset="0"/>
                            </a:rPr>
                          </m:ctrlPr>
                        </m:dPr>
                        <m:e>
                          <m:r>
                            <a:rPr lang="en-US" b="0" i="1" smtClean="0">
                              <a:latin typeface="Cambria Math"/>
                            </a:rPr>
                            <m:t>𝛼</m:t>
                          </m:r>
                        </m:e>
                      </m:d>
                      <m:r>
                        <a:rPr lang="en-US" b="0" i="1" smtClean="0">
                          <a:latin typeface="Cambria Math"/>
                        </a:rPr>
                        <m:t>=</m:t>
                      </m:r>
                      <m:nary>
                        <m:naryPr>
                          <m:ctrlPr>
                            <a:rPr lang="en-US" b="0" i="1" smtClean="0">
                              <a:latin typeface="Cambria Math" panose="02040503050406030204" pitchFamily="18" charset="0"/>
                            </a:rPr>
                          </m:ctrlPr>
                        </m:naryPr>
                        <m:sub>
                          <m:r>
                            <m:rPr>
                              <m:brk m:alnAt="23"/>
                            </m:rPr>
                            <a:rPr lang="en-US" b="0" i="1" smtClean="0">
                              <a:latin typeface="Cambria Math"/>
                            </a:rPr>
                            <m:t>0</m:t>
                          </m:r>
                        </m:sub>
                        <m:sup>
                          <m:r>
                            <a:rPr lang="en-US" b="0" i="1" smtClean="0">
                              <a:latin typeface="Cambria Math"/>
                            </a:rPr>
                            <m:t>∞</m:t>
                          </m:r>
                        </m:sup>
                        <m:e>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𝛼</m:t>
                              </m:r>
                              <m:r>
                                <a:rPr lang="en-US" b="0" i="1" smtClean="0">
                                  <a:latin typeface="Cambria Math"/>
                                </a:rPr>
                                <m:t>−1</m:t>
                              </m:r>
                            </m:sup>
                          </m:sSup>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r>
                                <a:rPr lang="en-US" b="0" i="1" smtClean="0">
                                  <a:latin typeface="Cambria Math"/>
                                </a:rPr>
                                <m:t>𝑥</m:t>
                              </m:r>
                            </m:sup>
                          </m:sSup>
                          <m:r>
                            <a:rPr lang="en-US" b="0" i="1" smtClean="0">
                              <a:latin typeface="Cambria Math"/>
                            </a:rPr>
                            <m:t>𝑑𝑥</m:t>
                          </m:r>
                        </m:e>
                      </m:nary>
                    </m:oMath>
                  </m:oMathPara>
                </a14:m>
                <a:endParaRPr lang="en-US" dirty="0"/>
              </a:p>
              <a:p>
                <a:endParaRPr lang="en-US" dirty="0"/>
              </a:p>
              <a:p>
                <a:r>
                  <a:rPr lang="en-US" dirty="0"/>
                  <a:t>This function can be thought of as a generalized factorial. This is because of some interesting properties:</a:t>
                </a:r>
              </a:p>
              <a:p>
                <a:pPr lvl="1"/>
                <a14:m>
                  <m:oMath xmlns:m="http://schemas.openxmlformats.org/officeDocument/2006/math">
                    <m:r>
                      <m:rPr>
                        <m:sty m:val="p"/>
                      </m:rPr>
                      <a:rPr lang="en-US" b="0" i="0" smtClean="0">
                        <a:latin typeface="Cambria Math"/>
                      </a:rPr>
                      <m:t>Γ</m:t>
                    </m:r>
                    <m:d>
                      <m:dPr>
                        <m:ctrlPr>
                          <a:rPr lang="en-US" b="0" i="1" smtClean="0">
                            <a:latin typeface="Cambria Math" panose="02040503050406030204" pitchFamily="18" charset="0"/>
                          </a:rPr>
                        </m:ctrlPr>
                      </m:dPr>
                      <m:e>
                        <m:r>
                          <a:rPr lang="en-US" b="0" i="1" smtClean="0">
                            <a:latin typeface="Cambria Math"/>
                          </a:rPr>
                          <m:t>𝑛</m:t>
                        </m:r>
                      </m:e>
                    </m:d>
                    <m:r>
                      <a:rPr lang="en-US" b="0" i="1" smtClean="0">
                        <a:latin typeface="Cambria Math"/>
                      </a:rPr>
                      <m:t>=</m:t>
                    </m:r>
                    <m:d>
                      <m:dPr>
                        <m:ctrlPr>
                          <a:rPr lang="en-US" b="0" i="1" smtClean="0">
                            <a:latin typeface="Cambria Math" panose="02040503050406030204" pitchFamily="18" charset="0"/>
                          </a:rPr>
                        </m:ctrlPr>
                      </m:dPr>
                      <m:e>
                        <m:r>
                          <a:rPr lang="en-US" b="0" i="1" smtClean="0">
                            <a:latin typeface="Cambria Math"/>
                          </a:rPr>
                          <m:t>𝑛</m:t>
                        </m:r>
                        <m:r>
                          <a:rPr lang="en-US" b="0" i="1" smtClean="0">
                            <a:latin typeface="Cambria Math"/>
                          </a:rPr>
                          <m:t>−1</m:t>
                        </m:r>
                      </m:e>
                    </m:d>
                    <m:r>
                      <a:rPr lang="en-US" b="0" i="1" smtClean="0">
                        <a:latin typeface="Cambria Math"/>
                      </a:rPr>
                      <m:t>!</m:t>
                    </m:r>
                  </m:oMath>
                </a14:m>
                <a:r>
                  <a:rPr lang="en-US" dirty="0"/>
                  <a:t> for a positive integer </a:t>
                </a:r>
                <a14:m>
                  <m:oMath xmlns:m="http://schemas.openxmlformats.org/officeDocument/2006/math">
                    <m:r>
                      <a:rPr lang="en-US" b="0" i="1" smtClean="0">
                        <a:latin typeface="Cambria Math"/>
                      </a:rPr>
                      <m:t>𝑛</m:t>
                    </m:r>
                  </m:oMath>
                </a14:m>
                <a:endParaRPr lang="en-US" dirty="0"/>
              </a:p>
              <a:p>
                <a:pPr lvl="1"/>
                <a14:m>
                  <m:oMath xmlns:m="http://schemas.openxmlformats.org/officeDocument/2006/math">
                    <m:r>
                      <m:rPr>
                        <m:sty m:val="p"/>
                      </m:rPr>
                      <a:rPr lang="en-US" b="0" i="0" smtClean="0">
                        <a:latin typeface="Cambria Math"/>
                      </a:rPr>
                      <m:t>Γ</m:t>
                    </m:r>
                    <m:d>
                      <m:dPr>
                        <m:ctrlPr>
                          <a:rPr lang="en-US" b="0" i="1" smtClean="0">
                            <a:latin typeface="Cambria Math" panose="02040503050406030204" pitchFamily="18" charset="0"/>
                          </a:rPr>
                        </m:ctrlPr>
                      </m:dPr>
                      <m:e>
                        <m:r>
                          <a:rPr lang="en-US" b="0" i="1" smtClean="0">
                            <a:latin typeface="Cambria Math"/>
                          </a:rPr>
                          <m:t>1</m:t>
                        </m:r>
                      </m:e>
                    </m:d>
                    <m:r>
                      <a:rPr lang="en-US" b="0" i="1" smtClean="0">
                        <a:latin typeface="Cambria Math"/>
                      </a:rPr>
                      <m:t>=1</m:t>
                    </m:r>
                  </m:oMath>
                </a14:m>
                <a:endParaRPr lang="en-US" dirty="0"/>
              </a:p>
              <a:p>
                <a:pPr lvl="1"/>
                <a14:m>
                  <m:oMath xmlns:m="http://schemas.openxmlformats.org/officeDocument/2006/math">
                    <m:r>
                      <m:rPr>
                        <m:sty m:val="p"/>
                      </m:rPr>
                      <a:rPr lang="en-US" b="0" i="0" smtClean="0">
                        <a:latin typeface="Cambria Math"/>
                      </a:rPr>
                      <m:t>Γ</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e>
                    </m:d>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𝜋</m:t>
                        </m:r>
                      </m:e>
                    </m:rad>
                  </m:oMath>
                </a14:m>
                <a:endParaRPr lang="en-US" b="0" dirty="0"/>
              </a:p>
              <a:p>
                <a:pPr lvl="1"/>
                <a14:m>
                  <m:oMath xmlns:m="http://schemas.openxmlformats.org/officeDocument/2006/math">
                    <m:r>
                      <m:rPr>
                        <m:sty m:val="p"/>
                      </m:rPr>
                      <a:rPr lang="en-US" b="0" i="0" smtClean="0">
                        <a:latin typeface="Cambria Math"/>
                      </a:rPr>
                      <m:t>Γ</m:t>
                    </m:r>
                    <m:d>
                      <m:dPr>
                        <m:ctrlPr>
                          <a:rPr lang="en-US" b="0" i="1" smtClean="0">
                            <a:latin typeface="Cambria Math" panose="02040503050406030204" pitchFamily="18" charset="0"/>
                          </a:rPr>
                        </m:ctrlPr>
                      </m:dPr>
                      <m:e>
                        <m:r>
                          <a:rPr lang="en-US" b="0" i="1" smtClean="0">
                            <a:latin typeface="Cambria Math"/>
                          </a:rPr>
                          <m:t>𝛼</m:t>
                        </m:r>
                      </m:e>
                    </m:d>
                    <m:r>
                      <a:rPr lang="en-US" b="0" i="1" smtClean="0">
                        <a:latin typeface="Cambria Math"/>
                      </a:rPr>
                      <m:t>=</m:t>
                    </m:r>
                    <m:d>
                      <m:dPr>
                        <m:ctrlPr>
                          <a:rPr lang="en-US" b="0" i="1" smtClean="0">
                            <a:latin typeface="Cambria Math" panose="02040503050406030204" pitchFamily="18" charset="0"/>
                          </a:rPr>
                        </m:ctrlPr>
                      </m:dPr>
                      <m:e>
                        <m:r>
                          <a:rPr lang="en-US" b="0" i="1" smtClean="0">
                            <a:latin typeface="Cambria Math"/>
                          </a:rPr>
                          <m:t>𝛼</m:t>
                        </m:r>
                        <m:r>
                          <a:rPr lang="en-US" b="0" i="1" smtClean="0">
                            <a:latin typeface="Cambria Math"/>
                          </a:rPr>
                          <m:t>−1</m:t>
                        </m:r>
                      </m:e>
                    </m:d>
                    <m:r>
                      <m:rPr>
                        <m:sty m:val="p"/>
                      </m:rPr>
                      <a:rPr lang="en-US" b="0" i="0" smtClean="0">
                        <a:latin typeface="Cambria Math"/>
                      </a:rPr>
                      <m:t>Γ</m:t>
                    </m:r>
                    <m:d>
                      <m:dPr>
                        <m:ctrlPr>
                          <a:rPr lang="en-US" b="0" i="1" smtClean="0">
                            <a:latin typeface="Cambria Math" panose="02040503050406030204" pitchFamily="18" charset="0"/>
                          </a:rPr>
                        </m:ctrlPr>
                      </m:dPr>
                      <m:e>
                        <m:r>
                          <a:rPr lang="en-US" b="0" i="1" smtClean="0">
                            <a:latin typeface="Cambria Math"/>
                          </a:rPr>
                          <m:t>𝛼</m:t>
                        </m:r>
                        <m:r>
                          <a:rPr lang="en-US" b="0" i="1" smtClean="0">
                            <a:latin typeface="Cambria Math"/>
                          </a:rPr>
                          <m:t>−1</m:t>
                        </m:r>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752"/>
                </a:stretch>
              </a:blipFill>
            </p:spPr>
            <p:txBody>
              <a:bodyPr/>
              <a:lstStyle/>
              <a:p>
                <a:r>
                  <a:rPr lang="en-US">
                    <a:noFill/>
                  </a:rPr>
                  <a:t> </a:t>
                </a:r>
              </a:p>
            </p:txBody>
          </p:sp>
        </mc:Fallback>
      </mc:AlternateContent>
    </p:spTree>
    <p:extLst>
      <p:ext uri="{BB962C8B-B14F-4D97-AF65-F5344CB8AC3E}">
        <p14:creationId xmlns:p14="http://schemas.microsoft.com/office/powerpoint/2010/main" val="3367227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6.6 – Gamma and Exponential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The gamma function shows up in the gamma distribution. If </a:t>
                </a:r>
                <a14:m>
                  <m:oMath xmlns:m="http://schemas.openxmlformats.org/officeDocument/2006/math">
                    <m:r>
                      <a:rPr lang="en-US" b="0" i="1" smtClean="0">
                        <a:latin typeface="Cambria Math"/>
                      </a:rPr>
                      <m:t>𝑋</m:t>
                    </m:r>
                  </m:oMath>
                </a14:m>
                <a:r>
                  <a:rPr lang="en-US" dirty="0"/>
                  <a:t> follows a gamma distribution with parameters </a:t>
                </a:r>
                <a14:m>
                  <m:oMath xmlns:m="http://schemas.openxmlformats.org/officeDocument/2006/math">
                    <m:r>
                      <a:rPr lang="en-US" b="0" i="1" smtClean="0">
                        <a:latin typeface="Cambria Math"/>
                      </a:rPr>
                      <m:t>𝛼</m:t>
                    </m:r>
                  </m:oMath>
                </a14:m>
                <a:r>
                  <a:rPr lang="en-US" dirty="0"/>
                  <a:t> and </a:t>
                </a:r>
                <a14:m>
                  <m:oMath xmlns:m="http://schemas.openxmlformats.org/officeDocument/2006/math">
                    <m:r>
                      <a:rPr lang="en-US" b="0" i="1" smtClean="0">
                        <a:latin typeface="Cambria Math"/>
                      </a:rPr>
                      <m:t>𝛽</m:t>
                    </m:r>
                  </m:oMath>
                </a14:m>
                <a:r>
                  <a:rPr lang="en-US" dirty="0"/>
                  <a:t>, </a:t>
                </a:r>
                <a14:m>
                  <m:oMath xmlns:m="http://schemas.openxmlformats.org/officeDocument/2006/math">
                    <m:r>
                      <a:rPr lang="en-US" b="0" i="1" smtClean="0">
                        <a:latin typeface="Cambria Math"/>
                      </a:rPr>
                      <m:t>𝛼</m:t>
                    </m:r>
                    <m:r>
                      <a:rPr lang="en-US" b="0" i="1" smtClean="0">
                        <a:latin typeface="Cambria Math"/>
                      </a:rPr>
                      <m:t>,</m:t>
                    </m:r>
                    <m:r>
                      <a:rPr lang="en-US" b="0" i="1" smtClean="0">
                        <a:latin typeface="Cambria Math"/>
                      </a:rPr>
                      <m:t>𝛽</m:t>
                    </m:r>
                    <m:r>
                      <a:rPr lang="en-US" b="0" i="1" smtClean="0">
                        <a:latin typeface="Cambria Math"/>
                      </a:rPr>
                      <m:t>&gt;0</m:t>
                    </m:r>
                  </m:oMath>
                </a14:m>
                <a:r>
                  <a:rPr lang="en-US" dirty="0"/>
                  <a:t>,then the PDF for </a:t>
                </a:r>
                <a14:m>
                  <m:oMath xmlns:m="http://schemas.openxmlformats.org/officeDocument/2006/math">
                    <m:r>
                      <a:rPr lang="en-US" b="0" i="1" smtClean="0">
                        <a:latin typeface="Cambria Math"/>
                      </a:rPr>
                      <m:t>𝑋</m:t>
                    </m:r>
                  </m:oMath>
                </a14:m>
                <a:r>
                  <a:rPr lang="en-US" dirty="0"/>
                  <a:t> is:</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sSup>
                            <m:sSupPr>
                              <m:ctrlPr>
                                <a:rPr lang="en-US" b="0" i="1" smtClean="0">
                                  <a:latin typeface="Cambria Math" panose="02040503050406030204" pitchFamily="18" charset="0"/>
                                </a:rPr>
                              </m:ctrlPr>
                            </m:sSupPr>
                            <m:e>
                              <m:r>
                                <a:rPr lang="en-US" b="0" i="1" smtClean="0">
                                  <a:latin typeface="Cambria Math"/>
                                </a:rPr>
                                <m:t>𝛽</m:t>
                              </m:r>
                            </m:e>
                            <m:sup>
                              <m:r>
                                <a:rPr lang="en-US" b="0" i="1" smtClean="0">
                                  <a:latin typeface="Cambria Math"/>
                                </a:rPr>
                                <m:t>𝛼</m:t>
                              </m:r>
                            </m:sup>
                          </m:sSup>
                          <m:r>
                            <m:rPr>
                              <m:sty m:val="p"/>
                            </m:rPr>
                            <a:rPr lang="en-US" b="0" i="0" smtClean="0">
                              <a:latin typeface="Cambria Math"/>
                            </a:rPr>
                            <m:t>Γ</m:t>
                          </m:r>
                          <m:d>
                            <m:dPr>
                              <m:ctrlPr>
                                <a:rPr lang="en-US" b="0" i="1" smtClean="0">
                                  <a:latin typeface="Cambria Math" panose="02040503050406030204" pitchFamily="18" charset="0"/>
                                </a:rPr>
                              </m:ctrlPr>
                            </m:dPr>
                            <m:e>
                              <m:r>
                                <a:rPr lang="en-US" b="0" i="1" smtClean="0">
                                  <a:latin typeface="Cambria Math"/>
                                </a:rPr>
                                <m:t>𝛼</m:t>
                              </m:r>
                            </m:e>
                          </m:d>
                        </m:den>
                      </m:f>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𝛼</m:t>
                          </m:r>
                          <m:r>
                            <a:rPr lang="en-US" b="0" i="1" smtClean="0">
                              <a:latin typeface="Cambria Math"/>
                            </a:rPr>
                            <m:t>−1</m:t>
                          </m:r>
                        </m:sup>
                      </m:sSup>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𝑥</m:t>
                              </m:r>
                            </m:num>
                            <m:den>
                              <m:r>
                                <a:rPr lang="en-US" b="0" i="1" smtClean="0">
                                  <a:latin typeface="Cambria Math"/>
                                </a:rPr>
                                <m:t>𝛽</m:t>
                              </m:r>
                            </m:den>
                          </m:f>
                        </m:sup>
                      </m:sSup>
                      <m:r>
                        <a:rPr lang="en-US" b="0" i="1" smtClean="0">
                          <a:latin typeface="Cambria Math"/>
                        </a:rPr>
                        <m:t> </m:t>
                      </m:r>
                      <m:r>
                        <m:rPr>
                          <m:sty m:val="p"/>
                        </m:rPr>
                        <a:rPr lang="en-US" b="0" i="0" smtClean="0">
                          <a:latin typeface="Cambria Math"/>
                        </a:rPr>
                        <m:t>for</m:t>
                      </m:r>
                      <m:r>
                        <a:rPr lang="en-US" b="0" i="1" smtClean="0">
                          <a:latin typeface="Cambria Math"/>
                        </a:rPr>
                        <m:t> </m:t>
                      </m:r>
                      <m:r>
                        <a:rPr lang="en-US" b="0" i="1" smtClean="0">
                          <a:latin typeface="Cambria Math"/>
                        </a:rPr>
                        <m:t>𝑥</m:t>
                      </m:r>
                      <m:r>
                        <a:rPr lang="en-US" b="0" i="1" smtClean="0">
                          <a:latin typeface="Cambria Math"/>
                        </a:rPr>
                        <m:t>&gt;0 </m:t>
                      </m:r>
                      <m:r>
                        <m:rPr>
                          <m:sty m:val="p"/>
                        </m:rPr>
                        <a:rPr lang="en-US" b="0" i="0" smtClean="0">
                          <a:latin typeface="Cambria Math"/>
                        </a:rPr>
                        <m:t>and</m:t>
                      </m:r>
                      <m:r>
                        <a:rPr lang="en-US" b="0" i="1" smtClean="0">
                          <a:latin typeface="Cambria Math"/>
                        </a:rPr>
                        <m:t> 0 </m:t>
                      </m:r>
                      <m:r>
                        <m:rPr>
                          <m:sty m:val="p"/>
                        </m:rPr>
                        <a:rPr lang="en-US" b="0" i="0" smtClean="0">
                          <a:latin typeface="Cambria Math"/>
                        </a:rPr>
                        <m:t>elsewhere</m:t>
                      </m:r>
                    </m:oMath>
                  </m:oMathPara>
                </a14:m>
                <a:endParaRPr lang="en-US" dirty="0"/>
              </a:p>
              <a:p>
                <a:endParaRPr lang="en-US" dirty="0"/>
              </a:p>
              <a:p>
                <a:r>
                  <a:rPr lang="en-US" dirty="0"/>
                  <a:t>The mean and variance for the gamma distribution are based on the parameters </a:t>
                </a:r>
                <a14:m>
                  <m:oMath xmlns:m="http://schemas.openxmlformats.org/officeDocument/2006/math">
                    <m:r>
                      <a:rPr lang="en-US" b="0" i="1" smtClean="0">
                        <a:latin typeface="Cambria Math"/>
                      </a:rPr>
                      <m:t>𝛼</m:t>
                    </m:r>
                  </m:oMath>
                </a14:m>
                <a:r>
                  <a:rPr lang="en-US" dirty="0"/>
                  <a:t> and </a:t>
                </a:r>
                <a14:m>
                  <m:oMath xmlns:m="http://schemas.openxmlformats.org/officeDocument/2006/math">
                    <m:r>
                      <a:rPr lang="en-US" b="0" i="1" smtClean="0">
                        <a:latin typeface="Cambria Math"/>
                      </a:rPr>
                      <m:t>𝛽</m:t>
                    </m:r>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2393602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6.6 – Gamma and Exponential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Exercise: Find the mean and variance of the gamma distribution with parameters </a:t>
                </a:r>
                <a14:m>
                  <m:oMath xmlns:m="http://schemas.openxmlformats.org/officeDocument/2006/math">
                    <m:r>
                      <a:rPr lang="en-US" b="0" i="1" smtClean="0">
                        <a:latin typeface="Cambria Math"/>
                      </a:rPr>
                      <m:t>𝛼</m:t>
                    </m:r>
                  </m:oMath>
                </a14:m>
                <a:r>
                  <a:rPr lang="en-US" dirty="0"/>
                  <a:t> and </a:t>
                </a:r>
                <a14:m>
                  <m:oMath xmlns:m="http://schemas.openxmlformats.org/officeDocument/2006/math">
                    <m:r>
                      <a:rPr lang="en-US" b="0" i="1" smtClean="0">
                        <a:latin typeface="Cambria Math"/>
                      </a:rPr>
                      <m:t>𝛽</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2487232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6.6 – Gamma and Exponential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a:bodyPr>
              <a:lstStyle/>
              <a:p>
                <a:r>
                  <a:rPr lang="en-US" dirty="0"/>
                  <a:t>We have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𝛼𝛽</m:t>
                    </m:r>
                  </m:oMath>
                </a14:m>
                <a:r>
                  <a:rPr lang="en-US" dirty="0"/>
                  <a:t> and </a:t>
                </a:r>
                <a14:m>
                  <m:oMath xmlns:m="http://schemas.openxmlformats.org/officeDocument/2006/math">
                    <m:r>
                      <a:rPr lang="en-US" b="0" i="1" smtClean="0">
                        <a:latin typeface="Cambria Math"/>
                      </a:rPr>
                      <m:t>𝑉</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𝛼</m:t>
                    </m:r>
                    <m:sSup>
                      <m:sSupPr>
                        <m:ctrlPr>
                          <a:rPr lang="en-US" b="0" i="1" smtClean="0">
                            <a:latin typeface="Cambria Math" panose="02040503050406030204" pitchFamily="18" charset="0"/>
                          </a:rPr>
                        </m:ctrlPr>
                      </m:sSupPr>
                      <m:e>
                        <m:r>
                          <a:rPr lang="en-US" b="0" i="1" smtClean="0">
                            <a:latin typeface="Cambria Math"/>
                          </a:rPr>
                          <m:t>𝛽</m:t>
                        </m:r>
                      </m:e>
                      <m:sup>
                        <m:r>
                          <a:rPr lang="en-US" b="0" i="1" smtClean="0">
                            <a:latin typeface="Cambria Math"/>
                          </a:rPr>
                          <m:t>2</m:t>
                        </m:r>
                      </m:sup>
                    </m:sSup>
                  </m:oMath>
                </a14:m>
                <a:r>
                  <a:rPr lang="en-US" dirty="0"/>
                  <a:t>.</a:t>
                </a:r>
              </a:p>
              <a:p>
                <a:endParaRPr lang="en-US" dirty="0"/>
              </a:p>
              <a:p>
                <a:r>
                  <a:rPr lang="en-US" dirty="0"/>
                  <a:t>Next, we talk about the exponential distribution. This is a special case of the gamma distribution where </a:t>
                </a:r>
                <a14:m>
                  <m:oMath xmlns:m="http://schemas.openxmlformats.org/officeDocument/2006/math">
                    <m:r>
                      <a:rPr lang="en-US" b="0" i="1" smtClean="0">
                        <a:latin typeface="Cambria Math"/>
                      </a:rPr>
                      <m:t>𝛼</m:t>
                    </m:r>
                    <m:r>
                      <a:rPr lang="en-US" b="0" i="1" smtClean="0">
                        <a:latin typeface="Cambria Math"/>
                      </a:rPr>
                      <m:t>=1</m:t>
                    </m:r>
                  </m:oMath>
                </a14:m>
                <a:r>
                  <a:rPr lang="en-US" dirty="0"/>
                  <a:t>.  So for an exponential random variable </a:t>
                </a:r>
                <a14:m>
                  <m:oMath xmlns:m="http://schemas.openxmlformats.org/officeDocument/2006/math">
                    <m:r>
                      <a:rPr lang="en-US" b="0" i="1" smtClean="0">
                        <a:latin typeface="Cambria Math"/>
                      </a:rPr>
                      <m:t>𝑋</m:t>
                    </m:r>
                  </m:oMath>
                </a14:m>
                <a:r>
                  <a:rPr lang="en-US" dirty="0"/>
                  <a:t>, the PDF is given by </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𝛽</m:t>
                          </m:r>
                        </m:den>
                      </m:f>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𝑥</m:t>
                              </m:r>
                            </m:num>
                            <m:den>
                              <m:r>
                                <a:rPr lang="en-US" b="0" i="1" smtClean="0">
                                  <a:latin typeface="Cambria Math"/>
                                </a:rPr>
                                <m:t>𝛽</m:t>
                              </m:r>
                            </m:den>
                          </m:f>
                        </m:sup>
                      </m:sSup>
                      <m:r>
                        <a:rPr lang="en-US" b="0" i="1" smtClean="0">
                          <a:latin typeface="Cambria Math"/>
                        </a:rPr>
                        <m:t>, </m:t>
                      </m:r>
                      <m:r>
                        <a:rPr lang="en-US" b="0" i="1" smtClean="0">
                          <a:latin typeface="Cambria Math"/>
                        </a:rPr>
                        <m:t>𝑥</m:t>
                      </m:r>
                      <m:r>
                        <a:rPr lang="en-US" b="0" i="1" smtClean="0">
                          <a:latin typeface="Cambria Math"/>
                        </a:rPr>
                        <m:t>&gt;0 </m:t>
                      </m:r>
                      <m:r>
                        <m:rPr>
                          <m:sty m:val="p"/>
                        </m:rPr>
                        <a:rPr lang="en-US" b="0" i="0" smtClean="0">
                          <a:latin typeface="Cambria Math"/>
                        </a:rPr>
                        <m:t>and</m:t>
                      </m:r>
                      <m:r>
                        <a:rPr lang="en-US" b="0" i="0" smtClean="0">
                          <a:latin typeface="Cambria Math"/>
                        </a:rPr>
                        <m:t> 0 </m:t>
                      </m:r>
                      <m:r>
                        <m:rPr>
                          <m:sty m:val="p"/>
                        </m:rPr>
                        <a:rPr lang="en-US" b="0" i="0" smtClean="0">
                          <a:latin typeface="Cambria Math"/>
                        </a:rPr>
                        <m:t>elsewhere</m:t>
                      </m:r>
                    </m:oMath>
                  </m:oMathPara>
                </a14:m>
                <a:endParaRPr lang="en-US" dirty="0"/>
              </a:p>
              <a:p>
                <a:endParaRPr lang="en-US" dirty="0"/>
              </a:p>
              <a:p>
                <a:r>
                  <a:rPr lang="en-US" dirty="0"/>
                  <a:t>We can find the mean and variance in a similar way, or we can just use the gamma formulas: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𝛽</m:t>
                    </m:r>
                  </m:oMath>
                </a14:m>
                <a:r>
                  <a:rPr lang="en-US" dirty="0"/>
                  <a:t> and </a:t>
                </a:r>
                <a14:m>
                  <m:oMath xmlns:m="http://schemas.openxmlformats.org/officeDocument/2006/math">
                    <m:r>
                      <a:rPr lang="en-US" b="0" i="1" smtClean="0">
                        <a:latin typeface="Cambria Math"/>
                      </a:rPr>
                      <m:t>𝑉</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𝛽</m:t>
                        </m:r>
                      </m:e>
                      <m:sup>
                        <m:r>
                          <a:rPr lang="en-US" b="0" i="1" smtClean="0">
                            <a:latin typeface="Cambria Math"/>
                          </a:rPr>
                          <m:t>2</m:t>
                        </m:r>
                      </m:sup>
                    </m:sSup>
                  </m:oMath>
                </a14:m>
                <a:r>
                  <a:rPr lang="en-US" dirty="0"/>
                  <a:t> for the exponential random variable </a:t>
                </a:r>
                <a14:m>
                  <m:oMath xmlns:m="http://schemas.openxmlformats.org/officeDocument/2006/math">
                    <m:r>
                      <a:rPr lang="en-US" b="0" i="1" smtClean="0">
                        <a:latin typeface="Cambria Math"/>
                      </a:rPr>
                      <m:t>𝑋</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245" t="-751" r="-1469" b="-2003"/>
                </a:stretch>
              </a:blipFill>
            </p:spPr>
            <p:txBody>
              <a:bodyPr/>
              <a:lstStyle/>
              <a:p>
                <a:r>
                  <a:rPr lang="en-US">
                    <a:noFill/>
                  </a:rPr>
                  <a:t> </a:t>
                </a:r>
              </a:p>
            </p:txBody>
          </p:sp>
        </mc:Fallback>
      </mc:AlternateContent>
    </p:spTree>
    <p:extLst>
      <p:ext uri="{BB962C8B-B14F-4D97-AF65-F5344CB8AC3E}">
        <p14:creationId xmlns:p14="http://schemas.microsoft.com/office/powerpoint/2010/main" val="669202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6.6 – Gamma and Exponential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Exercise: Find the CDF for an exponential random variable </a:t>
                </a:r>
                <a14:m>
                  <m:oMath xmlns:m="http://schemas.openxmlformats.org/officeDocument/2006/math">
                    <m:r>
                      <a:rPr lang="en-US" b="0" i="1" smtClean="0">
                        <a:latin typeface="Cambria Math"/>
                      </a:rPr>
                      <m:t>𝑋</m:t>
                    </m:r>
                  </m:oMath>
                </a14:m>
                <a:r>
                  <a:rPr lang="en-US" dirty="0"/>
                  <a:t> that has mean </a:t>
                </a:r>
                <a14:m>
                  <m:oMath xmlns:m="http://schemas.openxmlformats.org/officeDocument/2006/math">
                    <m:r>
                      <a:rPr lang="en-US" b="0" i="1" smtClean="0">
                        <a:latin typeface="Cambria Math"/>
                      </a:rPr>
                      <m:t>𝛽</m:t>
                    </m:r>
                  </m:oMath>
                </a14:m>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300255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6.6 – Gamma and Exponential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There is an interesting relationship between the Poisson and exponential distributions. If we think of </a:t>
                </a:r>
                <a14:m>
                  <m:oMath xmlns:m="http://schemas.openxmlformats.org/officeDocument/2006/math">
                    <m:r>
                      <a:rPr lang="en-US" b="0" i="1" smtClean="0">
                        <a:latin typeface="Cambria Math"/>
                      </a:rPr>
                      <m:t>𝑋</m:t>
                    </m:r>
                  </m:oMath>
                </a14:m>
                <a:r>
                  <a:rPr lang="en-US" dirty="0"/>
                  <a:t> as the number of events that happen in a given time </a:t>
                </a:r>
                <a14:m>
                  <m:oMath xmlns:m="http://schemas.openxmlformats.org/officeDocument/2006/math">
                    <m:r>
                      <a:rPr lang="en-US" b="0" i="1" smtClean="0">
                        <a:latin typeface="Cambria Math"/>
                      </a:rPr>
                      <m:t>𝑡</m:t>
                    </m:r>
                  </m:oMath>
                </a14:m>
                <a:r>
                  <a:rPr lang="en-US" dirty="0"/>
                  <a:t> with mean </a:t>
                </a:r>
                <a14:m>
                  <m:oMath xmlns:m="http://schemas.openxmlformats.org/officeDocument/2006/math">
                    <m:r>
                      <a:rPr lang="en-US" b="0" i="1" smtClean="0">
                        <a:latin typeface="Cambria Math"/>
                      </a:rPr>
                      <m:t>𝜆</m:t>
                    </m:r>
                    <m:r>
                      <a:rPr lang="en-US" b="0" i="1" smtClean="0">
                        <a:latin typeface="Cambria Math"/>
                      </a:rPr>
                      <m:t>𝑡</m:t>
                    </m:r>
                  </m:oMath>
                </a14:m>
                <a:r>
                  <a:rPr lang="en-US" dirty="0"/>
                  <a:t>, then the probability of no events occurring in time </a:t>
                </a:r>
                <a14:m>
                  <m:oMath xmlns:m="http://schemas.openxmlformats.org/officeDocument/2006/math">
                    <m:r>
                      <a:rPr lang="en-US" b="0" i="1" smtClean="0">
                        <a:latin typeface="Cambria Math"/>
                      </a:rPr>
                      <m:t>𝑡</m:t>
                    </m:r>
                  </m:oMath>
                </a14:m>
                <a:r>
                  <a:rPr lang="en-US" dirty="0"/>
                  <a:t> is </a:t>
                </a:r>
                <a:endParaRPr lang="en-US" b="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=0</m:t>
                          </m:r>
                        </m:e>
                      </m:d>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r>
                                <a:rPr lang="en-US" b="0" i="1" smtClean="0">
                                  <a:latin typeface="Cambria Math"/>
                                </a:rPr>
                                <m:t>𝜆</m:t>
                              </m:r>
                              <m:r>
                                <a:rPr lang="en-US" b="0" i="1" smtClean="0">
                                  <a:latin typeface="Cambria Math"/>
                                </a:rPr>
                                <m:t>𝑡</m:t>
                              </m:r>
                            </m:sup>
                          </m:s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𝜆</m:t>
                                  </m:r>
                                  <m:r>
                                    <a:rPr lang="en-US" b="0" i="1" smtClean="0">
                                      <a:latin typeface="Cambria Math"/>
                                    </a:rPr>
                                    <m:t>𝑡</m:t>
                                  </m:r>
                                </m:e>
                              </m:d>
                            </m:e>
                            <m:sup>
                              <m:r>
                                <a:rPr lang="en-US" b="0" i="1" smtClean="0">
                                  <a:latin typeface="Cambria Math"/>
                                </a:rPr>
                                <m:t>0</m:t>
                              </m:r>
                            </m:sup>
                          </m:sSup>
                        </m:num>
                        <m:den>
                          <m:r>
                            <a:rPr lang="en-US" b="0" i="1" smtClean="0">
                              <a:latin typeface="Cambria Math"/>
                            </a:rPr>
                            <m:t>0!</m:t>
                          </m:r>
                        </m:den>
                      </m:f>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r>
                            <a:rPr lang="en-US" b="0" i="1" smtClean="0">
                              <a:latin typeface="Cambria Math"/>
                            </a:rPr>
                            <m:t>𝜆</m:t>
                          </m:r>
                          <m:r>
                            <a:rPr lang="en-US" b="0" i="1" smtClean="0">
                              <a:latin typeface="Cambria Math"/>
                            </a:rPr>
                            <m:t>𝑡</m:t>
                          </m:r>
                        </m:sup>
                      </m:sSup>
                    </m:oMath>
                  </m:oMathPara>
                </a14:m>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1015370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6.6 – Gamma and Exponential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Now, instead of thinking of the events as the random variable, let’s think of the </a:t>
                </a:r>
                <a:r>
                  <a:rPr lang="en-US" i="1" dirty="0"/>
                  <a:t>time </a:t>
                </a:r>
                <a:r>
                  <a:rPr lang="en-US" dirty="0"/>
                  <a:t>before the first event occurs as the random variable. Let </a:t>
                </a:r>
                <a14:m>
                  <m:oMath xmlns:m="http://schemas.openxmlformats.org/officeDocument/2006/math">
                    <m:r>
                      <a:rPr lang="en-US" b="0" i="1" smtClean="0">
                        <a:latin typeface="Cambria Math"/>
                      </a:rPr>
                      <m:t>𝑇</m:t>
                    </m:r>
                  </m:oMath>
                </a14:m>
                <a:r>
                  <a:rPr lang="en-US" dirty="0"/>
                  <a:t> be the time until the first event occurs in the Poisson process, the probability that the length of time exceeds </a:t>
                </a:r>
                <a14:m>
                  <m:oMath xmlns:m="http://schemas.openxmlformats.org/officeDocument/2006/math">
                    <m:r>
                      <a:rPr lang="en-US" b="0" i="1" smtClean="0">
                        <a:latin typeface="Cambria Math"/>
                      </a:rPr>
                      <m:t>𝑡</m:t>
                    </m:r>
                  </m:oMath>
                </a14:m>
                <a:r>
                  <a:rPr lang="en-US" dirty="0"/>
                  <a:t> is the same as the probability that no Poisson events will occur in </a:t>
                </a:r>
                <a14:m>
                  <m:oMath xmlns:m="http://schemas.openxmlformats.org/officeDocument/2006/math">
                    <m:r>
                      <a:rPr lang="en-US" b="0" i="1" smtClean="0">
                        <a:latin typeface="Cambria Math"/>
                      </a:rPr>
                      <m:t>𝑦</m:t>
                    </m:r>
                  </m:oMath>
                </a14:m>
                <a:r>
                  <a:rPr lang="en-US" dirty="0"/>
                  <a:t>. That is,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𝑇</m:t>
                        </m:r>
                        <m:r>
                          <a:rPr lang="en-US" b="0" i="1" smtClean="0">
                            <a:latin typeface="Cambria Math"/>
                          </a:rPr>
                          <m:t>&gt;</m:t>
                        </m:r>
                        <m:r>
                          <a:rPr lang="en-US" b="0" i="1" smtClean="0">
                            <a:latin typeface="Cambria Math"/>
                          </a:rPr>
                          <m:t>𝑡</m:t>
                        </m:r>
                      </m:e>
                    </m:d>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r>
                          <a:rPr lang="en-US" b="0" i="1" smtClean="0">
                            <a:latin typeface="Cambria Math"/>
                          </a:rPr>
                          <m:t>𝜆</m:t>
                        </m:r>
                        <m:r>
                          <a:rPr lang="en-US" b="0" i="1" smtClean="0">
                            <a:latin typeface="Cambria Math"/>
                          </a:rPr>
                          <m:t>𝑡</m:t>
                        </m:r>
                      </m:sup>
                    </m:sSup>
                  </m:oMath>
                </a14:m>
                <a:r>
                  <a:rPr lang="en-US" dirty="0"/>
                  <a:t>. So the CDF for </a:t>
                </a:r>
                <a14:m>
                  <m:oMath xmlns:m="http://schemas.openxmlformats.org/officeDocument/2006/math">
                    <m:r>
                      <a:rPr lang="en-US" b="0" i="1" smtClean="0">
                        <a:latin typeface="Cambria Math"/>
                      </a:rPr>
                      <m:t>𝑇</m:t>
                    </m:r>
                  </m:oMath>
                </a14:m>
                <a:r>
                  <a:rPr lang="en-US" dirty="0"/>
                  <a:t> is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𝑇</m:t>
                        </m:r>
                        <m:r>
                          <a:rPr lang="en-US" b="0" i="1" smtClean="0">
                            <a:latin typeface="Cambria Math"/>
                          </a:rPr>
                          <m:t>≤</m:t>
                        </m:r>
                        <m:r>
                          <a:rPr lang="en-US" b="0" i="1" smtClean="0">
                            <a:latin typeface="Cambria Math"/>
                          </a:rPr>
                          <m:t>𝑡</m:t>
                        </m:r>
                      </m:e>
                    </m:d>
                    <m:r>
                      <a:rPr lang="en-US" b="0" i="1" smtClean="0">
                        <a:latin typeface="Cambria Math"/>
                      </a:rPr>
                      <m:t>=1−</m:t>
                    </m:r>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r>
                          <a:rPr lang="en-US" b="0" i="1" smtClean="0">
                            <a:latin typeface="Cambria Math"/>
                          </a:rPr>
                          <m:t>𝜆</m:t>
                        </m:r>
                        <m:r>
                          <a:rPr lang="en-US" b="0" i="1" smtClean="0">
                            <a:latin typeface="Cambria Math"/>
                          </a:rPr>
                          <m:t>𝑡</m:t>
                        </m:r>
                      </m:sup>
                    </m:sSup>
                    <m:r>
                      <a:rPr lang="en-US" b="0" i="0" smtClean="0">
                        <a:latin typeface="Cambria Math"/>
                      </a:rPr>
                      <m:t>.</m:t>
                    </m:r>
                  </m:oMath>
                </a14:m>
                <a:r>
                  <a:rPr lang="en-US" dirty="0"/>
                  <a:t> If we differentiate, we find that the probability distribution is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𝑡</m:t>
                        </m:r>
                      </m:e>
                    </m:d>
                    <m:r>
                      <a:rPr lang="en-US" b="0" i="1" smtClean="0">
                        <a:latin typeface="Cambria Math"/>
                      </a:rPr>
                      <m:t>=</m:t>
                    </m:r>
                    <m:r>
                      <a:rPr lang="en-US" b="0" i="1" smtClean="0">
                        <a:latin typeface="Cambria Math"/>
                      </a:rPr>
                      <m:t>𝜆</m:t>
                    </m:r>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r>
                          <a:rPr lang="en-US" b="0" i="1" smtClean="0">
                            <a:latin typeface="Cambria Math"/>
                          </a:rPr>
                          <m:t>𝜆</m:t>
                        </m:r>
                        <m:r>
                          <a:rPr lang="en-US" b="0" i="1" smtClean="0">
                            <a:latin typeface="Cambria Math"/>
                          </a:rPr>
                          <m:t>𝑡</m:t>
                        </m:r>
                      </m:sup>
                    </m:sSup>
                  </m:oMath>
                </a14:m>
                <a:r>
                  <a:rPr lang="en-US" dirty="0"/>
                  <a:t> for </a:t>
                </a:r>
                <a14:m>
                  <m:oMath xmlns:m="http://schemas.openxmlformats.org/officeDocument/2006/math">
                    <m:r>
                      <a:rPr lang="en-US" b="0" i="1" smtClean="0">
                        <a:latin typeface="Cambria Math"/>
                      </a:rPr>
                      <m:t>𝑡</m:t>
                    </m:r>
                    <m:r>
                      <a:rPr lang="en-US" b="0" i="1" smtClean="0">
                        <a:latin typeface="Cambria Math"/>
                      </a:rPr>
                      <m:t>&gt;0</m:t>
                    </m:r>
                    <m:r>
                      <a:rPr lang="en-US" b="0" i="0" smtClean="0">
                        <a:latin typeface="Cambria Math"/>
                      </a:rPr>
                      <m:t>.</m:t>
                    </m:r>
                  </m:oMath>
                </a14:m>
                <a:r>
                  <a:rPr lang="en-US" dirty="0"/>
                  <a:t> This is just the exponential distribution with </a:t>
                </a:r>
                <a14:m>
                  <m:oMath xmlns:m="http://schemas.openxmlformats.org/officeDocument/2006/math">
                    <m:r>
                      <a:rPr lang="en-US" b="0" i="1" smtClean="0">
                        <a:latin typeface="Cambria Math"/>
                      </a:rPr>
                      <m:t>𝜆</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𝛽</m:t>
                        </m:r>
                      </m:den>
                    </m:f>
                  </m:oMath>
                </a14:m>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r="-1959"/>
                </a:stretch>
              </a:blipFill>
            </p:spPr>
            <p:txBody>
              <a:bodyPr/>
              <a:lstStyle/>
              <a:p>
                <a:r>
                  <a:rPr lang="en-US">
                    <a:noFill/>
                  </a:rPr>
                  <a:t> </a:t>
                </a:r>
              </a:p>
            </p:txBody>
          </p:sp>
        </mc:Fallback>
      </mc:AlternateContent>
    </p:spTree>
    <p:extLst>
      <p:ext uri="{BB962C8B-B14F-4D97-AF65-F5344CB8AC3E}">
        <p14:creationId xmlns:p14="http://schemas.microsoft.com/office/powerpoint/2010/main" val="37314422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6.6 – Gamma and Exponential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Since the Poisson distribution is related to the exponential distribution, it is also related to the gamma distribution. There is one homework problem (6.58) that deals with this relationship. </a:t>
                </a:r>
              </a:p>
              <a:p>
                <a:endParaRPr lang="en-US" dirty="0"/>
              </a:p>
              <a:p>
                <a:r>
                  <a:rPr lang="en-US" dirty="0"/>
                  <a:t>The key to this problem is to note that </a:t>
                </a:r>
                <a14:m>
                  <m:oMath xmlns:m="http://schemas.openxmlformats.org/officeDocument/2006/math">
                    <m:r>
                      <a:rPr lang="en-US" b="0" i="1" smtClean="0">
                        <a:latin typeface="Cambria Math"/>
                      </a:rPr>
                      <m:t>𝛼</m:t>
                    </m:r>
                  </m:oMath>
                </a14:m>
                <a:r>
                  <a:rPr lang="en-US" dirty="0"/>
                  <a:t> is the number of Poisson events that we are interested in and </a:t>
                </a:r>
                <a14:m>
                  <m:oMath xmlns:m="http://schemas.openxmlformats.org/officeDocument/2006/math">
                    <m:r>
                      <a:rPr lang="en-US" b="0" i="1" smtClean="0">
                        <a:latin typeface="Cambria Math"/>
                      </a:rPr>
                      <m:t>𝛽</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𝜆</m:t>
                        </m:r>
                      </m:den>
                    </m:f>
                  </m:oMath>
                </a14:m>
                <a:r>
                  <a:rPr lang="en-US" dirty="0"/>
                  <a:t>. The limits of integration represent the time period we are interested in.</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27" t="-1001"/>
                </a:stretch>
              </a:blipFill>
            </p:spPr>
            <p:txBody>
              <a:bodyPr/>
              <a:lstStyle/>
              <a:p>
                <a:r>
                  <a:rPr lang="en-US">
                    <a:noFill/>
                  </a:rPr>
                  <a:t> </a:t>
                </a:r>
              </a:p>
            </p:txBody>
          </p:sp>
        </mc:Fallback>
      </mc:AlternateContent>
    </p:spTree>
    <p:extLst>
      <p:ext uri="{BB962C8B-B14F-4D97-AF65-F5344CB8AC3E}">
        <p14:creationId xmlns:p14="http://schemas.microsoft.com/office/powerpoint/2010/main" val="13497840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971</TotalTime>
  <Words>2256</Words>
  <Application>Microsoft Office PowerPoint</Application>
  <PresentationFormat>On-screen Show (4:3)</PresentationFormat>
  <Paragraphs>192</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Cambria Math</vt:lpstr>
      <vt:lpstr>Century Schoolbook</vt:lpstr>
      <vt:lpstr>Wingdings</vt:lpstr>
      <vt:lpstr>Wingdings 2</vt:lpstr>
      <vt:lpstr>Oriel</vt:lpstr>
      <vt:lpstr>Some Continuous Probability Distributions</vt:lpstr>
      <vt:lpstr>Chapter 6</vt:lpstr>
      <vt:lpstr>6.1 – Continuous Uniform Distribution</vt:lpstr>
      <vt:lpstr>6.1 – Continuous Uniform Distribution</vt:lpstr>
      <vt:lpstr>6.1 – Continuous Uniform Distribution</vt:lpstr>
      <vt:lpstr>6.1 – Continuous Uniform Distribution</vt:lpstr>
      <vt:lpstr>6.2 – Normal Distribution</vt:lpstr>
      <vt:lpstr>6.2 – Normal Distribution</vt:lpstr>
      <vt:lpstr>6.2 – Normal Distribution</vt:lpstr>
      <vt:lpstr>6.2 – Normal Distribution</vt:lpstr>
      <vt:lpstr>6.2 – Normal Distribution</vt:lpstr>
      <vt:lpstr>6.2 – Normal Distribution</vt:lpstr>
      <vt:lpstr>6.2 – Normal Distribution</vt:lpstr>
      <vt:lpstr>6.2 – Normal Distribution</vt:lpstr>
      <vt:lpstr>6.3 – Area under the Normal Curve</vt:lpstr>
      <vt:lpstr>6.3 – Area under the Normal Curve</vt:lpstr>
      <vt:lpstr>6.3 – Area under the Normal Curve</vt:lpstr>
      <vt:lpstr>6.3 – Area under the Normal Curve</vt:lpstr>
      <vt:lpstr>6.3 – Area under the Normal Curve</vt:lpstr>
      <vt:lpstr>6.3 – Area under the Normal Curve</vt:lpstr>
      <vt:lpstr>6.3 – Area under the Normal Curve</vt:lpstr>
      <vt:lpstr>6.3 – Area under the Normal Curve</vt:lpstr>
      <vt:lpstr>6.3 – Area under the Normal Curve</vt:lpstr>
      <vt:lpstr>6.3 – Area under the Normal Curve</vt:lpstr>
      <vt:lpstr>6.3 – Area under the Normal Curve</vt:lpstr>
      <vt:lpstr>6.4 – Applications of the Normal Distribution</vt:lpstr>
      <vt:lpstr>6.4 – Applications of the Normal Distribution</vt:lpstr>
      <vt:lpstr>6.4 – Applications of the Normal Distribution</vt:lpstr>
      <vt:lpstr>6.4 – Applications of the Normal Distribution</vt:lpstr>
      <vt:lpstr>6.4 – Applications of the Normal Distribution</vt:lpstr>
      <vt:lpstr>6.4 – Applications of the Normal Distribution</vt:lpstr>
      <vt:lpstr>6.4 – Applications of the Normal Distribution</vt:lpstr>
      <vt:lpstr>6.6 – Gamma and Exponential Distributions</vt:lpstr>
      <vt:lpstr>6.6 – Gamma and Exponential Distributions</vt:lpstr>
      <vt:lpstr>6.6 – Gamma and Exponential Distributions</vt:lpstr>
      <vt:lpstr>6.6 – Gamma and Exponential Distributions</vt:lpstr>
      <vt:lpstr>6.6 – Gamma and Exponential Distributions</vt:lpstr>
      <vt:lpstr>6.6 – Gamma and Exponential Distributions</vt:lpstr>
      <vt:lpstr>6.6 – Gamma and Exponential Distributions</vt:lpstr>
      <vt:lpstr>6.6 – Gamma and Exponential Distributions</vt:lpstr>
      <vt:lpstr>6.6 – Gamma and Exponential Distributions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Continuous Probability Distributions</dc:title>
  <dc:creator>Jason Adams</dc:creator>
  <cp:lastModifiedBy>Lizzie Reida</cp:lastModifiedBy>
  <cp:revision>36</cp:revision>
  <dcterms:created xsi:type="dcterms:W3CDTF">2017-07-19T00:19:40Z</dcterms:created>
  <dcterms:modified xsi:type="dcterms:W3CDTF">2021-01-14T15:40:12Z</dcterms:modified>
</cp:coreProperties>
</file>
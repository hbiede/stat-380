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9" r:id="rId13"/>
    <p:sldId id="270" r:id="rId14"/>
    <p:sldId id="271" r:id="rId15"/>
    <p:sldId id="273" r:id="rId16"/>
    <p:sldId id="274" r:id="rId17"/>
    <p:sldId id="276" r:id="rId18"/>
    <p:sldId id="275" r:id="rId19"/>
    <p:sldId id="277" r:id="rId20"/>
    <p:sldId id="278" r:id="rId21"/>
    <p:sldId id="281" r:id="rId22"/>
    <p:sldId id="282" r:id="rId23"/>
    <p:sldId id="284" r:id="rId24"/>
    <p:sldId id="283" r:id="rId25"/>
    <p:sldId id="285" r:id="rId26"/>
    <p:sldId id="286" r:id="rId27"/>
    <p:sldId id="287" r:id="rId28"/>
    <p:sldId id="288" r:id="rId29"/>
    <p:sldId id="290" r:id="rId30"/>
    <p:sldId id="291" r:id="rId31"/>
    <p:sldId id="292" r:id="rId32"/>
    <p:sldId id="293" r:id="rId33"/>
    <p:sldId id="294" r:id="rId34"/>
    <p:sldId id="296" r:id="rId35"/>
    <p:sldId id="297" r:id="rId36"/>
    <p:sldId id="298" r:id="rId37"/>
    <p:sldId id="299" r:id="rId38"/>
    <p:sldId id="300" r:id="rId39"/>
    <p:sldId id="301" r:id="rId40"/>
    <p:sldId id="302" r:id="rId41"/>
    <p:sldId id="303" r:id="rId42"/>
    <p:sldId id="305" r:id="rId43"/>
    <p:sldId id="306" r:id="rId44"/>
    <p:sldId id="307" r:id="rId45"/>
    <p:sldId id="308" r:id="rId46"/>
    <p:sldId id="309" r:id="rId47"/>
    <p:sldId id="311" r:id="rId48"/>
    <p:sldId id="310" r:id="rId49"/>
    <p:sldId id="313" r:id="rId50"/>
    <p:sldId id="314" r:id="rId51"/>
    <p:sldId id="315" r:id="rId52"/>
    <p:sldId id="317"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9D89705-5FD6-4E0D-9672-07E9A08E67CF}" type="slidenum">
              <a:rPr lang="en-US" smtClean="0"/>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D89705-5FD6-4E0D-9672-07E9A08E67CF}" type="slidenum">
              <a:rPr lang="en-US" smtClean="0"/>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79D89705-5FD6-4E0D-9672-07E9A08E67CF}"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D89705-5FD6-4E0D-9672-07E9A08E67CF}" type="slidenum">
              <a:rPr lang="en-US" smtClean="0"/>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9D89705-5FD6-4E0D-9672-07E9A08E67CF}" type="slidenum">
              <a:rPr lang="en-US" smtClean="0"/>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9D89705-5FD6-4E0D-9672-07E9A08E67CF}"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9D89705-5FD6-4E0D-9672-07E9A08E67CF}"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D89705-5FD6-4E0D-9672-07E9A08E67CF}" type="slidenum">
              <a:rPr lang="en-US" smtClean="0"/>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79D89705-5FD6-4E0D-9672-07E9A08E67CF}" type="slidenum">
              <a:rPr lang="en-US" smtClean="0"/>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D89705-5FD6-4E0D-9672-07E9A08E67CF}"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D70D776-FF98-475E-885E-20153120B120}" type="datetimeFigureOut">
              <a:rPr lang="en-US" smtClean="0"/>
              <a:t>1/14/2021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D89705-5FD6-4E0D-9672-07E9A08E67CF}"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D70D776-FF98-475E-885E-20153120B120}" type="datetimeFigureOut">
              <a:rPr lang="en-US" smtClean="0"/>
              <a:t>1/14/2021</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9D89705-5FD6-4E0D-9672-07E9A08E67C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Chapter 8</a:t>
            </a:r>
          </a:p>
        </p:txBody>
      </p:sp>
      <p:sp>
        <p:nvSpPr>
          <p:cNvPr id="2" name="Title 1"/>
          <p:cNvSpPr>
            <a:spLocks noGrp="1"/>
          </p:cNvSpPr>
          <p:nvPr>
            <p:ph type="ctrTitle"/>
          </p:nvPr>
        </p:nvSpPr>
        <p:spPr/>
        <p:txBody>
          <a:bodyPr/>
          <a:lstStyle/>
          <a:p>
            <a:r>
              <a:rPr lang="en-US" dirty="0"/>
              <a:t>Sampling Distributions</a:t>
            </a:r>
          </a:p>
        </p:txBody>
      </p:sp>
    </p:spTree>
    <p:extLst>
      <p:ext uri="{BB962C8B-B14F-4D97-AF65-F5344CB8AC3E}">
        <p14:creationId xmlns:p14="http://schemas.microsoft.com/office/powerpoint/2010/main" val="253622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a:t>
            </a:r>
          </a:p>
        </p:txBody>
      </p:sp>
      <p:sp>
        <p:nvSpPr>
          <p:cNvPr id="3" name="Content Placeholder 2"/>
          <p:cNvSpPr>
            <a:spLocks noGrp="1"/>
          </p:cNvSpPr>
          <p:nvPr>
            <p:ph sz="quarter" idx="1"/>
          </p:nvPr>
        </p:nvSpPr>
        <p:spPr/>
        <p:txBody>
          <a:bodyPr>
            <a:normAutofit fontScale="92500"/>
          </a:bodyPr>
          <a:lstStyle/>
          <a:p>
            <a:r>
              <a:rPr lang="en-US" dirty="0"/>
              <a:t>This chapter takes what we have covered so far – particularly random variables, expectation, and distributions – and lays the foundation for inference. I mentioned during the first day of class that this course is divided into two parts: probability theory and inference. Chapter 8 is the transition between the two parts.</a:t>
            </a:r>
          </a:p>
          <a:p>
            <a:endParaRPr lang="en-US" dirty="0"/>
          </a:p>
          <a:p>
            <a:r>
              <a:rPr lang="en-US" dirty="0"/>
              <a:t>8.1-8.2 introduce the way we think of data in terms of random variables and go over some basic statistics (similar to what we saw in chapter 1). 8.3 introduces the idea of a sampling distribution. Then 8.4-8.5 cover specific sampling distributions. Finally, we will introduce the t-distribution in 8.6.</a:t>
            </a:r>
          </a:p>
        </p:txBody>
      </p:sp>
    </p:spTree>
    <p:extLst>
      <p:ext uri="{BB962C8B-B14F-4D97-AF65-F5344CB8AC3E}">
        <p14:creationId xmlns:p14="http://schemas.microsoft.com/office/powerpoint/2010/main" val="413622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8.1 – Random Sampling</a:t>
            </a:r>
          </a:p>
        </p:txBody>
      </p:sp>
      <p:sp>
        <p:nvSpPr>
          <p:cNvPr id="3" name="Content Placeholder 2"/>
          <p:cNvSpPr>
            <a:spLocks noGrp="1"/>
          </p:cNvSpPr>
          <p:nvPr>
            <p:ph sz="quarter" idx="1"/>
          </p:nvPr>
        </p:nvSpPr>
        <p:spPr/>
        <p:txBody>
          <a:bodyPr>
            <a:normAutofit/>
          </a:bodyPr>
          <a:lstStyle/>
          <a:p>
            <a:r>
              <a:rPr lang="en-US" dirty="0"/>
              <a:t>In this section, we return to some of the same ideas we discussed in chapter 1. This time, however, we view them in light of what we have learned so far in the course.</a:t>
            </a:r>
          </a:p>
          <a:p>
            <a:endParaRPr lang="en-US" dirty="0"/>
          </a:p>
          <a:p>
            <a:r>
              <a:rPr lang="en-US" dirty="0"/>
              <a:t>The key thing to get from this section is to understand what we mean by random samples in terms of random variables. Everything we will do with inference in this class depends on having a random sample.</a:t>
            </a:r>
          </a:p>
        </p:txBody>
      </p:sp>
    </p:spTree>
    <p:extLst>
      <p:ext uri="{BB962C8B-B14F-4D97-AF65-F5344CB8AC3E}">
        <p14:creationId xmlns:p14="http://schemas.microsoft.com/office/powerpoint/2010/main" val="49143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8.1 – Random Sampling</a:t>
            </a:r>
          </a:p>
        </p:txBody>
      </p:sp>
      <p:sp>
        <p:nvSpPr>
          <p:cNvPr id="3" name="Content Placeholder 2"/>
          <p:cNvSpPr>
            <a:spLocks noGrp="1"/>
          </p:cNvSpPr>
          <p:nvPr>
            <p:ph sz="quarter" idx="1"/>
          </p:nvPr>
        </p:nvSpPr>
        <p:spPr/>
        <p:txBody>
          <a:bodyPr>
            <a:normAutofit/>
          </a:bodyPr>
          <a:lstStyle/>
          <a:p>
            <a:r>
              <a:rPr lang="en-US" dirty="0"/>
              <a:t>Recall the definitions of population and sample:</a:t>
            </a:r>
          </a:p>
          <a:p>
            <a:pPr lvl="1"/>
            <a:r>
              <a:rPr lang="en-US" dirty="0"/>
              <a:t>A population consists of all the possible observations with which we are concerned. </a:t>
            </a:r>
          </a:p>
          <a:p>
            <a:pPr lvl="1"/>
            <a:r>
              <a:rPr lang="en-US" dirty="0"/>
              <a:t>A sample is a subset of the population.</a:t>
            </a:r>
          </a:p>
          <a:p>
            <a:endParaRPr lang="en-US" dirty="0"/>
          </a:p>
          <a:p>
            <a:r>
              <a:rPr lang="en-US" dirty="0"/>
              <a:t>Remember also that we said the goal of statistical inference is to use information (data) from the sample to understand the population.</a:t>
            </a:r>
          </a:p>
        </p:txBody>
      </p:sp>
    </p:spTree>
    <p:extLst>
      <p:ext uri="{BB962C8B-B14F-4D97-AF65-F5344CB8AC3E}">
        <p14:creationId xmlns:p14="http://schemas.microsoft.com/office/powerpoint/2010/main" val="2398124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8.1 – Random Sampling</a:t>
            </a:r>
          </a:p>
        </p:txBody>
      </p:sp>
      <p:sp>
        <p:nvSpPr>
          <p:cNvPr id="3" name="Content Placeholder 2"/>
          <p:cNvSpPr>
            <a:spLocks noGrp="1"/>
          </p:cNvSpPr>
          <p:nvPr>
            <p:ph sz="quarter" idx="1"/>
          </p:nvPr>
        </p:nvSpPr>
        <p:spPr/>
        <p:txBody>
          <a:bodyPr>
            <a:normAutofit/>
          </a:bodyPr>
          <a:lstStyle/>
          <a:p>
            <a:r>
              <a:rPr lang="en-US" dirty="0"/>
              <a:t>We mentioned also in chapter 1 that nonrandom (convenience) sampling methods are often biased. That is, statistics from such samples either consistently over- or under-estimate the true population parameters.</a:t>
            </a:r>
          </a:p>
          <a:p>
            <a:endParaRPr lang="en-US" dirty="0"/>
          </a:p>
          <a:p>
            <a:r>
              <a:rPr lang="en-US" dirty="0"/>
              <a:t>In order to eliminate this bias, we said that we need random sampling methods. </a:t>
            </a:r>
          </a:p>
        </p:txBody>
      </p:sp>
    </p:spTree>
    <p:extLst>
      <p:ext uri="{BB962C8B-B14F-4D97-AF65-F5344CB8AC3E}">
        <p14:creationId xmlns:p14="http://schemas.microsoft.com/office/powerpoint/2010/main" val="200181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8.1 – Random Sampling</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In order to do any inference, we have to think of our data in terms of random variables: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sub>
                    </m:sSub>
                    <m:r>
                      <a:rPr lang="en-US" b="0" i="1" smtClean="0">
                        <a:latin typeface="Cambria Math"/>
                      </a:rPr>
                      <m:t>, </m:t>
                    </m:r>
                    <m:r>
                      <a:rPr lang="en-US" b="0" i="1" smtClean="0">
                        <a:latin typeface="Cambria Math"/>
                      </a:rPr>
                      <m:t>𝑖</m:t>
                    </m:r>
                    <m:r>
                      <a:rPr lang="en-US" b="0" i="1" smtClean="0">
                        <a:latin typeface="Cambria Math"/>
                      </a:rPr>
                      <m:t>=1,2,…,</m:t>
                    </m:r>
                    <m:r>
                      <a:rPr lang="en-US" b="0" i="1" smtClean="0">
                        <a:latin typeface="Cambria Math"/>
                      </a:rPr>
                      <m:t>𝑛</m:t>
                    </m:r>
                  </m:oMath>
                </a14:m>
                <a:r>
                  <a:rPr lang="en-US" dirty="0"/>
                  <a:t>, be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𝑖</m:t>
                        </m:r>
                      </m:e>
                      <m:sup>
                        <m:r>
                          <a:rPr lang="en-US" b="0" i="1" smtClean="0">
                            <a:latin typeface="Cambria Math"/>
                          </a:rPr>
                          <m:t>𝑡h</m:t>
                        </m:r>
                      </m:sup>
                    </m:sSup>
                  </m:oMath>
                </a14:m>
                <a:r>
                  <a:rPr lang="en-US" dirty="0"/>
                  <a:t> measurement (data point) in a sample of size </a:t>
                </a:r>
                <a14:m>
                  <m:oMath xmlns:m="http://schemas.openxmlformats.org/officeDocument/2006/math">
                    <m:r>
                      <a:rPr lang="en-US" b="0" i="1" smtClean="0">
                        <a:latin typeface="Cambria Math"/>
                      </a:rPr>
                      <m:t>𝑛</m:t>
                    </m:r>
                  </m:oMath>
                </a14:m>
                <a:r>
                  <a:rPr lang="en-US" dirty="0"/>
                  <a:t>. These random variables are assumed to have some distribution, say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a:t>
                </a:r>
              </a:p>
              <a:p>
                <a:endParaRPr lang="en-US" dirty="0"/>
              </a:p>
              <a:p>
                <a:r>
                  <a:rPr lang="en-US" dirty="0"/>
                  <a:t>We assume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2</m:t>
                        </m:r>
                      </m:sub>
                    </m:sSub>
                    <m:r>
                      <a:rPr lang="en-US" b="0" i="1" smtClean="0">
                        <a:latin typeface="Cambria Math"/>
                      </a:rPr>
                      <m:t>, …, </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𝑛</m:t>
                        </m:r>
                      </m:sub>
                    </m:sSub>
                  </m:oMath>
                </a14:m>
                <a:r>
                  <a:rPr lang="en-US" dirty="0"/>
                  <a:t> all have the </a:t>
                </a:r>
                <a:r>
                  <a:rPr lang="en-US" i="1" dirty="0"/>
                  <a:t>same distribution</a:t>
                </a:r>
                <a:r>
                  <a:rPr lang="en-US" dirty="0"/>
                  <a:t>. One way to say this is that the random variables </a:t>
                </a:r>
                <a14:m>
                  <m:oMath xmlns:m="http://schemas.openxmlformats.org/officeDocument/2006/math">
                    <m:sSub>
                      <m:sSubPr>
                        <m:ctrlPr>
                          <a:rPr lang="en-US" i="1">
                            <a:latin typeface="Cambria Math" panose="02040503050406030204" pitchFamily="18" charset="0"/>
                          </a:rPr>
                        </m:ctrlPr>
                      </m:sSubPr>
                      <m:e>
                        <m:r>
                          <a:rPr lang="en-US" i="1">
                            <a:latin typeface="Cambria Math"/>
                          </a:rPr>
                          <m:t>𝑋</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𝑋</m:t>
                        </m:r>
                      </m:e>
                      <m:sub>
                        <m:r>
                          <a:rPr lang="en-US" i="1">
                            <a:latin typeface="Cambria Math"/>
                          </a:rPr>
                          <m:t>2</m:t>
                        </m:r>
                      </m:sub>
                    </m:sSub>
                    <m:r>
                      <a:rPr lang="en-US" i="1">
                        <a:latin typeface="Cambria Math"/>
                      </a:rPr>
                      <m:t>, …, </m:t>
                    </m:r>
                    <m:sSub>
                      <m:sSubPr>
                        <m:ctrlPr>
                          <a:rPr lang="en-US" i="1">
                            <a:latin typeface="Cambria Math" panose="02040503050406030204" pitchFamily="18" charset="0"/>
                          </a:rPr>
                        </m:ctrlPr>
                      </m:sSubPr>
                      <m:e>
                        <m:r>
                          <a:rPr lang="en-US" i="1">
                            <a:latin typeface="Cambria Math"/>
                          </a:rPr>
                          <m:t>𝑋</m:t>
                        </m:r>
                      </m:e>
                      <m:sub>
                        <m:r>
                          <a:rPr lang="en-US" i="1">
                            <a:latin typeface="Cambria Math"/>
                          </a:rPr>
                          <m:t>𝑛</m:t>
                        </m:r>
                      </m:sub>
                    </m:sSub>
                  </m:oMath>
                </a14:m>
                <a:r>
                  <a:rPr lang="en-US" dirty="0"/>
                  <a:t> are identically distributed. This implies that they all have the same probability distribution. That is, the marginal distributions for these random variables are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 </m:t>
                    </m:r>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r>
                      <a:rPr lang="en-US" b="0" i="1" smtClean="0">
                        <a:latin typeface="Cambria Math"/>
                      </a:rPr>
                      <m:t>, …, </m:t>
                    </m:r>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e>
                    </m:d>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733" r="-78" b="-2667"/>
                </a:stretch>
              </a:blipFill>
            </p:spPr>
            <p:txBody>
              <a:bodyPr/>
              <a:lstStyle/>
              <a:p>
                <a:r>
                  <a:rPr lang="en-US">
                    <a:noFill/>
                  </a:rPr>
                  <a:t> </a:t>
                </a:r>
              </a:p>
            </p:txBody>
          </p:sp>
        </mc:Fallback>
      </mc:AlternateContent>
    </p:spTree>
    <p:extLst>
      <p:ext uri="{BB962C8B-B14F-4D97-AF65-F5344CB8AC3E}">
        <p14:creationId xmlns:p14="http://schemas.microsoft.com/office/powerpoint/2010/main" val="186068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8.1 – Random Sampling</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Identically distributed is the first part of defining a random sample. The second is independence of the random variables. One way to describe this is with the letters </a:t>
                </a:r>
                <a14:m>
                  <m:oMath xmlns:m="http://schemas.openxmlformats.org/officeDocument/2006/math">
                    <m:r>
                      <a:rPr lang="en-US" b="0" i="1" smtClean="0">
                        <a:latin typeface="Cambria Math"/>
                      </a:rPr>
                      <m:t>𝑖</m:t>
                    </m:r>
                    <m:r>
                      <a:rPr lang="en-US" b="0" i="1" smtClean="0">
                        <a:latin typeface="Cambria Math"/>
                      </a:rPr>
                      <m:t>.</m:t>
                    </m:r>
                    <m:r>
                      <a:rPr lang="en-US" b="0" i="1" smtClean="0">
                        <a:latin typeface="Cambria Math"/>
                      </a:rPr>
                      <m:t>𝑖</m:t>
                    </m:r>
                    <m:r>
                      <a:rPr lang="en-US" b="0" i="1" smtClean="0">
                        <a:latin typeface="Cambria Math"/>
                      </a:rPr>
                      <m:t>.</m:t>
                    </m:r>
                    <m:r>
                      <a:rPr lang="en-US" b="0" i="1" smtClean="0">
                        <a:latin typeface="Cambria Math"/>
                      </a:rPr>
                      <m:t>𝑑</m:t>
                    </m:r>
                    <m:r>
                      <a:rPr lang="en-US" b="0" i="1" smtClean="0">
                        <a:latin typeface="Cambria Math"/>
                      </a:rPr>
                      <m:t>.</m:t>
                    </m:r>
                  </m:oMath>
                </a14:m>
                <a:r>
                  <a:rPr lang="en-US" dirty="0"/>
                  <a:t> This stands for </a:t>
                </a:r>
                <a:r>
                  <a:rPr lang="en-US" i="1" dirty="0"/>
                  <a:t>independent and identically distributed</a:t>
                </a:r>
                <a:r>
                  <a:rPr lang="en-US" dirty="0"/>
                  <a:t>. </a:t>
                </a:r>
              </a:p>
              <a:p>
                <a:endParaRPr lang="en-US" dirty="0"/>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a:rPr>
                          <m:t>𝑋</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𝑋</m:t>
                        </m:r>
                      </m:e>
                      <m:sub>
                        <m:r>
                          <a:rPr lang="en-US" i="1">
                            <a:latin typeface="Cambria Math"/>
                          </a:rPr>
                          <m:t>2</m:t>
                        </m:r>
                      </m:sub>
                    </m:sSub>
                    <m:r>
                      <a:rPr lang="en-US" i="1">
                        <a:latin typeface="Cambria Math"/>
                      </a:rPr>
                      <m:t>, …, </m:t>
                    </m:r>
                    <m:sSub>
                      <m:sSubPr>
                        <m:ctrlPr>
                          <a:rPr lang="en-US" i="1">
                            <a:latin typeface="Cambria Math" panose="02040503050406030204" pitchFamily="18" charset="0"/>
                          </a:rPr>
                        </m:ctrlPr>
                      </m:sSubPr>
                      <m:e>
                        <m:r>
                          <a:rPr lang="en-US" i="1">
                            <a:latin typeface="Cambria Math"/>
                          </a:rPr>
                          <m:t>𝑋</m:t>
                        </m:r>
                      </m:e>
                      <m:sub>
                        <m:r>
                          <a:rPr lang="en-US" i="1">
                            <a:latin typeface="Cambria Math"/>
                          </a:rPr>
                          <m:t>𝑛</m:t>
                        </m:r>
                      </m:sub>
                    </m:sSub>
                  </m:oMath>
                </a14:m>
                <a:r>
                  <a:rPr lang="en-US" dirty="0"/>
                  <a:t> are </a:t>
                </a:r>
                <a14:m>
                  <m:oMath xmlns:m="http://schemas.openxmlformats.org/officeDocument/2006/math">
                    <m:r>
                      <a:rPr lang="en-US" b="0" i="1" smtClean="0">
                        <a:latin typeface="Cambria Math"/>
                      </a:rPr>
                      <m:t>𝑖</m:t>
                    </m:r>
                    <m:r>
                      <a:rPr lang="en-US" b="0" i="1" smtClean="0">
                        <a:latin typeface="Cambria Math"/>
                      </a:rPr>
                      <m:t>.</m:t>
                    </m:r>
                    <m:r>
                      <a:rPr lang="en-US" b="0" i="1" smtClean="0">
                        <a:latin typeface="Cambria Math"/>
                      </a:rPr>
                      <m:t>𝑖</m:t>
                    </m:r>
                    <m:r>
                      <a:rPr lang="en-US" b="0" i="1" smtClean="0">
                        <a:latin typeface="Cambria Math"/>
                      </a:rPr>
                      <m:t>.</m:t>
                    </m:r>
                    <m:r>
                      <a:rPr lang="en-US" b="0" i="1" smtClean="0">
                        <a:latin typeface="Cambria Math"/>
                      </a:rPr>
                      <m:t>𝑑</m:t>
                    </m:r>
                    <m:r>
                      <a:rPr lang="en-US" b="0" i="1" smtClean="0">
                        <a:latin typeface="Cambria Math"/>
                      </a:rPr>
                      <m:t>.</m:t>
                    </m:r>
                  </m:oMath>
                </a14:m>
                <a:r>
                  <a:rPr lang="en-US" dirty="0"/>
                  <a:t> random variables from the population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oMath>
                </a14:m>
                <a:r>
                  <a:rPr lang="en-US" dirty="0"/>
                  <a:t>, then we say it constitutes a random sample of size </a:t>
                </a:r>
                <a14:m>
                  <m:oMath xmlns:m="http://schemas.openxmlformats.org/officeDocument/2006/math">
                    <m:r>
                      <a:rPr lang="en-US" b="0" i="1" smtClean="0">
                        <a:latin typeface="Cambria Math"/>
                      </a:rPr>
                      <m:t>𝑛</m:t>
                    </m:r>
                  </m:oMath>
                </a14:m>
                <a:r>
                  <a:rPr lang="en-US" dirty="0"/>
                  <a:t> and can write the joint probability distribution of the random sample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e>
                      </m:d>
                      <m:r>
                        <a:rPr lang="en-US" b="0" i="1" smtClean="0">
                          <a:latin typeface="Cambria Math"/>
                        </a:rPr>
                        <m:t>=</m:t>
                      </m:r>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r>
                        <a:rPr lang="en-US" b="0" i="1" smtClean="0">
                          <a:latin typeface="Cambria Math"/>
                        </a:rPr>
                        <m:t>…</m:t>
                      </m:r>
                      <m:r>
                        <a:rPr lang="en-US" b="0" i="1" smtClean="0">
                          <a:latin typeface="Cambria Math"/>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1804"/>
                </a:stretch>
              </a:blipFill>
            </p:spPr>
            <p:txBody>
              <a:bodyPr/>
              <a:lstStyle/>
              <a:p>
                <a:r>
                  <a:rPr lang="en-US">
                    <a:noFill/>
                  </a:rPr>
                  <a:t> </a:t>
                </a:r>
              </a:p>
            </p:txBody>
          </p:sp>
        </mc:Fallback>
      </mc:AlternateContent>
    </p:spTree>
    <p:extLst>
      <p:ext uri="{BB962C8B-B14F-4D97-AF65-F5344CB8AC3E}">
        <p14:creationId xmlns:p14="http://schemas.microsoft.com/office/powerpoint/2010/main" val="3130149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8.2 – Important Descriptive Statistics</a:t>
            </a:r>
          </a:p>
        </p:txBody>
      </p:sp>
      <p:sp>
        <p:nvSpPr>
          <p:cNvPr id="3" name="Content Placeholder 2"/>
          <p:cNvSpPr>
            <a:spLocks noGrp="1"/>
          </p:cNvSpPr>
          <p:nvPr>
            <p:ph sz="quarter" idx="1"/>
          </p:nvPr>
        </p:nvSpPr>
        <p:spPr/>
        <p:txBody>
          <a:bodyPr>
            <a:normAutofit/>
          </a:bodyPr>
          <a:lstStyle/>
          <a:p>
            <a:r>
              <a:rPr lang="en-US" dirty="0"/>
              <a:t>After we have collected a random sample, the first step in making an inference is to calculate a statistic. The idea is we need to understand the information in the sample so that we can apply it back to the population.</a:t>
            </a:r>
          </a:p>
          <a:p>
            <a:endParaRPr lang="en-US" dirty="0"/>
          </a:p>
          <a:p>
            <a:r>
              <a:rPr lang="en-US" dirty="0"/>
              <a:t>In chapter 1, we defined a statistic to be a numerical measure of a sample. Now that we have defined a random sample in terms of random variables, we can introduce a somewhat more technical definition of a statistic.</a:t>
            </a:r>
          </a:p>
        </p:txBody>
      </p:sp>
    </p:spTree>
    <p:extLst>
      <p:ext uri="{BB962C8B-B14F-4D97-AF65-F5344CB8AC3E}">
        <p14:creationId xmlns:p14="http://schemas.microsoft.com/office/powerpoint/2010/main" val="21000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8.2 – Important Descriptive Statistics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lnSpcReduction="20000"/>
              </a:bodyPr>
              <a:lstStyle/>
              <a:p>
                <a:r>
                  <a:rPr lang="en-US" dirty="0"/>
                  <a:t>Given a random sample, a </a:t>
                </a:r>
                <a:r>
                  <a:rPr lang="en-US" i="1" dirty="0"/>
                  <a:t>statistic</a:t>
                </a:r>
                <a:r>
                  <a:rPr lang="en-US" dirty="0"/>
                  <a:t> is any function of the random variables that constitute the random sample. That is, a statistic takes the information from a sample and boils it down to a single number. For instance, we can define a statistic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𝑋</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𝑋</m:t>
                            </m:r>
                          </m:e>
                          <m:sub>
                            <m:r>
                              <a:rPr lang="en-US" i="1">
                                <a:latin typeface="Cambria Math"/>
                              </a:rPr>
                              <m:t>2</m:t>
                            </m:r>
                          </m:sub>
                        </m:sSub>
                        <m:r>
                          <a:rPr lang="en-US" i="1">
                            <a:latin typeface="Cambria Math"/>
                          </a:rPr>
                          <m:t>, …, </m:t>
                        </m:r>
                        <m:sSub>
                          <m:sSubPr>
                            <m:ctrlPr>
                              <a:rPr lang="en-US" i="1">
                                <a:latin typeface="Cambria Math" panose="02040503050406030204" pitchFamily="18" charset="0"/>
                              </a:rPr>
                            </m:ctrlPr>
                          </m:sSubPr>
                          <m:e>
                            <m:r>
                              <a:rPr lang="en-US" i="1">
                                <a:latin typeface="Cambria Math"/>
                              </a:rPr>
                              <m:t>𝑋</m:t>
                            </m:r>
                          </m:e>
                          <m:sub>
                            <m:r>
                              <a:rPr lang="en-US" i="1">
                                <a:latin typeface="Cambria Math"/>
                              </a:rPr>
                              <m:t>𝑛</m:t>
                            </m:r>
                          </m:sub>
                        </m:sSub>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𝑛</m:t>
                        </m:r>
                      </m:den>
                    </m:f>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𝑛</m:t>
                        </m:r>
                      </m:sup>
                      <m:e>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sub>
                        </m:sSub>
                      </m:e>
                    </m:nary>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This is the sample mean.</a:t>
                </a:r>
              </a:p>
              <a:p>
                <a:endParaRPr lang="en-US" dirty="0"/>
              </a:p>
              <a:p>
                <a:r>
                  <a:rPr lang="en-US" dirty="0"/>
                  <a:t>In this section, we will simply go over a few important statistics (we have used all but one before), but there is an especially important idea to get from this definition of a statistic. Remember that we said that any function of a random variable is also a random variable. That means that a statistic is also a random variable! So a statistic has a probability distribution and satisfies all the properties of random variables. This fact is the crux of everything we will do in the rest of the course.</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49" t="-2267" r="-1255" b="-933"/>
                </a:stretch>
              </a:blipFill>
            </p:spPr>
            <p:txBody>
              <a:bodyPr/>
              <a:lstStyle/>
              <a:p>
                <a:r>
                  <a:rPr lang="en-US">
                    <a:noFill/>
                  </a:rPr>
                  <a:t> </a:t>
                </a:r>
              </a:p>
            </p:txBody>
          </p:sp>
        </mc:Fallback>
      </mc:AlternateContent>
    </p:spTree>
    <p:extLst>
      <p:ext uri="{BB962C8B-B14F-4D97-AF65-F5344CB8AC3E}">
        <p14:creationId xmlns:p14="http://schemas.microsoft.com/office/powerpoint/2010/main" val="2403721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8.2 – Important Descriptive Statistics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We use the following statistics to measure the location or center of a sample:</a:t>
                </a:r>
              </a:p>
              <a:p>
                <a:pPr lvl="1"/>
                <a:r>
                  <a:rPr lang="en-US" dirty="0"/>
                  <a:t>The sample mean: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1</m:t>
                        </m:r>
                      </m:num>
                      <m:den>
                        <m:r>
                          <a:rPr lang="en-US" b="0" i="1" dirty="0" smtClean="0">
                            <a:latin typeface="Cambria Math"/>
                          </a:rPr>
                          <m:t>𝑛</m:t>
                        </m:r>
                      </m:den>
                    </m:f>
                    <m:nary>
                      <m:naryPr>
                        <m:chr m:val="∑"/>
                        <m:ctrlPr>
                          <a:rPr lang="en-US" b="0" i="1" dirty="0" smtClean="0">
                            <a:latin typeface="Cambria Math" panose="02040503050406030204" pitchFamily="18" charset="0"/>
                          </a:rPr>
                        </m:ctrlPr>
                      </m:naryPr>
                      <m:sub>
                        <m:r>
                          <m:rPr>
                            <m:brk m:alnAt="23"/>
                          </m:rPr>
                          <a:rPr lang="en-US" b="0" i="1" dirty="0" smtClean="0">
                            <a:latin typeface="Cambria Math"/>
                          </a:rPr>
                          <m:t>𝑖</m:t>
                        </m:r>
                        <m:r>
                          <a:rPr lang="en-US" b="0" i="1" dirty="0" smtClean="0">
                            <a:latin typeface="Cambria Math"/>
                          </a:rPr>
                          <m:t>=1</m:t>
                        </m:r>
                      </m:sub>
                      <m:sup>
                        <m:r>
                          <a:rPr lang="en-US" b="0" i="1" dirty="0" smtClean="0">
                            <a:latin typeface="Cambria Math"/>
                          </a:rPr>
                          <m:t>𝑛</m:t>
                        </m:r>
                      </m:sup>
                      <m:e>
                        <m:sSub>
                          <m:sSubPr>
                            <m:ctrlPr>
                              <a:rPr lang="en-US" b="0" i="1" dirty="0" smtClean="0">
                                <a:latin typeface="Cambria Math" panose="02040503050406030204" pitchFamily="18" charset="0"/>
                              </a:rPr>
                            </m:ctrlPr>
                          </m:sSubPr>
                          <m:e>
                            <m:r>
                              <a:rPr lang="en-US" b="0" i="1" dirty="0" smtClean="0">
                                <a:latin typeface="Cambria Math"/>
                              </a:rPr>
                              <m:t>𝑋</m:t>
                            </m:r>
                          </m:e>
                          <m:sub>
                            <m:r>
                              <a:rPr lang="en-US" b="0" i="1" dirty="0" smtClean="0">
                                <a:latin typeface="Cambria Math"/>
                              </a:rPr>
                              <m:t>𝑖</m:t>
                            </m:r>
                          </m:sub>
                        </m:sSub>
                      </m:e>
                    </m:nary>
                  </m:oMath>
                </a14:m>
                <a:endParaRPr lang="en-US" dirty="0"/>
              </a:p>
              <a:p>
                <a:pPr lvl="1"/>
                <a:r>
                  <a:rPr lang="en-US" dirty="0"/>
                  <a:t>The sample median: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𝑥</m:t>
                        </m:r>
                      </m:e>
                    </m:acc>
                    <m:r>
                      <a:rPr lang="en-US" i="1">
                        <a:latin typeface="Cambria Math"/>
                      </a:rPr>
                      <m:t>= </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a:rPr>
                                  <m:t>𝑥</m:t>
                                </m:r>
                              </m:e>
                              <m:sub>
                                <m:r>
                                  <a:rPr lang="en-US" i="1">
                                    <a:latin typeface="Cambria Math"/>
                                  </a:rPr>
                                  <m:t>(</m:t>
                                </m:r>
                                <m:r>
                                  <a:rPr lang="en-US" i="1">
                                    <a:latin typeface="Cambria Math"/>
                                  </a:rPr>
                                  <m:t>𝑛</m:t>
                                </m:r>
                                <m:r>
                                  <a:rPr lang="en-US" i="1">
                                    <a:latin typeface="Cambria Math"/>
                                  </a:rPr>
                                  <m:t>+1)/2</m:t>
                                </m:r>
                              </m:sub>
                            </m:sSub>
                            <m:r>
                              <a:rPr lang="en-US" i="1">
                                <a:latin typeface="Cambria Math"/>
                              </a:rPr>
                              <m:t>          , </m:t>
                            </m:r>
                            <m:r>
                              <a:rPr lang="en-US" i="1">
                                <a:latin typeface="Cambria Math"/>
                              </a:rPr>
                              <m:t>𝑛</m:t>
                            </m:r>
                            <m:r>
                              <a:rPr lang="en-US" i="1">
                                <a:latin typeface="Cambria Math"/>
                              </a:rPr>
                              <m:t> </m:t>
                            </m:r>
                            <m:r>
                              <m:rPr>
                                <m:sty m:val="p"/>
                              </m:rPr>
                              <a:rPr lang="en-US">
                                <a:latin typeface="Cambria Math"/>
                              </a:rPr>
                              <m:t>odd</m:t>
                            </m:r>
                          </m:e>
                          <m:e>
                            <m:f>
                              <m:fPr>
                                <m:ctrlPr>
                                  <a:rPr lang="en-US" i="1">
                                    <a:latin typeface="Cambria Math" panose="02040503050406030204" pitchFamily="18" charset="0"/>
                                  </a:rPr>
                                </m:ctrlPr>
                              </m:fPr>
                              <m:num>
                                <m:r>
                                  <a:rPr lang="en-US" i="1">
                                    <a:latin typeface="Cambria Math"/>
                                  </a:rPr>
                                  <m:t>1</m:t>
                                </m:r>
                              </m:num>
                              <m:den>
                                <m:r>
                                  <a:rPr lang="en-US" i="1">
                                    <a:latin typeface="Cambria Math"/>
                                  </a:rPr>
                                  <m:t>2</m:t>
                                </m:r>
                              </m:den>
                            </m:f>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𝑥</m:t>
                                    </m:r>
                                  </m:e>
                                  <m:sub>
                                    <m:r>
                                      <a:rPr lang="en-US" i="1">
                                        <a:latin typeface="Cambria Math"/>
                                      </a:rPr>
                                      <m:t>𝑛</m:t>
                                    </m:r>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𝑛</m:t>
                                    </m:r>
                                    <m:r>
                                      <a:rPr lang="en-US" i="1">
                                        <a:latin typeface="Cambria Math"/>
                                      </a:rPr>
                                      <m:t>/2+1</m:t>
                                    </m:r>
                                  </m:sub>
                                </m:sSub>
                              </m:e>
                            </m:d>
                            <m:r>
                              <a:rPr lang="en-US" i="1">
                                <a:latin typeface="Cambria Math"/>
                              </a:rPr>
                              <m:t> , </m:t>
                            </m:r>
                            <m:r>
                              <a:rPr lang="en-US" i="1">
                                <a:latin typeface="Cambria Math"/>
                              </a:rPr>
                              <m:t>𝑛</m:t>
                            </m:r>
                            <m:r>
                              <a:rPr lang="en-US" i="1">
                                <a:latin typeface="Cambria Math"/>
                              </a:rPr>
                              <m:t> </m:t>
                            </m:r>
                            <m:r>
                              <m:rPr>
                                <m:sty m:val="p"/>
                              </m:rPr>
                              <a:rPr lang="en-US">
                                <a:latin typeface="Cambria Math"/>
                              </a:rPr>
                              <m:t>even</m:t>
                            </m:r>
                          </m:e>
                        </m:eqArr>
                        <m:r>
                          <a:rPr lang="en-US" i="1">
                            <a:latin typeface="Cambria Math"/>
                          </a:rPr>
                          <m:t>   </m:t>
                        </m:r>
                      </m:e>
                    </m:d>
                  </m:oMath>
                </a14:m>
                <a:endParaRPr lang="en-US" dirty="0"/>
              </a:p>
              <a:p>
                <a:pPr lvl="1"/>
                <a:r>
                  <a:rPr lang="en-US" dirty="0"/>
                  <a:t>The sample mode: the most frequently occurring value of the sample. Note that a sample can have more than one mode. In the sample, </a:t>
                </a:r>
                <a14:m>
                  <m:oMath xmlns:m="http://schemas.openxmlformats.org/officeDocument/2006/math">
                    <m:r>
                      <a:rPr lang="en-US" b="0" i="1" smtClean="0">
                        <a:latin typeface="Cambria Math"/>
                      </a:rPr>
                      <m:t>10, 4, 5, 5, 10, 6, 3, 2</m:t>
                    </m:r>
                  </m:oMath>
                </a14:m>
                <a:r>
                  <a:rPr lang="en-US" dirty="0"/>
                  <a:t>; the modes are </a:t>
                </a:r>
                <a14:m>
                  <m:oMath xmlns:m="http://schemas.openxmlformats.org/officeDocument/2006/math">
                    <m:r>
                      <a:rPr lang="en-US" b="0" i="1" smtClean="0">
                        <a:latin typeface="Cambria Math"/>
                      </a:rPr>
                      <m:t>5</m:t>
                    </m:r>
                  </m:oMath>
                </a14:m>
                <a:r>
                  <a:rPr lang="en-US" dirty="0"/>
                  <a:t> and </a:t>
                </a:r>
                <a14:m>
                  <m:oMath xmlns:m="http://schemas.openxmlformats.org/officeDocument/2006/math">
                    <m:r>
                      <a:rPr lang="en-US" b="0" i="1" smtClean="0">
                        <a:latin typeface="Cambria Math"/>
                      </a:rPr>
                      <m:t>10</m:t>
                    </m:r>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a:stretch>
              </a:blipFill>
            </p:spPr>
            <p:txBody>
              <a:bodyPr/>
              <a:lstStyle/>
              <a:p>
                <a:r>
                  <a:rPr lang="en-US">
                    <a:noFill/>
                  </a:rPr>
                  <a:t> </a:t>
                </a:r>
              </a:p>
            </p:txBody>
          </p:sp>
        </mc:Fallback>
      </mc:AlternateContent>
    </p:spTree>
    <p:extLst>
      <p:ext uri="{BB962C8B-B14F-4D97-AF65-F5344CB8AC3E}">
        <p14:creationId xmlns:p14="http://schemas.microsoft.com/office/powerpoint/2010/main" val="67643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8.2 – Important Descriptive Statistics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We use the following statistics to measure the variability, or spread, of a sample: </a:t>
                </a:r>
              </a:p>
              <a:p>
                <a:pPr lvl="1"/>
                <a:r>
                  <a:rPr lang="en-US" dirty="0"/>
                  <a:t>Sample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𝑛</m:t>
                        </m:r>
                        <m:r>
                          <a:rPr lang="en-US" b="0" i="1" smtClean="0">
                            <a:latin typeface="Cambria Math"/>
                          </a:rPr>
                          <m:t>−1</m:t>
                        </m:r>
                      </m:den>
                    </m:f>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sub>
                                </m:sSub>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𝑋</m:t>
                                    </m:r>
                                  </m:e>
                                </m:acc>
                              </m:e>
                            </m:d>
                          </m:e>
                          <m:sup>
                            <m:r>
                              <a:rPr lang="en-US" b="0" i="1" smtClean="0">
                                <a:latin typeface="Cambria Math"/>
                              </a:rPr>
                              <m:t>2</m:t>
                            </m:r>
                          </m:sup>
                        </m:sSup>
                      </m:e>
                    </m:nary>
                  </m:oMath>
                </a14:m>
                <a:endParaRPr lang="en-US" b="0" dirty="0"/>
              </a:p>
              <a:p>
                <a:pPr lvl="1"/>
                <a:r>
                  <a:rPr lang="en-US" dirty="0"/>
                  <a:t>Sample standard deviation: </a:t>
                </a:r>
                <a14:m>
                  <m:oMath xmlns:m="http://schemas.openxmlformats.org/officeDocument/2006/math">
                    <m:r>
                      <a:rPr lang="en-US" b="0" i="1" smtClean="0">
                        <a:latin typeface="Cambria Math"/>
                      </a:rPr>
                      <m:t>𝑆</m:t>
                    </m:r>
                    <m:r>
                      <a:rPr lang="en-US" b="0" i="1" smtClean="0">
                        <a:latin typeface="Cambria Math"/>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e>
                    </m:rad>
                  </m:oMath>
                </a14:m>
                <a:endParaRPr lang="en-US" b="0" dirty="0"/>
              </a:p>
              <a:p>
                <a:pPr lvl="1"/>
                <a:r>
                  <a:rPr lang="en-US" dirty="0"/>
                  <a:t>Sample range: </a:t>
                </a:r>
                <a14:m>
                  <m:oMath xmlns:m="http://schemas.openxmlformats.org/officeDocument/2006/math">
                    <m:r>
                      <a:rPr lang="en-US" b="0" i="1" smtClean="0">
                        <a:latin typeface="Cambria Math"/>
                      </a:rPr>
                      <m:t>𝑅</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𝑚𝑎𝑥</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𝑚𝑖𝑛</m:t>
                        </m:r>
                      </m:sub>
                    </m:sSub>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a:stretch>
              </a:blipFill>
            </p:spPr>
            <p:txBody>
              <a:bodyPr/>
              <a:lstStyle/>
              <a:p>
                <a:r>
                  <a:rPr lang="en-US">
                    <a:noFill/>
                  </a:rPr>
                  <a:t> </a:t>
                </a:r>
              </a:p>
            </p:txBody>
          </p:sp>
        </mc:Fallback>
      </mc:AlternateContent>
    </p:spTree>
    <p:extLst>
      <p:ext uri="{BB962C8B-B14F-4D97-AF65-F5344CB8AC3E}">
        <p14:creationId xmlns:p14="http://schemas.microsoft.com/office/powerpoint/2010/main" val="3598607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p:sp>
        <p:nvSpPr>
          <p:cNvPr id="3" name="Content Placeholder 2"/>
          <p:cNvSpPr>
            <a:spLocks noGrp="1"/>
          </p:cNvSpPr>
          <p:nvPr>
            <p:ph sz="quarter" idx="1"/>
          </p:nvPr>
        </p:nvSpPr>
        <p:spPr/>
        <p:txBody>
          <a:bodyPr>
            <a:normAutofit/>
          </a:bodyPr>
          <a:lstStyle/>
          <a:p>
            <a:r>
              <a:rPr lang="en-US" dirty="0"/>
              <a:t>In 8.2, I mentioned that everything we will do during the rest of the course depends on the fact that a statistic is also a random variable. Again, this is because a statistic is a function of random variables. </a:t>
            </a:r>
          </a:p>
          <a:p>
            <a:endParaRPr lang="en-US" dirty="0"/>
          </a:p>
          <a:p>
            <a:r>
              <a:rPr lang="en-US" dirty="0"/>
              <a:t>The most important aspect of this for us is that because every statistic is a random variable, every statistic must also have a probability distribution. The probability distribution of a statistic is called a </a:t>
            </a:r>
            <a:r>
              <a:rPr lang="en-US" i="1" dirty="0"/>
              <a:t>sampling distribution</a:t>
            </a:r>
            <a:r>
              <a:rPr lang="en-US" dirty="0"/>
              <a:t>.</a:t>
            </a:r>
          </a:p>
          <a:p>
            <a:endParaRPr lang="en-US" dirty="0"/>
          </a:p>
        </p:txBody>
      </p:sp>
    </p:spTree>
    <p:extLst>
      <p:ext uri="{BB962C8B-B14F-4D97-AF65-F5344CB8AC3E}">
        <p14:creationId xmlns:p14="http://schemas.microsoft.com/office/powerpoint/2010/main" val="3221109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p:sp>
        <p:nvSpPr>
          <p:cNvPr id="3" name="Content Placeholder 2"/>
          <p:cNvSpPr>
            <a:spLocks noGrp="1"/>
          </p:cNvSpPr>
          <p:nvPr>
            <p:ph sz="quarter" idx="1"/>
          </p:nvPr>
        </p:nvSpPr>
        <p:spPr/>
        <p:txBody>
          <a:bodyPr>
            <a:normAutofit/>
          </a:bodyPr>
          <a:lstStyle/>
          <a:p>
            <a:r>
              <a:rPr lang="en-US" dirty="0"/>
              <a:t>Different statistics have different sampling distributions. In 8.4, we will look at the sampling distribution for the sample mean. Then we will look at the sampling distribution for sample variance in 8.5.</a:t>
            </a:r>
          </a:p>
          <a:p>
            <a:endParaRPr lang="en-US" dirty="0"/>
          </a:p>
          <a:p>
            <a:r>
              <a:rPr lang="en-US" dirty="0"/>
              <a:t>As we will see, the sampling distribution of a statistic depends on the distribution of the population, the size of the samples, and how the samples are obtained.</a:t>
            </a:r>
          </a:p>
          <a:p>
            <a:endParaRPr lang="en-US" dirty="0"/>
          </a:p>
        </p:txBody>
      </p:sp>
    </p:spTree>
    <p:extLst>
      <p:ext uri="{BB962C8B-B14F-4D97-AF65-F5344CB8AC3E}">
        <p14:creationId xmlns:p14="http://schemas.microsoft.com/office/powerpoint/2010/main" val="4221040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p:sp>
        <p:nvSpPr>
          <p:cNvPr id="3" name="Content Placeholder 2"/>
          <p:cNvSpPr>
            <a:spLocks noGrp="1"/>
          </p:cNvSpPr>
          <p:nvPr>
            <p:ph sz="quarter" idx="1"/>
          </p:nvPr>
        </p:nvSpPr>
        <p:spPr/>
        <p:txBody>
          <a:bodyPr>
            <a:normAutofit lnSpcReduction="10000"/>
          </a:bodyPr>
          <a:lstStyle/>
          <a:p>
            <a:r>
              <a:rPr lang="en-US" dirty="0"/>
              <a:t>Anytime we are doing any kind of statistical inference, we are concerned with two different probability distributions – the distribution of the population and the sampling distribution. To understand these, consider an example.</a:t>
            </a:r>
          </a:p>
          <a:p>
            <a:endParaRPr lang="en-US" dirty="0"/>
          </a:p>
          <a:p>
            <a:r>
              <a:rPr lang="en-US" dirty="0"/>
              <a:t>Suppose we want to know about the net income of Nebraskans – our population. We could define a random variable to be the net income for a Nebraskan. While it is probably not feasible to actually obtain all this information, the distribution of this random variable is the </a:t>
            </a:r>
            <a:r>
              <a:rPr lang="en-US" i="1" dirty="0"/>
              <a:t>population distribution</a:t>
            </a:r>
            <a:r>
              <a:rPr lang="en-US" dirty="0"/>
              <a:t> – the distribution of outcomes for the whole population.</a:t>
            </a:r>
          </a:p>
          <a:p>
            <a:endParaRPr lang="en-US" dirty="0"/>
          </a:p>
        </p:txBody>
      </p:sp>
    </p:spTree>
    <p:extLst>
      <p:ext uri="{BB962C8B-B14F-4D97-AF65-F5344CB8AC3E}">
        <p14:creationId xmlns:p14="http://schemas.microsoft.com/office/powerpoint/2010/main" val="915719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In order to make some kind of inference about the net income for all Nebraskans, we could randomly sample </a:t>
                </a:r>
                <a14:m>
                  <m:oMath xmlns:m="http://schemas.openxmlformats.org/officeDocument/2006/math">
                    <m:r>
                      <a:rPr lang="en-US" b="0" i="1" smtClean="0">
                        <a:latin typeface="Cambria Math"/>
                      </a:rPr>
                      <m:t>𝑛</m:t>
                    </m:r>
                  </m:oMath>
                </a14:m>
                <a:r>
                  <a:rPr lang="en-US" dirty="0"/>
                  <a:t> Nebraskans and obtain their net incomes. From these </a:t>
                </a:r>
                <a14:m>
                  <m:oMath xmlns:m="http://schemas.openxmlformats.org/officeDocument/2006/math">
                    <m:r>
                      <a:rPr lang="en-US" b="0" i="1" smtClean="0">
                        <a:latin typeface="Cambria Math"/>
                      </a:rPr>
                      <m:t>𝑛</m:t>
                    </m:r>
                  </m:oMath>
                </a14:m>
                <a:r>
                  <a:rPr lang="en-US" dirty="0"/>
                  <a:t> observations, we would calculate a statistic. In this case, suppose we calculate the sample mean,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endParaRPr lang="en-US" dirty="0"/>
              </a:p>
              <a:p>
                <a:endParaRPr lang="en-US" dirty="0"/>
              </a:p>
              <a:p>
                <a:r>
                  <a:rPr lang="en-US" dirty="0"/>
                  <a:t>Now imagine we take a different random sample, also of size </a:t>
                </a:r>
                <a14:m>
                  <m:oMath xmlns:m="http://schemas.openxmlformats.org/officeDocument/2006/math">
                    <m:r>
                      <a:rPr lang="en-US" b="0" i="1" smtClean="0">
                        <a:latin typeface="Cambria Math"/>
                      </a:rPr>
                      <m:t>𝑛</m:t>
                    </m:r>
                  </m:oMath>
                </a14:m>
                <a:r>
                  <a:rPr lang="en-US" dirty="0"/>
                  <a:t>, from the same population. We could again calculate the sample mean. Do you think the means from the two samples would be the same?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863"/>
                </a:stretch>
              </a:blipFill>
            </p:spPr>
            <p:txBody>
              <a:bodyPr/>
              <a:lstStyle/>
              <a:p>
                <a:r>
                  <a:rPr lang="en-US">
                    <a:noFill/>
                  </a:rPr>
                  <a:t> </a:t>
                </a:r>
              </a:p>
            </p:txBody>
          </p:sp>
        </mc:Fallback>
      </mc:AlternateContent>
    </p:spTree>
    <p:extLst>
      <p:ext uri="{BB962C8B-B14F-4D97-AF65-F5344CB8AC3E}">
        <p14:creationId xmlns:p14="http://schemas.microsoft.com/office/powerpoint/2010/main" val="3661071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85000" lnSpcReduction="10000"/>
              </a:bodyPr>
              <a:lstStyle/>
              <a:p>
                <a:r>
                  <a:rPr lang="en-US" dirty="0"/>
                  <a:t>Hopefully the means would be similar, but we would not expect them to be equal. Now imagine taking a large number of samples, say 1000, all of size </a:t>
                </a:r>
                <a14:m>
                  <m:oMath xmlns:m="http://schemas.openxmlformats.org/officeDocument/2006/math">
                    <m:r>
                      <a:rPr lang="en-US" b="0" i="1" smtClean="0">
                        <a:latin typeface="Cambria Math"/>
                      </a:rPr>
                      <m:t>𝑛</m:t>
                    </m:r>
                  </m:oMath>
                </a14:m>
                <a:r>
                  <a:rPr lang="en-US" dirty="0"/>
                  <a:t>. For each sample we could find the mean. Again we would not expect all of these means to be equal (though some of them probably will be). The distribution of all these means is the </a:t>
                </a:r>
                <a:r>
                  <a:rPr lang="en-US" i="1" dirty="0"/>
                  <a:t>sampling distribution</a:t>
                </a:r>
                <a:r>
                  <a:rPr lang="en-US" dirty="0"/>
                  <a:t> – the distribution of the statistic.</a:t>
                </a:r>
              </a:p>
              <a:p>
                <a:endParaRPr lang="en-US" dirty="0"/>
              </a:p>
              <a:p>
                <a:pPr lvl="1"/>
                <a:r>
                  <a:rPr lang="en-US" dirty="0"/>
                  <a:t>Technically, the sampling distribution is the distribution of all the means from all possible samples of size </a:t>
                </a:r>
                <a14:m>
                  <m:oMath xmlns:m="http://schemas.openxmlformats.org/officeDocument/2006/math">
                    <m:r>
                      <a:rPr lang="en-US" b="0" i="1" smtClean="0">
                        <a:latin typeface="Cambria Math"/>
                      </a:rPr>
                      <m:t>𝑛</m:t>
                    </m:r>
                  </m:oMath>
                </a14:m>
                <a:r>
                  <a:rPr lang="en-US" dirty="0"/>
                  <a:t>, but 1000 samples would probably provide a pretty good approximation to the true sampling distribution.</a:t>
                </a:r>
              </a:p>
              <a:p>
                <a:pPr lvl="1"/>
                <a:endParaRPr lang="en-US" dirty="0"/>
              </a:p>
              <a:p>
                <a:pPr lvl="2"/>
                <a:r>
                  <a:rPr lang="en-US" dirty="0"/>
                  <a:t>Note that the sampling distribution is a theoretical idea. We do not actually take a large number of samples  (or even more than one, usually) in practice. But we use the theory we have for sampling distributions to conduct inference.</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471" t="-1467" r="-1490"/>
                </a:stretch>
              </a:blipFill>
            </p:spPr>
            <p:txBody>
              <a:bodyPr/>
              <a:lstStyle/>
              <a:p>
                <a:r>
                  <a:rPr lang="en-US">
                    <a:noFill/>
                  </a:rPr>
                  <a:t> </a:t>
                </a:r>
              </a:p>
            </p:txBody>
          </p:sp>
        </mc:Fallback>
      </mc:AlternateContent>
    </p:spTree>
    <p:extLst>
      <p:ext uri="{BB962C8B-B14F-4D97-AF65-F5344CB8AC3E}">
        <p14:creationId xmlns:p14="http://schemas.microsoft.com/office/powerpoint/2010/main" val="170201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8.3 – Sampling Distributions</a:t>
            </a:r>
          </a:p>
        </p:txBody>
      </p:sp>
      <p:sp>
        <p:nvSpPr>
          <p:cNvPr id="3" name="Content Placeholder 2"/>
          <p:cNvSpPr>
            <a:spLocks noGrp="1"/>
          </p:cNvSpPr>
          <p:nvPr>
            <p:ph sz="quarter" idx="1"/>
          </p:nvPr>
        </p:nvSpPr>
        <p:spPr/>
        <p:txBody>
          <a:bodyPr>
            <a:normAutofit/>
          </a:bodyPr>
          <a:lstStyle/>
          <a:p>
            <a:r>
              <a:rPr lang="en-US" dirty="0"/>
              <a:t>As mentioned before, different statistics will have different sampling distributions, but the idea of a sampling distribution is the same for every statistic: </a:t>
            </a:r>
          </a:p>
          <a:p>
            <a:pPr lvl="1"/>
            <a:r>
              <a:rPr lang="en-US" dirty="0"/>
              <a:t>If we take a large number of samples, all of the same size, from a population and then calculate a statistic (the same statistic) for each sample, the distribution of those statistics is the sampling distribution.</a:t>
            </a:r>
          </a:p>
          <a:p>
            <a:endParaRPr lang="en-US" dirty="0"/>
          </a:p>
        </p:txBody>
      </p:sp>
    </p:spTree>
    <p:extLst>
      <p:ext uri="{BB962C8B-B14F-4D97-AF65-F5344CB8AC3E}">
        <p14:creationId xmlns:p14="http://schemas.microsoft.com/office/powerpoint/2010/main" val="237917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p:sp>
        <p:nvSpPr>
          <p:cNvPr id="3" name="Content Placeholder 2"/>
          <p:cNvSpPr>
            <a:spLocks noGrp="1"/>
          </p:cNvSpPr>
          <p:nvPr>
            <p:ph sz="quarter" idx="1"/>
          </p:nvPr>
        </p:nvSpPr>
        <p:spPr/>
        <p:txBody>
          <a:bodyPr>
            <a:normAutofit/>
          </a:bodyPr>
          <a:lstStyle/>
          <a:p>
            <a:r>
              <a:rPr lang="en-US" dirty="0"/>
              <a:t>In this section we introduce the sampling distribution for the sample mean. We will also introduce one of the most important theorems in all of statistics: the Central Limit Theorem. </a:t>
            </a:r>
          </a:p>
          <a:p>
            <a:endParaRPr lang="en-US" dirty="0"/>
          </a:p>
          <a:p>
            <a:r>
              <a:rPr lang="en-US" dirty="0"/>
              <a:t>Both of these concepts will be invaluable for the chapters on inference.</a:t>
            </a:r>
          </a:p>
          <a:p>
            <a:endParaRPr lang="en-US" dirty="0"/>
          </a:p>
        </p:txBody>
      </p:sp>
    </p:spTree>
    <p:extLst>
      <p:ext uri="{BB962C8B-B14F-4D97-AF65-F5344CB8AC3E}">
        <p14:creationId xmlns:p14="http://schemas.microsoft.com/office/powerpoint/2010/main" val="323244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Suppose that we take a random sample of </a:t>
                </a:r>
                <a14:m>
                  <m:oMath xmlns:m="http://schemas.openxmlformats.org/officeDocument/2006/math">
                    <m:r>
                      <a:rPr lang="en-US" b="0" i="1" smtClean="0">
                        <a:latin typeface="Cambria Math"/>
                      </a:rPr>
                      <m:t>𝑛</m:t>
                    </m:r>
                  </m:oMath>
                </a14:m>
                <a:r>
                  <a:rPr lang="en-US" dirty="0"/>
                  <a:t> observations from a normal population with mean </a:t>
                </a:r>
                <a14:m>
                  <m:oMath xmlns:m="http://schemas.openxmlformats.org/officeDocument/2006/math">
                    <m:r>
                      <a:rPr lang="en-US" b="0" i="1" smtClean="0">
                        <a:latin typeface="Cambria Math"/>
                      </a:rPr>
                      <m:t>𝜇</m:t>
                    </m:r>
                  </m:oMath>
                </a14:m>
                <a:r>
                  <a:rPr lang="en-US" dirty="0"/>
                  <a:t> and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Then the sample mean is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1</m:t>
                        </m:r>
                      </m:num>
                      <m:den>
                        <m:r>
                          <a:rPr lang="en-US" b="0" i="1" dirty="0" smtClean="0">
                            <a:latin typeface="Cambria Math"/>
                          </a:rPr>
                          <m:t>𝑛</m:t>
                        </m:r>
                      </m:den>
                    </m:f>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a:rPr>
                              <m:t>𝑋</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𝑋</m:t>
                            </m:r>
                          </m:e>
                          <m:sub>
                            <m:r>
                              <a:rPr lang="en-US" b="0" i="1" dirty="0" smtClean="0">
                                <a:latin typeface="Cambria Math"/>
                              </a:rPr>
                              <m:t>2</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𝑋</m:t>
                            </m:r>
                          </m:e>
                          <m:sub>
                            <m:r>
                              <a:rPr lang="en-US" b="0" i="1" dirty="0" smtClean="0">
                                <a:latin typeface="Cambria Math"/>
                              </a:rPr>
                              <m:t>𝑛</m:t>
                            </m:r>
                          </m:sub>
                        </m:sSub>
                      </m:e>
                    </m:d>
                  </m:oMath>
                </a14:m>
                <a:r>
                  <a:rPr lang="en-US" dirty="0"/>
                  <a:t>.</a:t>
                </a:r>
              </a:p>
              <a:p>
                <a:endParaRPr lang="en-US" dirty="0"/>
              </a:p>
              <a:p>
                <a:r>
                  <a:rPr lang="en-US" dirty="0"/>
                  <a:t>What is the mean of the sample mean? What is the variance of the sample mean? That is, what are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e>
                    </m:d>
                  </m:oMath>
                </a14:m>
                <a:r>
                  <a:rPr lang="en-US" dirty="0"/>
                  <a:t> and </a:t>
                </a:r>
                <a14:m>
                  <m:oMath xmlns:m="http://schemas.openxmlformats.org/officeDocument/2006/math">
                    <m:r>
                      <a:rPr lang="en-US" b="0" i="1" smtClean="0">
                        <a:latin typeface="Cambria Math"/>
                      </a:rPr>
                      <m:t>𝑉</m:t>
                    </m:r>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a:stretch>
              </a:blipFill>
            </p:spPr>
            <p:txBody>
              <a:bodyPr/>
              <a:lstStyle/>
              <a:p>
                <a:r>
                  <a:rPr lang="en-US">
                    <a:noFill/>
                  </a:rPr>
                  <a:t> </a:t>
                </a:r>
              </a:p>
            </p:txBody>
          </p:sp>
        </mc:Fallback>
      </mc:AlternateContent>
    </p:spTree>
    <p:extLst>
      <p:ext uri="{BB962C8B-B14F-4D97-AF65-F5344CB8AC3E}">
        <p14:creationId xmlns:p14="http://schemas.microsoft.com/office/powerpoint/2010/main" val="991484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p:sp>
        <p:nvSpPr>
          <p:cNvPr id="3" name="Content Placeholder 2"/>
          <p:cNvSpPr>
            <a:spLocks noGrp="1"/>
          </p:cNvSpPr>
          <p:nvPr>
            <p:ph sz="quarter" idx="1"/>
          </p:nvPr>
        </p:nvSpPr>
        <p:spPr/>
        <p:txBody>
          <a:bodyPr>
            <a:normAutofit/>
          </a:bodyPr>
          <a:lstStyle/>
          <a:p>
            <a:r>
              <a:rPr lang="en-US" dirty="0"/>
              <a:t>This tells us that if we take a random sample from a normal population, the sampling distribution of the mean is centered at the population mean, and the variance of the sampling distribution is simply the population variance divided by the sample size. As we will see, this is incredibly useful for inference. </a:t>
            </a:r>
          </a:p>
          <a:p>
            <a:endParaRPr lang="en-US" dirty="0"/>
          </a:p>
          <a:p>
            <a:r>
              <a:rPr lang="en-US" dirty="0"/>
              <a:t>This result can also be demonstrated using the Central Limit Theorem which we will soon go over.</a:t>
            </a:r>
          </a:p>
          <a:p>
            <a:endParaRPr lang="en-US" dirty="0"/>
          </a:p>
        </p:txBody>
      </p:sp>
    </p:spTree>
    <p:extLst>
      <p:ext uri="{BB962C8B-B14F-4D97-AF65-F5344CB8AC3E}">
        <p14:creationId xmlns:p14="http://schemas.microsoft.com/office/powerpoint/2010/main" val="3094886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Central Limit Theorem (CLT): Assume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is the mean of a random sample of size </a:t>
                </a:r>
                <a14:m>
                  <m:oMath xmlns:m="http://schemas.openxmlformats.org/officeDocument/2006/math">
                    <m:r>
                      <a:rPr lang="en-US" b="0" i="1" smtClean="0">
                        <a:latin typeface="Cambria Math"/>
                      </a:rPr>
                      <m:t>𝑛</m:t>
                    </m:r>
                  </m:oMath>
                </a14:m>
                <a:r>
                  <a:rPr lang="en-US" dirty="0"/>
                  <a:t> taken from a population with mean </a:t>
                </a:r>
                <a14:m>
                  <m:oMath xmlns:m="http://schemas.openxmlformats.org/officeDocument/2006/math">
                    <m:r>
                      <a:rPr lang="en-US" b="0" i="1" smtClean="0">
                        <a:latin typeface="Cambria Math"/>
                      </a:rPr>
                      <m:t>𝜇</m:t>
                    </m:r>
                  </m:oMath>
                </a14:m>
                <a:r>
                  <a:rPr lang="en-US" dirty="0"/>
                  <a:t> and finite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then as </a:t>
                </a:r>
                <a14:m>
                  <m:oMath xmlns:m="http://schemas.openxmlformats.org/officeDocument/2006/math">
                    <m:r>
                      <a:rPr lang="en-US" b="0" i="1" smtClean="0">
                        <a:latin typeface="Cambria Math"/>
                      </a:rPr>
                      <m:t>𝑛</m:t>
                    </m:r>
                    <m:r>
                      <a:rPr lang="en-US" b="0" i="1" smtClean="0">
                        <a:latin typeface="Cambria Math"/>
                      </a:rPr>
                      <m:t>→∞</m:t>
                    </m:r>
                  </m:oMath>
                </a14:m>
                <a:r>
                  <a:rPr lang="en-US" dirty="0"/>
                  <a:t>, the limiting form of the distribution of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m:t>
                        </m:r>
                        <m:r>
                          <a:rPr lang="en-US" b="0" i="1" smtClean="0">
                            <a:latin typeface="Cambria Math"/>
                          </a:rPr>
                          <m:t>𝜇</m:t>
                        </m:r>
                      </m:num>
                      <m:den>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 is the standard normal distribution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0,1</m:t>
                            </m:r>
                          </m:e>
                        </m:d>
                      </m:e>
                    </m:d>
                  </m:oMath>
                </a14:m>
                <a:endParaRPr lang="en-US" dirty="0"/>
              </a:p>
              <a:p>
                <a:endParaRPr lang="en-US" dirty="0"/>
              </a:p>
              <a:p>
                <a:r>
                  <a:rPr lang="en-US" dirty="0"/>
                  <a:t>There is a lot to unpack here, so let’s start with the easiest thing. One of the remarkable things about the CLT is that the underlying population doesn’t have to be normal. It holds for any distribution that has a mean and finite variance.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r="-1490" b="-1867"/>
                </a:stretch>
              </a:blipFill>
            </p:spPr>
            <p:txBody>
              <a:bodyPr/>
              <a:lstStyle/>
              <a:p>
                <a:r>
                  <a:rPr lang="en-US">
                    <a:noFill/>
                  </a:rPr>
                  <a:t> </a:t>
                </a:r>
              </a:p>
            </p:txBody>
          </p:sp>
        </mc:Fallback>
      </mc:AlternateContent>
    </p:spTree>
    <p:extLst>
      <p:ext uri="{BB962C8B-B14F-4D97-AF65-F5344CB8AC3E}">
        <p14:creationId xmlns:p14="http://schemas.microsoft.com/office/powerpoint/2010/main" val="766125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The next thing to understand is what’s going on with this </a:t>
                </a:r>
                <a14:m>
                  <m:oMath xmlns:m="http://schemas.openxmlformats.org/officeDocument/2006/math">
                    <m:r>
                      <a:rPr lang="en-US" b="0" i="1" smtClean="0">
                        <a:latin typeface="Cambria Math"/>
                      </a:rPr>
                      <m:t>𝑍</m:t>
                    </m:r>
                  </m:oMath>
                </a14:m>
                <a:r>
                  <a:rPr lang="en-US" dirty="0"/>
                  <a:t> variable. We said that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 . This is simply a transformation so that we end up with a standard normal distribution. We could also say that the limiting form for the 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is </a:t>
                </a:r>
                <a14:m>
                  <m:oMath xmlns:m="http://schemas.openxmlformats.org/officeDocument/2006/math">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num>
                          <m:den>
                            <m:r>
                              <a:rPr lang="en-US" b="0" i="1" smtClean="0">
                                <a:latin typeface="Cambria Math"/>
                              </a:rPr>
                              <m:t>𝑛</m:t>
                            </m:r>
                          </m:den>
                        </m:f>
                      </m:e>
                    </m:d>
                  </m:oMath>
                </a14:m>
                <a:r>
                  <a:rPr lang="en-US"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a:stretch>
              </a:blipFill>
            </p:spPr>
            <p:txBody>
              <a:bodyPr/>
              <a:lstStyle/>
              <a:p>
                <a:r>
                  <a:rPr lang="en-US">
                    <a:noFill/>
                  </a:rPr>
                  <a:t> </a:t>
                </a:r>
              </a:p>
            </p:txBody>
          </p:sp>
        </mc:Fallback>
      </mc:AlternateContent>
    </p:spTree>
    <p:extLst>
      <p:ext uri="{BB962C8B-B14F-4D97-AF65-F5344CB8AC3E}">
        <p14:creationId xmlns:p14="http://schemas.microsoft.com/office/powerpoint/2010/main" val="3947507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lnSpcReduction="20000"/>
              </a:bodyPr>
              <a:lstStyle/>
              <a:p>
                <a:r>
                  <a:rPr lang="en-US" dirty="0"/>
                  <a:t>Finally, we need to talk about the idea of a limiting form for a distribution. What we are saying is that the larger our sample size becomes, the more the sampling distribution of the sample mean will look like a normal distribution. </a:t>
                </a:r>
              </a:p>
              <a:p>
                <a:endParaRPr lang="en-US" dirty="0"/>
              </a:p>
              <a:p>
                <a:r>
                  <a:rPr lang="en-US" dirty="0"/>
                  <a:t>Unfortunately, this means that the sampling distribution of the sampling mean is exactly </a:t>
                </a:r>
                <a14:m>
                  <m:oMath xmlns:m="http://schemas.openxmlformats.org/officeDocument/2006/math">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num>
                          <m:den>
                            <m:r>
                              <a:rPr lang="en-US" b="0" i="1" smtClean="0">
                                <a:latin typeface="Cambria Math"/>
                              </a:rPr>
                              <m:t>𝑛</m:t>
                            </m:r>
                          </m:den>
                        </m:f>
                      </m:e>
                    </m:d>
                  </m:oMath>
                </a14:m>
                <a:r>
                  <a:rPr lang="en-US" dirty="0"/>
                  <a:t> only with an infinite sample size (which is not possible in reality). All we can really say is that with large </a:t>
                </a:r>
                <a14:m>
                  <m:oMath xmlns:m="http://schemas.openxmlformats.org/officeDocument/2006/math">
                    <m:r>
                      <a:rPr lang="en-US" b="0" i="1" smtClean="0">
                        <a:latin typeface="Cambria Math"/>
                      </a:rPr>
                      <m:t>𝑛</m:t>
                    </m:r>
                  </m:oMath>
                </a14:m>
                <a:r>
                  <a:rPr lang="en-US" dirty="0"/>
                  <a:t>, the sampling distribution will be approximately normal. We can express this as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acc>
                      <m:accPr>
                        <m:chr m:val="̇"/>
                        <m:ctrlPr>
                          <a:rPr lang="en-US" b="0" i="1" dirty="0" smtClean="0">
                            <a:latin typeface="Cambria Math" panose="02040503050406030204" pitchFamily="18" charset="0"/>
                          </a:rPr>
                        </m:ctrlPr>
                      </m:accPr>
                      <m:e>
                        <m:r>
                          <a:rPr lang="en-US" b="0" i="1" dirty="0" smtClean="0">
                            <a:latin typeface="Cambria Math"/>
                          </a:rPr>
                          <m:t>~</m:t>
                        </m:r>
                      </m:e>
                    </m:acc>
                    <m:r>
                      <a:rPr lang="en-US" b="0" i="1" dirty="0" smtClean="0">
                        <a:latin typeface="Cambria Math"/>
                      </a:rPr>
                      <m:t>𝑁</m:t>
                    </m:r>
                    <m:d>
                      <m:dPr>
                        <m:ctrlPr>
                          <a:rPr lang="en-US" b="0" i="1" dirty="0" smtClean="0">
                            <a:latin typeface="Cambria Math" panose="02040503050406030204" pitchFamily="18" charset="0"/>
                          </a:rPr>
                        </m:ctrlPr>
                      </m:dPr>
                      <m:e>
                        <m:r>
                          <a:rPr lang="en-US" b="0" i="1" dirty="0" smtClean="0">
                            <a:latin typeface="Cambria Math"/>
                          </a:rPr>
                          <m:t>𝜇</m:t>
                        </m:r>
                        <m:r>
                          <a:rPr lang="en-US" b="0" i="1" dirty="0" smtClean="0">
                            <a:latin typeface="Cambria Math"/>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a:rPr>
                                  <m:t>𝜎</m:t>
                                </m:r>
                              </m:e>
                              <m:sup>
                                <m:r>
                                  <a:rPr lang="en-US" b="0" i="1" dirty="0" smtClean="0">
                                    <a:latin typeface="Cambria Math"/>
                                  </a:rPr>
                                  <m:t>2</m:t>
                                </m:r>
                              </m:sup>
                            </m:sSup>
                          </m:num>
                          <m:den>
                            <m:r>
                              <a:rPr lang="en-US" b="0" i="1" dirty="0" smtClean="0">
                                <a:latin typeface="Cambria Math"/>
                              </a:rPr>
                              <m:t>𝑛</m:t>
                            </m:r>
                          </m:den>
                        </m:f>
                      </m:e>
                    </m:d>
                  </m:oMath>
                </a14:m>
                <a:r>
                  <a:rPr lang="en-US" dirty="0"/>
                  <a:t>. However, the CLT tells us nothing about how good that approximation will be or how large we need </a:t>
                </a:r>
                <a14:m>
                  <m:oMath xmlns:m="http://schemas.openxmlformats.org/officeDocument/2006/math">
                    <m:r>
                      <a:rPr lang="en-US" b="0" i="1" smtClean="0">
                        <a:latin typeface="Cambria Math"/>
                      </a:rPr>
                      <m:t>𝑛</m:t>
                    </m:r>
                  </m:oMath>
                </a14:m>
                <a:r>
                  <a:rPr lang="en-US" dirty="0"/>
                  <a:t> to be in order to have a good approximation to the normal distribution.</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49" t="-2267" r="-549"/>
                </a:stretch>
              </a:blipFill>
            </p:spPr>
            <p:txBody>
              <a:bodyPr/>
              <a:lstStyle/>
              <a:p>
                <a:r>
                  <a:rPr lang="en-US">
                    <a:noFill/>
                  </a:rPr>
                  <a:t> </a:t>
                </a:r>
              </a:p>
            </p:txBody>
          </p:sp>
        </mc:Fallback>
      </mc:AlternateContent>
    </p:spTree>
    <p:extLst>
      <p:ext uri="{BB962C8B-B14F-4D97-AF65-F5344CB8AC3E}">
        <p14:creationId xmlns:p14="http://schemas.microsoft.com/office/powerpoint/2010/main" val="3200997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So while we mentioned that the CLT holds for any population distribution, we only know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𝑁</m:t>
                    </m:r>
                    <m:d>
                      <m:dPr>
                        <m:ctrlPr>
                          <a:rPr lang="en-US" b="0" i="1" dirty="0" smtClean="0">
                            <a:latin typeface="Cambria Math" panose="02040503050406030204" pitchFamily="18" charset="0"/>
                          </a:rPr>
                        </m:ctrlPr>
                      </m:dPr>
                      <m:e>
                        <m:r>
                          <a:rPr lang="en-US" b="0" i="1" dirty="0" smtClean="0">
                            <a:latin typeface="Cambria Math"/>
                          </a:rPr>
                          <m:t>𝜇</m:t>
                        </m:r>
                        <m:r>
                          <a:rPr lang="en-US" b="0" i="1" dirty="0" smtClean="0">
                            <a:latin typeface="Cambria Math"/>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a:rPr>
                                  <m:t>𝜎</m:t>
                                </m:r>
                              </m:e>
                              <m:sup>
                                <m:r>
                                  <a:rPr lang="en-US" b="0" i="1" dirty="0" smtClean="0">
                                    <a:latin typeface="Cambria Math"/>
                                  </a:rPr>
                                  <m:t>2</m:t>
                                </m:r>
                              </m:sup>
                            </m:sSup>
                          </m:num>
                          <m:den>
                            <m:r>
                              <a:rPr lang="en-US" b="0" i="1" dirty="0" smtClean="0">
                                <a:latin typeface="Cambria Math"/>
                              </a:rPr>
                              <m:t>𝑛</m:t>
                            </m:r>
                          </m:den>
                        </m:f>
                      </m:e>
                    </m:d>
                  </m:oMath>
                </a14:m>
                <a:r>
                  <a:rPr lang="en-US" dirty="0"/>
                  <a:t> (not in limiting form, but exactly), when the population distribution is normal. For any other population distribution, we’re dealing with approximations to normality.</a:t>
                </a:r>
              </a:p>
              <a:p>
                <a:endParaRPr lang="en-US" dirty="0"/>
              </a:p>
              <a:p>
                <a:r>
                  <a:rPr lang="en-US" dirty="0"/>
                  <a:t>The issues raised on the previous slide about approximating a normal distribution are a little beyond the scope of this class, but they are important considerations in practice. </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784" t="-1200" r="-1490"/>
                </a:stretch>
              </a:blipFill>
            </p:spPr>
            <p:txBody>
              <a:bodyPr/>
              <a:lstStyle/>
              <a:p>
                <a:r>
                  <a:rPr lang="en-US">
                    <a:noFill/>
                  </a:rPr>
                  <a:t> </a:t>
                </a:r>
              </a:p>
            </p:txBody>
          </p:sp>
        </mc:Fallback>
      </mc:AlternateContent>
    </p:spTree>
    <p:extLst>
      <p:ext uri="{BB962C8B-B14F-4D97-AF65-F5344CB8AC3E}">
        <p14:creationId xmlns:p14="http://schemas.microsoft.com/office/powerpoint/2010/main" val="738916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p:sp>
        <p:nvSpPr>
          <p:cNvPr id="3" name="Content Placeholder 2"/>
          <p:cNvSpPr>
            <a:spLocks noGrp="1"/>
          </p:cNvSpPr>
          <p:nvPr>
            <p:ph sz="quarter" idx="1"/>
          </p:nvPr>
        </p:nvSpPr>
        <p:spPr/>
        <p:txBody>
          <a:bodyPr>
            <a:normAutofit/>
          </a:bodyPr>
          <a:lstStyle/>
          <a:p>
            <a:r>
              <a:rPr lang="en-US" dirty="0"/>
              <a:t>So here’s the idea of the CLT: For any population distribution, the sampling distribution of the sample mean will look more and more like a normal distribution as the sample size gets larger and larger.</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2612552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(prelude to inference): A certain automobile manufacturing process is concerned about the diameter of the parts they produce. It is important to the process that the parts produced have a mean diameter of 5 millimeters. A quality control engineer for the process hypothesizes that the population mean for the process is indeed 5 millimeters. To test this, he randomly samples 100 parts from the process and finds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=5.027</m:t>
                    </m:r>
                  </m:oMath>
                </a14:m>
                <a:r>
                  <a:rPr lang="en-US" dirty="0"/>
                  <a:t> millimeters. Suppose it is known that </a:t>
                </a:r>
                <a14:m>
                  <m:oMath xmlns:m="http://schemas.openxmlformats.org/officeDocument/2006/math">
                    <m:r>
                      <a:rPr lang="en-US" b="0" i="1" smtClean="0">
                        <a:latin typeface="Cambria Math"/>
                      </a:rPr>
                      <m:t>𝜎</m:t>
                    </m:r>
                    <m:r>
                      <a:rPr lang="en-US" b="0" i="1" smtClean="0">
                        <a:latin typeface="Cambria Math"/>
                      </a:rPr>
                      <m:t>=0.1</m:t>
                    </m:r>
                  </m:oMath>
                </a14:m>
                <a:r>
                  <a:rPr lang="en-US" dirty="0"/>
                  <a:t> millimeters. Does the sample information appear to support or refute the engineer’s conjecture?</a:t>
                </a:r>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1569"/>
                </a:stretch>
              </a:blipFill>
            </p:spPr>
            <p:txBody>
              <a:bodyPr/>
              <a:lstStyle/>
              <a:p>
                <a:r>
                  <a:rPr lang="en-US">
                    <a:noFill/>
                  </a:rPr>
                  <a:t> </a:t>
                </a:r>
              </a:p>
            </p:txBody>
          </p:sp>
        </mc:Fallback>
      </mc:AlternateContent>
    </p:spTree>
    <p:extLst>
      <p:ext uri="{BB962C8B-B14F-4D97-AF65-F5344CB8AC3E}">
        <p14:creationId xmlns:p14="http://schemas.microsoft.com/office/powerpoint/2010/main" val="4224714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To answer the question about whether the data support or refute the conjecture, we want to know the probability that we would obtain this result if </a:t>
                </a:r>
                <a14:m>
                  <m:oMath xmlns:m="http://schemas.openxmlformats.org/officeDocument/2006/math">
                    <m:r>
                      <a:rPr lang="en-US" b="0" i="1" smtClean="0">
                        <a:latin typeface="Cambria Math"/>
                      </a:rPr>
                      <m:t>𝜇</m:t>
                    </m:r>
                  </m:oMath>
                </a14:m>
                <a:r>
                  <a:rPr lang="en-US" dirty="0"/>
                  <a:t> actually equals 5 millimeters (this probability is known as a p-value and will become very important to us in chapter 10).</a:t>
                </a:r>
              </a:p>
              <a:p>
                <a:endParaRPr lang="en-US" dirty="0"/>
              </a:p>
              <a:p>
                <a:r>
                  <a:rPr lang="en-US" dirty="0"/>
                  <a:t>So to answer this question, we want to calculate: </a:t>
                </a:r>
              </a:p>
              <a:p>
                <a:pPr marL="0" indent="0">
                  <a:buNone/>
                </a:pP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≥5.027</m:t>
                        </m:r>
                      </m:e>
                    </m:d>
                    <m:r>
                      <a:rPr lang="en-US" b="0" i="0" smtClean="0">
                        <a:latin typeface="Cambria Math"/>
                      </a:rPr>
                      <m:t>=</m:t>
                    </m:r>
                    <m:r>
                      <m:rPr>
                        <m:sty m:val="p"/>
                      </m:rPr>
                      <a:rPr lang="en-US" b="0" i="0" smtClean="0">
                        <a:latin typeface="Cambria Math"/>
                      </a:rPr>
                      <m:t>P</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−5</m:t>
                            </m:r>
                          </m:num>
                          <m:den>
                            <m:r>
                              <a:rPr lang="en-US" i="1">
                                <a:latin typeface="Cambria Math"/>
                              </a:rPr>
                              <m:t>0.1/</m:t>
                            </m:r>
                            <m:rad>
                              <m:radPr>
                                <m:degHide m:val="on"/>
                                <m:ctrlPr>
                                  <a:rPr lang="en-US" i="1">
                                    <a:latin typeface="Cambria Math" panose="02040503050406030204" pitchFamily="18" charset="0"/>
                                  </a:rPr>
                                </m:ctrlPr>
                              </m:radPr>
                              <m:deg/>
                              <m:e>
                                <m:r>
                                  <a:rPr lang="en-US" i="1">
                                    <a:latin typeface="Cambria Math"/>
                                  </a:rPr>
                                  <m:t>100</m:t>
                                </m:r>
                              </m:e>
                            </m:rad>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5.027−5</m:t>
                            </m:r>
                          </m:num>
                          <m:den>
                            <m:r>
                              <a:rPr lang="en-US" i="1">
                                <a:latin typeface="Cambria Math"/>
                              </a:rPr>
                              <m:t>0.1/</m:t>
                            </m:r>
                            <m:rad>
                              <m:radPr>
                                <m:degHide m:val="on"/>
                                <m:ctrlPr>
                                  <a:rPr lang="en-US" i="1">
                                    <a:latin typeface="Cambria Math" panose="02040503050406030204" pitchFamily="18" charset="0"/>
                                  </a:rPr>
                                </m:ctrlPr>
                              </m:radPr>
                              <m:deg/>
                              <m:e>
                                <m:r>
                                  <a:rPr lang="en-US" i="1">
                                    <a:latin typeface="Cambria Math"/>
                                  </a:rPr>
                                  <m:t>100</m:t>
                                </m:r>
                              </m:e>
                            </m:rad>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≥2.7</m:t>
                        </m:r>
                      </m:e>
                    </m:d>
                    <m:r>
                      <a:rPr lang="en-US" b="0" i="1" smtClean="0">
                        <a:latin typeface="Cambria Math"/>
                      </a:rPr>
                      <m:t>=0.0035</m:t>
                    </m:r>
                  </m:oMath>
                </a14:m>
                <a:r>
                  <a:rPr lang="en-US" dirty="0"/>
                  <a:t>.</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706"/>
                </a:stretch>
              </a:blipFill>
            </p:spPr>
            <p:txBody>
              <a:bodyPr/>
              <a:lstStyle/>
              <a:p>
                <a:r>
                  <a:rPr lang="en-US">
                    <a:noFill/>
                  </a:rPr>
                  <a:t> </a:t>
                </a:r>
              </a:p>
            </p:txBody>
          </p:sp>
        </mc:Fallback>
      </mc:AlternateContent>
    </p:spTree>
    <p:extLst>
      <p:ext uri="{BB962C8B-B14F-4D97-AF65-F5344CB8AC3E}">
        <p14:creationId xmlns:p14="http://schemas.microsoft.com/office/powerpoint/2010/main" val="2746350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This tells us that if </a:t>
                </a:r>
                <a14:m>
                  <m:oMath xmlns:m="http://schemas.openxmlformats.org/officeDocument/2006/math">
                    <m:r>
                      <a:rPr lang="en-US" b="0" i="1" smtClean="0">
                        <a:latin typeface="Cambria Math"/>
                      </a:rPr>
                      <m:t>𝜇</m:t>
                    </m:r>
                  </m:oMath>
                </a14:m>
                <a:r>
                  <a:rPr lang="en-US" dirty="0"/>
                  <a:t> were actually 5, only about 35 in every 10000 samples would give us as large of a sample mean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5.027</m:t>
                        </m:r>
                      </m:e>
                    </m:d>
                  </m:oMath>
                </a14:m>
                <a:r>
                  <a:rPr lang="en-US" dirty="0"/>
                  <a:t> as we actually saw. This can be interpreted as strong evidence that </a:t>
                </a:r>
                <a14:m>
                  <m:oMath xmlns:m="http://schemas.openxmlformats.org/officeDocument/2006/math">
                    <m:r>
                      <a:rPr lang="en-US" b="0" i="1" smtClean="0">
                        <a:latin typeface="Cambria Math"/>
                      </a:rPr>
                      <m:t>𝜇</m:t>
                    </m:r>
                  </m:oMath>
                </a14:m>
                <a:r>
                  <a:rPr lang="en-US" dirty="0"/>
                  <a:t> is not actually 5.</a:t>
                </a:r>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r="-1490"/>
                </a:stretch>
              </a:blipFill>
            </p:spPr>
            <p:txBody>
              <a:bodyPr/>
              <a:lstStyle/>
              <a:p>
                <a:r>
                  <a:rPr lang="en-US">
                    <a:noFill/>
                  </a:rPr>
                  <a:t> </a:t>
                </a:r>
              </a:p>
            </p:txBody>
          </p:sp>
        </mc:Fallback>
      </mc:AlternateContent>
    </p:spTree>
    <p:extLst>
      <p:ext uri="{BB962C8B-B14F-4D97-AF65-F5344CB8AC3E}">
        <p14:creationId xmlns:p14="http://schemas.microsoft.com/office/powerpoint/2010/main" val="3361530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The last part of this section deals with the sampling distribution for the difference of two sample means. This is helpful when we want to compare two different distributions. Maybe there are two processes to produce the same part, and we want to check whether the means are the same for each process. Using the difference is helpful because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r>
                      <a:rPr lang="en-US" b="0" i="1" smtClean="0">
                        <a:latin typeface="Cambria Math"/>
                      </a:rPr>
                      <m:t>=0</m:t>
                    </m:r>
                  </m:oMath>
                </a14:m>
                <a:r>
                  <a:rPr lang="en-US" dirty="0"/>
                  <a:t>.</a:t>
                </a:r>
              </a:p>
              <a:p>
                <a:endParaRPr lang="en-US" dirty="0"/>
              </a:p>
              <a:p>
                <a:r>
                  <a:rPr lang="en-US" dirty="0"/>
                  <a:t>Let’s use what we know about expected value and variance to come up with the sampling distribution for the difference of two means.</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733" r="-2039"/>
                </a:stretch>
              </a:blipFill>
            </p:spPr>
            <p:txBody>
              <a:bodyPr/>
              <a:lstStyle/>
              <a:p>
                <a:r>
                  <a:rPr lang="en-US">
                    <a:noFill/>
                  </a:rPr>
                  <a:t> </a:t>
                </a:r>
              </a:p>
            </p:txBody>
          </p:sp>
        </mc:Fallback>
      </mc:AlternateContent>
    </p:spTree>
    <p:extLst>
      <p:ext uri="{BB962C8B-B14F-4D97-AF65-F5344CB8AC3E}">
        <p14:creationId xmlns:p14="http://schemas.microsoft.com/office/powerpoint/2010/main" val="1268884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Assume that we have two </a:t>
                </a:r>
                <a:r>
                  <a:rPr lang="en-US" i="1" dirty="0"/>
                  <a:t>independent </a:t>
                </a:r>
                <a:r>
                  <a:rPr lang="en-US" dirty="0"/>
                  <a:t>populations: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r>
                          <a:rPr lang="en-US" b="0" i="1" smtClean="0">
                            <a:latin typeface="Cambria Math"/>
                          </a:rPr>
                          <m:t>1</m:t>
                        </m:r>
                      </m:sub>
                    </m:sSub>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1</m:t>
                            </m:r>
                          </m:sub>
                          <m:sup>
                            <m:r>
                              <a:rPr lang="en-US" b="0" i="1" smtClean="0">
                                <a:latin typeface="Cambria Math"/>
                              </a:rPr>
                              <m:t>2</m:t>
                            </m:r>
                          </m:sup>
                        </m:sSubSup>
                      </m:e>
                    </m:d>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𝑗</m:t>
                        </m:r>
                        <m:r>
                          <a:rPr lang="en-US" b="0" i="1" smtClean="0">
                            <a:latin typeface="Cambria Math"/>
                          </a:rPr>
                          <m:t>2</m:t>
                        </m:r>
                      </m:sub>
                    </m:sSub>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r>
                          <a:rPr lang="en-US" b="0" i="1" smtClean="0">
                            <a:latin typeface="Cambria Math"/>
                          </a:rPr>
                          <m:t>,</m:t>
                        </m:r>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2</m:t>
                            </m:r>
                          </m:sub>
                          <m:sup>
                            <m:r>
                              <a:rPr lang="en-US" b="0" i="1" smtClean="0">
                                <a:latin typeface="Cambria Math"/>
                              </a:rPr>
                              <m:t>2</m:t>
                            </m:r>
                          </m:sup>
                        </m:sSubSup>
                      </m:e>
                    </m:d>
                  </m:oMath>
                </a14:m>
                <a:r>
                  <a:rPr lang="en-US" dirty="0"/>
                  <a:t>. Assume that random samples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are drawn from each population. What is the mean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oMath>
                </a14:m>
                <a:r>
                  <a:rPr lang="en-US" dirty="0"/>
                  <a:t>? What is the variance?</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784"/>
                </a:stretch>
              </a:blipFill>
            </p:spPr>
            <p:txBody>
              <a:bodyPr/>
              <a:lstStyle/>
              <a:p>
                <a:r>
                  <a:rPr lang="en-US">
                    <a:noFill/>
                  </a:rPr>
                  <a:t> </a:t>
                </a:r>
              </a:p>
            </p:txBody>
          </p:sp>
        </mc:Fallback>
      </mc:AlternateContent>
    </p:spTree>
    <p:extLst>
      <p:ext uri="{BB962C8B-B14F-4D97-AF65-F5344CB8AC3E}">
        <p14:creationId xmlns:p14="http://schemas.microsoft.com/office/powerpoint/2010/main" val="4081276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Applying the CLT: If independent samples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oMath>
                </a14:m>
                <a:r>
                  <a:rPr lang="en-US" dirty="0"/>
                  <a:t> are drawn at random from two populations, either discrete or continuous, with means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and variances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1</m:t>
                        </m:r>
                      </m:sub>
                      <m:sup>
                        <m:r>
                          <a:rPr lang="en-US" b="0" i="1" smtClean="0">
                            <a:latin typeface="Cambria Math"/>
                          </a:rPr>
                          <m:t>2</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2</m:t>
                        </m:r>
                      </m:sub>
                      <m:sup>
                        <m:r>
                          <a:rPr lang="en-US" b="0" i="1" smtClean="0">
                            <a:latin typeface="Cambria Math"/>
                          </a:rPr>
                          <m:t>2</m:t>
                        </m:r>
                      </m:sup>
                    </m:sSubSup>
                  </m:oMath>
                </a14:m>
                <a:r>
                  <a:rPr lang="en-US" dirty="0"/>
                  <a:t> respectively, then the sampling distribution of the difference of the sample means,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oMath>
                </a14:m>
                <a:r>
                  <a:rPr lang="en-US" dirty="0"/>
                  <a:t> is approximately normal with mean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oMath>
                </a14:m>
                <a:r>
                  <a:rPr lang="en-US" dirty="0"/>
                  <a:t> and variance </a:t>
                </a:r>
                <a14:m>
                  <m:oMath xmlns:m="http://schemas.openxmlformats.org/officeDocument/2006/math">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1</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den>
                    </m:f>
                    <m:r>
                      <a:rPr lang="en-US" b="0" i="1" smtClean="0">
                        <a:latin typeface="Cambria Math"/>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a:rPr>
                              <m:t>𝜎</m:t>
                            </m:r>
                          </m:e>
                          <m:sub>
                            <m:r>
                              <a:rPr lang="en-US" b="0" i="1" smtClean="0">
                                <a:latin typeface="Cambria Math"/>
                              </a:rPr>
                              <m:t>2</m:t>
                            </m:r>
                          </m:sub>
                          <m:sup>
                            <m:r>
                              <a:rPr lang="en-US" b="0" i="1" smtClean="0">
                                <a:latin typeface="Cambria Math"/>
                              </a:rPr>
                              <m:t>2</m:t>
                            </m:r>
                          </m:sup>
                        </m:sSubSup>
                      </m:num>
                      <m:den>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den>
                    </m:f>
                  </m:oMath>
                </a14:m>
                <a:r>
                  <a:rPr lang="en-US" dirty="0"/>
                  <a:t>. </a:t>
                </a:r>
              </a:p>
              <a:p>
                <a:endParaRPr lang="en-US" dirty="0"/>
              </a:p>
              <a:p>
                <a:r>
                  <a:rPr lang="en-US" dirty="0"/>
                  <a:t>We could also state this as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𝑋</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𝑋</m:t>
                                    </m:r>
                                  </m:e>
                                </m:acc>
                              </m:e>
                              <m:sub>
                                <m:r>
                                  <a:rPr lang="en-US" i="1" dirty="0">
                                    <a:latin typeface="Cambria Math"/>
                                  </a:rPr>
                                  <m:t>2</m:t>
                                </m:r>
                              </m:sub>
                            </m:sSub>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m:t>
                            </m:r>
                            <m:r>
                              <a:rPr lang="en-US" b="0" i="1" smtClean="0">
                                <a:latin typeface="Cambria Math"/>
                              </a:rPr>
                              <m:t>𝜇</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r>
                          <a:rPr lang="en-US" b="0" i="1" smtClean="0">
                            <a:latin typeface="Cambria Math"/>
                          </a:rPr>
                          <m:t>)</m:t>
                        </m:r>
                      </m:num>
                      <m:den>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𝜎</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den>
                            </m:f>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𝜎</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den>
                            </m:f>
                          </m:e>
                        </m:rad>
                      </m:den>
                    </m:f>
                  </m:oMath>
                </a14:m>
                <a:r>
                  <a:rPr lang="en-US" dirty="0"/>
                  <a:t> has an approximately standard normal distribution.</a:t>
                </a:r>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600" b="-267"/>
                </a:stretch>
              </a:blipFill>
            </p:spPr>
            <p:txBody>
              <a:bodyPr/>
              <a:lstStyle/>
              <a:p>
                <a:r>
                  <a:rPr lang="en-US">
                    <a:noFill/>
                  </a:rPr>
                  <a:t> </a:t>
                </a:r>
              </a:p>
            </p:txBody>
          </p:sp>
        </mc:Fallback>
      </mc:AlternateContent>
    </p:spTree>
    <p:extLst>
      <p:ext uri="{BB962C8B-B14F-4D97-AF65-F5344CB8AC3E}">
        <p14:creationId xmlns:p14="http://schemas.microsoft.com/office/powerpoint/2010/main" val="2751700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p:sp>
        <p:nvSpPr>
          <p:cNvPr id="3" name="Content Placeholder 2"/>
          <p:cNvSpPr>
            <a:spLocks noGrp="1"/>
          </p:cNvSpPr>
          <p:nvPr>
            <p:ph sz="quarter" idx="1"/>
          </p:nvPr>
        </p:nvSpPr>
        <p:spPr/>
        <p:txBody>
          <a:bodyPr>
            <a:normAutofit/>
          </a:bodyPr>
          <a:lstStyle/>
          <a:p>
            <a:r>
              <a:rPr lang="en-US" dirty="0"/>
              <a:t>Example: Assume that we have two populations with the following information:</a:t>
            </a:r>
          </a:p>
          <a:p>
            <a:endParaRPr lang="en-US" dirty="0"/>
          </a:p>
          <a:p>
            <a:pPr marL="0" indent="0">
              <a:buNone/>
            </a:pPr>
            <a:endParaRPr lang="en-US" dirty="0"/>
          </a:p>
          <a:p>
            <a:endParaRPr lang="en-US" dirty="0"/>
          </a:p>
          <a:p>
            <a:endParaRPr lang="en-US" dirty="0"/>
          </a:p>
          <a:p>
            <a:r>
              <a:rPr lang="en-US" dirty="0"/>
              <a:t>What is the probability that the difference (population 1 – population 2) in the sample means will be at least 1?</a:t>
            </a:r>
          </a:p>
          <a:p>
            <a:endParaRPr lang="en-US" dirty="0"/>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161560922"/>
                  </p:ext>
                </p:extLst>
              </p:nvPr>
            </p:nvGraphicFramePr>
            <p:xfrm>
              <a:off x="1524000" y="2514600"/>
              <a:ext cx="6096000" cy="1483360"/>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Population 1</a:t>
                          </a:r>
                        </a:p>
                      </a:txBody>
                      <a:tcPr/>
                    </a:tc>
                    <a:tc>
                      <a:txBody>
                        <a:bodyPr/>
                        <a:lstStyle/>
                        <a:p>
                          <a:pPr algn="ctr"/>
                          <a:r>
                            <a:rPr lang="en-US" dirty="0"/>
                            <a:t>Population 2</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1</m:t>
                                    </m:r>
                                  </m:sub>
                                </m:sSub>
                                <m:r>
                                  <a:rPr lang="en-US" b="0" i="1" smtClean="0">
                                    <a:latin typeface="Cambria Math"/>
                                  </a:rPr>
                                  <m:t>=6.5</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2</m:t>
                                    </m:r>
                                  </m:sub>
                                </m:sSub>
                                <m:r>
                                  <a:rPr lang="en-US" b="0" i="1" smtClean="0">
                                    <a:latin typeface="Cambria Math"/>
                                  </a:rPr>
                                  <m:t>=6.0</m:t>
                                </m:r>
                              </m:oMath>
                            </m:oMathPara>
                          </a14:m>
                          <a:endParaRPr lang="en-US" dirty="0"/>
                        </a:p>
                      </a:txBody>
                      <a:tcPr/>
                    </a:tc>
                    <a:extLst>
                      <a:ext uri="{0D108BD9-81ED-4DB2-BD59-A6C34878D82A}">
                        <a16:rowId xmlns:a16="http://schemas.microsoft.com/office/drawing/2014/main" val="10001"/>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m:t>
                                    </m:r>
                                  </m:sub>
                                </m:sSub>
                                <m:r>
                                  <a:rPr lang="en-US" b="0" i="1" smtClean="0">
                                    <a:latin typeface="Cambria Math"/>
                                  </a:rPr>
                                  <m:t>=0.9</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2</m:t>
                                    </m:r>
                                  </m:sub>
                                </m:sSub>
                                <m:r>
                                  <a:rPr lang="en-US" b="0" i="1" smtClean="0">
                                    <a:latin typeface="Cambria Math"/>
                                  </a:rPr>
                                  <m:t>=0.8</m:t>
                                </m:r>
                              </m:oMath>
                            </m:oMathPara>
                          </a14:m>
                          <a:endParaRPr lang="en-US" dirty="0"/>
                        </a:p>
                      </a:txBody>
                      <a:tcPr/>
                    </a:tc>
                    <a:extLst>
                      <a:ext uri="{0D108BD9-81ED-4DB2-BD59-A6C34878D82A}">
                        <a16:rowId xmlns:a16="http://schemas.microsoft.com/office/drawing/2014/main" val="10002"/>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1</m:t>
                                    </m:r>
                                  </m:sub>
                                </m:sSub>
                                <m:r>
                                  <a:rPr lang="en-US" b="0" i="1" smtClean="0">
                                    <a:latin typeface="Cambria Math"/>
                                  </a:rPr>
                                  <m:t>=36</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𝑛</m:t>
                                    </m:r>
                                  </m:e>
                                  <m:sub>
                                    <m:r>
                                      <a:rPr lang="en-US" b="0" i="1" smtClean="0">
                                        <a:latin typeface="Cambria Math"/>
                                      </a:rPr>
                                      <m:t>2</m:t>
                                    </m:r>
                                  </m:sub>
                                </m:sSub>
                                <m:r>
                                  <a:rPr lang="en-US" b="0" i="1" smtClean="0">
                                    <a:latin typeface="Cambria Math"/>
                                  </a:rPr>
                                  <m:t>=49</m:t>
                                </m:r>
                              </m:oMath>
                            </m:oMathPara>
                          </a14:m>
                          <a:endParaRPr lang="en-US"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161560922"/>
                  </p:ext>
                </p:extLst>
              </p:nvPr>
            </p:nvGraphicFramePr>
            <p:xfrm>
              <a:off x="1524000" y="2514600"/>
              <a:ext cx="6096000" cy="1483360"/>
            </p:xfrm>
            <a:graphic>
              <a:graphicData uri="http://schemas.openxmlformats.org/drawingml/2006/table">
                <a:tbl>
                  <a:tblPr firstRow="1" bandRow="1">
                    <a:tableStyleId>{073A0DAA-6AF3-43AB-8588-CEC1D06C72B9}</a:tableStyleId>
                  </a:tblPr>
                  <a:tblGrid>
                    <a:gridCol w="3048000"/>
                    <a:gridCol w="3048000"/>
                  </a:tblGrid>
                  <a:tr h="370840">
                    <a:tc>
                      <a:txBody>
                        <a:bodyPr/>
                        <a:lstStyle/>
                        <a:p>
                          <a:pPr algn="ctr"/>
                          <a:r>
                            <a:rPr lang="en-US" dirty="0" smtClean="0"/>
                            <a:t>Population 1</a:t>
                          </a:r>
                          <a:endParaRPr lang="en-US" dirty="0"/>
                        </a:p>
                      </a:txBody>
                      <a:tcPr/>
                    </a:tc>
                    <a:tc>
                      <a:txBody>
                        <a:bodyPr/>
                        <a:lstStyle/>
                        <a:p>
                          <a:pPr algn="ctr"/>
                          <a:r>
                            <a:rPr lang="en-US" dirty="0" smtClean="0"/>
                            <a:t>Population 2</a:t>
                          </a:r>
                          <a:endParaRPr lang="en-US" dirty="0"/>
                        </a:p>
                      </a:txBody>
                      <a:tcPr/>
                    </a:tc>
                  </a:tr>
                  <a:tr h="370840">
                    <a:tc>
                      <a:txBody>
                        <a:bodyPr/>
                        <a:lstStyle/>
                        <a:p>
                          <a:endParaRPr lang="en-US"/>
                        </a:p>
                      </a:txBody>
                      <a:tcPr>
                        <a:blipFill rotWithShape="1">
                          <a:blip r:embed="rId2"/>
                          <a:stretch>
                            <a:fillRect t="-108197" r="-100000" b="-198361"/>
                          </a:stretch>
                        </a:blipFill>
                      </a:tcPr>
                    </a:tc>
                    <a:tc>
                      <a:txBody>
                        <a:bodyPr/>
                        <a:lstStyle/>
                        <a:p>
                          <a:endParaRPr lang="en-US"/>
                        </a:p>
                      </a:txBody>
                      <a:tcPr>
                        <a:blipFill rotWithShape="1">
                          <a:blip r:embed="rId2"/>
                          <a:stretch>
                            <a:fillRect l="-100000" t="-108197" b="-198361"/>
                          </a:stretch>
                        </a:blipFill>
                      </a:tcPr>
                    </a:tc>
                  </a:tr>
                  <a:tr h="370840">
                    <a:tc>
                      <a:txBody>
                        <a:bodyPr/>
                        <a:lstStyle/>
                        <a:p>
                          <a:endParaRPr lang="en-US"/>
                        </a:p>
                      </a:txBody>
                      <a:tcPr>
                        <a:blipFill rotWithShape="1">
                          <a:blip r:embed="rId2"/>
                          <a:stretch>
                            <a:fillRect t="-211667" r="-100000" b="-101667"/>
                          </a:stretch>
                        </a:blipFill>
                      </a:tcPr>
                    </a:tc>
                    <a:tc>
                      <a:txBody>
                        <a:bodyPr/>
                        <a:lstStyle/>
                        <a:p>
                          <a:endParaRPr lang="en-US"/>
                        </a:p>
                      </a:txBody>
                      <a:tcPr>
                        <a:blipFill rotWithShape="1">
                          <a:blip r:embed="rId2"/>
                          <a:stretch>
                            <a:fillRect l="-100000" t="-211667" b="-101667"/>
                          </a:stretch>
                        </a:blipFill>
                      </a:tcPr>
                    </a:tc>
                  </a:tr>
                  <a:tr h="370840">
                    <a:tc>
                      <a:txBody>
                        <a:bodyPr/>
                        <a:lstStyle/>
                        <a:p>
                          <a:endParaRPr lang="en-US"/>
                        </a:p>
                      </a:txBody>
                      <a:tcPr>
                        <a:blipFill rotWithShape="1">
                          <a:blip r:embed="rId2"/>
                          <a:stretch>
                            <a:fillRect t="-306557" r="-100000"/>
                          </a:stretch>
                        </a:blipFill>
                      </a:tcPr>
                    </a:tc>
                    <a:tc>
                      <a:txBody>
                        <a:bodyPr/>
                        <a:lstStyle/>
                        <a:p>
                          <a:endParaRPr lang="en-US"/>
                        </a:p>
                      </a:txBody>
                      <a:tcPr>
                        <a:blipFill rotWithShape="1">
                          <a:blip r:embed="rId2"/>
                          <a:stretch>
                            <a:fillRect l="-100000" t="-306557"/>
                          </a:stretch>
                        </a:blipFill>
                      </a:tcPr>
                    </a:tc>
                  </a:tr>
                </a:tbl>
              </a:graphicData>
            </a:graphic>
          </p:graphicFrame>
        </mc:Fallback>
      </mc:AlternateContent>
    </p:spTree>
    <p:extLst>
      <p:ext uri="{BB962C8B-B14F-4D97-AF65-F5344CB8AC3E}">
        <p14:creationId xmlns:p14="http://schemas.microsoft.com/office/powerpoint/2010/main" val="374561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8.4 – Sampling Distribution of Means and the Central Limit Theorem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Given this information, we have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𝑋</m:t>
                            </m:r>
                          </m:e>
                        </m:acc>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𝑋</m:t>
                            </m:r>
                          </m:e>
                        </m:acc>
                      </m:e>
                      <m:sub>
                        <m:r>
                          <a:rPr lang="en-US" b="0" i="1" dirty="0" smtClean="0">
                            <a:latin typeface="Cambria Math"/>
                          </a:rPr>
                          <m:t>2</m:t>
                        </m:r>
                      </m:sub>
                    </m:sSub>
                    <m:r>
                      <a:rPr lang="en-US" b="0" i="1" dirty="0" smtClean="0">
                        <a:latin typeface="Cambria Math"/>
                      </a:rPr>
                      <m:t>=6.5−6=0.5</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𝑋</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𝑋</m:t>
                                </m:r>
                              </m:e>
                            </m:acc>
                          </m:e>
                          <m:sub>
                            <m:r>
                              <a:rPr lang="en-US" i="1" dirty="0">
                                <a:latin typeface="Cambria Math"/>
                              </a:rPr>
                              <m:t>2</m:t>
                            </m:r>
                          </m:sub>
                        </m:sSub>
                      </m:sub>
                    </m:sSub>
                    <m:r>
                      <a:rPr lang="en-US" b="0" i="1" smtClean="0">
                        <a:latin typeface="Cambria Math"/>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a:rPr>
                              <m:t>0.81</m:t>
                            </m:r>
                          </m:num>
                          <m:den>
                            <m:r>
                              <a:rPr lang="en-US" b="0" i="1" smtClean="0">
                                <a:latin typeface="Cambria Math"/>
                              </a:rPr>
                              <m:t>36</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0.64</m:t>
                            </m:r>
                          </m:num>
                          <m:den>
                            <m:r>
                              <a:rPr lang="en-US" b="0" i="1" smtClean="0">
                                <a:latin typeface="Cambria Math"/>
                              </a:rPr>
                              <m:t>49</m:t>
                            </m:r>
                          </m:den>
                        </m:f>
                      </m:e>
                    </m:rad>
                    <m:r>
                      <a:rPr lang="en-US" b="0" i="1" smtClean="0">
                        <a:latin typeface="Cambria Math"/>
                      </a:rPr>
                      <m:t>=0.189</m:t>
                    </m:r>
                  </m:oMath>
                </a14:m>
                <a:r>
                  <a:rPr lang="en-US" dirty="0"/>
                  <a:t>. This implies that </a:t>
                </a:r>
                <a14:m>
                  <m:oMath xmlns:m="http://schemas.openxmlformats.org/officeDocument/2006/math">
                    <m:r>
                      <a:rPr lang="en-US" b="0" i="1" smtClean="0">
                        <a:latin typeface="Cambria Math"/>
                      </a:rPr>
                      <m:t>𝑧</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1.0−0.5</m:t>
                        </m:r>
                      </m:num>
                      <m:den>
                        <m:r>
                          <a:rPr lang="en-US" b="0" i="1" smtClean="0">
                            <a:latin typeface="Cambria Math"/>
                          </a:rPr>
                          <m:t>0.189</m:t>
                        </m:r>
                      </m:den>
                    </m:f>
                    <m:r>
                      <a:rPr lang="en-US" b="0" i="1" smtClean="0">
                        <a:latin typeface="Cambria Math"/>
                      </a:rPr>
                      <m:t>=2.65</m:t>
                    </m:r>
                  </m:oMath>
                </a14:m>
                <a:r>
                  <a:rPr lang="en-US" dirty="0"/>
                  <a:t> so that</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𝑋</m:t>
                                </m:r>
                              </m:e>
                            </m:acc>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𝑋</m:t>
                                </m:r>
                              </m:e>
                            </m:acc>
                          </m:e>
                          <m:sub>
                            <m:r>
                              <a:rPr lang="en-US" i="1" dirty="0">
                                <a:latin typeface="Cambria Math"/>
                              </a:rPr>
                              <m:t>2</m:t>
                            </m:r>
                          </m:sub>
                        </m:sSub>
                        <m:r>
                          <a:rPr lang="en-US" b="0" i="1" dirty="0" smtClean="0">
                            <a:latin typeface="Cambria Math"/>
                          </a:rPr>
                          <m:t>≥1</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&gt;2.65</m:t>
                        </m:r>
                      </m:e>
                    </m:d>
                    <m:r>
                      <a:rPr lang="en-US" b="0" i="1" smtClean="0">
                        <a:latin typeface="Cambria Math"/>
                      </a:rPr>
                      <m:t>=0.0040</m:t>
                    </m:r>
                  </m:oMath>
                </a14:m>
                <a:r>
                  <a:rPr lang="en-US" dirty="0"/>
                  <a:t>.</a:t>
                </a:r>
              </a:p>
              <a:p>
                <a:endParaRPr lang="en-US" dirty="0"/>
              </a:p>
              <a:p>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a:stretch>
              </a:blipFill>
            </p:spPr>
            <p:txBody>
              <a:bodyPr/>
              <a:lstStyle/>
              <a:p>
                <a:r>
                  <a:rPr lang="en-US">
                    <a:noFill/>
                  </a:rPr>
                  <a:t> </a:t>
                </a:r>
              </a:p>
            </p:txBody>
          </p:sp>
        </mc:Fallback>
      </mc:AlternateContent>
    </p:spTree>
    <p:extLst>
      <p:ext uri="{BB962C8B-B14F-4D97-AF65-F5344CB8AC3E}">
        <p14:creationId xmlns:p14="http://schemas.microsoft.com/office/powerpoint/2010/main" val="1329444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lnSpcReduction="10000"/>
              </a:bodyPr>
              <a:lstStyle/>
              <a:p>
                <a:r>
                  <a:rPr lang="en-US" dirty="0"/>
                  <a:t>As we have seen so far in this chapter, sampling distributions about important statistics give us information about the parameters of the population. For instance, we saw in the last section that the mean of the sample mean is the same (or approximately the same) as the mean for the population. Furthermore, the variance of the sample mean is just the variance of the population divided by the sample size.</a:t>
                </a:r>
              </a:p>
              <a:p>
                <a:endParaRPr lang="en-US" dirty="0"/>
              </a:p>
              <a:p>
                <a:r>
                  <a:rPr lang="en-US" dirty="0"/>
                  <a:t>In this section, we will briefly introduce the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r>
                  <a:rPr lang="en-US" dirty="0"/>
                  <a:t>, the sample variance. While we will not spend much, if any, time doing inference regarding variance, it is still worth our time to get some more practice with sampling distributions.</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549" t="-1733" r="-1569"/>
                </a:stretch>
              </a:blipFill>
            </p:spPr>
            <p:txBody>
              <a:bodyPr/>
              <a:lstStyle/>
              <a:p>
                <a:r>
                  <a:rPr lang="en-US">
                    <a:noFill/>
                  </a:rPr>
                  <a:t> </a:t>
                </a:r>
              </a:p>
            </p:txBody>
          </p:sp>
        </mc:Fallback>
      </mc:AlternateContent>
    </p:spTree>
    <p:extLst>
      <p:ext uri="{BB962C8B-B14F-4D97-AF65-F5344CB8AC3E}">
        <p14:creationId xmlns:p14="http://schemas.microsoft.com/office/powerpoint/2010/main" val="4107648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While we will not prove it, it can be shown that the statistic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𝜒</m:t>
                        </m:r>
                      </m:e>
                      <m:sup>
                        <m:r>
                          <a:rPr lang="en-US" b="0" i="1" smtClean="0">
                            <a:latin typeface="Cambria Math"/>
                          </a:rPr>
                          <m:t>2</m:t>
                        </m:r>
                      </m:sup>
                    </m:sSup>
                    <m:r>
                      <a:rPr lang="en-US" b="0" i="1" smtClean="0">
                        <a:latin typeface="Cambria Math"/>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−1</m:t>
                            </m:r>
                          </m:e>
                        </m:d>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num>
                      <m:den>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oMath>
                </a14:m>
                <a:r>
                  <a:rPr lang="en-US" dirty="0"/>
                  <a:t> has a </a:t>
                </a:r>
                <a:r>
                  <a:rPr lang="en-US" i="1" dirty="0"/>
                  <a:t>chi-squared </a:t>
                </a:r>
                <a:r>
                  <a:rPr lang="en-US" dirty="0"/>
                  <a:t>distribution with </a:t>
                </a:r>
                <a14:m>
                  <m:oMath xmlns:m="http://schemas.openxmlformats.org/officeDocument/2006/math">
                    <m:r>
                      <a:rPr lang="en-US" b="0" i="1" smtClean="0">
                        <a:latin typeface="Cambria Math"/>
                      </a:rPr>
                      <m:t>𝑛</m:t>
                    </m:r>
                    <m:r>
                      <a:rPr lang="en-US" b="0" i="1" smtClean="0">
                        <a:latin typeface="Cambria Math"/>
                      </a:rPr>
                      <m:t>−1</m:t>
                    </m:r>
                  </m:oMath>
                </a14:m>
                <a:r>
                  <a:rPr lang="en-US" dirty="0"/>
                  <a:t> degrees of freedom.</a:t>
                </a:r>
              </a:p>
              <a:p>
                <a:endParaRPr lang="en-US" dirty="0"/>
              </a:p>
              <a:p>
                <a:r>
                  <a:rPr lang="en-US" dirty="0"/>
                  <a:t>We have not talked about the chi-squared distribution before. It is a continuous distribution that is related to both the normal and gamma distributions. Given a standard normal random variable </a:t>
                </a:r>
                <a14:m>
                  <m:oMath xmlns:m="http://schemas.openxmlformats.org/officeDocument/2006/math">
                    <m:r>
                      <a:rPr lang="en-US" b="0" i="1" smtClean="0">
                        <a:latin typeface="Cambria Math"/>
                      </a:rPr>
                      <m:t>𝑍</m:t>
                    </m:r>
                  </m:oMath>
                </a14:m>
                <a:r>
                  <a:rPr lang="en-US" dirty="0"/>
                  <a:t>, it can be shown that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𝑍</m:t>
                        </m:r>
                      </m:e>
                      <m:sup>
                        <m:r>
                          <a:rPr lang="en-US" b="0" i="1" smtClean="0">
                            <a:latin typeface="Cambria Math"/>
                          </a:rPr>
                          <m:t>2</m:t>
                        </m:r>
                      </m:sup>
                    </m:sSup>
                  </m:oMath>
                </a14:m>
                <a:r>
                  <a:rPr lang="en-US" dirty="0"/>
                  <a:t> has a chi-square distribution with </a:t>
                </a:r>
                <a14:m>
                  <m:oMath xmlns:m="http://schemas.openxmlformats.org/officeDocument/2006/math">
                    <m:r>
                      <a:rPr lang="en-US" b="0" i="1" smtClean="0">
                        <a:latin typeface="Cambria Math"/>
                      </a:rPr>
                      <m:t>1</m:t>
                    </m:r>
                  </m:oMath>
                </a14:m>
                <a:r>
                  <a:rPr lang="en-US" dirty="0"/>
                  <a:t> degree of freedom. Since we have not done much with transformations in this class, the connection to the gamma distribution is probably easier to understand.</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706" t="-1733" r="-1961"/>
                </a:stretch>
              </a:blipFill>
            </p:spPr>
            <p:txBody>
              <a:bodyPr/>
              <a:lstStyle/>
              <a:p>
                <a:r>
                  <a:rPr lang="en-US">
                    <a:noFill/>
                  </a:rPr>
                  <a:t> </a:t>
                </a:r>
              </a:p>
            </p:txBody>
          </p:sp>
        </mc:Fallback>
      </mc:AlternateContent>
    </p:spTree>
    <p:extLst>
      <p:ext uri="{BB962C8B-B14F-4D97-AF65-F5344CB8AC3E}">
        <p14:creationId xmlns:p14="http://schemas.microsoft.com/office/powerpoint/2010/main" val="2536380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The chi-squared distribution is simply the gamma distribution with </a:t>
                </a:r>
                <a14:m>
                  <m:oMath xmlns:m="http://schemas.openxmlformats.org/officeDocument/2006/math">
                    <m:r>
                      <a:rPr lang="en-US" b="0" i="1" smtClean="0">
                        <a:latin typeface="Cambria Math"/>
                      </a:rPr>
                      <m:t>𝛼</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𝑣</m:t>
                        </m:r>
                      </m:num>
                      <m:den>
                        <m:r>
                          <a:rPr lang="en-US" b="0" i="1" smtClean="0">
                            <a:latin typeface="Cambria Math"/>
                          </a:rPr>
                          <m:t>2</m:t>
                        </m:r>
                      </m:den>
                    </m:f>
                  </m:oMath>
                </a14:m>
                <a:r>
                  <a:rPr lang="en-US" dirty="0"/>
                  <a:t> and </a:t>
                </a:r>
                <a14:m>
                  <m:oMath xmlns:m="http://schemas.openxmlformats.org/officeDocument/2006/math">
                    <m:r>
                      <a:rPr lang="en-US" b="0" i="1" smtClean="0">
                        <a:latin typeface="Cambria Math"/>
                      </a:rPr>
                      <m:t>𝛽</m:t>
                    </m:r>
                    <m:r>
                      <a:rPr lang="en-US" b="0" i="1" smtClean="0">
                        <a:latin typeface="Cambria Math"/>
                      </a:rPr>
                      <m:t>=2</m:t>
                    </m:r>
                  </m:oMath>
                </a14:m>
                <a:r>
                  <a:rPr lang="en-US" dirty="0"/>
                  <a:t> where </a:t>
                </a:r>
                <a14:m>
                  <m:oMath xmlns:m="http://schemas.openxmlformats.org/officeDocument/2006/math">
                    <m:r>
                      <a:rPr lang="en-US" b="0" i="1" smtClean="0">
                        <a:latin typeface="Cambria Math"/>
                      </a:rPr>
                      <m:t>𝑣</m:t>
                    </m:r>
                  </m:oMath>
                </a14:m>
                <a:r>
                  <a:rPr lang="en-US" dirty="0"/>
                  <a:t> is the degrees of freedom. So the PDF is given by</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sSup>
                            <m:sSupPr>
                              <m:ctrlPr>
                                <a:rPr lang="en-US" b="0" i="1" smtClean="0">
                                  <a:latin typeface="Cambria Math" panose="02040503050406030204" pitchFamily="18" charset="0"/>
                                </a:rPr>
                              </m:ctrlPr>
                            </m:sSupPr>
                            <m:e>
                              <m:r>
                                <a:rPr lang="en-US" b="0" i="1" smtClean="0">
                                  <a:latin typeface="Cambria Math"/>
                                </a:rPr>
                                <m:t>2</m:t>
                              </m:r>
                            </m:e>
                            <m:sup>
                              <m:f>
                                <m:fPr>
                                  <m:ctrlPr>
                                    <a:rPr lang="en-US" b="0" i="1" smtClean="0">
                                      <a:latin typeface="Cambria Math" panose="02040503050406030204" pitchFamily="18" charset="0"/>
                                    </a:rPr>
                                  </m:ctrlPr>
                                </m:fPr>
                                <m:num>
                                  <m:r>
                                    <a:rPr lang="en-US" b="0" i="1" smtClean="0">
                                      <a:latin typeface="Cambria Math"/>
                                    </a:rPr>
                                    <m:t>𝑣</m:t>
                                  </m:r>
                                </m:num>
                                <m:den>
                                  <m:r>
                                    <a:rPr lang="en-US" b="0" i="1" smtClean="0">
                                      <a:latin typeface="Cambria Math"/>
                                    </a:rPr>
                                    <m:t>2</m:t>
                                  </m:r>
                                </m:den>
                              </m:f>
                            </m:sup>
                          </m:sSup>
                          <m:r>
                            <m:rPr>
                              <m:sty m:val="p"/>
                            </m:rPr>
                            <a:rPr lang="en-US" b="0" i="0" smtClean="0">
                              <a:latin typeface="Cambria Math"/>
                            </a:rPr>
                            <m:t>Γ</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𝑣</m:t>
                                  </m:r>
                                </m:num>
                                <m:den>
                                  <m:r>
                                    <a:rPr lang="en-US" b="0" i="1" smtClean="0">
                                      <a:latin typeface="Cambria Math"/>
                                    </a:rPr>
                                    <m:t>2</m:t>
                                  </m:r>
                                </m:den>
                              </m:f>
                            </m:e>
                          </m:d>
                        </m:den>
                      </m:f>
                      <m:sSup>
                        <m:sSupPr>
                          <m:ctrlPr>
                            <a:rPr lang="en-US" i="1">
                              <a:latin typeface="Cambria Math" panose="02040503050406030204" pitchFamily="18" charset="0"/>
                            </a:rPr>
                          </m:ctrlPr>
                        </m:sSupPr>
                        <m:e>
                          <m:r>
                            <a:rPr lang="en-US" i="1">
                              <a:latin typeface="Cambria Math"/>
                            </a:rPr>
                            <m:t>𝑒</m:t>
                          </m:r>
                        </m:e>
                        <m:sup>
                          <m:r>
                            <a:rPr lang="en-US" i="1">
                              <a:latin typeface="Cambria Math"/>
                            </a:rPr>
                            <m:t>−</m:t>
                          </m:r>
                          <m:f>
                            <m:fPr>
                              <m:ctrlPr>
                                <a:rPr lang="en-US" i="1">
                                  <a:latin typeface="Cambria Math" panose="02040503050406030204" pitchFamily="18" charset="0"/>
                                </a:rPr>
                              </m:ctrlPr>
                            </m:fPr>
                            <m:num>
                              <m:r>
                                <a:rPr lang="en-US" i="1">
                                  <a:latin typeface="Cambria Math"/>
                                </a:rPr>
                                <m:t>𝑥</m:t>
                              </m:r>
                            </m:num>
                            <m:den>
                              <m:r>
                                <a:rPr lang="en-US" i="1">
                                  <a:latin typeface="Cambria Math"/>
                                </a:rPr>
                                <m:t>2</m:t>
                              </m:r>
                            </m:den>
                          </m:f>
                        </m:sup>
                      </m:sSup>
                      <m:sSup>
                        <m:sSupPr>
                          <m:ctrlPr>
                            <a:rPr lang="en-US" i="1">
                              <a:latin typeface="Cambria Math" panose="02040503050406030204" pitchFamily="18" charset="0"/>
                            </a:rPr>
                          </m:ctrlPr>
                        </m:sSupPr>
                        <m:e>
                          <m:r>
                            <a:rPr lang="en-US" i="1">
                              <a:latin typeface="Cambria Math"/>
                            </a:rPr>
                            <m:t>𝑥</m:t>
                          </m:r>
                        </m:e>
                        <m:sup>
                          <m:f>
                            <m:fPr>
                              <m:ctrlPr>
                                <a:rPr lang="en-US" i="1">
                                  <a:latin typeface="Cambria Math" panose="02040503050406030204" pitchFamily="18" charset="0"/>
                                </a:rPr>
                              </m:ctrlPr>
                            </m:fPr>
                            <m:num>
                              <m:r>
                                <a:rPr lang="en-US" i="1">
                                  <a:latin typeface="Cambria Math"/>
                                </a:rPr>
                                <m:t>𝑣</m:t>
                              </m:r>
                            </m:num>
                            <m:den>
                              <m:r>
                                <a:rPr lang="en-US" i="1">
                                  <a:latin typeface="Cambria Math"/>
                                </a:rPr>
                                <m:t>2</m:t>
                              </m:r>
                            </m:den>
                          </m:f>
                          <m:r>
                            <a:rPr lang="en-US" i="1">
                              <a:latin typeface="Cambria Math"/>
                            </a:rPr>
                            <m:t>−1</m:t>
                          </m:r>
                        </m:sup>
                      </m:sSup>
                      <m:r>
                        <a:rPr lang="en-US" b="0" i="1" smtClean="0">
                          <a:latin typeface="Cambria Math"/>
                        </a:rPr>
                        <m:t>, </m:t>
                      </m:r>
                      <m:r>
                        <a:rPr lang="en-US" b="0" i="1" smtClean="0">
                          <a:latin typeface="Cambria Math"/>
                        </a:rPr>
                        <m:t>𝑥</m:t>
                      </m:r>
                      <m:r>
                        <a:rPr lang="en-US" b="0" i="1" smtClean="0">
                          <a:latin typeface="Cambria Math"/>
                        </a:rPr>
                        <m:t>&gt;0</m:t>
                      </m:r>
                    </m:oMath>
                  </m:oMathPara>
                </a14:m>
                <a:endParaRPr lang="en-US" dirty="0"/>
              </a:p>
              <a:p>
                <a:endParaRPr lang="en-US" dirty="0"/>
              </a:p>
              <a:p>
                <a:r>
                  <a:rPr lang="en-US" dirty="0"/>
                  <a:t>Table A.5 gives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𝜒</m:t>
                        </m:r>
                      </m:e>
                      <m:sup>
                        <m:r>
                          <a:rPr lang="en-US" b="0" i="1" smtClean="0">
                            <a:latin typeface="Cambria Math"/>
                          </a:rPr>
                          <m:t>2</m:t>
                        </m:r>
                      </m:sup>
                    </m:sSup>
                  </m:oMath>
                </a14:m>
                <a:r>
                  <a:rPr lang="en-US" dirty="0"/>
                  <a:t> values from the chi-squared distribution for certain probabilities (this is the reverse of what we saw with the standard normal table).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3"/>
                <a:stretch>
                  <a:fillRect l="-784" t="-1867"/>
                </a:stretch>
              </a:blipFill>
            </p:spPr>
            <p:txBody>
              <a:bodyPr/>
              <a:lstStyle/>
              <a:p>
                <a:r>
                  <a:rPr lang="en-US">
                    <a:noFill/>
                  </a:rPr>
                  <a:t> </a:t>
                </a:r>
              </a:p>
            </p:txBody>
          </p:sp>
        </mc:Fallback>
      </mc:AlternateContent>
    </p:spTree>
    <p:extLst>
      <p:ext uri="{BB962C8B-B14F-4D97-AF65-F5344CB8AC3E}">
        <p14:creationId xmlns:p14="http://schemas.microsoft.com/office/powerpoint/2010/main" val="376522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A little bit of notation: we use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𝛼</m:t>
                        </m:r>
                      </m:sub>
                      <m:sup>
                        <m:r>
                          <a:rPr lang="en-US" b="0" i="1" smtClean="0">
                            <a:latin typeface="Cambria Math"/>
                          </a:rPr>
                          <m:t>2</m:t>
                        </m:r>
                      </m:sup>
                    </m:sSubSup>
                  </m:oMath>
                </a14:m>
                <a:r>
                  <a:rPr lang="en-US" dirty="0"/>
                  <a:t> to denote the value </a:t>
                </a:r>
                <a:r>
                  <a:rPr lang="en-US" i="1" dirty="0"/>
                  <a:t>above which</a:t>
                </a:r>
                <a:r>
                  <a:rPr lang="en-US" dirty="0"/>
                  <a:t> we find an area of </a:t>
                </a:r>
                <a14:m>
                  <m:oMath xmlns:m="http://schemas.openxmlformats.org/officeDocument/2006/math">
                    <m:r>
                      <a:rPr lang="en-US" b="0" i="1" smtClean="0">
                        <a:latin typeface="Cambria Math"/>
                      </a:rPr>
                      <m:t>𝛼</m:t>
                    </m:r>
                  </m:oMath>
                </a14:m>
                <a:r>
                  <a:rPr lang="en-US" dirty="0"/>
                  <a:t> for a given chi-squared distribution.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3"/>
                <a:stretch>
                  <a:fillRect l="-784" t="-1067"/>
                </a:stretch>
              </a:blipFill>
            </p:spPr>
            <p:txBody>
              <a:bodyPr/>
              <a:lstStyle/>
              <a:p>
                <a:r>
                  <a:rPr lang="en-US">
                    <a:noFill/>
                  </a:rPr>
                  <a:t> </a:t>
                </a:r>
              </a:p>
            </p:txBody>
          </p:sp>
        </mc:Fallback>
      </mc:AlternateContent>
    </p:spTree>
    <p:extLst>
      <p:ext uri="{BB962C8B-B14F-4D97-AF65-F5344CB8AC3E}">
        <p14:creationId xmlns:p14="http://schemas.microsoft.com/office/powerpoint/2010/main" val="1600331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(from 8.38 and 8.39 in the book): </a:t>
                </a:r>
              </a:p>
              <a:p>
                <a:pPr lvl="1"/>
                <a:r>
                  <a:rPr lang="en-US" dirty="0"/>
                  <a:t>Find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0.05</m:t>
                        </m:r>
                      </m:sub>
                      <m:sup>
                        <m:r>
                          <a:rPr lang="en-US" b="0" i="1" smtClean="0">
                            <a:latin typeface="Cambria Math"/>
                          </a:rPr>
                          <m:t>2</m:t>
                        </m:r>
                      </m:sup>
                    </m:sSubSup>
                  </m:oMath>
                </a14:m>
                <a:r>
                  <a:rPr lang="en-US" dirty="0"/>
                  <a:t> when </a:t>
                </a:r>
                <a14:m>
                  <m:oMath xmlns:m="http://schemas.openxmlformats.org/officeDocument/2006/math">
                    <m:r>
                      <a:rPr lang="en-US" b="0" i="1" smtClean="0">
                        <a:latin typeface="Cambria Math"/>
                      </a:rPr>
                      <m:t>𝑣</m:t>
                    </m:r>
                    <m:r>
                      <a:rPr lang="en-US" b="0" i="1" smtClean="0">
                        <a:latin typeface="Cambria Math"/>
                      </a:rPr>
                      <m:t>=19</m:t>
                    </m:r>
                  </m:oMath>
                </a14:m>
                <a:endParaRPr lang="en-US" dirty="0"/>
              </a:p>
              <a:p>
                <a:pPr lvl="1"/>
                <a:r>
                  <a:rPr lang="en-US" dirty="0"/>
                  <a:t>Find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𝛼</m:t>
                        </m:r>
                      </m:sub>
                      <m:sup>
                        <m:r>
                          <a:rPr lang="en-US" b="0" i="1" smtClean="0">
                            <a:latin typeface="Cambria Math"/>
                          </a:rPr>
                          <m:t>2</m:t>
                        </m:r>
                      </m:sup>
                    </m:sSubSup>
                  </m:oMath>
                </a14:m>
                <a:r>
                  <a:rPr lang="en-US" dirty="0"/>
                  <a:t> such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37.652&lt;</m:t>
                        </m:r>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r>
                          <a:rPr lang="en-US" b="0" i="1" smtClean="0">
                            <a:latin typeface="Cambria Math"/>
                          </a:rPr>
                          <m:t>&lt;</m:t>
                        </m:r>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𝛼</m:t>
                            </m:r>
                          </m:sub>
                          <m:sup>
                            <m:r>
                              <a:rPr lang="en-US" b="0" i="1" smtClean="0">
                                <a:latin typeface="Cambria Math"/>
                              </a:rPr>
                              <m:t>2</m:t>
                            </m:r>
                          </m:sup>
                        </m:sSubSup>
                      </m:e>
                    </m:d>
                    <m:r>
                      <a:rPr lang="en-US" b="0" i="1" smtClean="0">
                        <a:latin typeface="Cambria Math"/>
                      </a:rPr>
                      <m:t>=0.045</m:t>
                    </m:r>
                  </m:oMath>
                </a14:m>
                <a:r>
                  <a:rPr lang="en-US" dirty="0"/>
                  <a:t> when </a:t>
                </a:r>
                <a14:m>
                  <m:oMath xmlns:m="http://schemas.openxmlformats.org/officeDocument/2006/math">
                    <m:r>
                      <a:rPr lang="en-US" b="0" i="1" smtClean="0">
                        <a:latin typeface="Cambria Math"/>
                      </a:rPr>
                      <m:t>𝑣</m:t>
                    </m:r>
                    <m:r>
                      <a:rPr lang="en-US" b="0" i="1" smtClean="0">
                        <a:latin typeface="Cambria Math"/>
                      </a:rPr>
                      <m:t>=25</m:t>
                    </m:r>
                  </m:oMath>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706" t="-1067"/>
                </a:stretch>
              </a:blipFill>
            </p:spPr>
            <p:txBody>
              <a:bodyPr/>
              <a:lstStyle/>
              <a:p>
                <a:r>
                  <a:rPr lang="en-US">
                    <a:noFill/>
                  </a:rPr>
                  <a:t> </a:t>
                </a:r>
              </a:p>
            </p:txBody>
          </p:sp>
        </mc:Fallback>
      </mc:AlternateContent>
    </p:spTree>
    <p:extLst>
      <p:ext uri="{BB962C8B-B14F-4D97-AF65-F5344CB8AC3E}">
        <p14:creationId xmlns:p14="http://schemas.microsoft.com/office/powerpoint/2010/main" val="145937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You may be asked to find probabilities relating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r>
                  <a:rPr lang="en-US" dirty="0"/>
                  <a:t>. You are given values of </a:t>
                </a:r>
                <a14:m>
                  <m:oMath xmlns:m="http://schemas.openxmlformats.org/officeDocument/2006/math">
                    <m:r>
                      <a:rPr lang="en-US" b="0" i="1" smtClean="0">
                        <a:latin typeface="Cambria Math"/>
                      </a:rPr>
                      <m:t>𝑛</m:t>
                    </m:r>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From here you can calculate probabilities using the theorem we gave about the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r>
                  <a:rPr lang="en-US" dirty="0"/>
                  <a:t>.</a:t>
                </a:r>
              </a:p>
              <a:p>
                <a:endParaRPr lang="en-US" dirty="0"/>
              </a:p>
              <a:p>
                <a:r>
                  <a:rPr lang="en-US" dirty="0"/>
                  <a:t>The key is to use the fact that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m:t>
                        </m:r>
                        <m:r>
                          <a:rPr lang="en-US" b="0" i="1" smtClean="0">
                            <a:latin typeface="Cambria Math"/>
                          </a:rPr>
                          <m:t>𝑛</m:t>
                        </m:r>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num>
                      <m:den>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oMath>
                </a14:m>
                <a:r>
                  <a:rPr lang="en-US" dirty="0"/>
                  <a:t> has a chi-squared distribution with </a:t>
                </a:r>
                <a14:m>
                  <m:oMath xmlns:m="http://schemas.openxmlformats.org/officeDocument/2006/math">
                    <m:r>
                      <a:rPr lang="en-US" b="0" i="1" smtClean="0">
                        <a:latin typeface="Cambria Math"/>
                      </a:rPr>
                      <m:t>𝑛</m:t>
                    </m:r>
                    <m:r>
                      <a:rPr lang="en-US" b="0" i="1" smtClean="0">
                        <a:latin typeface="Cambria Math"/>
                      </a:rPr>
                      <m:t>−1</m:t>
                    </m:r>
                  </m:oMath>
                </a14:m>
                <a:r>
                  <a:rPr lang="en-US" dirty="0"/>
                  <a:t> degrees of freedom. So, for some 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0</m:t>
                        </m:r>
                      </m:sub>
                    </m:sSub>
                  </m:oMath>
                </a14:m>
                <a:r>
                  <a:rPr lang="en-US" dirty="0"/>
                  <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0</m:t>
                            </m:r>
                          </m:sub>
                        </m:sSub>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𝑣</m:t>
                            </m:r>
                            <m:r>
                              <a:rPr lang="en-US" b="0" i="1" smtClean="0">
                                <a:latin typeface="Cambria Math"/>
                              </a:rPr>
                              <m:t>=</m:t>
                            </m:r>
                            <m:r>
                              <a:rPr lang="en-US" b="0" i="1" smtClean="0">
                                <a:latin typeface="Cambria Math"/>
                              </a:rPr>
                              <m:t>𝑛</m:t>
                            </m:r>
                            <m:r>
                              <a:rPr lang="en-US" b="0" i="1" smtClean="0">
                                <a:latin typeface="Cambria Math"/>
                              </a:rPr>
                              <m:t>−1</m:t>
                            </m:r>
                          </m:sub>
                          <m:sup>
                            <m:r>
                              <a:rPr lang="en-US" b="0" i="1" smtClean="0">
                                <a:latin typeface="Cambria Math"/>
                              </a:rPr>
                              <m:t>2</m:t>
                            </m:r>
                          </m:sup>
                        </m:sSubSup>
                        <m:r>
                          <a:rPr lang="en-US" b="0" i="1" smtClean="0">
                            <a:latin typeface="Cambria Math"/>
                          </a:rPr>
                          <m:t>&gt;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−1</m:t>
                                </m:r>
                              </m:e>
                            </m:d>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0</m:t>
                                </m:r>
                              </m:sub>
                            </m:sSub>
                          </m:num>
                          <m:den>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e>
                    </m:d>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3"/>
                <a:stretch>
                  <a:fillRect l="-784" t="-1067" r="-1020"/>
                </a:stretch>
              </a:blipFill>
            </p:spPr>
            <p:txBody>
              <a:bodyPr/>
              <a:lstStyle/>
              <a:p>
                <a:r>
                  <a:rPr lang="en-US">
                    <a:noFill/>
                  </a:rPr>
                  <a:t> </a:t>
                </a:r>
              </a:p>
            </p:txBody>
          </p:sp>
        </mc:Fallback>
      </mc:AlternateContent>
    </p:spTree>
    <p:extLst>
      <p:ext uri="{BB962C8B-B14F-4D97-AF65-F5344CB8AC3E}">
        <p14:creationId xmlns:p14="http://schemas.microsoft.com/office/powerpoint/2010/main" val="1959895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dirty="0"/>
                  <a:t>Example (8.42 in book): The scores on a placement test given to college freshmen for the past five years are approximately normally distributed with mean </a:t>
                </a:r>
                <a14:m>
                  <m:oMath xmlns:m="http://schemas.openxmlformats.org/officeDocument/2006/math">
                    <m:r>
                      <a:rPr lang="en-US" b="0" i="1" smtClean="0">
                        <a:latin typeface="Cambria Math"/>
                      </a:rPr>
                      <m:t>𝜇</m:t>
                    </m:r>
                    <m:r>
                      <a:rPr lang="en-US" b="0" i="1" smtClean="0">
                        <a:latin typeface="Cambria Math"/>
                      </a:rPr>
                      <m:t>=74</m:t>
                    </m:r>
                  </m:oMath>
                </a14:m>
                <a:r>
                  <a:rPr lang="en-US" dirty="0"/>
                  <a:t> and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r>
                      <a:rPr lang="en-US" b="0" i="1" smtClean="0">
                        <a:latin typeface="Cambria Math"/>
                      </a:rPr>
                      <m:t>=8</m:t>
                    </m:r>
                  </m:oMath>
                </a14:m>
                <a:r>
                  <a:rPr lang="en-US" dirty="0"/>
                  <a:t>. Would you still consider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r>
                      <a:rPr lang="en-US" b="0" i="1" smtClean="0">
                        <a:latin typeface="Cambria Math"/>
                      </a:rPr>
                      <m:t>=8</m:t>
                    </m:r>
                  </m:oMath>
                </a14:m>
                <a:r>
                  <a:rPr lang="en-US" dirty="0"/>
                  <a:t> to be a valid value for the variance if a random sample of 20 students who take the placement test this year obtain a value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r>
                      <a:rPr lang="en-US" b="0" i="1" smtClean="0">
                        <a:latin typeface="Cambria Math"/>
                      </a:rPr>
                      <m:t>=20</m:t>
                    </m:r>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706" t="-1067" r="-1725"/>
                </a:stretch>
              </a:blipFill>
            </p:spPr>
            <p:txBody>
              <a:bodyPr/>
              <a:lstStyle/>
              <a:p>
                <a:r>
                  <a:rPr lang="en-US">
                    <a:noFill/>
                  </a:rPr>
                  <a:t> </a:t>
                </a:r>
              </a:p>
            </p:txBody>
          </p:sp>
        </mc:Fallback>
      </mc:AlternateContent>
    </p:spTree>
    <p:extLst>
      <p:ext uri="{BB962C8B-B14F-4D97-AF65-F5344CB8AC3E}">
        <p14:creationId xmlns:p14="http://schemas.microsoft.com/office/powerpoint/2010/main" val="3342667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8.5 – 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l="-2745" b="-186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Similar to the example we did in 8.4, we want to find the probability that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oMath>
                </a14:m>
                <a:r>
                  <a:rPr lang="en-US" dirty="0"/>
                  <a:t> is at least as large as 20 given that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actually equals 8. So we calculate:</a:t>
                </a:r>
              </a:p>
              <a:p>
                <a:pPr marL="0" indent="0">
                  <a:buNone/>
                </a:pPr>
                <a:endParaRPr lang="en-US" b="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r>
                            <a:rPr lang="en-US" b="0" i="1" smtClean="0">
                              <a:latin typeface="Cambria Math"/>
                            </a:rPr>
                            <m:t>≥20</m:t>
                          </m:r>
                        </m:e>
                      </m:d>
                      <m:r>
                        <a:rPr lang="en-US" b="0" i="1" smtClean="0">
                          <a:latin typeface="Cambria Math"/>
                        </a:rPr>
                        <m:t>=</m:t>
                      </m:r>
                      <m:r>
                        <a:rPr lang="en-US" i="1">
                          <a:latin typeface="Cambria Math"/>
                        </a:rPr>
                        <m:t>𝑃</m:t>
                      </m:r>
                      <m:d>
                        <m:dPr>
                          <m:ctrlPr>
                            <a:rPr lang="en-US" i="1">
                              <a:latin typeface="Cambria Math" panose="02040503050406030204" pitchFamily="18" charset="0"/>
                            </a:rPr>
                          </m:ctrlPr>
                        </m:dPr>
                        <m:e>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a:rPr>
                                    <m:t>𝑛</m:t>
                                  </m:r>
                                  <m:r>
                                    <a:rPr lang="en-US" b="0" i="1" smtClean="0">
                                      <a:latin typeface="Cambria Math"/>
                                    </a:rPr>
                                    <m:t>−1</m:t>
                                  </m:r>
                                </m:e>
                              </m:d>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num>
                            <m:den>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den>
                          </m:f>
                          <m:r>
                            <a:rPr lang="en-US" i="1">
                              <a:latin typeface="Cambria Math"/>
                            </a:rPr>
                            <m:t>≥</m:t>
                          </m:r>
                          <m:f>
                            <m:fPr>
                              <m:ctrlPr>
                                <a:rPr lang="en-US" i="1">
                                  <a:latin typeface="Cambria Math" panose="02040503050406030204" pitchFamily="18" charset="0"/>
                                </a:rPr>
                              </m:ctrlPr>
                            </m:fPr>
                            <m:num>
                              <m:r>
                                <a:rPr lang="en-US" i="1">
                                  <a:latin typeface="Cambria Math"/>
                                </a:rPr>
                                <m:t>19∗20</m:t>
                              </m:r>
                            </m:num>
                            <m:den>
                              <m:r>
                                <a:rPr lang="en-US" i="1">
                                  <a:latin typeface="Cambria Math"/>
                                </a:rPr>
                                <m:t>8</m:t>
                              </m:r>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𝜒</m:t>
                              </m:r>
                            </m:e>
                            <m:sup>
                              <m:r>
                                <a:rPr lang="en-US" b="0" i="1" smtClean="0">
                                  <a:latin typeface="Cambria Math"/>
                                </a:rPr>
                                <m:t>2</m:t>
                              </m:r>
                            </m:sup>
                          </m:sSup>
                          <m:r>
                            <a:rPr lang="en-US" b="0" i="1" smtClean="0">
                              <a:latin typeface="Cambria Math"/>
                            </a:rPr>
                            <m:t>≥47.5</m:t>
                          </m:r>
                        </m:e>
                      </m:d>
                      <m:r>
                        <a:rPr lang="en-US" b="0" i="1" smtClean="0">
                          <a:latin typeface="Cambria Math"/>
                        </a:rPr>
                        <m:t>=0.0003</m:t>
                      </m:r>
                    </m:oMath>
                  </m:oMathPara>
                </a14:m>
                <a:endParaRPr lang="en-US" b="0" dirty="0"/>
              </a:p>
              <a:p>
                <a:r>
                  <a:rPr lang="en-US" dirty="0"/>
                  <a:t>Such a value for the sample variance is extremely unlikely, only occurring about 3 times in every 10000 samples, if the variance is actually 8. Thus this is strong evidence that 8 is no longer a valid value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706" t="-1733" r="-1098"/>
                </a:stretch>
              </a:blipFill>
            </p:spPr>
            <p:txBody>
              <a:bodyPr/>
              <a:lstStyle/>
              <a:p>
                <a:r>
                  <a:rPr lang="en-US">
                    <a:noFill/>
                  </a:rPr>
                  <a:t> </a:t>
                </a:r>
              </a:p>
            </p:txBody>
          </p:sp>
        </mc:Fallback>
      </mc:AlternateContent>
    </p:spTree>
    <p:extLst>
      <p:ext uri="{BB962C8B-B14F-4D97-AF65-F5344CB8AC3E}">
        <p14:creationId xmlns:p14="http://schemas.microsoft.com/office/powerpoint/2010/main" val="2085213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In 8.4, we used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𝑁</m:t>
                    </m:r>
                    <m:d>
                      <m:dPr>
                        <m:ctrlPr>
                          <a:rPr lang="en-US" b="0" i="1" dirty="0" smtClean="0">
                            <a:latin typeface="Cambria Math" panose="02040503050406030204" pitchFamily="18" charset="0"/>
                          </a:rPr>
                        </m:ctrlPr>
                      </m:dPr>
                      <m:e>
                        <m:r>
                          <a:rPr lang="en-US" b="0" i="1" dirty="0" smtClean="0">
                            <a:latin typeface="Cambria Math"/>
                          </a:rPr>
                          <m:t>𝜇</m:t>
                        </m:r>
                        <m:r>
                          <a:rPr lang="en-US" b="0" i="1" dirty="0" smtClean="0">
                            <a:latin typeface="Cambria Math"/>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a:rPr>
                                  <m:t>𝜎</m:t>
                                </m:r>
                              </m:e>
                              <m:sup>
                                <m:r>
                                  <a:rPr lang="en-US" b="0" i="1" dirty="0" smtClean="0">
                                    <a:latin typeface="Cambria Math"/>
                                  </a:rPr>
                                  <m:t>2</m:t>
                                </m:r>
                              </m:sup>
                            </m:sSup>
                          </m:num>
                          <m:den>
                            <m:r>
                              <a:rPr lang="en-US" b="0" i="1" dirty="0" smtClean="0">
                                <a:latin typeface="Cambria Math"/>
                              </a:rPr>
                              <m:t>𝑛</m:t>
                            </m:r>
                          </m:den>
                        </m:f>
                      </m:e>
                    </m:d>
                  </m:oMath>
                </a14:m>
                <a:r>
                  <a:rPr lang="en-US" dirty="0"/>
                  <a:t> to find probabilities regarding the sample mean when the underlying population was normal. We did an example were we used such a probability to decide whether or not a certain value of </a:t>
                </a:r>
                <a14:m>
                  <m:oMath xmlns:m="http://schemas.openxmlformats.org/officeDocument/2006/math">
                    <m:r>
                      <a:rPr lang="en-US" b="0" i="1" smtClean="0">
                        <a:latin typeface="Cambria Math"/>
                      </a:rPr>
                      <m:t>𝜇</m:t>
                    </m:r>
                  </m:oMath>
                </a14:m>
                <a:r>
                  <a:rPr lang="en-US" dirty="0"/>
                  <a:t> was reasonable or not.</a:t>
                </a:r>
              </a:p>
              <a:p>
                <a:endParaRPr lang="en-US" dirty="0"/>
              </a:p>
              <a:p>
                <a:r>
                  <a:rPr lang="en-US" dirty="0"/>
                  <a:t>Notice, however, that that inference (and any inference we do using this distribution) assumes that </a:t>
                </a:r>
                <a:r>
                  <a:rPr lang="en-US" i="1" dirty="0"/>
                  <a:t>we know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 the true population variance.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r="-2118"/>
                </a:stretch>
              </a:blipFill>
            </p:spPr>
            <p:txBody>
              <a:bodyPr/>
              <a:lstStyle/>
              <a:p>
                <a:r>
                  <a:rPr lang="en-US">
                    <a:noFill/>
                  </a:rPr>
                  <a:t> </a:t>
                </a:r>
              </a:p>
            </p:txBody>
          </p:sp>
        </mc:Fallback>
      </mc:AlternateContent>
    </p:spTree>
    <p:extLst>
      <p:ext uri="{BB962C8B-B14F-4D97-AF65-F5344CB8AC3E}">
        <p14:creationId xmlns:p14="http://schemas.microsoft.com/office/powerpoint/2010/main" val="1385501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In most applications, we have no idea what the population variance is. We are just as likely to know </a:t>
                </a:r>
                <a14:m>
                  <m:oMath xmlns:m="http://schemas.openxmlformats.org/officeDocument/2006/math">
                    <m:r>
                      <a:rPr lang="en-US" b="0" i="1" smtClean="0">
                        <a:latin typeface="Cambria Math"/>
                      </a:rPr>
                      <m:t>𝜇</m:t>
                    </m:r>
                  </m:oMath>
                </a14:m>
                <a:r>
                  <a:rPr lang="en-US" dirty="0"/>
                  <a:t> as we are to know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If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 is unknown, we can’t use a normal distribution for inferences about the mean.</a:t>
                </a:r>
              </a:p>
              <a:p>
                <a:endParaRPr lang="en-US" dirty="0"/>
              </a:p>
              <a:p>
                <a:r>
                  <a:rPr lang="en-US" dirty="0"/>
                  <a:t>So what do we do instead? Rather than use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 we usually have to estimate the population standard deviation using the sample standard deviation </a:t>
                </a:r>
                <a14:m>
                  <m:oMath xmlns:m="http://schemas.openxmlformats.org/officeDocument/2006/math">
                    <m:r>
                      <a:rPr lang="en-US" b="0" i="1" smtClean="0">
                        <a:latin typeface="Cambria Math"/>
                      </a:rPr>
                      <m:t>𝑆</m:t>
                    </m:r>
                  </m:oMath>
                </a14:m>
                <a:r>
                  <a:rPr lang="en-US" dirty="0"/>
                  <a:t>. This results in the following statistic: </a:t>
                </a:r>
                <a14:m>
                  <m:oMath xmlns:m="http://schemas.openxmlformats.org/officeDocument/2006/math">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𝑆</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r="-1255"/>
                </a:stretch>
              </a:blipFill>
            </p:spPr>
            <p:txBody>
              <a:bodyPr/>
              <a:lstStyle/>
              <a:p>
                <a:r>
                  <a:rPr lang="en-US">
                    <a:noFill/>
                  </a:rPr>
                  <a:t> </a:t>
                </a:r>
              </a:p>
            </p:txBody>
          </p:sp>
        </mc:Fallback>
      </mc:AlternateContent>
    </p:spTree>
    <p:extLst>
      <p:ext uri="{BB962C8B-B14F-4D97-AF65-F5344CB8AC3E}">
        <p14:creationId xmlns:p14="http://schemas.microsoft.com/office/powerpoint/2010/main" val="1835054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It can be shown that </a:t>
                </a:r>
                <a14:m>
                  <m:oMath xmlns:m="http://schemas.openxmlformats.org/officeDocument/2006/math">
                    <m:r>
                      <a:rPr lang="en-US" b="0" i="1" smtClean="0">
                        <a:latin typeface="Cambria Math"/>
                      </a:rPr>
                      <m:t>𝑇</m:t>
                    </m:r>
                  </m:oMath>
                </a14:m>
                <a:r>
                  <a:rPr lang="en-US" dirty="0"/>
                  <a:t> follows what is known as a t-distribution. The PDF of the t-distribution is:</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m:rPr>
                              <m:sty m:val="p"/>
                            </m:rPr>
                            <a:rPr lang="en-US" b="0" i="0" smtClean="0">
                              <a:latin typeface="Cambria Math"/>
                            </a:rPr>
                            <m:t>Γ</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𝑣</m:t>
                                  </m:r>
                                  <m:r>
                                    <a:rPr lang="en-US" b="0" i="1" smtClean="0">
                                      <a:latin typeface="Cambria Math"/>
                                    </a:rPr>
                                    <m:t>+1</m:t>
                                  </m:r>
                                </m:num>
                                <m:den>
                                  <m:r>
                                    <a:rPr lang="en-US" b="0" i="1" smtClean="0">
                                      <a:latin typeface="Cambria Math"/>
                                    </a:rPr>
                                    <m:t>2</m:t>
                                  </m:r>
                                </m:den>
                              </m:f>
                            </m:e>
                          </m:d>
                        </m:num>
                        <m:den>
                          <m:r>
                            <m:rPr>
                              <m:sty m:val="p"/>
                            </m:rPr>
                            <a:rPr lang="en-US" b="0" i="0" smtClean="0">
                              <a:latin typeface="Cambria Math"/>
                            </a:rPr>
                            <m:t>Γ</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𝑣</m:t>
                                  </m:r>
                                </m:num>
                                <m:den>
                                  <m:r>
                                    <a:rPr lang="en-US" b="0" i="1" smtClean="0">
                                      <a:latin typeface="Cambria Math"/>
                                    </a:rPr>
                                    <m:t>2</m:t>
                                  </m:r>
                                </m:den>
                              </m:f>
                            </m:e>
                          </m:d>
                          <m:rad>
                            <m:radPr>
                              <m:degHide m:val="on"/>
                              <m:ctrlPr>
                                <a:rPr lang="en-US" b="0" i="1" smtClean="0">
                                  <a:latin typeface="Cambria Math" panose="02040503050406030204" pitchFamily="18" charset="0"/>
                                </a:rPr>
                              </m:ctrlPr>
                            </m:radPr>
                            <m:deg/>
                            <m:e>
                              <m:r>
                                <a:rPr lang="en-US" b="0" i="1" smtClean="0">
                                  <a:latin typeface="Cambria Math"/>
                                </a:rPr>
                                <m:t>𝜋</m:t>
                              </m:r>
                              <m:r>
                                <a:rPr lang="en-US" b="0" i="1" smtClean="0">
                                  <a:latin typeface="Cambria Math"/>
                                </a:rPr>
                                <m:t>𝑣</m:t>
                              </m:r>
                            </m:e>
                          </m:rad>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1+</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𝑡</m:t>
                                      </m:r>
                                    </m:e>
                                    <m:sup>
                                      <m:r>
                                        <a:rPr lang="en-US" b="0" i="1" smtClean="0">
                                          <a:latin typeface="Cambria Math"/>
                                        </a:rPr>
                                        <m:t>2</m:t>
                                      </m:r>
                                    </m:sup>
                                  </m:sSup>
                                </m:num>
                                <m:den>
                                  <m:r>
                                    <a:rPr lang="en-US" b="0" i="1" smtClean="0">
                                      <a:latin typeface="Cambria Math"/>
                                    </a:rPr>
                                    <m:t>𝑣</m:t>
                                  </m:r>
                                </m:den>
                              </m:f>
                            </m:e>
                          </m:d>
                        </m:e>
                        <m: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𝑣</m:t>
                              </m:r>
                              <m:r>
                                <a:rPr lang="en-US" b="0" i="1" smtClean="0">
                                  <a:latin typeface="Cambria Math"/>
                                </a:rPr>
                                <m:t>+1</m:t>
                              </m:r>
                            </m:num>
                            <m:den>
                              <m:r>
                                <a:rPr lang="en-US" b="0" i="1" smtClean="0">
                                  <a:latin typeface="Cambria Math"/>
                                </a:rPr>
                                <m:t>2</m:t>
                              </m:r>
                            </m:den>
                          </m:f>
                        </m:sup>
                      </m:sSup>
                      <m:r>
                        <a:rPr lang="en-US" b="0" i="1" smtClean="0">
                          <a:latin typeface="Cambria Math"/>
                        </a:rPr>
                        <m:t>, −∞&lt;</m:t>
                      </m:r>
                      <m:r>
                        <a:rPr lang="en-US" b="0" i="1" smtClean="0">
                          <a:latin typeface="Cambria Math"/>
                        </a:rPr>
                        <m:t>𝑡</m:t>
                      </m:r>
                      <m:r>
                        <a:rPr lang="en-US" b="0" i="1" smtClean="0">
                          <a:latin typeface="Cambria Math"/>
                        </a:rPr>
                        <m:t>&lt;∞</m:t>
                      </m:r>
                    </m:oMath>
                  </m:oMathPara>
                </a14:m>
                <a:endParaRPr lang="en-US" dirty="0"/>
              </a:p>
              <a:p>
                <a:endParaRPr lang="en-US" dirty="0"/>
              </a:p>
              <a:p>
                <a:r>
                  <a:rPr lang="en-US" dirty="0"/>
                  <a:t>Note that this distribution only depends on one parameter, </a:t>
                </a:r>
                <a14:m>
                  <m:oMath xmlns:m="http://schemas.openxmlformats.org/officeDocument/2006/math">
                    <m:r>
                      <a:rPr lang="en-US" b="0" i="1" smtClean="0">
                        <a:latin typeface="Cambria Math"/>
                      </a:rPr>
                      <m:t>𝑣</m:t>
                    </m:r>
                  </m:oMath>
                </a14:m>
                <a:r>
                  <a:rPr lang="en-US" dirty="0"/>
                  <a:t>, the 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a:stretch>
              </a:blipFill>
            </p:spPr>
            <p:txBody>
              <a:bodyPr/>
              <a:lstStyle/>
              <a:p>
                <a:r>
                  <a:rPr lang="en-US">
                    <a:noFill/>
                  </a:rPr>
                  <a:t> </a:t>
                </a:r>
              </a:p>
            </p:txBody>
          </p:sp>
        </mc:Fallback>
      </mc:AlternateContent>
    </p:spTree>
    <p:extLst>
      <p:ext uri="{BB962C8B-B14F-4D97-AF65-F5344CB8AC3E}">
        <p14:creationId xmlns:p14="http://schemas.microsoft.com/office/powerpoint/2010/main" val="1955334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p:sp>
        <p:nvSpPr>
          <p:cNvPr id="3" name="Content Placeholder 2"/>
          <p:cNvSpPr>
            <a:spLocks noGrp="1"/>
          </p:cNvSpPr>
          <p:nvPr>
            <p:ph sz="quarter" idx="1"/>
          </p:nvPr>
        </p:nvSpPr>
        <p:spPr/>
        <p:txBody>
          <a:bodyPr/>
          <a:lstStyle/>
          <a:p>
            <a:r>
              <a:rPr lang="en-US" dirty="0"/>
              <a:t>The mean of the t-distribution is 0, regardless of the degrees of freedom. We won’t worry about the variance of the t-distribution. We are mostly concerned with when and how to use it.</a:t>
            </a:r>
          </a:p>
          <a:p>
            <a:endParaRPr lang="en-US" dirty="0"/>
          </a:p>
          <a:p>
            <a:endParaRPr lang="en-US" dirty="0"/>
          </a:p>
          <a:p>
            <a:r>
              <a:rPr lang="en-US" dirty="0"/>
              <a:t>The next slides have plots of several t-distributions. These illustrate the effect that the parameter has on the distribution as well as the relationship between the t-distribution and the standard normal distribution.</a:t>
            </a:r>
          </a:p>
        </p:txBody>
      </p:sp>
    </p:spTree>
    <p:extLst>
      <p:ext uri="{BB962C8B-B14F-4D97-AF65-F5344CB8AC3E}">
        <p14:creationId xmlns:p14="http://schemas.microsoft.com/office/powerpoint/2010/main" val="2122083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4600" y="1447800"/>
            <a:ext cx="45720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8481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p:pic>
        <p:nvPicPr>
          <p:cNvPr id="205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514600" y="1447800"/>
            <a:ext cx="45720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79662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The book mentions that with </a:t>
                </a:r>
                <a14:m>
                  <m:oMath xmlns:m="http://schemas.openxmlformats.org/officeDocument/2006/math">
                    <m:r>
                      <a:rPr lang="en-US" b="0" i="1" smtClean="0">
                        <a:latin typeface="Cambria Math"/>
                      </a:rPr>
                      <m:t>𝑛</m:t>
                    </m:r>
                    <m:r>
                      <a:rPr lang="en-US" b="0" i="1" smtClean="0">
                        <a:latin typeface="Cambria Math"/>
                      </a:rPr>
                      <m:t>≥30</m:t>
                    </m:r>
                  </m:oMath>
                </a14:m>
                <a:r>
                  <a:rPr lang="en-US" dirty="0"/>
                  <a:t>, the t-distribution looks enough like the standard normal distribution that we can use the normal distribution as long as the sample is large enough. </a:t>
                </a:r>
              </a:p>
              <a:p>
                <a:endParaRPr lang="en-US" dirty="0"/>
              </a:p>
              <a:p>
                <a:r>
                  <a:rPr lang="en-US" dirty="0"/>
                  <a:t>However, for this class, we are going to use just one rule:</a:t>
                </a:r>
              </a:p>
              <a:p>
                <a:pPr lvl="1"/>
                <a:r>
                  <a:rPr lang="en-US" dirty="0"/>
                  <a:t>If you know the population variance, use </a:t>
                </a:r>
                <a14:m>
                  <m:oMath xmlns:m="http://schemas.openxmlformats.org/officeDocument/2006/math">
                    <m:r>
                      <a:rPr lang="en-US" b="0" i="1" smtClean="0">
                        <a:latin typeface="Cambria Math"/>
                      </a:rPr>
                      <m:t>𝑍</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endParaRPr lang="en-US" b="0" dirty="0"/>
              </a:p>
              <a:p>
                <a:pPr lvl="1"/>
                <a:r>
                  <a:rPr lang="en-US" dirty="0"/>
                  <a:t>If you don’t know the population variance use </a:t>
                </a:r>
                <a14:m>
                  <m:oMath xmlns:m="http://schemas.openxmlformats.org/officeDocument/2006/math">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𝑆</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endParaRPr lang="en-US" dirty="0"/>
              </a:p>
              <a:p>
                <a:pPr lvl="2"/>
                <a14:m>
                  <m:oMath xmlns:m="http://schemas.openxmlformats.org/officeDocument/2006/math">
                    <m:r>
                      <a:rPr lang="en-US" b="0" i="1" smtClean="0">
                        <a:latin typeface="Cambria Math"/>
                      </a:rPr>
                      <m:t>𝑇</m:t>
                    </m:r>
                    <m:r>
                      <a:rPr lang="en-US" b="0" i="1" smtClean="0">
                        <a:latin typeface="Cambria Math"/>
                      </a:rPr>
                      <m:t>~</m:t>
                    </m:r>
                    <m:r>
                      <a:rPr lang="en-US" b="0" i="1" smtClean="0">
                        <a:latin typeface="Cambria Math"/>
                      </a:rPr>
                      <m:t>𝑡</m:t>
                    </m:r>
                    <m:r>
                      <a:rPr lang="en-US" b="0" i="1" smtClean="0">
                        <a:latin typeface="Cambria Math"/>
                      </a:rPr>
                      <m:t>(</m:t>
                    </m:r>
                    <m:r>
                      <a:rPr lang="en-US" b="0" i="1" smtClean="0">
                        <a:latin typeface="Cambria Math"/>
                      </a:rPr>
                      <m:t>𝑣</m:t>
                    </m:r>
                    <m:r>
                      <a:rPr lang="en-US" b="0" i="1" smtClean="0">
                        <a:latin typeface="Cambria Math"/>
                      </a:rPr>
                      <m:t>=</m:t>
                    </m:r>
                    <m:r>
                      <a:rPr lang="en-US" b="0" i="1" smtClean="0">
                        <a:latin typeface="Cambria Math"/>
                      </a:rPr>
                      <m:t>𝑛</m:t>
                    </m:r>
                    <m:r>
                      <a:rPr lang="en-US" b="0" i="1" smtClean="0">
                        <a:latin typeface="Cambria Math"/>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933" r="-549"/>
                </a:stretch>
              </a:blipFill>
            </p:spPr>
            <p:txBody>
              <a:bodyPr/>
              <a:lstStyle/>
              <a:p>
                <a:r>
                  <a:rPr lang="en-US">
                    <a:noFill/>
                  </a:rPr>
                  <a:t> </a:t>
                </a:r>
              </a:p>
            </p:txBody>
          </p:sp>
        </mc:Fallback>
      </mc:AlternateContent>
    </p:spTree>
    <p:extLst>
      <p:ext uri="{BB962C8B-B14F-4D97-AF65-F5344CB8AC3E}">
        <p14:creationId xmlns:p14="http://schemas.microsoft.com/office/powerpoint/2010/main" val="5332839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lnSpcReduction="10000"/>
              </a:bodyPr>
              <a:lstStyle/>
              <a:p>
                <a:r>
                  <a:rPr lang="en-US" dirty="0"/>
                  <a:t>To find t-values, we can use table A.4. The format for this table is the same as we saw for the chi-squared distribution in table A.5. We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𝛼</m:t>
                        </m:r>
                      </m:sub>
                    </m:sSub>
                  </m:oMath>
                </a14:m>
                <a:r>
                  <a:rPr lang="en-US" dirty="0"/>
                  <a:t> to denote the value </a:t>
                </a:r>
                <a:r>
                  <a:rPr lang="en-US" i="1" dirty="0"/>
                  <a:t>above which</a:t>
                </a:r>
                <a:r>
                  <a:rPr lang="en-US" dirty="0"/>
                  <a:t> we find an area of </a:t>
                </a:r>
                <a14:m>
                  <m:oMath xmlns:m="http://schemas.openxmlformats.org/officeDocument/2006/math">
                    <m:r>
                      <a:rPr lang="en-US" i="1">
                        <a:latin typeface="Cambria Math"/>
                      </a:rPr>
                      <m:t>𝛼</m:t>
                    </m:r>
                  </m:oMath>
                </a14:m>
                <a:r>
                  <a:rPr lang="en-US" dirty="0"/>
                  <a:t> for a given t-distribution. Exploiting the symmetry of the t-distribution, you should be able to convince yourself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r>
                          <a:rPr lang="en-US" b="0" i="1" smtClean="0">
                            <a:latin typeface="Cambria Math"/>
                          </a:rPr>
                          <m:t>𝛼</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𝛼</m:t>
                        </m:r>
                      </m:sub>
                    </m:sSub>
                  </m:oMath>
                </a14:m>
                <a:r>
                  <a:rPr lang="en-US" dirty="0"/>
                  <a:t>.</a:t>
                </a:r>
              </a:p>
              <a:p>
                <a:pPr marL="0" indent="0">
                  <a:buNone/>
                </a:pPr>
                <a:endParaRPr lang="en-US" dirty="0"/>
              </a:p>
              <a:p>
                <a:r>
                  <a:rPr lang="en-US" dirty="0"/>
                  <a:t>Example: Assuming  </a:t>
                </a:r>
                <a14:m>
                  <m:oMath xmlns:m="http://schemas.openxmlformats.org/officeDocument/2006/math">
                    <m:r>
                      <a:rPr lang="en-US" b="0" i="1" smtClean="0">
                        <a:latin typeface="Cambria Math"/>
                      </a:rPr>
                      <m:t>𝑣</m:t>
                    </m:r>
                    <m:r>
                      <a:rPr lang="en-US" b="0" i="1" smtClean="0">
                        <a:latin typeface="Cambria Math"/>
                      </a:rPr>
                      <m:t>=14</m:t>
                    </m:r>
                  </m:oMath>
                </a14:m>
                <a:r>
                  <a:rPr lang="en-US" dirty="0"/>
                  <a:t>, find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0.975</m:t>
                        </m:r>
                      </m:sub>
                    </m:sSub>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0.025</m:t>
                            </m:r>
                          </m:sub>
                        </m:sSub>
                        <m:r>
                          <a:rPr lang="en-US" b="0" i="1" smtClean="0">
                            <a:latin typeface="Cambria Math"/>
                          </a:rPr>
                          <m:t>&lt;</m:t>
                        </m:r>
                        <m:r>
                          <a:rPr lang="en-US" b="0" i="1" smtClean="0">
                            <a:latin typeface="Cambria Math"/>
                          </a:rPr>
                          <m:t>𝑇</m:t>
                        </m:r>
                        <m:r>
                          <a:rPr lang="en-US" b="0" i="1" smtClean="0">
                            <a:latin typeface="Cambria Math"/>
                          </a:rPr>
                          <m:t>&lt;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0.05</m:t>
                            </m:r>
                          </m:sub>
                        </m:sSub>
                      </m:e>
                    </m:d>
                  </m:oMath>
                </a14:m>
                <a:endParaRPr lang="en-US" b="0" dirty="0"/>
              </a:p>
              <a:p>
                <a:pPr lvl="1"/>
                <a14:m>
                  <m:oMath xmlns:m="http://schemas.openxmlformats.org/officeDocument/2006/math">
                    <m:r>
                      <a:rPr lang="en-US" b="0" i="1" smtClean="0">
                        <a:latin typeface="Cambria Math"/>
                      </a:rPr>
                      <m:t>𝑘</m:t>
                    </m:r>
                  </m:oMath>
                </a14:m>
                <a:r>
                  <a:rPr lang="en-US" dirty="0"/>
                  <a:t> such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𝑘</m:t>
                        </m:r>
                        <m:r>
                          <a:rPr lang="en-US" b="0" i="1" smtClean="0">
                            <a:latin typeface="Cambria Math"/>
                          </a:rPr>
                          <m:t>&lt;</m:t>
                        </m:r>
                        <m:r>
                          <a:rPr lang="en-US" b="0" i="1" smtClean="0">
                            <a:latin typeface="Cambria Math"/>
                          </a:rPr>
                          <m:t>𝑇</m:t>
                        </m:r>
                        <m:r>
                          <a:rPr lang="en-US" b="0" i="1" smtClean="0">
                            <a:latin typeface="Cambria Math"/>
                          </a:rPr>
                          <m:t>&lt;−1.761</m:t>
                        </m:r>
                      </m:e>
                    </m:d>
                    <m:r>
                      <a:rPr lang="en-US" b="0" i="1" smtClean="0">
                        <a:latin typeface="Cambria Math"/>
                      </a:rPr>
                      <m:t>=0.045</m:t>
                    </m:r>
                  </m:oMath>
                </a14:m>
                <a:endParaRPr lang="en-US" dirty="0"/>
              </a:p>
              <a:p>
                <a:pPr marL="32004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784" t="-1867" r="-1725"/>
                </a:stretch>
              </a:blipFill>
            </p:spPr>
            <p:txBody>
              <a:bodyPr/>
              <a:lstStyle/>
              <a:p>
                <a:r>
                  <a:rPr lang="en-US">
                    <a:noFill/>
                  </a:rPr>
                  <a:t> </a:t>
                </a:r>
              </a:p>
            </p:txBody>
          </p:sp>
        </mc:Fallback>
      </mc:AlternateContent>
    </p:spTree>
    <p:extLst>
      <p:ext uri="{BB962C8B-B14F-4D97-AF65-F5344CB8AC3E}">
        <p14:creationId xmlns:p14="http://schemas.microsoft.com/office/powerpoint/2010/main" val="35578145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US" dirty="0"/>
                  <a:t>Exercise: A chemical engineer claims that the population mean yield of a certain batch process is 500 grams per millimeter of raw material. To check the claim, 25 batches are sampled. From this sample, the engineer finds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=518</m:t>
                    </m:r>
                  </m:oMath>
                </a14:m>
                <a:r>
                  <a:rPr lang="en-US" dirty="0"/>
                  <a:t> grams per millimeter and </a:t>
                </a:r>
                <a14:m>
                  <m:oMath xmlns:m="http://schemas.openxmlformats.org/officeDocument/2006/math">
                    <m:r>
                      <a:rPr lang="en-US" b="0" i="1" smtClean="0">
                        <a:latin typeface="Cambria Math"/>
                      </a:rPr>
                      <m:t>𝑠</m:t>
                    </m:r>
                    <m:r>
                      <a:rPr lang="en-US" b="0" i="1" smtClean="0">
                        <a:latin typeface="Cambria Math"/>
                      </a:rPr>
                      <m:t>=40</m:t>
                    </m:r>
                  </m:oMath>
                </a14:m>
                <a:r>
                  <a:rPr lang="en-US" dirty="0"/>
                  <a:t> grams per millimeter. What should the engineer conclude about the population mean given this sample information?</a:t>
                </a:r>
              </a:p>
              <a:p>
                <a:pPr marL="32004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06" t="-1067"/>
                </a:stretch>
              </a:blipFill>
            </p:spPr>
            <p:txBody>
              <a:bodyPr/>
              <a:lstStyle/>
              <a:p>
                <a:r>
                  <a:rPr lang="en-US">
                    <a:noFill/>
                  </a:rPr>
                  <a:t> </a:t>
                </a:r>
              </a:p>
            </p:txBody>
          </p:sp>
        </mc:Fallback>
      </mc:AlternateContent>
    </p:spTree>
    <p:extLst>
      <p:ext uri="{BB962C8B-B14F-4D97-AF65-F5344CB8AC3E}">
        <p14:creationId xmlns:p14="http://schemas.microsoft.com/office/powerpoint/2010/main" val="3324276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85000" lnSpcReduction="20000"/>
              </a:bodyPr>
              <a:lstStyle/>
              <a:p>
                <a:r>
                  <a:rPr lang="en-US" dirty="0"/>
                  <a:t>As we’ve seen in the two previous sections, we want to find the probability of obtaining the results we did if the true mean is actually 500. That is, we want to find </a:t>
                </a:r>
                <a14:m>
                  <m:oMath xmlns:m="http://schemas.openxmlformats.org/officeDocument/2006/math">
                    <m:r>
                      <a:rPr lang="en-US" b="0" i="1" smtClean="0">
                        <a:latin typeface="Cambria Math"/>
                      </a:rPr>
                      <m:t>𝑃</m:t>
                    </m:r>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≥518)</m:t>
                    </m:r>
                  </m:oMath>
                </a14:m>
                <a:r>
                  <a:rPr lang="en-US" dirty="0"/>
                  <a:t>.</a:t>
                </a:r>
              </a:p>
              <a:p>
                <a:endParaRPr lang="en-US" dirty="0"/>
              </a:p>
              <a:p>
                <a:r>
                  <a:rPr lang="en-US" dirty="0"/>
                  <a:t>Since the population standard deviation is unknown, we need to use the t-distribution. We calculate:</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≥518</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𝑇</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518−500</m:t>
                              </m:r>
                            </m:num>
                            <m:den>
                              <m:r>
                                <a:rPr lang="en-US" b="0" i="1" smtClean="0">
                                  <a:latin typeface="Cambria Math"/>
                                </a:rPr>
                                <m:t>40/</m:t>
                              </m:r>
                              <m:rad>
                                <m:radPr>
                                  <m:degHide m:val="on"/>
                                  <m:ctrlPr>
                                    <a:rPr lang="en-US" b="0" i="1" smtClean="0">
                                      <a:latin typeface="Cambria Math" panose="02040503050406030204" pitchFamily="18" charset="0"/>
                                    </a:rPr>
                                  </m:ctrlPr>
                                </m:radPr>
                                <m:deg/>
                                <m:e>
                                  <m:r>
                                    <a:rPr lang="en-US" b="0" i="1" smtClean="0">
                                      <a:latin typeface="Cambria Math"/>
                                    </a:rPr>
                                    <m:t>25</m:t>
                                  </m:r>
                                </m:e>
                              </m:rad>
                            </m:den>
                          </m:f>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𝑇</m:t>
                      </m:r>
                      <m:r>
                        <a:rPr lang="en-US" b="0" i="1" smtClean="0">
                          <a:latin typeface="Cambria Math"/>
                        </a:rPr>
                        <m:t>≥2.25)</m:t>
                      </m:r>
                    </m:oMath>
                  </m:oMathPara>
                </a14:m>
                <a:endParaRPr lang="en-US" dirty="0"/>
              </a:p>
              <a:p>
                <a:pPr marL="0" indent="0">
                  <a:buNone/>
                </a:pPr>
                <a:r>
                  <a:rPr lang="en-US" dirty="0"/>
                  <a:t>Using a t-distribution with 24 degrees of freedom, we calculate this to be 0.0169 (can get an approximation with the table)</a:t>
                </a:r>
              </a:p>
              <a:p>
                <a:endParaRPr lang="en-US" dirty="0"/>
              </a:p>
              <a:p>
                <a:r>
                  <a:rPr lang="en-US" dirty="0"/>
                  <a:t>This tells us that it is not very likely to obtain a sample mean of 518 if the true mean is actually 500.</a:t>
                </a:r>
              </a:p>
              <a:p>
                <a:pPr marL="32004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941" t="-1867" r="-157" b="-2133"/>
                </a:stretch>
              </a:blipFill>
            </p:spPr>
            <p:txBody>
              <a:bodyPr/>
              <a:lstStyle/>
              <a:p>
                <a:r>
                  <a:rPr lang="en-US">
                    <a:noFill/>
                  </a:rPr>
                  <a:t> </a:t>
                </a:r>
              </a:p>
            </p:txBody>
          </p:sp>
        </mc:Fallback>
      </mc:AlternateContent>
    </p:spTree>
    <p:extLst>
      <p:ext uri="{BB962C8B-B14F-4D97-AF65-F5344CB8AC3E}">
        <p14:creationId xmlns:p14="http://schemas.microsoft.com/office/powerpoint/2010/main" val="3562572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8.6 – The t-distribution</a:t>
            </a:r>
          </a:p>
        </p:txBody>
      </p:sp>
      <p:sp>
        <p:nvSpPr>
          <p:cNvPr id="3" name="Content Placeholder 2"/>
          <p:cNvSpPr>
            <a:spLocks noGrp="1"/>
          </p:cNvSpPr>
          <p:nvPr>
            <p:ph sz="quarter" idx="1"/>
          </p:nvPr>
        </p:nvSpPr>
        <p:spPr/>
        <p:txBody>
          <a:bodyPr>
            <a:normAutofit/>
          </a:bodyPr>
          <a:lstStyle/>
          <a:p>
            <a:r>
              <a:rPr lang="en-US" dirty="0"/>
              <a:t>One important thing to be aware of: to use the t-distribution, the underlying population needs to be normal (or approximately normal). For this reason you will often see problems state “assume the population is normal” (or approximately normal). </a:t>
            </a:r>
          </a:p>
          <a:p>
            <a:endParaRPr lang="en-US" dirty="0"/>
          </a:p>
          <a:p>
            <a:endParaRPr lang="en-US" dirty="0"/>
          </a:p>
          <a:p>
            <a:pPr marL="320040" lvl="1" indent="0">
              <a:buNone/>
            </a:pPr>
            <a:endParaRPr lang="en-US" dirty="0"/>
          </a:p>
        </p:txBody>
      </p:sp>
    </p:spTree>
    <p:extLst>
      <p:ext uri="{BB962C8B-B14F-4D97-AF65-F5344CB8AC3E}">
        <p14:creationId xmlns:p14="http://schemas.microsoft.com/office/powerpoint/2010/main" val="9465767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1171</TotalTime>
  <Words>4220</Words>
  <Application>Microsoft Office PowerPoint</Application>
  <PresentationFormat>On-screen Show (4:3)</PresentationFormat>
  <Paragraphs>222</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Cambria Math</vt:lpstr>
      <vt:lpstr>Franklin Gothic Book</vt:lpstr>
      <vt:lpstr>Perpetua</vt:lpstr>
      <vt:lpstr>Wingdings 2</vt:lpstr>
      <vt:lpstr>Equity</vt:lpstr>
      <vt:lpstr>Sampling Distributions</vt:lpstr>
      <vt:lpstr>Chapter 8</vt:lpstr>
      <vt:lpstr>8.1 – Random Sampling</vt:lpstr>
      <vt:lpstr>8.1 – Random Sampling</vt:lpstr>
      <vt:lpstr>8.1 – Random Sampling</vt:lpstr>
      <vt:lpstr>8.1 – Random Sampling</vt:lpstr>
      <vt:lpstr>8.1 – Random Sampling</vt:lpstr>
      <vt:lpstr>8.2 – Important Descriptive Statistics</vt:lpstr>
      <vt:lpstr>8.2 – Important Descriptive Statistics</vt:lpstr>
      <vt:lpstr>8.2 – Important Descriptive Statistics</vt:lpstr>
      <vt:lpstr>8.2 – Important Descriptive Statistics</vt:lpstr>
      <vt:lpstr>8.3 – Sampling Distributions</vt:lpstr>
      <vt:lpstr>8.3 – Sampling Distributions</vt:lpstr>
      <vt:lpstr>8.3 – Sampling Distributions</vt:lpstr>
      <vt:lpstr>8.3 – Sampling Distributions</vt:lpstr>
      <vt:lpstr>8.3 – Sampling Distributions</vt:lpstr>
      <vt:lpstr>8.3 – Sampling Distributions</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8.4 – Sampling Distribution of Means and the Central Limit Theorem</vt:lpstr>
      <vt:lpstr>8.5 – Sampling Distribution of S^2</vt:lpstr>
      <vt:lpstr>8.5 – Sampling Distribution of S^2</vt:lpstr>
      <vt:lpstr>8.5 – Sampling Distribution of S^2</vt:lpstr>
      <vt:lpstr>8.5 – Sampling Distribution of S^2</vt:lpstr>
      <vt:lpstr>8.5 – Sampling Distribution of S^2</vt:lpstr>
      <vt:lpstr>8.5 – Sampling Distribution of S^2</vt:lpstr>
      <vt:lpstr>8.5 – Sampling Distribution of S^2</vt:lpstr>
      <vt:lpstr>8.5 – Sampling Distribution of S^2</vt:lpstr>
      <vt:lpstr>8.6 – The t-distribution</vt:lpstr>
      <vt:lpstr>8.6 – The t-distribution</vt:lpstr>
      <vt:lpstr>8.6 – The t-distribution</vt:lpstr>
      <vt:lpstr>8.6 – The t-distribution</vt:lpstr>
      <vt:lpstr>8.6 – The t-distribution</vt:lpstr>
      <vt:lpstr>8.6 – The t-distribution</vt:lpstr>
      <vt:lpstr>8.6 – The t-distribution</vt:lpstr>
      <vt:lpstr>8.6 – The t-distribution</vt:lpstr>
      <vt:lpstr>8.6 – The t-distribution</vt:lpstr>
      <vt:lpstr>8.6 – The t-distribution</vt:lpstr>
      <vt:lpstr>8.6 – The t-distribution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Distributions</dc:title>
  <dc:creator>Jason Adams</dc:creator>
  <cp:lastModifiedBy>Lizzie Reida</cp:lastModifiedBy>
  <cp:revision>58</cp:revision>
  <dcterms:created xsi:type="dcterms:W3CDTF">2017-07-21T15:20:52Z</dcterms:created>
  <dcterms:modified xsi:type="dcterms:W3CDTF">2021-01-14T15:43:50Z</dcterms:modified>
</cp:coreProperties>
</file>